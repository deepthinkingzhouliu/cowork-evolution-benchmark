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收入(万元)</c:v>
                </c:pt>
              </c:strCache>
            </c:strRef>
          </c:tx>
          <c:spPr>
            <a:solidFill>
              <a:srgbClr val="9B51E0"/>
            </a:solidFill>
          </c:spPr>
          <c:cat>
            <c:strRef>
              <c:f>Sheet1!$A$2:$A$3</c:f>
              <c:strCache>
                <c:ptCount val="2"/>
                <c:pt idx="0">
                  <c:v>A线</c:v>
                </c:pt>
                <c:pt idx="1">
                  <c:v>B线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860</c:v>
                </c:pt>
                <c:pt idx="1">
                  <c:v>640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7月</c:v>
                </c:pt>
              </c:strCache>
            </c:strRef>
          </c:tx>
          <c:spPr>
            <a:solidFill>
              <a:srgbClr val="9B51E0"/>
            </a:solidFill>
          </c:spPr>
          <c:cat>
            <c:strRef>
              <c:f>Sheet1!$A$2:$A$3</c:f>
              <c:strCache>
                <c:ptCount val="2"/>
                <c:pt idx="0">
                  <c:v>A线</c:v>
                </c:pt>
                <c:pt idx="1">
                  <c:v>B线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860</c:v>
                </c:pt>
                <c:pt idx="1">
                  <c:v>640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8月目标</c:v>
                </c:pt>
              </c:strCache>
            </c:strRef>
          </c:tx>
          <c:spPr>
            <a:solidFill>
              <a:srgbClr val="62B6CB"/>
            </a:solidFill>
          </c:spPr>
          <c:cat>
            <c:strRef>
              <c:f>Sheet1!$A$2:$A$3</c:f>
              <c:strCache>
                <c:ptCount val="2"/>
                <c:pt idx="0">
                  <c:v>A线</c:v>
                </c:pt>
                <c:pt idx="1">
                  <c:v>B线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920</c:v>
                </c:pt>
                <c:pt idx="1">
                  <c:v>720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1097280"/>
            <a:ext cx="2286000" cy="164592"/>
          </a:xfrm>
          <a:prstGeom prst="round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13648" y="1600200"/>
            <a:ext cx="2121408" cy="164592"/>
          </a:xfrm>
          <a:prstGeom prst="round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6256" y="2103120"/>
            <a:ext cx="1956816" cy="164592"/>
          </a:xfrm>
          <a:prstGeom prst="round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98863" y="2606040"/>
            <a:ext cx="1792224" cy="164592"/>
          </a:xfrm>
          <a:prstGeom prst="round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91472" y="3108960"/>
            <a:ext cx="1627632" cy="164592"/>
          </a:xfrm>
          <a:prstGeom prst="round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731520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7月产品线联合经营报告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工业相机A线 + 边缘网关B线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754880"/>
            <a:ext cx="2926080" cy="530352"/>
          </a:xfrm>
          <a:prstGeom prst="round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28032"/>
            <a:ext cx="2670048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联合决策版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云纳智造｜内部决策资料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9B51E0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两条产品线合计收入 1,500 万元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9B51E0"/>
                </a:solidFill>
                <a:latin typeface="Noto Sans CJK SC"/>
              </a:rPr>
              <a:t>1,500万元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合计收入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9B51E0"/>
                </a:solidFill>
                <a:latin typeface="Noto Sans CJK SC"/>
              </a:rPr>
              <a:t>35.0%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综合毛利率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9B51E0"/>
                </a:solidFill>
                <a:latin typeface="Noto Sans CJK SC"/>
              </a:rPr>
              <a:t>90.5%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交付及时率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云纳智造｜内部决策资料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9B51E0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A线贡献 57% 收入，B线是交付短板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3232" y="153619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36192"/>
            <a:ext cx="3675887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874519"/>
            <a:ext cx="201168" cy="201168"/>
          </a:xfrm>
          <a:prstGeom prst="round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6420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A线收入860万元、毛利率38%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108960"/>
            <a:ext cx="201168" cy="201168"/>
          </a:xfrm>
          <a:prstGeom prst="round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89864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B线收入640万元、交付及时率87%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云纳智造｜内部决策资料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9B51E0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A线抓增量，B线先恢复交付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544"/>
                <a:gridCol w="3590544"/>
                <a:gridCol w="3590544"/>
              </a:tblGrid>
              <a:tr h="12039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产品线</a:t>
                      </a:r>
                    </a:p>
                  </a:txBody>
                  <a:tcPr marL="73152" marR="73152">
                    <a:solidFill>
                      <a:srgbClr val="9B5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优势/问题</a:t>
                      </a:r>
                    </a:p>
                  </a:txBody>
                  <a:tcPr marL="73152" marR="73152">
                    <a:solidFill>
                      <a:srgbClr val="9B5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八月动作</a:t>
                      </a:r>
                    </a:p>
                  </a:txBody>
                  <a:tcPr marL="73152" marR="73152">
                    <a:solidFill>
                      <a:srgbClr val="9B51E0"/>
                    </a:solidFill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A线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新能源追加订单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A3量产前置备料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B线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B2芯片到货延迟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验证备选芯片并重排4客户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云纳智造｜内部决策资料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9B51E0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共用供应链节点，但不混合产品责任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3429000"/>
            <a:ext cx="10012680" cy="73152"/>
          </a:xfrm>
          <a:prstGeom prst="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3282696"/>
            <a:ext cx="365760" cy="365760"/>
          </a:xfrm>
          <a:prstGeom prst="round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9B51E0"/>
                </a:solidFill>
                <a:latin typeface="Noto Sans CJK SC"/>
              </a:rPr>
              <a:t>8月5日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B2备选芯片验证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9" y="3282696"/>
            <a:ext cx="365760" cy="365760"/>
          </a:xfrm>
          <a:prstGeom prst="round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7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9B51E0"/>
                </a:solidFill>
                <a:latin typeface="Noto Sans CJK SC"/>
              </a:rPr>
              <a:t>8月12日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A3量产备料锁定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3282696"/>
            <a:ext cx="365760" cy="365760"/>
          </a:xfrm>
          <a:prstGeom prst="round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9B51E0"/>
                </a:solidFill>
                <a:latin typeface="Noto Sans CJK SC"/>
              </a:rPr>
              <a:t>8月20日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四个客户交付日确认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云纳智造｜内部决策资料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9B51E0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8月目标 1,640 万元，增量主要来自B线恢复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3232" y="153619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36192"/>
            <a:ext cx="3675887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874519"/>
            <a:ext cx="201168" cy="201168"/>
          </a:xfrm>
          <a:prstGeom prst="round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6420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目标不包含未签约的潜在项目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108960"/>
            <a:ext cx="201168" cy="201168"/>
          </a:xfrm>
          <a:prstGeom prst="round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89864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B线目标以备选芯片验证通过为前提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云纳智造｜内部决策资料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9B51E0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两项资源请求需分别决策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544"/>
                <a:gridCol w="3590544"/>
                <a:gridCol w="3590544"/>
              </a:tblGrid>
              <a:tr h="12039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请求</a:t>
                      </a:r>
                    </a:p>
                  </a:txBody>
                  <a:tcPr marL="73152" marR="73152">
                    <a:solidFill>
                      <a:srgbClr val="9B5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额度/边界</a:t>
                      </a:r>
                    </a:p>
                  </a:txBody>
                  <a:tcPr marL="73152" marR="73152">
                    <a:solidFill>
                      <a:srgbClr val="9B5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决策条件</a:t>
                      </a:r>
                    </a:p>
                  </a:txBody>
                  <a:tcPr marL="73152" marR="73152">
                    <a:solidFill>
                      <a:srgbClr val="9B51E0"/>
                    </a:solidFill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A线追加采购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80万元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与A3已确认订单绑定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B线备选芯片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小批量试采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通过稳定性与兼容性验证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云纳智造｜内部决策资料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9B51E0"/>
                </a:solidFill>
                <a:latin typeface="Noto Sans CJK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建议：批准A线有条件备料，B线先验证再放量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A线：采购额与已确认订单配对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B线：不在验证前扩大备选芯片使用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联合周会同时跟踪收入、毛利率和交付及时率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623560"/>
            <a:ext cx="8138160" cy="530352"/>
          </a:xfrm>
          <a:prstGeom prst="roundRect">
            <a:avLst/>
          </a:prstGeom>
          <a:solidFill>
            <a:srgbClr val="9B51E0"/>
          </a:solidFill>
          <a:ln>
            <a:solidFill>
              <a:srgbClr val="9B5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云纳智造｜内部决策资料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云纳智造｜内部决策资料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9B51E0"/>
                </a:solidFill>
                <a:latin typeface="Noto Sans CJK SC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产品线经营稿合并</dc:title>
  <dc:subject>deck_consolidation</dc:subject>
  <dc:creator>云纳智造（合成）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