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MTTR(分钟)</c:v>
                </c:pt>
              </c:strCache>
            </c:strRef>
          </c:tx>
          <c:spPr>
            <a:solidFill>
              <a:srgbClr val="34495E"/>
            </a:solidFill>
          </c:spPr>
          <c:cat>
            <c:strRef>
              <c:f>Sheet1!$A$2:$A$3</c:f>
              <c:strCache>
                <c:ptCount val="2"/>
                <c:pt idx="0">
                  <c:v>改造前</c:v>
                </c:pt>
                <c:pt idx="1">
                  <c:v>试点后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47</c:v>
                </c:pt>
                <c:pt idx="1">
                  <c:v>18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495E"/>
          </a:solidFill>
          <a:ln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13232"/>
            <a:ext cx="1143000" cy="118872"/>
          </a:xfrm>
          <a:prstGeom prst="rect">
            <a:avLst/>
          </a:prstGeom>
          <a:solidFill>
            <a:srgbClr val="34495E"/>
          </a:solidFill>
          <a:ln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321040" y="1097280"/>
            <a:ext cx="2286000" cy="164592"/>
          </a:xfrm>
          <a:prstGeom prst="roundRect">
            <a:avLst/>
          </a:prstGeom>
          <a:solidFill>
            <a:srgbClr val="34495E"/>
          </a:solidFill>
          <a:ln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13648" y="1600200"/>
            <a:ext cx="2121408" cy="164592"/>
          </a:xfrm>
          <a:prstGeom prst="roundRect">
            <a:avLst/>
          </a:prstGeom>
          <a:solidFill>
            <a:srgbClr val="34495E"/>
          </a:solidFill>
          <a:ln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06256" y="2103120"/>
            <a:ext cx="1956816" cy="164592"/>
          </a:xfrm>
          <a:prstGeom prst="roundRect">
            <a:avLst/>
          </a:prstGeom>
          <a:solidFill>
            <a:srgbClr val="34495E"/>
          </a:solidFill>
          <a:ln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98863" y="2606040"/>
            <a:ext cx="1792224" cy="164592"/>
          </a:xfrm>
          <a:prstGeom prst="roundRect">
            <a:avLst/>
          </a:prstGeom>
          <a:solidFill>
            <a:srgbClr val="34495E"/>
          </a:solidFill>
          <a:ln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491472" y="3108960"/>
            <a:ext cx="1627632" cy="164592"/>
          </a:xfrm>
          <a:prstGeom prst="roundRect">
            <a:avLst/>
          </a:prstGeom>
          <a:solidFill>
            <a:srgbClr val="34495E"/>
          </a:solidFill>
          <a:ln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078992"/>
            <a:ext cx="7315200" cy="20116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Noto Sans CJK SC"/>
              </a:rPr>
              <a:t>交易平台高可用改造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246120"/>
            <a:ext cx="6675120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Noto Sans CJK SC"/>
              </a:rPr>
              <a:t>技术架构评审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A9B7C6"/>
                </a:solidFill>
                <a:latin typeface="Noto Sans CJK SC"/>
              </a:rPr>
              <a:t>曙光交易平台｜架构评审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34495E"/>
                </a:solidFill>
                <a:latin typeface="Noto Sans CJK S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495E"/>
          </a:solidFill>
          <a:ln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现状架构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34495E"/>
          </a:solidFill>
          <a:ln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645920"/>
            <a:ext cx="502920" cy="502920"/>
          </a:xfrm>
          <a:prstGeom prst="roundRect">
            <a:avLst/>
          </a:prstGeom>
          <a:solidFill>
            <a:srgbClr val="34495E"/>
          </a:solidFill>
          <a:ln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691640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545336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0">
                <a:solidFill>
                  <a:srgbClr val="243447"/>
                </a:solidFill>
                <a:latin typeface="Noto Sans CJK SC"/>
              </a:rPr>
              <a:t>Kafka ISR报警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670048"/>
            <a:ext cx="502920" cy="502920"/>
          </a:xfrm>
          <a:prstGeom prst="roundRect">
            <a:avLst/>
          </a:prstGeom>
          <a:solidFill>
            <a:srgbClr val="34495E"/>
          </a:solidFill>
          <a:ln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715768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569464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0">
                <a:solidFill>
                  <a:srgbClr val="243447"/>
                </a:solidFill>
                <a:latin typeface="Noto Sans CJK SC"/>
              </a:rPr>
              <a:t>Kubernetes HPA扩容滞后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694176"/>
            <a:ext cx="502920" cy="502920"/>
          </a:xfrm>
          <a:prstGeom prst="roundRect">
            <a:avLst/>
          </a:prstGeom>
          <a:solidFill>
            <a:srgbClr val="34495E"/>
          </a:solidFill>
          <a:ln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3739896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3593592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0">
                <a:solidFill>
                  <a:srgbClr val="243447"/>
                </a:solidFill>
                <a:latin typeface="Noto Sans CJK SC"/>
              </a:rPr>
              <a:t>P99 GC pause 380ms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曙光交易平台｜架构评审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34495E"/>
                </a:solidFill>
                <a:latin typeface="Noto Sans CJK S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495E"/>
          </a:solidFill>
          <a:ln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故障恢复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34495E"/>
          </a:solidFill>
          <a:ln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13232" y="1536192"/>
          <a:ext cx="676656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818120" y="1536192"/>
            <a:ext cx="3675887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1874519"/>
            <a:ext cx="201168" cy="201168"/>
          </a:xfrm>
          <a:prstGeom prst="roundRect">
            <a:avLst/>
          </a:prstGeom>
          <a:solidFill>
            <a:srgbClr val="34495E"/>
          </a:solidFill>
          <a:ln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664208"/>
            <a:ext cx="2633472" cy="98755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0">
                <a:solidFill>
                  <a:srgbClr val="243447"/>
                </a:solidFill>
                <a:latin typeface="Noto Sans CJK SC"/>
              </a:rPr>
              <a:t>图表口径见输入材料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曙光交易平台｜架构评审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34495E"/>
                </a:solidFill>
                <a:latin typeface="Noto Sans CJK S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495E"/>
          </a:solidFill>
          <a:ln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改造项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34495E"/>
          </a:solidFill>
          <a:ln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3232" y="1572768"/>
          <a:ext cx="10771632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5816"/>
                <a:gridCol w="5385816"/>
              </a:tblGrid>
              <a:tr h="90297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</a:rPr>
                        <a:t>组件</a:t>
                      </a:r>
                    </a:p>
                  </a:txBody>
                  <a:tcPr marL="73152" marR="73152"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</a:rPr>
                        <a:t>方案</a:t>
                      </a:r>
                    </a:p>
                  </a:txBody>
                  <a:tcPr marL="73152" marR="73152">
                    <a:solidFill>
                      <a:srgbClr val="34495E"/>
                    </a:solidFill>
                  </a:tcPr>
                </a:tc>
              </a:tr>
              <a:tr h="90297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消息队列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ISR分层告警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90297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容器</a:t>
                      </a:r>
                    </a:p>
                  </a:txBody>
                  <a:tcPr marL="73152" marR="73152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HPA预热</a:t>
                      </a:r>
                    </a:p>
                  </a:txBody>
                  <a:tcPr marL="73152" marR="73152">
                    <a:solidFill>
                      <a:srgbClr val="EEF3F7"/>
                    </a:solidFill>
                  </a:tcPr>
                </a:tc>
              </a:tr>
              <a:tr h="90297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JVM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GC参数调优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曙光交易平台｜架构评审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34495E"/>
                </a:solidFill>
                <a:latin typeface="Noto Sans CJK S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495E"/>
          </a:solidFill>
          <a:ln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容量与成本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34495E"/>
          </a:solidFill>
          <a:ln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572768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847088"/>
            <a:ext cx="3072384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34495E"/>
                </a:solidFill>
                <a:latin typeface="Noto Sans CJK SC"/>
              </a:rPr>
              <a:t>99.95%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15184"/>
            <a:ext cx="3072384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84"/>
                </a:solidFill>
                <a:latin typeface="Noto Sans CJK SC"/>
              </a:rPr>
              <a:t>SLO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572768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847088"/>
            <a:ext cx="3072384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34495E"/>
                </a:solidFill>
                <a:latin typeface="Noto Sans CJK SC"/>
              </a:rPr>
              <a:t>320万元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615184"/>
            <a:ext cx="3072384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84"/>
                </a:solidFill>
                <a:latin typeface="Noto Sans CJK SC"/>
              </a:rPr>
              <a:t>年化节省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4" y="1572768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847088"/>
            <a:ext cx="3072384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34495E"/>
                </a:solidFill>
                <a:latin typeface="Noto Sans CJK SC"/>
              </a:rPr>
              <a:t>6周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615184"/>
            <a:ext cx="3072384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84"/>
                </a:solidFill>
                <a:latin typeface="Noto Sans CJK SC"/>
              </a:rPr>
              <a:t>上线周期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曙光交易平台｜架构评审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34495E"/>
                </a:solidFill>
                <a:latin typeface="Noto Sans CJK S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495E"/>
          </a:solidFill>
          <a:ln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风险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34495E"/>
          </a:solidFill>
          <a:ln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645920"/>
            <a:ext cx="502920" cy="502920"/>
          </a:xfrm>
          <a:prstGeom prst="roundRect">
            <a:avLst/>
          </a:prstGeom>
          <a:solidFill>
            <a:srgbClr val="34495E"/>
          </a:solidFill>
          <a:ln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691640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545336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0">
                <a:solidFill>
                  <a:srgbClr val="243447"/>
                </a:solidFill>
                <a:latin typeface="Noto Sans CJK SC"/>
              </a:rPr>
              <a:t>切流期间需安排回退窗口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670048"/>
            <a:ext cx="502920" cy="502920"/>
          </a:xfrm>
          <a:prstGeom prst="roundRect">
            <a:avLst/>
          </a:prstGeom>
          <a:solidFill>
            <a:srgbClr val="34495E"/>
          </a:solidFill>
          <a:ln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715768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569464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0">
                <a:solidFill>
                  <a:srgbClr val="243447"/>
                </a:solidFill>
                <a:latin typeface="Noto Sans CJK SC"/>
              </a:rPr>
              <a:t>试点结果尚未覆盖大促峰值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曙光交易平台｜架构评审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34495E"/>
                </a:solidFill>
                <a:latin typeface="Noto Sans CJK S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495E"/>
          </a:solidFill>
          <a:ln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Noto Sans CJK SC"/>
              </a:rPr>
              <a:t>实施计划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34495E"/>
          </a:solidFill>
          <a:ln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645920"/>
            <a:ext cx="502920" cy="502920"/>
          </a:xfrm>
          <a:prstGeom prst="roundRect">
            <a:avLst/>
          </a:prstGeom>
          <a:solidFill>
            <a:srgbClr val="34495E"/>
          </a:solidFill>
          <a:ln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691640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545336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Noto Sans CJK SC"/>
              </a:rPr>
              <a:t>灰度、扩大、全量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A9B7C6"/>
                </a:solidFill>
                <a:latin typeface="Noto Sans CJK SC"/>
              </a:rPr>
              <a:t>曙光交易平台｜架构评审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34495E"/>
                </a:solidFill>
                <a:latin typeface="Noto Sans CJK SC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交易平台架构评审_技术版</dc:title>
  <dc:subject>synthetic-input-deck</dc:subject>
  <dc:creator>CoworkEvoBench synthetic input</dc:creator>
  <cp:keywords>CoworkEvoBench, synthetic, PowerPoint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