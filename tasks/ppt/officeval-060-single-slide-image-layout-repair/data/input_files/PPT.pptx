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8" r:id="rId5"/>
    <p:sldId id="260" r:id="rId6"/>
    <p:sldId id="25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AA66"/>
    <a:srgbClr val="DD786F"/>
    <a:srgbClr val="8BC6DF"/>
    <a:srgbClr val="C5E2E9"/>
    <a:srgbClr val="78BDDC"/>
    <a:srgbClr val="DD6762"/>
    <a:srgbClr val="DD6964"/>
    <a:srgbClr val="FFFFFF"/>
    <a:srgbClr val="ECB3A0"/>
    <a:srgbClr val="DC95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2586" y="1932"/>
      </p:cViewPr>
      <p:guideLst>
        <p:guide orient="horz" pos="2160"/>
        <p:guide pos="38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p_wetland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635" cy="696658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502920"/>
            <a:ext cx="4754880" cy="5852160"/>
          </a:xfrm>
          <a:prstGeom prst="roundRect">
            <a:avLst/>
          </a:prstGeom>
          <a:solidFill>
            <a:srgbClr val="123E2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4242816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湿地物联网水质净化系统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4944" y="1472184"/>
            <a:ext cx="1828800" cy="27432"/>
          </a:xfrm>
          <a:prstGeom prst="rect">
            <a:avLst/>
          </a:prstGeom>
          <a:solidFill>
            <a:srgbClr val="66A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4242816" cy="7772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400" b="0">
                <a:solidFill>
                  <a:srgbClr val="E9F2F6"/>
                </a:solidFill>
                <a:latin typeface="微软雅黑" panose="020B0503020204020204" charset="-122"/>
              </a:rPr>
              <a:t>太阳能传感器、分级植物床与在线水样检测协同运行</a:t>
            </a:r>
            <a:endParaRPr sz="1400" b="0">
              <a:solidFill>
                <a:srgbClr val="E9F2F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2468880"/>
            <a:ext cx="4133088" cy="20574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浑浊进水经沉降、植物根区与微生物膜逐级削减颗粒物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边缘传感器实时回传水位、浊度与溶氧变化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末端清水区用于复核采样与生态补水回用</a:t>
            </a:r>
            <a:endParaRPr sz="15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6656" y="4892040"/>
            <a:ext cx="1984248" cy="393192"/>
          </a:xfrm>
          <a:prstGeom prst="roundRect">
            <a:avLst/>
          </a:prstGeom>
          <a:solidFill>
            <a:srgbClr val="66A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进水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62072" y="4892040"/>
            <a:ext cx="1984248" cy="393192"/>
          </a:xfrm>
          <a:prstGeom prst="roundRect">
            <a:avLst/>
          </a:prstGeom>
          <a:solidFill>
            <a:srgbClr val="66A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1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根区反应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6656" y="5458968"/>
            <a:ext cx="1984248" cy="393192"/>
          </a:xfrm>
          <a:prstGeom prst="roundRect">
            <a:avLst/>
          </a:prstGeom>
          <a:solidFill>
            <a:srgbClr val="66A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在线监测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862072" y="5458968"/>
            <a:ext cx="1984248" cy="393192"/>
          </a:xfrm>
          <a:prstGeom prst="roundRect">
            <a:avLst/>
          </a:prstGeom>
          <a:solidFill>
            <a:srgbClr val="66A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1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出水回用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138428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微软雅黑" panose="020B0503020204020204" charset="-122"/>
              </a:rPr>
              <a:t>工艺说明：太阳能传感器、分级植物床与在线水样检测协同运行</a:t>
            </a:r>
            <a:endParaRPr sz="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p_bioga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2184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022592" y="502920"/>
            <a:ext cx="4754880" cy="5852160"/>
          </a:xfrm>
          <a:prstGeom prst="roundRect">
            <a:avLst/>
          </a:prstGeom>
          <a:solidFill>
            <a:srgbClr val="3F28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78624" y="758952"/>
            <a:ext cx="4242816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餐厨残渣厌氧发酵与沼气追踪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33488" y="1472184"/>
            <a:ext cx="1828800" cy="27432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78624" y="1581912"/>
            <a:ext cx="4242816" cy="7772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400" b="0">
                <a:solidFill>
                  <a:srgbClr val="E9F2F6"/>
                </a:solidFill>
                <a:latin typeface="微软雅黑" panose="020B0503020204020204" charset="-122"/>
              </a:rPr>
              <a:t>密闭反应器、气囊储存与数据面板形成闭环监控</a:t>
            </a:r>
            <a:endParaRPr sz="1400" b="0">
              <a:solidFill>
                <a:srgbClr val="E9F2F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33488" y="2468880"/>
            <a:ext cx="4133088" cy="20574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有机残渣在恒温罐内完成水解、酸化与产甲烷过程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压力、温度与产气量通过节点设备同步采集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沼气进入柔性储袋，异常波动触发运行参数调整</a:t>
            </a:r>
            <a:endParaRPr sz="15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0" y="4892040"/>
            <a:ext cx="1984248" cy="393192"/>
          </a:xfrm>
          <a:prstGeom prst="round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投料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500616" y="4892040"/>
            <a:ext cx="1984248" cy="393192"/>
          </a:xfrm>
          <a:prstGeom prst="round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46336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发酵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0" y="5458968"/>
            <a:ext cx="1984248" cy="393192"/>
          </a:xfrm>
          <a:prstGeom prst="round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储气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500616" y="5458968"/>
            <a:ext cx="1984248" cy="393192"/>
          </a:xfrm>
          <a:prstGeom prst="round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调参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138428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微软雅黑" panose="020B0503020204020204" charset="-122"/>
              </a:rPr>
              <a:t>工艺说明：密闭反应器、气囊储存与数据面板形成闭环监控</a:t>
            </a:r>
            <a:endParaRPr sz="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p_electr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74370"/>
            <a:ext cx="12085320" cy="820610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502920"/>
            <a:ext cx="4754880" cy="5852160"/>
          </a:xfrm>
          <a:prstGeom prst="roundRect">
            <a:avLst/>
          </a:prstGeom>
          <a:solidFill>
            <a:srgbClr val="0F2A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4242816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电化学反应器强化去污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4944" y="1472184"/>
            <a:ext cx="1828800" cy="27432"/>
          </a:xfrm>
          <a:prstGeom prst="rect">
            <a:avLst/>
          </a:prstGeom>
          <a:solidFill>
            <a:srgbClr val="5BA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4242816" cy="7772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400" b="0">
                <a:solidFill>
                  <a:srgbClr val="E9F2F6"/>
                </a:solidFill>
                <a:latin typeface="微软雅黑" panose="020B0503020204020204" charset="-122"/>
              </a:rPr>
              <a:t>透明流道中电极板调控颗粒絮凝与溶解污染物剥离</a:t>
            </a:r>
            <a:endParaRPr sz="1400" b="0">
              <a:solidFill>
                <a:srgbClr val="E9F2F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2468880"/>
            <a:ext cx="4133088" cy="20574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电极阵列形成稳定微电场，促进胶体颗粒聚集沉降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循环流道保持剪切强度，避免局部堵塞和短流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控制端根据电导率与流量变化调节脉冲强度</a:t>
            </a:r>
            <a:endParaRPr sz="15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6656" y="4892040"/>
            <a:ext cx="1984248" cy="393192"/>
          </a:xfrm>
          <a:prstGeom prst="roundRect">
            <a:avLst/>
          </a:prstGeom>
          <a:solidFill>
            <a:srgbClr val="5BA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电极阵列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62072" y="4892040"/>
            <a:ext cx="1984248" cy="393192"/>
          </a:xfrm>
          <a:prstGeom prst="roundRect">
            <a:avLst/>
          </a:prstGeom>
          <a:solidFill>
            <a:srgbClr val="5BA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1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循环流道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6656" y="5458968"/>
            <a:ext cx="1984248" cy="393192"/>
          </a:xfrm>
          <a:prstGeom prst="roundRect">
            <a:avLst/>
          </a:prstGeom>
          <a:solidFill>
            <a:srgbClr val="5BA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脉冲控制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862072" y="5458968"/>
            <a:ext cx="1984248" cy="393192"/>
          </a:xfrm>
          <a:prstGeom prst="roundRect">
            <a:avLst/>
          </a:prstGeom>
          <a:solidFill>
            <a:srgbClr val="5BA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1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稳定出水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138428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微软雅黑" panose="020B0503020204020204" charset="-122"/>
              </a:rPr>
              <a:t>工艺说明：透明流道中电极板调控颗粒絮凝与溶解污染物剥离</a:t>
            </a:r>
            <a:endParaRPr sz="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p_filt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410" y="-1483360"/>
            <a:ext cx="11742420" cy="116509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022592" y="502920"/>
            <a:ext cx="4754880" cy="5852160"/>
          </a:xfrm>
          <a:prstGeom prst="roundRect">
            <a:avLst/>
          </a:prstGeom>
          <a:solidFill>
            <a:srgbClr val="0D3B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78624" y="758952"/>
            <a:ext cx="4242816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多级膜分离与清水回用链路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33488" y="1472184"/>
            <a:ext cx="1828800" cy="27432"/>
          </a:xfrm>
          <a:prstGeom prst="rect">
            <a:avLst/>
          </a:prstGeom>
          <a:solidFill>
            <a:srgbClr val="2BB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78624" y="1581912"/>
            <a:ext cx="4242816" cy="7772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400" b="0">
                <a:solidFill>
                  <a:srgbClr val="E9F2F6"/>
                </a:solidFill>
                <a:latin typeface="微软雅黑" panose="020B0503020204020204" charset="-122"/>
              </a:rPr>
              <a:t>预处理、膜组件与透明水箱构成连续式中试平台</a:t>
            </a:r>
            <a:endParaRPr sz="1400" b="0">
              <a:solidFill>
                <a:srgbClr val="E9F2F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33488" y="2468880"/>
            <a:ext cx="4133088" cy="20574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左侧高浊度水进入预处理罐，去除大颗粒与悬浮物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中段膜堆完成深度分离，压差信号用于判断清洗周期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右侧清水箱作为回用缓冲，便于后续稳定供水</a:t>
            </a:r>
            <a:endParaRPr sz="15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0" y="4892040"/>
            <a:ext cx="1984248" cy="393192"/>
          </a:xfrm>
          <a:prstGeom prst="roundRect">
            <a:avLst/>
          </a:prstGeom>
          <a:solidFill>
            <a:srgbClr val="2BB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预处理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500616" y="4892040"/>
            <a:ext cx="1984248" cy="393192"/>
          </a:xfrm>
          <a:prstGeom prst="roundRect">
            <a:avLst/>
          </a:prstGeom>
          <a:solidFill>
            <a:srgbClr val="2BB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46336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膜分离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0" y="5458968"/>
            <a:ext cx="1984248" cy="393192"/>
          </a:xfrm>
          <a:prstGeom prst="roundRect">
            <a:avLst/>
          </a:prstGeom>
          <a:solidFill>
            <a:srgbClr val="2BB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压差判读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500616" y="5458968"/>
            <a:ext cx="1984248" cy="393192"/>
          </a:xfrm>
          <a:prstGeom prst="roundRect">
            <a:avLst/>
          </a:prstGeom>
          <a:solidFill>
            <a:srgbClr val="2BB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回用缓冲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138428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微软雅黑" panose="020B0503020204020204" charset="-122"/>
              </a:rPr>
              <a:t>工艺说明：预处理、膜组件与透明水箱构成连续式中试平台</a:t>
            </a:r>
            <a:endParaRPr sz="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p_adsorb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-635"/>
            <a:ext cx="12713970" cy="685863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502920"/>
            <a:ext cx="4754880" cy="5852160"/>
          </a:xfrm>
          <a:prstGeom prst="roundRect">
            <a:avLst/>
          </a:prstGeom>
          <a:solidFill>
            <a:srgbClr val="29302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4242816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吸附柱捕集与显微验证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4944" y="1472184"/>
            <a:ext cx="1828800" cy="27432"/>
          </a:xfrm>
          <a:prstGeom prst="rect">
            <a:avLst/>
          </a:prstGeom>
          <a:solidFill>
            <a:srgbClr val="77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4242816" cy="7772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400" b="0">
                <a:solidFill>
                  <a:srgbClr val="E9F2F6"/>
                </a:solidFill>
                <a:latin typeface="微软雅黑" panose="020B0503020204020204" charset="-122"/>
              </a:rPr>
              <a:t>炭基填料、样品瓶与显微观察用于确认微颗粒去除效果</a:t>
            </a:r>
            <a:endParaRPr sz="1400" b="0">
              <a:solidFill>
                <a:srgbClr val="E9F2F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2468880"/>
            <a:ext cx="4133088" cy="20574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河道来水通过双柱填料，微塑料与金属颗粒被截留吸附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分级样品瓶展示浊度逐步下降的过程变化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显微图像复核填料表面负载状态，支撑工艺优化</a:t>
            </a:r>
            <a:endParaRPr sz="15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6656" y="4892040"/>
            <a:ext cx="1984248" cy="393192"/>
          </a:xfrm>
          <a:prstGeom prst="roundRect">
            <a:avLst/>
          </a:prstGeom>
          <a:solidFill>
            <a:srgbClr val="77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河道取样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62072" y="4892040"/>
            <a:ext cx="1984248" cy="393192"/>
          </a:xfrm>
          <a:prstGeom prst="roundRect">
            <a:avLst/>
          </a:prstGeom>
          <a:solidFill>
            <a:srgbClr val="77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1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炭基吸附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6656" y="5458968"/>
            <a:ext cx="1984248" cy="393192"/>
          </a:xfrm>
          <a:prstGeom prst="roundRect">
            <a:avLst/>
          </a:prstGeom>
          <a:solidFill>
            <a:srgbClr val="77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样品对比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862072" y="5458968"/>
            <a:ext cx="1984248" cy="393192"/>
          </a:xfrm>
          <a:prstGeom prst="roundRect">
            <a:avLst/>
          </a:prstGeom>
          <a:solidFill>
            <a:srgbClr val="77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1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显微复核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138428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微软雅黑" panose="020B0503020204020204" charset="-122"/>
              </a:rPr>
              <a:t>工艺说明：炭基填料、样品瓶与显微观察用于确认微颗粒去除效果</a:t>
            </a:r>
            <a:endParaRPr sz="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WPS 演示</Application>
  <PresentationFormat>宽屏</PresentationFormat>
  <Paragraphs>80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