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8" r:id="rId5"/>
    <p:sldId id="260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AA66"/>
    <a:srgbClr val="DD786F"/>
    <a:srgbClr val="8BC6DF"/>
    <a:srgbClr val="C5E2E9"/>
    <a:srgbClr val="78BDDC"/>
    <a:srgbClr val="DD6762"/>
    <a:srgbClr val="DD6964"/>
    <a:srgbClr val="FFFFFF"/>
    <a:srgbClr val="ECB3A0"/>
    <a:srgbClr val="DC95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2586" y="1932"/>
      </p:cViewPr>
      <p:guideLst>
        <p:guide orient="horz" pos="2160"/>
        <p:guide pos="3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wetland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635" cy="696658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502920"/>
            <a:ext cx="4754880" cy="5852160"/>
          </a:xfrm>
          <a:prstGeom prst="roundRect">
            <a:avLst/>
          </a:prstGeom>
          <a:solidFill>
            <a:srgbClr val="123E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湿地物联网水质净化系统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944" y="1472184"/>
            <a:ext cx="1828800" cy="27432"/>
          </a:xfrm>
          <a:prstGeom prst="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太阳能传感器、分级植物床与在线水样检测协同运行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浑浊进水经沉降、植物根区与微生物膜逐级削减颗粒物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边缘传感器实时回传水位、浊度与溶氧变化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末端清水区用于复核采样与生态补水回用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" y="4892040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进水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62072" y="4892040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根区反应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" y="5458968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在线监测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5458968"/>
            <a:ext cx="1984248" cy="393192"/>
          </a:xfrm>
          <a:prstGeom prst="roundRect">
            <a:avLst/>
          </a:prstGeom>
          <a:solidFill>
            <a:srgbClr val="66AD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出水回用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工艺说明：太阳能传感器、分级植物床与在线水样检测协同运行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bioga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2184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022592" y="502920"/>
            <a:ext cx="4754880" cy="5852160"/>
          </a:xfrm>
          <a:prstGeom prst="roundRect">
            <a:avLst/>
          </a:prstGeom>
          <a:solidFill>
            <a:srgbClr val="3F281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78624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餐厨残渣厌氧发酵与沼气追踪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33488" y="1472184"/>
            <a:ext cx="1828800" cy="27432"/>
          </a:xfrm>
          <a:prstGeom prst="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78624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密闭反应器、气囊储存与数据面板形成闭环监控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33488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有机残渣在恒温罐内完成水解、酸化与产甲烷过程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压力、温度与产气量通过节点设备同步采集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沼气进入柔性储袋，异常波动触发运行参数调整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0" y="4892040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投料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00616" y="4892040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4633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发酵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0" y="5458968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储气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00616" y="5458968"/>
            <a:ext cx="1984248" cy="393192"/>
          </a:xfrm>
          <a:prstGeom prst="roundRect">
            <a:avLst/>
          </a:prstGeom>
          <a:solidFill>
            <a:srgbClr val="FFA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调参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工艺说明：密闭反应器、气囊储存与数据面板形成闭环监控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electr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74370"/>
            <a:ext cx="12085320" cy="820610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502920"/>
            <a:ext cx="4754880" cy="5852160"/>
          </a:xfrm>
          <a:prstGeom prst="roundRect">
            <a:avLst/>
          </a:prstGeom>
          <a:solidFill>
            <a:srgbClr val="0F2A4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电化学反应器强化去污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944" y="1472184"/>
            <a:ext cx="1828800" cy="27432"/>
          </a:xfrm>
          <a:prstGeom prst="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透明流道中电极板调控颗粒絮凝与溶解污染物剥离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电极阵列形成稳定微电场，促进胶体颗粒聚集沉降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循环流道保持剪切强度，避免局部堵塞和短流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控制端根据电导率与流量变化调节脉冲强度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" y="4892040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电极阵列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62072" y="4892040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循环流道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" y="5458968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脉冲控制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5458968"/>
            <a:ext cx="1984248" cy="393192"/>
          </a:xfrm>
          <a:prstGeom prst="roundRect">
            <a:avLst/>
          </a:prstGeom>
          <a:solidFill>
            <a:srgbClr val="5BA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稳定出水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工艺说明：透明流道中电极板调控颗粒絮凝与溶解污染物剥离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filter.jpg"/>
          <p:cNvPicPr>
            <a:picLocks noChangeAspect="1"/>
          </p:cNvPicPr>
          <p:nvPr/>
        </p:nvPicPr>
        <p:blipFill>
          <a:blip r:embed="rId1"/>
          <a:srcRect t="6154" b="615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022592" y="502920"/>
            <a:ext cx="4754880" cy="5852160"/>
          </a:xfrm>
          <a:prstGeom prst="roundRect">
            <a:avLst/>
          </a:prstGeom>
          <a:solidFill>
            <a:srgbClr val="0D3B4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78624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多级膜分离与清水回用链路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33488" y="1472184"/>
            <a:ext cx="1828800" cy="27432"/>
          </a:xfrm>
          <a:prstGeom prst="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78624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预处理、膜组件与透明水箱构成连续式中试平台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33488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左侧高浊度水进入预处理罐，去除大颗粒与悬浮物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中段膜堆完成深度分离，压差信号用于判断清洗周期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右侧清水箱作为回用缓冲，便于后续稳定供水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0" y="4892040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60920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预处理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500616" y="4892040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4633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膜分离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315200" y="5458968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压差判读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500616" y="5458968"/>
            <a:ext cx="1984248" cy="393192"/>
          </a:xfrm>
          <a:prstGeom prst="roundRect">
            <a:avLst/>
          </a:prstGeom>
          <a:solidFill>
            <a:srgbClr val="2BB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4633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回用缓冲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工艺说明：预处理、膜组件与透明水箱构成连续式中试平台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rop_adsorb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12713970" cy="6858635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502920"/>
            <a:ext cx="4754880" cy="5852160"/>
          </a:xfrm>
          <a:prstGeom prst="roundRect">
            <a:avLst/>
          </a:prstGeom>
          <a:solidFill>
            <a:srgbClr val="29302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58952"/>
            <a:ext cx="4242816" cy="64008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charset="-122"/>
              </a:rPr>
              <a:t>吸附柱捕集与显微验证</a:t>
            </a:r>
            <a:endParaRPr sz="28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4944" y="1472184"/>
            <a:ext cx="1828800" cy="27432"/>
          </a:xfrm>
          <a:prstGeom prst="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81912"/>
            <a:ext cx="4242816" cy="77724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/>
            <a:r>
              <a:rPr sz="1400" b="0">
                <a:solidFill>
                  <a:srgbClr val="E9F2F6"/>
                </a:solidFill>
                <a:latin typeface="微软雅黑" panose="020B0503020204020204" charset="-122"/>
              </a:rPr>
              <a:t>炭基填料、样品瓶与显微观察用于确认微颗粒去除效果</a:t>
            </a:r>
            <a:endParaRPr sz="1400" b="0">
              <a:solidFill>
                <a:srgbClr val="E9F2F6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468880"/>
            <a:ext cx="4133088" cy="2057400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河道来水通过双柱填料，微塑料与金属颗粒被截留吸附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分级样品瓶展示浊度逐步下降的过程变化</a:t>
            </a:r>
            <a:br>
              <a:rPr sz="1500" b="0">
                <a:solidFill>
                  <a:srgbClr val="FFFFFF"/>
                </a:solidFill>
                <a:latin typeface="微软雅黑" panose="020B0503020204020204" charset="-122"/>
              </a:rPr>
            </a:br>
            <a:r>
              <a:rPr sz="1500" b="0">
                <a:solidFill>
                  <a:srgbClr val="FFFFFF"/>
                </a:solidFill>
                <a:latin typeface="微软雅黑" panose="020B0503020204020204" charset="-122"/>
              </a:rPr>
              <a:t>• 显微图像复核填料表面负载状态，支撑工艺优化</a:t>
            </a:r>
            <a:endParaRPr sz="15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6656" y="4892040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河道取样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62072" y="4892040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1" y="4910327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炭基吸附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6656" y="5458968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样品对比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862072" y="5458968"/>
            <a:ext cx="1984248" cy="393192"/>
          </a:xfrm>
          <a:prstGeom prst="roundRect">
            <a:avLst/>
          </a:prstGeom>
          <a:solidFill>
            <a:srgbClr val="778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1" y="5477255"/>
            <a:ext cx="1892807" cy="356616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显微复核</a:t>
            </a:r>
            <a:endParaRPr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6446520"/>
            <a:ext cx="11384280" cy="256032"/>
          </a:xfrm>
          <a:prstGeom prst="rect">
            <a:avLst/>
          </a:prstGeom>
          <a:noFill/>
        </p:spPr>
        <p:txBody>
          <a:bodyPr wrap="square" lIns="54864" tIns="18288" rIns="54864" bIns="18288" anchor="ctr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微软雅黑" panose="020B0503020204020204" charset="-122"/>
              </a:rPr>
              <a:t>工艺说明：炭基填料、样品瓶与显微观察用于确认微颗粒去除效果</a:t>
            </a:r>
            <a:endParaRPr sz="800" b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WPS 演示</Application>
  <PresentationFormat>宽屏</PresentationFormat>
  <Paragraphs>80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/>
</file>