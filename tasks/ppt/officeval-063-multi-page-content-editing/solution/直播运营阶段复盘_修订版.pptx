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3"/>
  <c:chart>
    <c:title>
      <c:tx>
        <c:rich>
          <a:bodyPr/>
          <a:lstStyle/>
          <a:p>
            <a:pPr algn="ctr"/>
            <a:r>
              <a:rPr sz="1600" b="1">
                <a:solidFill>
                  <a:srgbClr val="17343C"/>
                </a:solidFill>
                <a:latin typeface="Microsoft YaHei"/>
              </a:rPr>
              <a:t>月度营收与盈利比值趋势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营收数值</c:v>
                </c:pt>
              </c:strCache>
            </c:strRef>
          </c:tx>
          <c:spPr>
            <a:ln w="31750">
              <a:solidFill>
                <a:srgbClr val="20A6A8"/>
              </a:solidFill>
            </a:ln>
          </c:spPr>
          <c:marker>
            <c:symbol val="circle"/>
            <c:size val="8"/>
          </c:marker>
          <c:cat>
            <c:strRef>
              <c:f>Sheet1!$A$2:$A$6</c:f>
              <c:strCache>
                <c:ptCount val="5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68000</c:v>
                </c:pt>
                <c:pt idx="1">
                  <c:v>352000</c:v>
                </c:pt>
                <c:pt idx="2">
                  <c:v>486000</c:v>
                </c:pt>
                <c:pt idx="3">
                  <c:v>423000</c:v>
                </c:pt>
                <c:pt idx="4">
                  <c:v>579000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盈利比值</c:v>
                </c:pt>
              </c:strCache>
            </c:strRef>
          </c:tx>
          <c:spPr>
            <a:ln w="31750">
              <a:solidFill>
                <a:srgbClr val="F0A45D"/>
              </a:solidFill>
            </a:ln>
          </c:spPr>
          <c:marker>
            <c:symbol val="diamond"/>
            <c:size val="8"/>
          </c:marker>
          <c:cat>
            <c:strRef>
              <c:f>Sheet1!$A$2:$A$6</c:f>
              <c:strCache>
                <c:ptCount val="5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1.42</c:v>
                </c:pt>
                <c:pt idx="1">
                  <c:v>1.56</c:v>
                </c:pt>
                <c:pt idx="2">
                  <c:v>1.71</c:v>
                </c:pt>
                <c:pt idx="3">
                  <c:v>1.63</c:v>
                </c:pt>
                <c:pt idx="4">
                  <c:v>1.85</c:v>
                </c:pt>
              </c:numCache>
            </c:numRef>
          </c:val>
          <c:smooth/>
        </c:ser>
        <c:marker val="1"/>
        <c:smooth val="0"/>
        <c:axId val="2140496177"/>
        <c:axId val="2140497178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5E737A"/>
                </a:solidFill>
                <a:latin typeface="Microsoft YaHe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600000.0"/>
          <c:min val="0.0"/>
        </c:scaling>
        <c:delete val="0"/>
        <c:axPos val="l"/>
        <c:majorGridlines/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5E737A"/>
                </a:solidFill>
                <a:latin typeface="Microsoft YaHei"/>
              </a:defRPr>
            </a:pPr>
          </a:p>
        </c:txPr>
        <c:crossAx val="2118791784"/>
        <c:crosses val="autoZero"/>
        <c:majorUnit val="100000.0"/>
      </c:valAx>
      <c:catAx>
        <c:axId val="2140496177"/>
        <c:scaling>
          <c:orientation val="minMax"/>
        </c:scaling>
        <c:delete val="1"/>
        <c:axPos val="t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5E737A"/>
                </a:solidFill>
                <a:latin typeface="Microsoft YaHei"/>
              </a:defRPr>
            </a:pPr>
          </a:p>
        </c:txPr>
        <c:crossAx val="2140497178"/>
        <c:crosses val="max"/>
        <c:auto val="1"/>
        <c:lblAlgn val="ctr"/>
        <c:lblOffset val="100"/>
        <c:noMultiLvlLbl val="0"/>
      </c:catAx>
      <c:valAx>
        <c:axId val="2140497178"/>
        <c:scaling>
          <c:max val="1.9"/>
          <c:min val="1.3"/>
        </c:scaling>
        <c:delete val="0"/>
        <c:axPos val="r"/>
        <c:majorGridlines/>
        <c:numFmt formatCode="0.00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5E737A"/>
                </a:solidFill>
                <a:latin typeface="Microsoft YaHei"/>
              </a:defRPr>
            </a:pPr>
          </a:p>
        </c:txPr>
        <c:crossAx val="2140496177"/>
        <c:crosses val="max"/>
        <c:majorUnit val="0.1"/>
      </c:valAx>
    </c:plotArea>
    <c:legend>
      <c:legendPos val="b"/>
      <c:layout/>
      <c:overlay val="0"/>
      <c:txPr>
        <a:bodyPr/>
        <a:lstStyle/>
        <a:p>
          <a:pPr>
            <a:defRPr sz="900">
              <a:latin typeface="Microsoft YaHei"/>
            </a:defRPr>
          </a:pPr>
        </a:p>
      </c:txPr>
    </c:legend>
    <c:plotVisOnly val="1"/>
    <c:dispBlanksAs val="gap"/>
    <c:showDLblsOverMax val="0"/>
  </c:chart>
  <c:spPr>
    <a:solidFill>
      <a:srgbClr val="FFFFFF">
        <a:alpha val="93000"/>
      </a:srgbClr>
    </a:solidFill>
    <a:ln w="12700">
      <a:solidFill>
        <a:srgbClr val="B9DDE0"/>
      </a:solidFill>
    </a:ln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tags" Target="../tags/tag7.xml"/><Relationship Id="rId8" Type="http://schemas.openxmlformats.org/officeDocument/2006/relationships/tags" Target="../tags/tag8.xml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tags" Target="../tags/tag9.xml"/><Relationship Id="rId3" Type="http://schemas.openxmlformats.org/officeDocument/2006/relationships/tags" Target="../tags/tag10.xml"/><Relationship Id="rId4" Type="http://schemas.openxmlformats.org/officeDocument/2006/relationships/tags" Target="../tags/tag11.xml"/><Relationship Id="rId5" Type="http://schemas.openxmlformats.org/officeDocument/2006/relationships/tags" Target="../tags/tag12.xml"/><Relationship Id="rId6" Type="http://schemas.openxmlformats.org/officeDocument/2006/relationships/tags" Target="../tags/tag13.xml"/><Relationship Id="rId7" Type="http://schemas.openxmlformats.org/officeDocument/2006/relationships/tags" Target="../tags/tag14.xml"/><Relationship Id="rId8" Type="http://schemas.openxmlformats.org/officeDocument/2006/relationships/tags" Target="../tags/tag15.xml"/><Relationship Id="rId9" Type="http://schemas.openxmlformats.org/officeDocument/2006/relationships/tags" Target="../tags/tag16.xml"/><Relationship Id="rId10" Type="http://schemas.openxmlformats.org/officeDocument/2006/relationships/tags" Target="../tags/tag17.xml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tags" Target="../tags/tag19.xml"/><Relationship Id="rId3" Type="http://schemas.openxmlformats.org/officeDocument/2006/relationships/tags" Target="../tags/tag20.xml"/><Relationship Id="rId4" Type="http://schemas.openxmlformats.org/officeDocument/2006/relationships/tags" Target="../tags/tag21.xml"/><Relationship Id="rId5" Type="http://schemas.openxmlformats.org/officeDocument/2006/relationships/tags" Target="../tags/tag22.xml"/><Relationship Id="rId6" Type="http://schemas.openxmlformats.org/officeDocument/2006/relationships/tags" Target="../tags/tag23.xml"/><Relationship Id="rId7" Type="http://schemas.openxmlformats.org/officeDocument/2006/relationships/tags" Target="../tags/tag24.xml"/><Relationship Id="rId8" Type="http://schemas.openxmlformats.org/officeDocument/2006/relationships/tags" Target="../tags/tag25.xml"/><Relationship Id="rId9" Type="http://schemas.openxmlformats.org/officeDocument/2006/relationships/tags" Target="../tags/tag26.xml"/><Relationship Id="rId10" Type="http://schemas.openxmlformats.org/officeDocument/2006/relationships/tags" Target="../tags/tag27.xml"/><Relationship Id="rId11" Type="http://schemas.openxmlformats.org/officeDocument/2006/relationships/tags" Target="../tags/tag28.xml"/><Relationship Id="rId12" Type="http://schemas.openxmlformats.org/officeDocument/2006/relationships/tags" Target="../tags/tag29.xml"/><Relationship Id="rId13" Type="http://schemas.openxmlformats.org/officeDocument/2006/relationships/image" Target="../media/image4.jpe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tags" Target="../tags/tag31.xml"/><Relationship Id="rId3" Type="http://schemas.openxmlformats.org/officeDocument/2006/relationships/tags" Target="../tags/tag32.xml"/><Relationship Id="rId4" Type="http://schemas.openxmlformats.org/officeDocument/2006/relationships/tags" Target="../tags/tag33.xml"/><Relationship Id="rId5" Type="http://schemas.openxmlformats.org/officeDocument/2006/relationships/tags" Target="../tags/tag34.xml"/><Relationship Id="rId6" Type="http://schemas.openxmlformats.org/officeDocument/2006/relationships/tags" Target="../tags/tag35.xml"/><Relationship Id="rId7" Type="http://schemas.openxmlformats.org/officeDocument/2006/relationships/tags" Target="../tags/tag36.xml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37.xml"/><Relationship Id="rId2" Type="http://schemas.openxmlformats.org/officeDocument/2006/relationships/tags" Target="../tags/tag38.xml"/><Relationship Id="rId3" Type="http://schemas.openxmlformats.org/officeDocument/2006/relationships/tags" Target="../tags/tag39.xml"/><Relationship Id="rId4" Type="http://schemas.openxmlformats.org/officeDocument/2006/relationships/tags" Target="../tags/tag40.xml"/><Relationship Id="rId5" Type="http://schemas.openxmlformats.org/officeDocument/2006/relationships/tags" Target="../tags/tag41.xml"/><Relationship Id="rId6" Type="http://schemas.openxmlformats.org/officeDocument/2006/relationships/tags" Target="../tags/tag42.xml"/><Relationship Id="rId7" Type="http://schemas.openxmlformats.org/officeDocument/2006/relationships/tags" Target="../tags/tag43.xml"/><Relationship Id="rId8" Type="http://schemas.openxmlformats.org/officeDocument/2006/relationships/tags" Target="../tags/tag44.xml"/><Relationship Id="rId9" Type="http://schemas.openxmlformats.org/officeDocument/2006/relationships/tags" Target="../tags/tag45.xml"/><Relationship Id="rId10" Type="http://schemas.openxmlformats.org/officeDocument/2006/relationships/tags" Target="../tags/tag46.xml"/><Relationship Id="rId11" Type="http://schemas.openxmlformats.org/officeDocument/2006/relationships/tags" Target="../tags/tag47.xml"/><Relationship Id="rId12" Type="http://schemas.openxmlformats.org/officeDocument/2006/relationships/tags" Target="../tags/tag48.xml"/><Relationship Id="rId13" Type="http://schemas.openxmlformats.org/officeDocument/2006/relationships/tags" Target="../tags/tag49.xml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tags" Target="../tags/tag50.xml"/><Relationship Id="rId3" Type="http://schemas.openxmlformats.org/officeDocument/2006/relationships/tags" Target="../tags/tag51.xml"/><Relationship Id="rId4" Type="http://schemas.openxmlformats.org/officeDocument/2006/relationships/tags" Target="../tags/tag52.xml"/><Relationship Id="rId5" Type="http://schemas.openxmlformats.org/officeDocument/2006/relationships/tags" Target="../tags/tag53.xml"/><Relationship Id="rId6" Type="http://schemas.openxmlformats.org/officeDocument/2006/relationships/tags" Target="../tags/tag54.xml"/><Relationship Id="rId7" Type="http://schemas.openxmlformats.org/officeDocument/2006/relationships/tags" Target="../tags/tag55.xml"/><Relationship Id="rId8" Type="http://schemas.openxmlformats.org/officeDocument/2006/relationships/tags" Target="../tags/tag56.xml"/><Relationship Id="rId9" Type="http://schemas.openxmlformats.org/officeDocument/2006/relationships/tags" Target="../tags/tag57.xml"/><Relationship Id="rId10" Type="http://schemas.openxmlformats.org/officeDocument/2006/relationships/tags" Target="../tags/tag58.xml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Relationship Id="rId4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tudio_cover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0"/>
            <a:ext cx="638251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806440" cy="6858000"/>
          </a:xfrm>
          <a:prstGeom prst="rect">
            <a:avLst/>
          </a:prstGeom>
          <a:solidFill>
            <a:srgbClr val="EAF8F9"/>
          </a:solidFill>
          <a:ln w="12700">
            <a:solidFill>
              <a:srgbClr val="EAF8F9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49808" y="749808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29A7A5"/>
          </a:solidFill>
          <a:ln w="12700">
            <a:solidFill>
              <a:srgbClr val="29A7A5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2960" y="822960"/>
            <a:ext cx="1179576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阶段复盘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31520" y="1554480"/>
            <a:ext cx="4389120" cy="1417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1732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直播运营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1732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阶段复盘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758952" y="3200400"/>
            <a:ext cx="43891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59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营养品自播项目 · 内容运营组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58952" y="3611880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200" dirty="0">
                <a:solidFill>
                  <a:srgbClr val="6574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许泠瞻</a:t>
            </a:r>
            <a:r>
              <a:rPr lang="en-US" sz="1200" dirty="0">
                <a:solidFill>
                  <a:srgbClr val="6574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 · 2026年春季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647" y="4264025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围绕主播执行、互动场控与客户服务的阶段性整理。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58368" y="6437376"/>
            <a:ext cx="50292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9738360" y="6510528"/>
            <a:ext cx="1737360" cy="0"/>
          </a:xfrm>
          <a:prstGeom prst="line">
            <a:avLst/>
          </a:prstGeom>
          <a:noFill/>
          <a:ln w="12700">
            <a:solidFill>
              <a:srgbClr val="B9E1E4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768096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岗位职责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58368" y="941832"/>
            <a:ext cx="1051560" cy="0"/>
          </a:xfrm>
          <a:prstGeom prst="line">
            <a:avLst/>
          </a:prstGeom>
          <a:noFill/>
          <a:ln w="38100">
            <a:solidFill>
              <a:srgbClr val="29A7A5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1847088" y="484632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574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多角色协同，保障直播链路稳定</a:t>
            </a:r>
            <a:endParaRPr lang="en-US" sz="1100" dirty="0"/>
          </a:p>
        </p:txBody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749808" y="1325880"/>
            <a:ext cx="2971800" cy="3977640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10160">
            <a:solidFill>
              <a:srgbClr val="B9E1E4"/>
            </a:solidFill>
            <a:prstDash val="solid"/>
          </a:ln>
          <a:effectLst>
            <a:outerShdw blurRad="15240" dist="50800" dir="2700000" algn="bl" rotWithShape="0">
              <a:srgbClr val="D2E5E8">
                <a:alpha val="22000"/>
              </a:srgbClr>
            </a:outerShdw>
          </a:effectLst>
        </p:spPr>
      </p:sp>
      <p:sp>
        <p:nvSpPr>
          <p:cNvPr id="6" name="Text 4"/>
          <p:cNvSpPr/>
          <p:nvPr>
            <p:custDataLst>
              <p:tags r:id="rId2"/>
            </p:custDataLst>
          </p:nvPr>
        </p:nvSpPr>
        <p:spPr>
          <a:xfrm>
            <a:off x="978535" y="1527175"/>
            <a:ext cx="2514600" cy="42037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F59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主播执行</a:t>
            </a:r>
            <a:endParaRPr lang="en-US" sz="2400" b="1" dirty="0">
              <a:solidFill>
                <a:srgbClr val="0F5963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0"/>
            </a:endParaRPr>
          </a:p>
        </p:txBody>
      </p:sp>
      <p:sp>
        <p:nvSpPr>
          <p:cNvPr id="7" name="Text 5"/>
          <p:cNvSpPr/>
          <p:nvPr>
            <p:custDataLst>
              <p:tags r:id="rId3"/>
            </p:custDataLst>
          </p:nvPr>
        </p:nvSpPr>
        <p:spPr>
          <a:xfrm>
            <a:off x="901065" y="1920240"/>
            <a:ext cx="2820670" cy="3264535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algn="l">
              <a:buClrTx/>
              <a:buSzTx/>
              <a:buNone/>
            </a:pPr>
            <a:r>
              <a:rPr lang="en-US" sz="140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• 按脚本完成产品讲解与互动引导</a:t>
            </a:r>
            <a:endParaRPr lang="en-US" sz="1400" dirty="0">
              <a:solidFill>
                <a:srgbClr val="2039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0"/>
            </a:endParaRPr>
          </a:p>
          <a:p>
            <a:pPr marL="0" algn="l">
              <a:buClrTx/>
              <a:buSzTx/>
              <a:buNone/>
            </a:pPr>
            <a:r>
              <a:rPr lang="en-US" sz="140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• 根据实时反馈调整表达节奏</a:t>
            </a:r>
            <a:endParaRPr lang="en-US" sz="1400" dirty="0">
              <a:solidFill>
                <a:srgbClr val="2039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0"/>
            </a:endParaRPr>
          </a:p>
          <a:p>
            <a:pPr marL="0" algn="l">
              <a:buClrTx/>
              <a:buSzTx/>
              <a:buNone/>
            </a:pPr>
            <a:r>
              <a:rPr lang="en-US" sz="140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• 沉淀常见问题与标准回应</a:t>
            </a:r>
            <a:endParaRPr lang="en-US" sz="1400" dirty="0">
              <a:solidFill>
                <a:srgbClr val="2039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0"/>
            </a:endParaRPr>
          </a:p>
        </p:txBody>
      </p:sp>
      <p:sp>
        <p:nvSpPr>
          <p:cNvPr id="8" name="Shape 6"/>
          <p:cNvSpPr/>
          <p:nvPr>
            <p:custDataLst>
              <p:tags r:id="rId4"/>
            </p:custDataLst>
          </p:nvPr>
        </p:nvSpPr>
        <p:spPr>
          <a:xfrm>
            <a:off x="4224528" y="1325880"/>
            <a:ext cx="2971800" cy="3977640"/>
          </a:xfrm>
          <a:prstGeom prst="roundRect">
            <a:avLst>
              <a:gd name="adj" fmla="val 3692"/>
            </a:avLst>
          </a:prstGeom>
          <a:solidFill>
            <a:srgbClr val="F9FEFE"/>
          </a:solidFill>
          <a:ln w="10160">
            <a:solidFill>
              <a:srgbClr val="B9E1E4"/>
            </a:solidFill>
            <a:prstDash val="solid"/>
          </a:ln>
          <a:effectLst>
            <a:outerShdw blurRad="15240" dist="50800" dir="2700000" algn="bl" rotWithShape="0">
              <a:srgbClr val="D2E5E8">
                <a:alpha val="22000"/>
              </a:srgbClr>
            </a:outerShdw>
          </a:effectLst>
        </p:spPr>
      </p:sp>
      <p:sp>
        <p:nvSpPr>
          <p:cNvPr id="9" name="Text 7"/>
          <p:cNvSpPr/>
          <p:nvPr>
            <p:custDataLst>
              <p:tags r:id="rId5"/>
            </p:custDataLst>
          </p:nvPr>
        </p:nvSpPr>
        <p:spPr>
          <a:xfrm>
            <a:off x="4533265" y="1464310"/>
            <a:ext cx="2514600" cy="5461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algn="l">
              <a:buClrTx/>
              <a:buSzTx/>
              <a:buFontTx/>
              <a:buNone/>
            </a:pPr>
            <a:r>
              <a:rPr lang="en-US" sz="2400" b="1" dirty="0">
                <a:solidFill>
                  <a:srgbClr val="0F59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互动场控</a:t>
            </a:r>
            <a:endParaRPr lang="en-US" sz="2400" b="1" dirty="0">
              <a:solidFill>
                <a:srgbClr val="0F5963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0"/>
            </a:endParaRPr>
          </a:p>
        </p:txBody>
      </p:sp>
      <p:sp>
        <p:nvSpPr>
          <p:cNvPr id="10" name="Text 8"/>
          <p:cNvSpPr/>
          <p:nvPr>
            <p:custDataLst>
              <p:tags r:id="rId6"/>
            </p:custDataLst>
          </p:nvPr>
        </p:nvSpPr>
        <p:spPr>
          <a:xfrm>
            <a:off x="4396740" y="1929765"/>
            <a:ext cx="2788285" cy="3264535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• 关注评论氛围与咨询集中点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• 提醒主播补充关键信息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• 记录异常情况并同步运营</a:t>
            </a:r>
            <a:endParaRPr lang="en-US" sz="1400" dirty="0">
              <a:solidFill>
                <a:srgbClr val="2039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699248" y="1325880"/>
            <a:ext cx="2971800" cy="3977640"/>
          </a:xfrm>
          <a:prstGeom prst="roundRect">
            <a:avLst>
              <a:gd name="adj" fmla="val 3692"/>
            </a:avLst>
          </a:prstGeom>
          <a:solidFill>
            <a:srgbClr val="FFF9F0"/>
          </a:solidFill>
          <a:ln w="10160">
            <a:solidFill>
              <a:srgbClr val="F5D2AD"/>
            </a:solidFill>
            <a:prstDash val="solid"/>
          </a:ln>
          <a:effectLst>
            <a:outerShdw blurRad="15240" dist="50800" dir="2700000" algn="bl" rotWithShape="0">
              <a:srgbClr val="D2E5E8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860030" y="2226310"/>
            <a:ext cx="2887980" cy="265176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algn="l">
              <a:buClrTx/>
              <a:buSzTx/>
              <a:buNone/>
            </a:pPr>
            <a:r>
              <a:rPr lang="en-US" sz="140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• 协助排班、物料确认与备注核对</a:t>
            </a:r>
            <a:endParaRPr lang="en-US" sz="1400" dirty="0">
              <a:solidFill>
                <a:srgbClr val="2039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0"/>
            </a:endParaRPr>
          </a:p>
          <a:p>
            <a:pPr marL="0" algn="l">
              <a:buClrTx/>
              <a:buSzTx/>
              <a:buNone/>
            </a:pPr>
            <a:r>
              <a:rPr lang="en-US" sz="140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• 跟进用户咨询与售后反馈</a:t>
            </a:r>
            <a:endParaRPr lang="en-US" sz="1400" dirty="0">
              <a:solidFill>
                <a:srgbClr val="2039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0"/>
            </a:endParaRPr>
          </a:p>
          <a:p>
            <a:pPr marL="0" algn="l">
              <a:buClrTx/>
              <a:buSzTx/>
              <a:buNone/>
            </a:pPr>
            <a:r>
              <a:rPr lang="en-US" sz="140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• 整理复盘要点，推动流程闭环</a:t>
            </a:r>
            <a:endParaRPr lang="en-US" sz="1400" dirty="0">
              <a:solidFill>
                <a:srgbClr val="2039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0"/>
            </a:endParaRPr>
          </a:p>
        </p:txBody>
      </p:sp>
      <p:sp>
        <p:nvSpPr>
          <p:cNvPr id="13" name="Shape 11"/>
          <p:cNvSpPr/>
          <p:nvPr>
            <p:custDataLst>
              <p:tags r:id="rId7"/>
            </p:custDataLst>
          </p:nvPr>
        </p:nvSpPr>
        <p:spPr>
          <a:xfrm>
            <a:off x="3822192" y="2999232"/>
            <a:ext cx="310896" cy="420624"/>
          </a:xfrm>
          <a:prstGeom prst="chevron">
            <a:avLst/>
          </a:prstGeom>
          <a:solidFill>
            <a:srgbClr val="29A7A5">
              <a:alpha val="82000"/>
            </a:srgbClr>
          </a:solidFill>
          <a:ln w="12700">
            <a:solidFill>
              <a:srgbClr val="29A7A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>
            <p:custDataLst>
              <p:tags r:id="rId8"/>
            </p:custDataLst>
          </p:nvPr>
        </p:nvSpPr>
        <p:spPr>
          <a:xfrm>
            <a:off x="7296912" y="2999232"/>
            <a:ext cx="310896" cy="420624"/>
          </a:xfrm>
          <a:prstGeom prst="chevron">
            <a:avLst/>
          </a:prstGeom>
          <a:solidFill>
            <a:srgbClr val="F2A25C">
              <a:alpha val="82000"/>
            </a:srgbClr>
          </a:solidFill>
          <a:ln w="12700">
            <a:solidFill>
              <a:srgbClr val="F2A25C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38528" y="5650992"/>
            <a:ext cx="832104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59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一人多岗，重点在“信息准确、节奏顺畅、反馈及时”</a:t>
            </a:r>
            <a:endParaRPr lang="en-US" sz="2400" b="1" dirty="0">
              <a:solidFill>
                <a:srgbClr val="0F5963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9738360" y="6510528"/>
            <a:ext cx="1737360" cy="0"/>
          </a:xfrm>
          <a:prstGeom prst="line">
            <a:avLst/>
          </a:prstGeom>
          <a:noFill/>
          <a:ln w="12700">
            <a:solidFill>
              <a:srgbClr val="B9E1E4"/>
            </a:solidFill>
            <a:prstDash val="solid"/>
          </a:ln>
        </p:spPr>
      </p:sp>
      <p:sp>
        <p:nvSpPr>
          <p:cNvPr id="18" name="Added Shift Role Title"/>
          <p:cNvSpPr txBox="1"/>
          <p:nvPr/>
        </p:nvSpPr>
        <p:spPr>
          <a:xfrm>
            <a:off x="7936992" y="1527048"/>
            <a:ext cx="2514600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2400" b="1">
                <a:solidFill>
                  <a:srgbClr val="0B5D66"/>
                </a:solidFill>
                <a:latin typeface="Microsoft YaHei"/>
              </a:rPr>
              <a:t>排班岗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768096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协作关系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58368" y="941832"/>
            <a:ext cx="1051560" cy="0"/>
          </a:xfrm>
          <a:prstGeom prst="line">
            <a:avLst/>
          </a:prstGeom>
          <a:noFill/>
          <a:ln w="38100">
            <a:solidFill>
              <a:srgbClr val="29A7A5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749808" y="1417320"/>
            <a:ext cx="6263640" cy="438912"/>
          </a:xfrm>
          <a:prstGeom prst="roundRect">
            <a:avLst>
              <a:gd name="adj" fmla="val 16667"/>
            </a:avLst>
          </a:prstGeom>
          <a:solidFill>
            <a:srgbClr val="E0F4F5"/>
          </a:solidFill>
          <a:ln w="10160">
            <a:solidFill>
              <a:srgbClr val="B9E1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545336"/>
            <a:ext cx="626364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销售管理中心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97280" y="2093976"/>
            <a:ext cx="5568696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B9E1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221992"/>
            <a:ext cx="5568696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营养健康事业部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444752" y="2770632"/>
            <a:ext cx="4873752" cy="438912"/>
          </a:xfrm>
          <a:prstGeom prst="roundRect">
            <a:avLst>
              <a:gd name="adj" fmla="val 16667"/>
            </a:avLst>
          </a:prstGeom>
          <a:solidFill>
            <a:srgbClr val="E0F4F5"/>
          </a:solidFill>
          <a:ln w="10160">
            <a:solidFill>
              <a:srgbClr val="B9E1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44752" y="2898648"/>
            <a:ext cx="4873752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社群与内容业务部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792224" y="3447288"/>
            <a:ext cx="4178808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B9E1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92224" y="3575304"/>
            <a:ext cx="4178808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短视频运营组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139696" y="4123944"/>
            <a:ext cx="3483864" cy="438912"/>
          </a:xfrm>
          <a:prstGeom prst="roundRect">
            <a:avLst>
              <a:gd name="adj" fmla="val 16667"/>
            </a:avLst>
          </a:prstGeom>
          <a:solidFill>
            <a:srgbClr val="E0F4F5"/>
          </a:solidFill>
          <a:ln w="10160">
            <a:solidFill>
              <a:srgbClr val="B9E1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39696" y="4251960"/>
            <a:ext cx="3483864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自播执行小组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487168" y="4800600"/>
            <a:ext cx="278892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160">
            <a:solidFill>
              <a:srgbClr val="B9E1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87168" y="4928616"/>
            <a:ext cx="278892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59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内容运营专员</a:t>
            </a:r>
            <a:endParaRPr lang="en-US" sz="1200" dirty="0"/>
          </a:p>
        </p:txBody>
      </p:sp>
      <p:pic>
        <p:nvPicPr>
          <p:cNvPr id="17" name="Image 0" descr="/mnt/data/team_org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097280"/>
            <a:ext cx="3429000" cy="283464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7543800" y="4279392"/>
            <a:ext cx="3657600" cy="1097280"/>
          </a:xfrm>
          <a:prstGeom prst="roundRect">
            <a:avLst>
              <a:gd name="adj" fmla="val 8333"/>
            </a:avLst>
          </a:prstGeom>
          <a:solidFill>
            <a:srgbClr val="FFFFFF">
              <a:alpha val="92000"/>
            </a:srgbClr>
          </a:solidFill>
          <a:ln w="10160">
            <a:solidFill>
              <a:srgbClr val="B9E1E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90815" y="4553585"/>
            <a:ext cx="3181985" cy="54673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虚构组织名称用于公开汇报表达，层级关系保留“中心—部门—小组—岗位”的业务逻辑。</a:t>
            </a:r>
            <a:endParaRPr lang="en-US" sz="1200" dirty="0">
              <a:solidFill>
                <a:srgbClr val="2039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9738360" y="6510528"/>
            <a:ext cx="1737360" cy="0"/>
          </a:xfrm>
          <a:prstGeom prst="line">
            <a:avLst/>
          </a:prstGeom>
          <a:noFill/>
          <a:ln w="12700">
            <a:solidFill>
              <a:srgbClr val="B9E1E4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768096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核心品类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58368" y="941832"/>
            <a:ext cx="1051560" cy="0"/>
          </a:xfrm>
          <a:prstGeom prst="line">
            <a:avLst/>
          </a:prstGeom>
          <a:noFill/>
          <a:ln w="38100">
            <a:solidFill>
              <a:srgbClr val="29A7A5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1847088" y="484632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574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复合营养片与矿物质补充场景</a:t>
            </a:r>
            <a:endParaRPr lang="en-US" sz="1100" dirty="0"/>
          </a:p>
        </p:txBody>
      </p:sp>
      <p:pic>
        <p:nvPicPr>
          <p:cNvPr id="5" name="Image 0" descr="/mnt/data/product_main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207008"/>
            <a:ext cx="4983480" cy="3977640"/>
          </a:xfrm>
          <a:prstGeom prst="rect">
            <a:avLst/>
          </a:prstGeom>
        </p:spPr>
      </p:pic>
      <p:sp>
        <p:nvSpPr>
          <p:cNvPr id="6" name="Shape 3"/>
          <p:cNvSpPr/>
          <p:nvPr>
            <p:custDataLst>
              <p:tags r:id="rId2"/>
            </p:custDataLst>
          </p:nvPr>
        </p:nvSpPr>
        <p:spPr>
          <a:xfrm>
            <a:off x="5989320" y="1234440"/>
            <a:ext cx="5349240" cy="960120"/>
          </a:xfrm>
          <a:prstGeom prst="roundRect">
            <a:avLst>
              <a:gd name="adj" fmla="val 11429"/>
            </a:avLst>
          </a:prstGeom>
          <a:solidFill>
            <a:srgbClr val="F8FEFE"/>
          </a:solidFill>
          <a:ln w="10160">
            <a:solidFill>
              <a:srgbClr val="B9E1E4"/>
            </a:solidFill>
            <a:prstDash val="solid"/>
          </a:ln>
        </p:spPr>
      </p:sp>
      <p:sp>
        <p:nvSpPr>
          <p:cNvPr id="7" name="Text 4"/>
          <p:cNvSpPr/>
          <p:nvPr>
            <p:custDataLst>
              <p:tags r:id="rId3"/>
            </p:custDataLst>
          </p:nvPr>
        </p:nvSpPr>
        <p:spPr>
          <a:xfrm>
            <a:off x="6217920" y="1435608"/>
            <a:ext cx="48920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59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钙质支持</a:t>
            </a:r>
            <a:endParaRPr lang="en-US" sz="1400" dirty="0"/>
          </a:p>
        </p:txBody>
      </p:sp>
      <p:sp>
        <p:nvSpPr>
          <p:cNvPr id="8" name="Text 5"/>
          <p:cNvSpPr/>
          <p:nvPr>
            <p:custDataLst>
              <p:tags r:id="rId4"/>
            </p:custDataLst>
          </p:nvPr>
        </p:nvSpPr>
        <p:spPr>
          <a:xfrm>
            <a:off x="6217920" y="1828800"/>
            <a:ext cx="4892040" cy="24688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• 骨骼与牙齿维护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• 运动后恢复辅助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• 家庭日常营养补给</a:t>
            </a:r>
            <a:endParaRPr lang="en-US" sz="1120" dirty="0"/>
          </a:p>
        </p:txBody>
      </p:sp>
      <p:sp>
        <p:nvSpPr>
          <p:cNvPr id="9" name="Shape 6"/>
          <p:cNvSpPr/>
          <p:nvPr>
            <p:custDataLst>
              <p:tags r:id="rId5"/>
            </p:custDataLst>
          </p:nvPr>
        </p:nvSpPr>
        <p:spPr>
          <a:xfrm>
            <a:off x="5989320" y="2496312"/>
            <a:ext cx="53492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0160">
            <a:solidFill>
              <a:srgbClr val="B9E1E4"/>
            </a:solidFill>
            <a:prstDash val="solid"/>
          </a:ln>
        </p:spPr>
      </p:sp>
      <p:sp>
        <p:nvSpPr>
          <p:cNvPr id="10" name="Text 7"/>
          <p:cNvSpPr/>
          <p:nvPr>
            <p:custDataLst>
              <p:tags r:id="rId6"/>
            </p:custDataLst>
          </p:nvPr>
        </p:nvSpPr>
        <p:spPr>
          <a:xfrm>
            <a:off x="6217920" y="2697480"/>
            <a:ext cx="48920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59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铁元素关注</a:t>
            </a:r>
            <a:endParaRPr lang="en-US" sz="1400" dirty="0"/>
          </a:p>
        </p:txBody>
      </p:sp>
      <p:sp>
        <p:nvSpPr>
          <p:cNvPr id="11" name="Text 8"/>
          <p:cNvSpPr/>
          <p:nvPr>
            <p:custDataLst>
              <p:tags r:id="rId7"/>
            </p:custDataLst>
          </p:nvPr>
        </p:nvSpPr>
        <p:spPr>
          <a:xfrm>
            <a:off x="6217920" y="3090672"/>
            <a:ext cx="4892040" cy="24688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• 活力状态管理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• 特殊阶段营养补充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• 搭配饮食建议</a:t>
            </a:r>
            <a:endParaRPr lang="en-US" sz="1120" dirty="0"/>
          </a:p>
        </p:txBody>
      </p:sp>
      <p:sp>
        <p:nvSpPr>
          <p:cNvPr id="12" name="Shape 9"/>
          <p:cNvSpPr/>
          <p:nvPr>
            <p:custDataLst>
              <p:tags r:id="rId8"/>
            </p:custDataLst>
          </p:nvPr>
        </p:nvSpPr>
        <p:spPr>
          <a:xfrm>
            <a:off x="5989320" y="3758184"/>
            <a:ext cx="5349240" cy="960120"/>
          </a:xfrm>
          <a:prstGeom prst="roundRect">
            <a:avLst>
              <a:gd name="adj" fmla="val 11429"/>
            </a:avLst>
          </a:prstGeom>
          <a:solidFill>
            <a:srgbClr val="F8FEFE"/>
          </a:solidFill>
          <a:ln w="10160">
            <a:solidFill>
              <a:srgbClr val="B9E1E4"/>
            </a:solidFill>
            <a:prstDash val="solid"/>
          </a:ln>
        </p:spPr>
      </p:sp>
      <p:sp>
        <p:nvSpPr>
          <p:cNvPr id="13" name="Text 10"/>
          <p:cNvSpPr/>
          <p:nvPr>
            <p:custDataLst>
              <p:tags r:id="rId9"/>
            </p:custDataLst>
          </p:nvPr>
        </p:nvSpPr>
        <p:spPr>
          <a:xfrm>
            <a:off x="6217920" y="3959352"/>
            <a:ext cx="48920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59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锌元素补充</a:t>
            </a:r>
            <a:endParaRPr lang="en-US" sz="1400" dirty="0"/>
          </a:p>
        </p:txBody>
      </p:sp>
      <p:sp>
        <p:nvSpPr>
          <p:cNvPr id="14" name="Text 11"/>
          <p:cNvSpPr/>
          <p:nvPr>
            <p:custDataLst>
              <p:tags r:id="rId10"/>
            </p:custDataLst>
          </p:nvPr>
        </p:nvSpPr>
        <p:spPr>
          <a:xfrm>
            <a:off x="6217920" y="4352544"/>
            <a:ext cx="4892040" cy="24688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• 成长发育支持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• 食欲与代谢相关沟通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• 亲子人群常见咨询</a:t>
            </a:r>
            <a:endParaRPr lang="en-US" sz="1120" dirty="0"/>
          </a:p>
        </p:txBody>
      </p:sp>
      <p:sp>
        <p:nvSpPr>
          <p:cNvPr id="15" name="Text 12"/>
          <p:cNvSpPr/>
          <p:nvPr/>
        </p:nvSpPr>
        <p:spPr>
          <a:xfrm>
            <a:off x="6080760" y="5257800"/>
            <a:ext cx="51663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F59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表达原则：突出适用场景，弱化绝对化承诺；用通俗语言解释配方逻辑。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9738360" y="6510528"/>
            <a:ext cx="1737360" cy="0"/>
          </a:xfrm>
          <a:prstGeom prst="line">
            <a:avLst/>
          </a:prstGeom>
          <a:noFill/>
          <a:ln w="12700">
            <a:solidFill>
              <a:srgbClr val="B9E1E4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768096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工作成效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58368" y="941832"/>
            <a:ext cx="1051560" cy="0"/>
          </a:xfrm>
          <a:prstGeom prst="line">
            <a:avLst/>
          </a:prstGeom>
          <a:noFill/>
          <a:ln w="38100">
            <a:solidFill>
              <a:srgbClr val="29A7A5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749808" y="1298448"/>
            <a:ext cx="2514600" cy="1234440"/>
          </a:xfrm>
          <a:prstGeom prst="roundRect">
            <a:avLst>
              <a:gd name="adj" fmla="val 8889"/>
            </a:avLst>
          </a:prstGeom>
          <a:solidFill>
            <a:srgbClr val="F9FEFE"/>
          </a:solidFill>
          <a:ln w="10160">
            <a:solidFill>
              <a:srgbClr val="B9E1E4"/>
            </a:solidFill>
            <a:prstDash val="solid"/>
          </a:ln>
          <a:effectLst>
            <a:outerShdw blurRad="15240" dist="50800" dir="2700000" algn="bl" rotWithShape="0">
              <a:srgbClr val="D2E5E8">
                <a:alpha val="22000"/>
              </a:srgbClr>
            </a:outerShdw>
          </a:effectLst>
        </p:spPr>
      </p:sp>
      <p:sp>
        <p:nvSpPr>
          <p:cNvPr id="6" name="Text 4"/>
          <p:cNvSpPr/>
          <p:nvPr>
            <p:custDataLst>
              <p:tags r:id="rId2"/>
            </p:custDataLst>
          </p:nvPr>
        </p:nvSpPr>
        <p:spPr>
          <a:xfrm>
            <a:off x="978408" y="1499616"/>
            <a:ext cx="20574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59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直播执行</a:t>
            </a:r>
            <a:endParaRPr lang="en-US" sz="1400" dirty="0"/>
          </a:p>
        </p:txBody>
      </p:sp>
      <p:sp>
        <p:nvSpPr>
          <p:cNvPr id="7" name="Text 5"/>
          <p:cNvSpPr/>
          <p:nvPr>
            <p:custDataLst>
              <p:tags r:id="rId3"/>
            </p:custDataLst>
          </p:nvPr>
        </p:nvSpPr>
        <p:spPr>
          <a:xfrm>
            <a:off x="978408" y="1892808"/>
            <a:ext cx="2057400" cy="5212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按计划完成日常场次，讲解流程更顺滑</a:t>
            </a:r>
            <a:endParaRPr lang="en-US" sz="1120" dirty="0"/>
          </a:p>
        </p:txBody>
      </p:sp>
      <p:sp>
        <p:nvSpPr>
          <p:cNvPr id="8" name="Shape 6"/>
          <p:cNvSpPr/>
          <p:nvPr>
            <p:custDataLst>
              <p:tags r:id="rId4"/>
            </p:custDataLst>
          </p:nvPr>
        </p:nvSpPr>
        <p:spPr>
          <a:xfrm>
            <a:off x="749808" y="2926080"/>
            <a:ext cx="25146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B9E1E4"/>
            </a:solidFill>
            <a:prstDash val="solid"/>
          </a:ln>
          <a:effectLst>
            <a:outerShdw blurRad="15240" dist="50800" dir="2700000" algn="bl" rotWithShape="0">
              <a:srgbClr val="D2E5E8">
                <a:alpha val="22000"/>
              </a:srgbClr>
            </a:outerShdw>
          </a:effectLst>
        </p:spPr>
      </p:sp>
      <p:sp>
        <p:nvSpPr>
          <p:cNvPr id="9" name="Text 7"/>
          <p:cNvSpPr/>
          <p:nvPr>
            <p:custDataLst>
              <p:tags r:id="rId5"/>
            </p:custDataLst>
          </p:nvPr>
        </p:nvSpPr>
        <p:spPr>
          <a:xfrm>
            <a:off x="978408" y="3127248"/>
            <a:ext cx="20574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59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互动维护</a:t>
            </a:r>
            <a:endParaRPr lang="en-US" sz="1400" dirty="0"/>
          </a:p>
        </p:txBody>
      </p:sp>
      <p:sp>
        <p:nvSpPr>
          <p:cNvPr id="10" name="Text 8"/>
          <p:cNvSpPr/>
          <p:nvPr>
            <p:custDataLst>
              <p:tags r:id="rId6"/>
            </p:custDataLst>
          </p:nvPr>
        </p:nvSpPr>
        <p:spPr>
          <a:xfrm>
            <a:off x="978408" y="3520440"/>
            <a:ext cx="2057400" cy="5212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评论区咨询响应更快，氛围更可控</a:t>
            </a:r>
            <a:endParaRPr lang="en-US" sz="1120" dirty="0"/>
          </a:p>
        </p:txBody>
      </p:sp>
      <p:sp>
        <p:nvSpPr>
          <p:cNvPr id="11" name="Shape 9"/>
          <p:cNvSpPr/>
          <p:nvPr>
            <p:custDataLst>
              <p:tags r:id="rId7"/>
            </p:custDataLst>
          </p:nvPr>
        </p:nvSpPr>
        <p:spPr>
          <a:xfrm>
            <a:off x="3584448" y="1298448"/>
            <a:ext cx="2514600" cy="1234440"/>
          </a:xfrm>
          <a:prstGeom prst="roundRect">
            <a:avLst>
              <a:gd name="adj" fmla="val 8889"/>
            </a:avLst>
          </a:prstGeom>
          <a:solidFill>
            <a:srgbClr val="F9FEFE"/>
          </a:solidFill>
          <a:ln w="10160">
            <a:solidFill>
              <a:srgbClr val="B9E1E4"/>
            </a:solidFill>
            <a:prstDash val="solid"/>
          </a:ln>
          <a:effectLst>
            <a:outerShdw blurRad="15240" dist="50800" dir="2700000" algn="bl" rotWithShape="0">
              <a:srgbClr val="D2E5E8">
                <a:alpha val="22000"/>
              </a:srgbClr>
            </a:outerShdw>
          </a:effectLst>
        </p:spPr>
      </p:sp>
      <p:sp>
        <p:nvSpPr>
          <p:cNvPr id="12" name="Text 10"/>
          <p:cNvSpPr/>
          <p:nvPr>
            <p:custDataLst>
              <p:tags r:id="rId8"/>
            </p:custDataLst>
          </p:nvPr>
        </p:nvSpPr>
        <p:spPr>
          <a:xfrm>
            <a:off x="3813048" y="1499616"/>
            <a:ext cx="20574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59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服务跟进</a:t>
            </a:r>
            <a:endParaRPr lang="en-US" sz="1400" dirty="0"/>
          </a:p>
        </p:txBody>
      </p:sp>
      <p:sp>
        <p:nvSpPr>
          <p:cNvPr id="13" name="Text 11"/>
          <p:cNvSpPr/>
          <p:nvPr>
            <p:custDataLst>
              <p:tags r:id="rId9"/>
            </p:custDataLst>
          </p:nvPr>
        </p:nvSpPr>
        <p:spPr>
          <a:xfrm>
            <a:off x="3813048" y="1892808"/>
            <a:ext cx="2057400" cy="5212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备注核对、订单反馈与售后转交更清晰</a:t>
            </a:r>
            <a:endParaRPr lang="en-US" sz="1120" dirty="0"/>
          </a:p>
        </p:txBody>
      </p:sp>
      <p:sp>
        <p:nvSpPr>
          <p:cNvPr id="14" name="Shape 12"/>
          <p:cNvSpPr/>
          <p:nvPr>
            <p:custDataLst>
              <p:tags r:id="rId10"/>
            </p:custDataLst>
          </p:nvPr>
        </p:nvSpPr>
        <p:spPr>
          <a:xfrm>
            <a:off x="3584448" y="2926080"/>
            <a:ext cx="251460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B9E1E4"/>
            </a:solidFill>
            <a:prstDash val="solid"/>
          </a:ln>
          <a:effectLst>
            <a:outerShdw blurRad="15240" dist="50800" dir="2700000" algn="bl" rotWithShape="0">
              <a:srgbClr val="D2E5E8">
                <a:alpha val="22000"/>
              </a:srgbClr>
            </a:outerShdw>
          </a:effectLst>
        </p:spPr>
      </p:sp>
      <p:sp>
        <p:nvSpPr>
          <p:cNvPr id="15" name="Text 13"/>
          <p:cNvSpPr/>
          <p:nvPr>
            <p:custDataLst>
              <p:tags r:id="rId11"/>
            </p:custDataLst>
          </p:nvPr>
        </p:nvSpPr>
        <p:spPr>
          <a:xfrm>
            <a:off x="3813048" y="3127248"/>
            <a:ext cx="20574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59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排班协调</a:t>
            </a:r>
            <a:endParaRPr lang="en-US" sz="1400" dirty="0"/>
          </a:p>
        </p:txBody>
      </p:sp>
      <p:sp>
        <p:nvSpPr>
          <p:cNvPr id="16" name="Text 14"/>
          <p:cNvSpPr/>
          <p:nvPr>
            <p:custDataLst>
              <p:tags r:id="rId12"/>
            </p:custDataLst>
          </p:nvPr>
        </p:nvSpPr>
        <p:spPr>
          <a:xfrm>
            <a:off x="3813048" y="3520440"/>
            <a:ext cx="2057400" cy="5212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高峰时段人手安排更均衡</a:t>
            </a:r>
            <a:endParaRPr lang="en-US" sz="1120" dirty="0"/>
          </a:p>
        </p:txBody>
      </p:sp>
      <p:pic>
        <p:nvPicPr>
          <p:cNvPr id="17" name="Image 0" descr="/mnt/data/studio_achieve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72784" y="1225296"/>
            <a:ext cx="4736592" cy="3145536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9738360" y="6510528"/>
            <a:ext cx="1737360" cy="0"/>
          </a:xfrm>
          <a:prstGeom prst="line">
            <a:avLst/>
          </a:prstGeom>
          <a:noFill/>
          <a:ln w="12700">
            <a:solidFill>
              <a:srgbClr val="B9E1E4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768096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问题复盘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58368" y="941832"/>
            <a:ext cx="1051560" cy="0"/>
          </a:xfrm>
          <a:prstGeom prst="line">
            <a:avLst/>
          </a:prstGeom>
          <a:noFill/>
          <a:ln w="38100">
            <a:solidFill>
              <a:srgbClr val="29A7A5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822960" y="1325880"/>
            <a:ext cx="4526280" cy="37033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0160">
            <a:solidFill>
              <a:srgbClr val="F4D4B6"/>
            </a:solidFill>
            <a:prstDash val="solid"/>
          </a:ln>
          <a:effectLst>
            <a:outerShdw blurRad="15240" dist="50800" dir="2700000" algn="bl" rotWithShape="0">
              <a:srgbClr val="D2E5E8">
                <a:alpha val="22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6" name="Text 4"/>
          <p:cNvSpPr/>
          <p:nvPr>
            <p:custDataLst>
              <p:tags r:id="rId2"/>
            </p:custDataLst>
          </p:nvPr>
        </p:nvSpPr>
        <p:spPr>
          <a:xfrm>
            <a:off x="1051560" y="1527175"/>
            <a:ext cx="4069080" cy="7524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A85E1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风险表现</a:t>
            </a:r>
            <a:endParaRPr lang="en-US" sz="3200" b="1" dirty="0">
              <a:solidFill>
                <a:srgbClr val="A85E1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0"/>
            </a:endParaRPr>
          </a:p>
        </p:txBody>
      </p:sp>
      <p:sp>
        <p:nvSpPr>
          <p:cNvPr id="7" name="Text 5"/>
          <p:cNvSpPr/>
          <p:nvPr>
            <p:custDataLst>
              <p:tags r:id="rId3"/>
            </p:custDataLst>
          </p:nvPr>
        </p:nvSpPr>
        <p:spPr>
          <a:xfrm>
            <a:off x="1051560" y="1920240"/>
            <a:ext cx="4069080" cy="299008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indent="0" fontAlgn="auto">
              <a:lnSpc>
                <a:spcPct val="200000"/>
              </a:lnSpc>
              <a:buNone/>
            </a:pPr>
            <a:r>
              <a:rPr lang="en-US" sz="160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• 直播话术中出现表达边界不够清晰的情况</a:t>
            </a:r>
            <a:endParaRPr lang="en-US" sz="1600" dirty="0"/>
          </a:p>
          <a:p>
            <a:pPr indent="0" fontAlgn="auto">
              <a:lnSpc>
                <a:spcPct val="200000"/>
              </a:lnSpc>
              <a:buNone/>
            </a:pPr>
            <a:r>
              <a:rPr lang="en-US" sz="160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• 部分用户问题未能在第一时间形成标准回复</a:t>
            </a:r>
            <a:endParaRPr lang="en-US" sz="1600" dirty="0"/>
          </a:p>
          <a:p>
            <a:pPr indent="0" fontAlgn="auto">
              <a:lnSpc>
                <a:spcPct val="200000"/>
              </a:lnSpc>
              <a:buNone/>
            </a:pPr>
            <a:r>
              <a:rPr lang="en-US" sz="160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• 活动节奏变化时，信息同步偶有滞后</a:t>
            </a:r>
            <a:endParaRPr lang="en-US" sz="1600" dirty="0">
              <a:solidFill>
                <a:srgbClr val="2039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0"/>
            </a:endParaRPr>
          </a:p>
        </p:txBody>
      </p:sp>
      <p:sp>
        <p:nvSpPr>
          <p:cNvPr id="8" name="Shape 6"/>
          <p:cNvSpPr/>
          <p:nvPr>
            <p:custDataLst>
              <p:tags r:id="rId4"/>
            </p:custDataLst>
          </p:nvPr>
        </p:nvSpPr>
        <p:spPr>
          <a:xfrm>
            <a:off x="6812280" y="1325880"/>
            <a:ext cx="4526280" cy="37033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0160">
            <a:solidFill>
              <a:srgbClr val="B9E1E4"/>
            </a:solidFill>
            <a:prstDash val="solid"/>
          </a:ln>
          <a:effectLst>
            <a:outerShdw blurRad="15240" dist="50800" dir="2700000" algn="bl" rotWithShape="0">
              <a:srgbClr val="D2E5E8">
                <a:alpha val="22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9" name="Text 7"/>
          <p:cNvSpPr/>
          <p:nvPr>
            <p:custDataLst>
              <p:tags r:id="rId5"/>
            </p:custDataLst>
          </p:nvPr>
        </p:nvSpPr>
        <p:spPr>
          <a:xfrm>
            <a:off x="7040880" y="1527175"/>
            <a:ext cx="4069080" cy="76073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algn="l">
              <a:buClrTx/>
              <a:buSzTx/>
              <a:buFontTx/>
              <a:buNone/>
            </a:pPr>
            <a:r>
              <a:rPr lang="en-US" sz="32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优化动作</a:t>
            </a:r>
            <a:endParaRPr lang="en-US" sz="3200" b="1" dirty="0">
              <a:solidFill>
                <a:schemeClr val="accent5">
                  <a:lumMod val="60000"/>
                  <a:lumOff val="4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0"/>
            </a:endParaRPr>
          </a:p>
        </p:txBody>
      </p:sp>
      <p:sp>
        <p:nvSpPr>
          <p:cNvPr id="10" name="Text 8"/>
          <p:cNvSpPr/>
          <p:nvPr>
            <p:custDataLst>
              <p:tags r:id="rId6"/>
            </p:custDataLst>
          </p:nvPr>
        </p:nvSpPr>
        <p:spPr>
          <a:xfrm>
            <a:off x="7040880" y="1920240"/>
            <a:ext cx="4069080" cy="299008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algn="l">
              <a:lnSpc>
                <a:spcPct val="200000"/>
              </a:lnSpc>
              <a:buClrTx/>
              <a:buSzTx/>
              <a:buNone/>
            </a:pPr>
            <a:r>
              <a:rPr lang="en-US" sz="160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• 建立开播前话术检查表</a:t>
            </a:r>
            <a:endParaRPr lang="en-US" sz="1600" dirty="0">
              <a:solidFill>
                <a:srgbClr val="2039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0"/>
            </a:endParaRPr>
          </a:p>
          <a:p>
            <a:pPr marL="0" algn="l">
              <a:lnSpc>
                <a:spcPct val="200000"/>
              </a:lnSpc>
              <a:buClrTx/>
              <a:buSzTx/>
              <a:buNone/>
            </a:pPr>
            <a:r>
              <a:rPr lang="en-US" sz="160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• 将敏感表达改为场景化、说明式表达</a:t>
            </a:r>
            <a:endParaRPr lang="en-US" sz="1600" dirty="0">
              <a:solidFill>
                <a:srgbClr val="2039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0"/>
            </a:endParaRPr>
          </a:p>
          <a:p>
            <a:pPr marL="0" algn="l">
              <a:lnSpc>
                <a:spcPct val="200000"/>
              </a:lnSpc>
              <a:buClrTx/>
              <a:buSzTx/>
              <a:buNone/>
            </a:pPr>
            <a:r>
              <a:rPr lang="en-US" sz="160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• 每日收场后进行小结并同步给运营</a:t>
            </a:r>
            <a:endParaRPr lang="en-US" sz="1600" dirty="0">
              <a:solidFill>
                <a:srgbClr val="2039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0"/>
            </a:endParaRPr>
          </a:p>
        </p:txBody>
      </p:sp>
      <p:sp>
        <p:nvSpPr>
          <p:cNvPr id="11" name="Shape 9"/>
          <p:cNvSpPr/>
          <p:nvPr>
            <p:custDataLst>
              <p:tags r:id="rId7"/>
            </p:custDataLst>
          </p:nvPr>
        </p:nvSpPr>
        <p:spPr>
          <a:xfrm rot="5400000">
            <a:off x="5829427" y="2743200"/>
            <a:ext cx="502920" cy="502920"/>
          </a:xfrm>
          <a:prstGeom prst="triangle">
            <a:avLst/>
          </a:prstGeom>
          <a:solidFill>
            <a:srgbClr val="29A7A5"/>
          </a:solidFill>
          <a:ln w="12700">
            <a:solidFill>
              <a:srgbClr val="29A7A5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68115" y="5467985"/>
            <a:ext cx="4371340" cy="6153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59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把一次问题变成一套流程</a:t>
            </a:r>
            <a:endParaRPr lang="en-US" sz="2800" b="1" dirty="0">
              <a:solidFill>
                <a:srgbClr val="0F5963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738360" y="6510528"/>
            <a:ext cx="1737360" cy="0"/>
          </a:xfrm>
          <a:prstGeom prst="line">
            <a:avLst/>
          </a:prstGeom>
          <a:noFill/>
          <a:ln w="12700">
            <a:solidFill>
              <a:srgbClr val="B9E1E4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768096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能力成长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58368" y="941832"/>
            <a:ext cx="1051560" cy="0"/>
          </a:xfrm>
          <a:prstGeom prst="line">
            <a:avLst/>
          </a:prstGeom>
          <a:noFill/>
          <a:ln w="38100">
            <a:solidFill>
              <a:srgbClr val="29A7A5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2011680" y="2743200"/>
            <a:ext cx="7680960" cy="0"/>
          </a:xfrm>
          <a:prstGeom prst="line">
            <a:avLst/>
          </a:prstGeom>
          <a:noFill/>
          <a:ln w="38100">
            <a:solidFill>
              <a:srgbClr val="29A7A5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>
            <p:custDataLst>
              <p:tags r:id="rId2"/>
            </p:custDataLst>
          </p:nvPr>
        </p:nvSpPr>
        <p:spPr>
          <a:xfrm>
            <a:off x="1709801" y="2377694"/>
            <a:ext cx="640080" cy="640080"/>
          </a:xfrm>
          <a:prstGeom prst="ellipse">
            <a:avLst/>
          </a:prstGeom>
          <a:solidFill>
            <a:srgbClr val="29A7A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>
            <p:custDataLst>
              <p:tags r:id="rId3"/>
            </p:custDataLst>
          </p:nvPr>
        </p:nvSpPr>
        <p:spPr>
          <a:xfrm>
            <a:off x="1170432" y="3310128"/>
            <a:ext cx="2468880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0160">
            <a:solidFill>
              <a:srgbClr val="B9E1E4"/>
            </a:solidFill>
            <a:prstDash val="solid"/>
          </a:ln>
          <a:effectLst>
            <a:outerShdw blurRad="15240" dist="50800" dir="2700000" algn="bl" rotWithShape="0">
              <a:srgbClr val="D2E5E8">
                <a:alpha val="22000"/>
              </a:srgbClr>
            </a:outerShdw>
          </a:effectLst>
        </p:spPr>
      </p:sp>
      <p:sp>
        <p:nvSpPr>
          <p:cNvPr id="8" name="Text 6"/>
          <p:cNvSpPr/>
          <p:nvPr>
            <p:custDataLst>
              <p:tags r:id="rId4"/>
            </p:custDataLst>
          </p:nvPr>
        </p:nvSpPr>
        <p:spPr>
          <a:xfrm>
            <a:off x="1937385" y="3473450"/>
            <a:ext cx="1197610" cy="28638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F59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熟悉期</a:t>
            </a:r>
            <a:endParaRPr lang="en-US" sz="2000" b="1" dirty="0">
              <a:solidFill>
                <a:srgbClr val="0F5963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0"/>
            </a:endParaRPr>
          </a:p>
        </p:txBody>
      </p:sp>
      <p:sp>
        <p:nvSpPr>
          <p:cNvPr id="9" name="Text 7"/>
          <p:cNvSpPr/>
          <p:nvPr>
            <p:custDataLst>
              <p:tags r:id="rId5"/>
            </p:custDataLst>
          </p:nvPr>
        </p:nvSpPr>
        <p:spPr>
          <a:xfrm>
            <a:off x="1627505" y="3728085"/>
            <a:ext cx="2011680" cy="94488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 fontScale="90000"/>
          </a:bodyPr>
          <a:lstStyle/>
          <a:p>
            <a:pPr marL="0" algn="l">
              <a:lnSpc>
                <a:spcPct val="150000"/>
              </a:lnSpc>
              <a:buClrTx/>
              <a:buSzTx/>
              <a:buNone/>
            </a:pPr>
            <a:r>
              <a:rPr lang="en-US" sz="140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了解产品基础信息</a:t>
            </a:r>
            <a:endParaRPr lang="en-US" sz="1400" dirty="0">
              <a:solidFill>
                <a:srgbClr val="2039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0"/>
            </a:endParaRPr>
          </a:p>
          <a:p>
            <a:pPr marL="0" algn="l">
              <a:lnSpc>
                <a:spcPct val="150000"/>
              </a:lnSpc>
              <a:buClrTx/>
              <a:buSzTx/>
              <a:buNone/>
            </a:pPr>
            <a:r>
              <a:rPr lang="en-US" sz="140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掌握开播前准备</a:t>
            </a:r>
            <a:endParaRPr lang="en-US" sz="1400" dirty="0">
              <a:solidFill>
                <a:srgbClr val="2039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0"/>
            </a:endParaRPr>
          </a:p>
          <a:p>
            <a:pPr marL="0" algn="l">
              <a:lnSpc>
                <a:spcPct val="150000"/>
              </a:lnSpc>
              <a:buClrTx/>
              <a:buSzTx/>
              <a:buNone/>
            </a:pPr>
            <a:r>
              <a:rPr lang="en-US" sz="140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完成基础讲解任务</a:t>
            </a:r>
            <a:endParaRPr lang="en-US" sz="1400" dirty="0">
              <a:solidFill>
                <a:srgbClr val="2039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0"/>
            </a:endParaRPr>
          </a:p>
        </p:txBody>
      </p:sp>
      <p:sp>
        <p:nvSpPr>
          <p:cNvPr id="10" name="Shape 8"/>
          <p:cNvSpPr/>
          <p:nvPr>
            <p:custDataLst>
              <p:tags r:id="rId6"/>
            </p:custDataLst>
          </p:nvPr>
        </p:nvSpPr>
        <p:spPr>
          <a:xfrm>
            <a:off x="5472176" y="2428494"/>
            <a:ext cx="640080" cy="640080"/>
          </a:xfrm>
          <a:prstGeom prst="ellipse">
            <a:avLst/>
          </a:prstGeom>
          <a:solidFill>
            <a:srgbClr val="F2A25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>
            <p:custDataLst>
              <p:tags r:id="rId7"/>
            </p:custDataLst>
          </p:nvPr>
        </p:nvSpPr>
        <p:spPr>
          <a:xfrm>
            <a:off x="4690872" y="3310128"/>
            <a:ext cx="2468880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0160">
            <a:solidFill>
              <a:srgbClr val="B9E1E4"/>
            </a:solidFill>
            <a:prstDash val="solid"/>
          </a:ln>
          <a:effectLst>
            <a:outerShdw blurRad="15240" dist="50800" dir="2700000" algn="bl" rotWithShape="0">
              <a:srgbClr val="D2E5E8">
                <a:alpha val="22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12" name="Text 10"/>
          <p:cNvSpPr/>
          <p:nvPr>
            <p:custDataLst>
              <p:tags r:id="rId8"/>
            </p:custDataLst>
          </p:nvPr>
        </p:nvSpPr>
        <p:spPr>
          <a:xfrm>
            <a:off x="5469890" y="3493135"/>
            <a:ext cx="1027430" cy="284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F59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提升期</a:t>
            </a:r>
            <a:endParaRPr lang="en-US" sz="2000" b="1" dirty="0">
              <a:solidFill>
                <a:srgbClr val="0F5963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0"/>
            </a:endParaRPr>
          </a:p>
        </p:txBody>
      </p:sp>
      <p:sp>
        <p:nvSpPr>
          <p:cNvPr id="13" name="Text 11"/>
          <p:cNvSpPr/>
          <p:nvPr>
            <p:custDataLst>
              <p:tags r:id="rId9"/>
            </p:custDataLst>
          </p:nvPr>
        </p:nvSpPr>
        <p:spPr>
          <a:xfrm>
            <a:off x="5229860" y="3778250"/>
            <a:ext cx="2011680" cy="894715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 fontScale="90000"/>
          </a:bodyPr>
          <a:lstStyle/>
          <a:p>
            <a:pPr marL="0" algn="l">
              <a:lnSpc>
                <a:spcPct val="150000"/>
              </a:lnSpc>
              <a:buClrTx/>
              <a:buSzTx/>
              <a:buNone/>
            </a:pPr>
            <a:r>
              <a:rPr lang="en-US" sz="140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能处理常见咨询</a:t>
            </a:r>
            <a:endParaRPr lang="en-US" sz="1400" dirty="0">
              <a:solidFill>
                <a:srgbClr val="2039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0"/>
            </a:endParaRPr>
          </a:p>
          <a:p>
            <a:pPr marL="0" algn="l">
              <a:lnSpc>
                <a:spcPct val="150000"/>
              </a:lnSpc>
              <a:buClrTx/>
              <a:buSzTx/>
              <a:buNone/>
            </a:pPr>
            <a:r>
              <a:rPr lang="en-US" sz="140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独立配合场控节奏</a:t>
            </a:r>
            <a:endParaRPr lang="en-US" sz="1400" dirty="0">
              <a:solidFill>
                <a:srgbClr val="2039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0"/>
            </a:endParaRPr>
          </a:p>
          <a:p>
            <a:pPr marL="0" algn="l">
              <a:lnSpc>
                <a:spcPct val="150000"/>
              </a:lnSpc>
              <a:buClrTx/>
              <a:buSzTx/>
              <a:buNone/>
            </a:pPr>
            <a:r>
              <a:rPr lang="en-US" sz="140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开始参与复盘整理</a:t>
            </a:r>
            <a:endParaRPr lang="en-US" sz="1400" dirty="0">
              <a:solidFill>
                <a:srgbClr val="2039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0"/>
            </a:endParaRPr>
          </a:p>
        </p:txBody>
      </p:sp>
      <p:sp>
        <p:nvSpPr>
          <p:cNvPr id="14" name="Shape 12"/>
          <p:cNvSpPr/>
          <p:nvPr>
            <p:custDataLst>
              <p:tags r:id="rId10"/>
            </p:custDataLst>
          </p:nvPr>
        </p:nvSpPr>
        <p:spPr>
          <a:xfrm>
            <a:off x="9301861" y="2423414"/>
            <a:ext cx="640080" cy="640080"/>
          </a:xfrm>
          <a:prstGeom prst="ellipse">
            <a:avLst/>
          </a:prstGeom>
          <a:solidFill>
            <a:srgbClr val="29A7A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>
            <p:custDataLst>
              <p:tags r:id="rId11"/>
            </p:custDataLst>
          </p:nvPr>
        </p:nvSpPr>
        <p:spPr>
          <a:xfrm>
            <a:off x="8211312" y="3310128"/>
            <a:ext cx="2468880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0160">
            <a:solidFill>
              <a:srgbClr val="B9E1E4"/>
            </a:solidFill>
            <a:prstDash val="solid"/>
          </a:ln>
          <a:effectLst>
            <a:outerShdw blurRad="15240" dist="50800" dir="2700000" algn="bl" rotWithShape="0">
              <a:srgbClr val="D2E5E8">
                <a:alpha val="22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16" name="Text 14"/>
          <p:cNvSpPr/>
          <p:nvPr>
            <p:custDataLst>
              <p:tags r:id="rId12"/>
            </p:custDataLst>
          </p:nvPr>
        </p:nvSpPr>
        <p:spPr>
          <a:xfrm>
            <a:off x="9059545" y="3541395"/>
            <a:ext cx="136271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F59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稳定期</a:t>
            </a:r>
            <a:endParaRPr lang="en-US" sz="2000" b="1" dirty="0">
              <a:solidFill>
                <a:srgbClr val="0F5963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0"/>
            </a:endParaRPr>
          </a:p>
        </p:txBody>
      </p:sp>
      <p:sp>
        <p:nvSpPr>
          <p:cNvPr id="17" name="Text 15"/>
          <p:cNvSpPr/>
          <p:nvPr>
            <p:custDataLst>
              <p:tags r:id="rId13"/>
            </p:custDataLst>
          </p:nvPr>
        </p:nvSpPr>
        <p:spPr>
          <a:xfrm>
            <a:off x="8832215" y="3777615"/>
            <a:ext cx="2011680" cy="89535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 fontScale="90000"/>
          </a:bodyPr>
          <a:lstStyle/>
          <a:p>
            <a:pPr indent="0" fontAlgn="auto">
              <a:lnSpc>
                <a:spcPct val="150000"/>
              </a:lnSpc>
              <a:buNone/>
            </a:pPr>
            <a:r>
              <a:rPr lang="en-US" sz="140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形成个人话术库</a:t>
            </a:r>
            <a:endParaRPr lang="en-US" sz="1400" dirty="0"/>
          </a:p>
          <a:p>
            <a:pPr indent="0" fontAlgn="auto">
              <a:lnSpc>
                <a:spcPct val="150000"/>
              </a:lnSpc>
              <a:buNone/>
            </a:pPr>
            <a:r>
              <a:rPr lang="en-US" sz="140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协助新人熟悉流程</a:t>
            </a:r>
            <a:endParaRPr lang="en-US" sz="1400" dirty="0"/>
          </a:p>
          <a:p>
            <a:pPr indent="0" fontAlgn="auto">
              <a:lnSpc>
                <a:spcPct val="150000"/>
              </a:lnSpc>
              <a:buNone/>
            </a:pPr>
            <a:r>
              <a:rPr lang="en-US" sz="140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支持活动型直播</a:t>
            </a:r>
            <a:endParaRPr lang="en-US" sz="1400" dirty="0">
              <a:solidFill>
                <a:srgbClr val="2039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148840" y="5559552"/>
            <a:ext cx="79552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59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核心变化：少一点“被动执行”，多一点“主动发现与提前准备”</a:t>
            </a:r>
            <a:endParaRPr lang="en-US" sz="2000" b="1" dirty="0">
              <a:solidFill>
                <a:srgbClr val="0F5963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738360" y="6510528"/>
            <a:ext cx="1737360" cy="0"/>
          </a:xfrm>
          <a:prstGeom prst="line">
            <a:avLst/>
          </a:prstGeom>
          <a:noFill/>
          <a:ln w="12700">
            <a:solidFill>
              <a:srgbClr val="B9E1E4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768096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团队协作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58368" y="941832"/>
            <a:ext cx="1051560" cy="0"/>
          </a:xfrm>
          <a:prstGeom prst="line">
            <a:avLst/>
          </a:prstGeom>
          <a:noFill/>
          <a:ln w="38100">
            <a:solidFill>
              <a:srgbClr val="29A7A5"/>
            </a:solidFill>
            <a:prstDash val="solid"/>
            <a:headEnd type="none"/>
            <a:tailEnd type="none"/>
          </a:ln>
        </p:spPr>
      </p:sp>
      <p:pic>
        <p:nvPicPr>
          <p:cNvPr id="5" name="Image 0" descr="/mnt/data/team_big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143000"/>
            <a:ext cx="4663440" cy="3886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15000" y="1234440"/>
            <a:ext cx="26060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0160">
            <a:solidFill>
              <a:srgbClr val="B9E1E4"/>
            </a:solidFill>
            <a:prstDash val="solid"/>
          </a:ln>
          <a:effectLst>
            <a:outerShdw blurRad="15240" dist="50800" dir="2700000" algn="bl" rotWithShape="0">
              <a:srgbClr val="D2E5E8">
                <a:alpha val="2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943600" y="1435608"/>
            <a:ext cx="21488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59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主播协作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943600" y="1828800"/>
            <a:ext cx="2148840" cy="42976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共享话术、提醒节奏、复盘高频问题</a:t>
            </a:r>
            <a:endParaRPr lang="en-US" sz="1120" dirty="0"/>
          </a:p>
        </p:txBody>
      </p:sp>
      <p:sp>
        <p:nvSpPr>
          <p:cNvPr id="9" name="Shape 6"/>
          <p:cNvSpPr/>
          <p:nvPr/>
        </p:nvSpPr>
        <p:spPr>
          <a:xfrm>
            <a:off x="8641080" y="1234440"/>
            <a:ext cx="26060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0160">
            <a:solidFill>
              <a:srgbClr val="B9E1E4"/>
            </a:solidFill>
            <a:prstDash val="solid"/>
          </a:ln>
          <a:effectLst>
            <a:outerShdw blurRad="15240" dist="50800" dir="2700000" algn="bl" rotWithShape="0">
              <a:srgbClr val="D2E5E8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869680" y="1435608"/>
            <a:ext cx="21488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59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运营协作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869680" y="1828800"/>
            <a:ext cx="2148840" cy="42976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同步活动重点、反馈用户关注点、配合调整机制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5715000" y="2788920"/>
            <a:ext cx="5532120" cy="1298448"/>
          </a:xfrm>
          <a:prstGeom prst="roundRect">
            <a:avLst>
              <a:gd name="adj" fmla="val 8451"/>
            </a:avLst>
          </a:prstGeom>
          <a:solidFill>
            <a:srgbClr val="FFF7E8"/>
          </a:solidFill>
          <a:ln w="10160">
            <a:solidFill>
              <a:srgbClr val="F0CDA7"/>
            </a:solidFill>
            <a:prstDash val="solid"/>
          </a:ln>
          <a:effectLst>
            <a:outerShdw blurRad="15240" dist="50800" dir="2700000" algn="bl" rotWithShape="0">
              <a:srgbClr val="D2E5E8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943600" y="2990088"/>
            <a:ext cx="507492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A85E1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重复沉淀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943600" y="3383280"/>
            <a:ext cx="5074920" cy="585216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 lnSpcReduction="20000"/>
          </a:bodyPr>
          <a:lstStyle/>
          <a:p>
            <a:pPr indent="0" fontAlgn="auto">
              <a:lnSpc>
                <a:spcPct val="150000"/>
              </a:lnSpc>
              <a:buNone/>
            </a:pPr>
            <a:r>
              <a:rPr lang="en-US" sz="140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复盘清单每日更新；复盘清单每日更新</a:t>
            </a:r>
            <a:endParaRPr lang="en-US" sz="1400" dirty="0"/>
          </a:p>
          <a:p>
            <a:pPr indent="0" fontAlgn="auto">
              <a:lnSpc>
                <a:spcPct val="150000"/>
              </a:lnSpc>
              <a:buNone/>
            </a:pPr>
            <a:r>
              <a:rPr lang="en-US" sz="140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用户问题及时记录；用户问题及时记录</a:t>
            </a:r>
            <a:endParaRPr lang="en-US" sz="1400" dirty="0">
              <a:solidFill>
                <a:srgbClr val="2039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5715000" y="4526280"/>
            <a:ext cx="5532120" cy="685800"/>
          </a:xfrm>
          <a:prstGeom prst="roundRect">
            <a:avLst>
              <a:gd name="adj" fmla="val 16000"/>
            </a:avLst>
          </a:prstGeom>
          <a:solidFill>
            <a:srgbClr val="E8F7F7"/>
          </a:solidFill>
          <a:ln w="10160">
            <a:solidFill>
              <a:srgbClr val="B9E1E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89015" y="4695317"/>
            <a:ext cx="5074920" cy="33832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algn="l">
              <a:lnSpc>
                <a:spcPct val="150000"/>
              </a:lnSpc>
              <a:buClrTx/>
              <a:buSzTx/>
              <a:buFontTx/>
              <a:buNone/>
            </a:pPr>
            <a:r>
              <a:rPr lang="en-US" sz="140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同一条信息在直播前、直播中、直播后反复确认，减少遗漏。</a:t>
            </a:r>
            <a:endParaRPr lang="en-US" sz="1400" dirty="0">
              <a:solidFill>
                <a:srgbClr val="2039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9738360" y="6510528"/>
            <a:ext cx="1737360" cy="0"/>
          </a:xfrm>
          <a:prstGeom prst="line">
            <a:avLst/>
          </a:prstGeom>
          <a:noFill/>
          <a:ln w="12700">
            <a:solidFill>
              <a:srgbClr val="B9E1E4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768096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32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后续规划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58368" y="941832"/>
            <a:ext cx="1051560" cy="0"/>
          </a:xfrm>
          <a:prstGeom prst="line">
            <a:avLst/>
          </a:prstGeom>
          <a:noFill/>
          <a:ln w="38100">
            <a:solidFill>
              <a:srgbClr val="29A7A5"/>
            </a:solidFill>
            <a:prstDash val="solid"/>
            <a:headEnd type="none"/>
            <a:tailEnd type="none"/>
          </a:ln>
        </p:spPr>
      </p:sp>
      <p:pic>
        <p:nvPicPr>
          <p:cNvPr id="5" name="Image 0" descr="/mnt/data/roadmap_bg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04672"/>
            <a:ext cx="12191695" cy="5486400"/>
          </a:xfrm>
          <a:prstGeom prst="rect">
            <a:avLst/>
          </a:prstGeom>
        </p:spPr>
      </p:pic>
      <p:sp>
        <p:nvSpPr>
          <p:cNvPr id="6" name="Shape 3"/>
          <p:cNvSpPr/>
          <p:nvPr>
            <p:custDataLst>
              <p:tags r:id="rId2"/>
            </p:custDataLst>
          </p:nvPr>
        </p:nvSpPr>
        <p:spPr>
          <a:xfrm>
            <a:off x="1737360" y="1874519"/>
            <a:ext cx="3383280" cy="251460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0160">
            <a:solidFill>
              <a:srgbClr val="B9E1E4"/>
            </a:solidFill>
            <a:prstDash val="solid"/>
          </a:ln>
          <a:effectLst>
            <a:outerShdw blurRad="15240" dist="50800" dir="2700000" algn="bl" rotWithShape="0">
              <a:srgbClr val="D2E5E8">
                <a:alpha val="22000"/>
              </a:srgbClr>
            </a:outerShdw>
          </a:effectLst>
        </p:spPr>
      </p:sp>
      <p:sp>
        <p:nvSpPr>
          <p:cNvPr id="7" name="Text 4"/>
          <p:cNvSpPr/>
          <p:nvPr>
            <p:custDataLst>
              <p:tags r:id="rId3"/>
            </p:custDataLst>
          </p:nvPr>
        </p:nvSpPr>
        <p:spPr>
          <a:xfrm>
            <a:off x="1965960" y="210312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59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近期</a:t>
            </a:r>
            <a:endParaRPr lang="en-US" sz="1400" dirty="0"/>
          </a:p>
        </p:txBody>
      </p:sp>
      <p:sp>
        <p:nvSpPr>
          <p:cNvPr id="8" name="Text 5"/>
          <p:cNvSpPr/>
          <p:nvPr>
            <p:custDataLst>
              <p:tags r:id="rId4"/>
            </p:custDataLst>
          </p:nvPr>
        </p:nvSpPr>
        <p:spPr>
          <a:xfrm>
            <a:off x="1965960" y="2578608"/>
            <a:ext cx="2926080" cy="141732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indent="0" fontAlgn="auto">
              <a:lnSpc>
                <a:spcPct val="150000"/>
              </a:lnSpc>
              <a:buNone/>
            </a:pPr>
            <a:r>
              <a:rPr lang="en-US" sz="160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完善话术卡片</a:t>
            </a:r>
            <a:endParaRPr lang="en-US" sz="1600" dirty="0"/>
          </a:p>
          <a:p>
            <a:pPr indent="0" fontAlgn="auto">
              <a:lnSpc>
                <a:spcPct val="150000"/>
              </a:lnSpc>
              <a:buNone/>
            </a:pPr>
            <a:r>
              <a:rPr lang="en-US" sz="160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稳定开播前检查</a:t>
            </a:r>
            <a:endParaRPr lang="en-US" sz="1600" dirty="0"/>
          </a:p>
          <a:p>
            <a:pPr indent="0" fontAlgn="auto">
              <a:lnSpc>
                <a:spcPct val="150000"/>
              </a:lnSpc>
              <a:buNone/>
            </a:pPr>
            <a:r>
              <a:rPr lang="en-US" sz="160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提升互动响应质量</a:t>
            </a:r>
            <a:endParaRPr lang="en-US" sz="1600" dirty="0">
              <a:solidFill>
                <a:srgbClr val="2039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0"/>
            </a:endParaRPr>
          </a:p>
        </p:txBody>
      </p:sp>
      <p:sp>
        <p:nvSpPr>
          <p:cNvPr id="12" name="Shape 9"/>
          <p:cNvSpPr/>
          <p:nvPr>
            <p:custDataLst>
              <p:tags r:id="rId8"/>
            </p:custDataLst>
          </p:nvPr>
        </p:nvSpPr>
        <p:spPr>
          <a:xfrm>
            <a:off x="7068312" y="1874519"/>
            <a:ext cx="3383280" cy="251460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0160">
            <a:solidFill>
              <a:srgbClr val="B9E1E4"/>
            </a:solidFill>
            <a:prstDash val="solid"/>
          </a:ln>
          <a:effectLst>
            <a:outerShdw blurRad="15240" dist="50800" dir="2700000" algn="bl" rotWithShape="0">
              <a:srgbClr val="D2E5E8">
                <a:alpha val="22000"/>
              </a:srgbClr>
            </a:outerShdw>
          </a:effectLst>
        </p:spPr>
      </p:sp>
      <p:sp>
        <p:nvSpPr>
          <p:cNvPr id="13" name="Text 10"/>
          <p:cNvSpPr/>
          <p:nvPr>
            <p:custDataLst>
              <p:tags r:id="rId9"/>
            </p:custDataLst>
          </p:nvPr>
        </p:nvSpPr>
        <p:spPr>
          <a:xfrm>
            <a:off x="7296912" y="2103120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59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长期</a:t>
            </a:r>
            <a:endParaRPr lang="en-US" sz="1400" dirty="0"/>
          </a:p>
        </p:txBody>
      </p:sp>
      <p:sp>
        <p:nvSpPr>
          <p:cNvPr id="14" name="Text 11"/>
          <p:cNvSpPr/>
          <p:nvPr>
            <p:custDataLst>
              <p:tags r:id="rId10"/>
            </p:custDataLst>
          </p:nvPr>
        </p:nvSpPr>
        <p:spPr>
          <a:xfrm>
            <a:off x="7296912" y="2578608"/>
            <a:ext cx="2926080" cy="1417320"/>
          </a:xfrm>
          <a:prstGeom prst="rect">
            <a:avLst/>
          </a:prstGeom>
          <a:noFill/>
        </p:spPr>
        <p:txBody>
          <a:bodyPr wrap="square" lIns="0" tIns="254" rIns="0" bIns="254" rtlCol="0" anchor="ctr">
            <a:normAutofit/>
          </a:bodyPr>
          <a:lstStyle/>
          <a:p>
            <a:pPr marL="0" algn="l">
              <a:lnSpc>
                <a:spcPct val="150000"/>
              </a:lnSpc>
              <a:spcAft>
                <a:spcPts val="900"/>
              </a:spcAft>
              <a:buClrTx/>
              <a:buSzTx/>
              <a:buNone/>
            </a:pPr>
            <a:r>
              <a:rPr sz="1800" b="0">
                <a:solidFill>
                  <a:srgbClr val="17343C"/>
                </a:solidFill>
                <a:latin typeface="Microsoft YaHei"/>
              </a:rPr>
              <a:t>搭建标准化复盘范式</a:t>
            </a:r>
            <a:endParaRPr lang="en-US" sz="1600" dirty="0">
              <a:solidFill>
                <a:srgbClr val="20394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0"/>
            </a:endParaRP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17343C"/>
                </a:solidFill>
                <a:latin typeface="Microsoft YaHei"/>
              </a:rPr>
              <a:t>强化岗位协同配合效能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17343C"/>
                </a:solidFill>
                <a:latin typeface="Microsoft YaHei"/>
              </a:rPr>
              <a:t>赋能团队稳步长效发展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tudio_thanks.jpg"/>
          <p:cNvPicPr>
            <a:picLocks noChangeAspect="1"/>
          </p:cNvPicPr>
          <p:nvPr/>
        </p:nvPicPr>
        <p:blipFill>
          <a:blip r:embed="rId1"/>
          <a:srcRect t="26088" b="26088"/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355080" cy="6858000"/>
          </a:xfrm>
          <a:prstGeom prst="rect">
            <a:avLst/>
          </a:prstGeom>
          <a:solidFill>
            <a:srgbClr val="EAF8F9"/>
          </a:solidFill>
          <a:ln w="12700">
            <a:solidFill>
              <a:srgbClr val="EAF8F9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77824" y="2084832"/>
            <a:ext cx="41148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7323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感谢聆听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914400" y="2971800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5963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营养品自播项目 · 内容运营组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914400" y="3429000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200" dirty="0">
                <a:solidFill>
                  <a:srgbClr val="65747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  <a:sym typeface="+mn-ea"/>
              </a:rPr>
              <a:t>许泠瞻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914400" y="4069080"/>
            <a:ext cx="1143000" cy="0"/>
          </a:xfrm>
          <a:prstGeom prst="line">
            <a:avLst/>
          </a:prstGeom>
          <a:noFill/>
          <a:ln w="38100">
            <a:solidFill>
              <a:srgbClr val="29A7A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4370832"/>
            <a:ext cx="4434840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0394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0"/>
              </a:rPr>
              <a:t>以更稳的流程、更清晰的表达、更快的反馈完成下一阶段工作。</a:t>
            </a:r>
            <a:endParaRPr lang="en-US" sz="1250" dirty="0"/>
          </a:p>
        </p:txBody>
      </p:sp>
      <p:graphicFrame>
        <p:nvGraphicFramePr>
          <p:cNvPr id="9" name="Monthly Revenue and Profit Ratio Chart"/>
          <p:cNvGraphicFramePr>
            <a:graphicFrameLocks noGrp="1"/>
          </p:cNvGraphicFramePr>
          <p:nvPr/>
        </p:nvGraphicFramePr>
        <p:xfrm>
          <a:off x="6510528" y="1600200"/>
          <a:ext cx="5303520" cy="333756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13.2,&quot;left&quot;:58,&quot;top&quot;:104.4,&quot;width&quot;:541.0400000000001}"/>
</p:tagLst>
</file>

<file path=ppt/tags/tag2.xml><?xml version="1.0" encoding="utf-8"?>
<p:tagLst xmlns:p="http://schemas.openxmlformats.org/presentationml/2006/main">
  <p:tag name="KSO_WM_DIAGRAM_VIRTUALLY_FRAME" val="{&quot;height&quot;:313.2,&quot;left&quot;:58,&quot;top&quot;:104.4,&quot;width&quot;:541.0400000000001}"/>
</p:tagLst>
</file>

<file path=ppt/tags/tag3.xml><?xml version="1.0" encoding="utf-8"?>
<p:tagLst xmlns:p="http://schemas.openxmlformats.org/presentationml/2006/main">
  <p:tag name="KSO_WM_DIAGRAM_VIRTUALLY_FRAME" val="{&quot;height&quot;:313.2,&quot;left&quot;:58,&quot;top&quot;:104.4,&quot;width&quot;:541.0400000000001}"/>
</p:tagLst>
</file>

<file path=ppt/tags/tag4.xml><?xml version="1.0" encoding="utf-8"?>
<p:tagLst xmlns:p="http://schemas.openxmlformats.org/presentationml/2006/main">
  <p:tag name="KSO_WM_DIAGRAM_VIRTUALLY_FRAME" val="{&quot;height&quot;:313.2,&quot;left&quot;:58,&quot;top&quot;:104.4,&quot;width&quot;:541.0400000000001}"/>
</p:tagLst>
</file>

<file path=ppt/tags/tag5.xml><?xml version="1.0" encoding="utf-8"?>
<p:tagLst xmlns:p="http://schemas.openxmlformats.org/presentationml/2006/main">
  <p:tag name="KSO_WM_DIAGRAM_VIRTUALLY_FRAME" val="{&quot;height&quot;:313.2,&quot;left&quot;:58,&quot;top&quot;:104.4,&quot;width&quot;:541.0400000000001}"/>
</p:tagLst>
</file>

<file path=ppt/tags/tag6.xml><?xml version="1.0" encoding="utf-8"?>
<p:tagLst xmlns:p="http://schemas.openxmlformats.org/presentationml/2006/main">
  <p:tag name="KSO_WM_DIAGRAM_VIRTUALLY_FRAME" val="{&quot;height&quot;:313.2,&quot;left&quot;:58,&quot;top&quot;:104.4,&quot;width&quot;:541.0400000000001}"/>
</p:tagLst>
</file>

<file path=ppt/tags/tag7.xml><?xml version="1.0" encoding="utf-8"?>
<p:tagLst xmlns:p="http://schemas.openxmlformats.org/presentationml/2006/main">
  <p:tag name="KSO_WM_DIAGRAM_VIRTUALLY_FRAME" val="{&quot;height&quot;:313.2,&quot;left&quot;:58,&quot;top&quot;:104.4,&quot;width&quot;:541.0400000000001}"/>
</p:tagLst>
</file>

<file path=ppt/tags/tag8.xml><?xml version="1.0" encoding="utf-8"?>
<p:tagLst xmlns:p="http://schemas.openxmlformats.org/presentationml/2006/main">
  <p:tag name="KSO_WM_DIAGRAM_VIRTUALLY_FRAME" val="{&quot;height&quot;:313.2,&quot;left&quot;:58,&quot;top&quot;:104.4,&quot;width&quot;:541.0400000000001}"/>
</p:tagLst>
</file>

<file path=ppt/tags/tag9.xml><?xml version="1.0" encoding="utf-8"?>
<p:tagLst xmlns:p="http://schemas.openxmlformats.org/presentationml/2006/main">
  <p:tag name="KSO_WM_DIAGRAM_VIRTUALLY_FRAME" val="{&quot;height&quot;:274.32,&quot;left&quot;:471.6,&quot;top&quot;:97.2,&quot;width&quot;:421.2}"/>
</p:tagLst>
</file>

<file path=ppt/tags/tag10.xml><?xml version="1.0" encoding="utf-8"?>
<p:tagLst xmlns:p="http://schemas.openxmlformats.org/presentationml/2006/main">
  <p:tag name="KSO_WM_DIAGRAM_VIRTUALLY_FRAME" val="{&quot;height&quot;:274.32,&quot;left&quot;:471.6,&quot;top&quot;:97.2,&quot;width&quot;:421.2}"/>
</p:tagLst>
</file>

<file path=ppt/tags/tag11.xml><?xml version="1.0" encoding="utf-8"?>
<p:tagLst xmlns:p="http://schemas.openxmlformats.org/presentationml/2006/main">
  <p:tag name="KSO_WM_DIAGRAM_VIRTUALLY_FRAME" val="{&quot;height&quot;:274.32,&quot;left&quot;:471.6,&quot;top&quot;:97.2,&quot;width&quot;:421.2}"/>
</p:tagLst>
</file>

<file path=ppt/tags/tag12.xml><?xml version="1.0" encoding="utf-8"?>
<p:tagLst xmlns:p="http://schemas.openxmlformats.org/presentationml/2006/main">
  <p:tag name="KSO_WM_DIAGRAM_VIRTUALLY_FRAME" val="{&quot;height&quot;:274.32,&quot;left&quot;:471.6,&quot;top&quot;:97.2,&quot;width&quot;:421.2}"/>
</p:tagLst>
</file>

<file path=ppt/tags/tag13.xml><?xml version="1.0" encoding="utf-8"?>
<p:tagLst xmlns:p="http://schemas.openxmlformats.org/presentationml/2006/main">
  <p:tag name="KSO_WM_DIAGRAM_VIRTUALLY_FRAME" val="{&quot;height&quot;:274.32,&quot;left&quot;:471.6,&quot;top&quot;:97.2,&quot;width&quot;:421.2}"/>
</p:tagLst>
</file>

<file path=ppt/tags/tag14.xml><?xml version="1.0" encoding="utf-8"?>
<p:tagLst xmlns:p="http://schemas.openxmlformats.org/presentationml/2006/main">
  <p:tag name="KSO_WM_DIAGRAM_VIRTUALLY_FRAME" val="{&quot;height&quot;:274.32,&quot;left&quot;:471.6,&quot;top&quot;:97.2,&quot;width&quot;:421.2}"/>
</p:tagLst>
</file>

<file path=ppt/tags/tag15.xml><?xml version="1.0" encoding="utf-8"?>
<p:tagLst xmlns:p="http://schemas.openxmlformats.org/presentationml/2006/main">
  <p:tag name="KSO_WM_DIAGRAM_VIRTUALLY_FRAME" val="{&quot;height&quot;:274.32,&quot;left&quot;:471.6,&quot;top&quot;:97.2,&quot;width&quot;:421.2}"/>
</p:tagLst>
</file>

<file path=ppt/tags/tag16.xml><?xml version="1.0" encoding="utf-8"?>
<p:tagLst xmlns:p="http://schemas.openxmlformats.org/presentationml/2006/main">
  <p:tag name="KSO_WM_DIAGRAM_VIRTUALLY_FRAME" val="{&quot;height&quot;:274.32,&quot;left&quot;:471.6,&quot;top&quot;:97.2,&quot;width&quot;:421.2}"/>
</p:tagLst>
</file>

<file path=ppt/tags/tag17.xml><?xml version="1.0" encoding="utf-8"?>
<p:tagLst xmlns:p="http://schemas.openxmlformats.org/presentationml/2006/main">
  <p:tag name="KSO_WM_DIAGRAM_VIRTUALLY_FRAME" val="{&quot;height&quot;:274.32,&quot;left&quot;:471.6,&quot;top&quot;:97.2,&quot;width&quot;:421.2}"/>
</p:tagLst>
</file>

<file path=ppt/tags/tag18.xml><?xml version="1.0" encoding="utf-8"?>
<p:tagLst xmlns:p="http://schemas.openxmlformats.org/presentationml/2006/main">
  <p:tag name="KSO_WM_DIAGRAM_VIRTUALLY_FRAME" val="{&quot;height&quot;:316.5157987009249,&quot;left&quot;:48.32916223878008,&quot;top&quot;:57.16285536771041,&quot;width&quot;:443.138967405648}"/>
</p:tagLst>
</file>

<file path=ppt/tags/tag19.xml><?xml version="1.0" encoding="utf-8"?>
<p:tagLst xmlns:p="http://schemas.openxmlformats.org/presentationml/2006/main">
  <p:tag name="KSO_WM_DIAGRAM_VIRTUALLY_FRAME" val="{&quot;height&quot;:316.5157987009249,&quot;left&quot;:48.32916223878008,&quot;top&quot;:57.16285536771041,&quot;width&quot;:443.138967405648}"/>
</p:tagLst>
</file>

<file path=ppt/tags/tag20.xml><?xml version="1.0" encoding="utf-8"?>
<p:tagLst xmlns:p="http://schemas.openxmlformats.org/presentationml/2006/main">
  <p:tag name="KSO_WM_DIAGRAM_VIRTUALLY_FRAME" val="{&quot;height&quot;:316.5157987009249,&quot;left&quot;:48.32916223878008,&quot;top&quot;:57.16285536771041,&quot;width&quot;:443.138967405648}"/>
</p:tagLst>
</file>

<file path=ppt/tags/tag21.xml><?xml version="1.0" encoding="utf-8"?>
<p:tagLst xmlns:p="http://schemas.openxmlformats.org/presentationml/2006/main">
  <p:tag name="KSO_WM_DIAGRAM_VIRTUALLY_FRAME" val="{&quot;height&quot;:316.5157987009249,&quot;left&quot;:48.32916223878008,&quot;top&quot;:57.16285536771041,&quot;width&quot;:443.138967405648}"/>
</p:tagLst>
</file>

<file path=ppt/tags/tag22.xml><?xml version="1.0" encoding="utf-8"?>
<p:tagLst xmlns:p="http://schemas.openxmlformats.org/presentationml/2006/main">
  <p:tag name="KSO_WM_DIAGRAM_VIRTUALLY_FRAME" val="{&quot;height&quot;:316.5157987009249,&quot;left&quot;:48.32916223878008,&quot;top&quot;:57.16285536771041,&quot;width&quot;:443.138967405648}"/>
</p:tagLst>
</file>

<file path=ppt/tags/tag23.xml><?xml version="1.0" encoding="utf-8"?>
<p:tagLst xmlns:p="http://schemas.openxmlformats.org/presentationml/2006/main">
  <p:tag name="KSO_WM_DIAGRAM_VIRTUALLY_FRAME" val="{&quot;height&quot;:316.5157987009249,&quot;left&quot;:48.32916223878008,&quot;top&quot;:57.16285536771041,&quot;width&quot;:443.138967405648}"/>
</p:tagLst>
</file>

<file path=ppt/tags/tag24.xml><?xml version="1.0" encoding="utf-8"?>
<p:tagLst xmlns:p="http://schemas.openxmlformats.org/presentationml/2006/main">
  <p:tag name="KSO_WM_DIAGRAM_VIRTUALLY_FRAME" val="{&quot;height&quot;:316.5157987009249,&quot;left&quot;:48.32916223878008,&quot;top&quot;:57.16285536771041,&quot;width&quot;:443.138967405648}"/>
</p:tagLst>
</file>

<file path=ppt/tags/tag25.xml><?xml version="1.0" encoding="utf-8"?>
<p:tagLst xmlns:p="http://schemas.openxmlformats.org/presentationml/2006/main">
  <p:tag name="KSO_WM_DIAGRAM_VIRTUALLY_FRAME" val="{&quot;height&quot;:316.5157987009249,&quot;left&quot;:48.32916223878008,&quot;top&quot;:57.16285536771041,&quot;width&quot;:443.138967405648}"/>
</p:tagLst>
</file>

<file path=ppt/tags/tag26.xml><?xml version="1.0" encoding="utf-8"?>
<p:tagLst xmlns:p="http://schemas.openxmlformats.org/presentationml/2006/main">
  <p:tag name="KSO_WM_DIAGRAM_VIRTUALLY_FRAME" val="{&quot;height&quot;:316.5157987009249,&quot;left&quot;:48.32916223878008,&quot;top&quot;:57.16285536771041,&quot;width&quot;:443.138967405648}"/>
</p:tagLst>
</file>

<file path=ppt/tags/tag27.xml><?xml version="1.0" encoding="utf-8"?>
<p:tagLst xmlns:p="http://schemas.openxmlformats.org/presentationml/2006/main">
  <p:tag name="KSO_WM_DIAGRAM_VIRTUALLY_FRAME" val="{&quot;height&quot;:316.5157987009249,&quot;left&quot;:48.32916223878008,&quot;top&quot;:57.16285536771041,&quot;width&quot;:443.138967405648}"/>
</p:tagLst>
</file>

<file path=ppt/tags/tag28.xml><?xml version="1.0" encoding="utf-8"?>
<p:tagLst xmlns:p="http://schemas.openxmlformats.org/presentationml/2006/main">
  <p:tag name="KSO_WM_DIAGRAM_VIRTUALLY_FRAME" val="{&quot;height&quot;:316.5157987009249,&quot;left&quot;:48.32916223878008,&quot;top&quot;:57.16285536771041,&quot;width&quot;:443.138967405648}"/>
</p:tagLst>
</file>

<file path=ppt/tags/tag29.xml><?xml version="1.0" encoding="utf-8"?>
<p:tagLst xmlns:p="http://schemas.openxmlformats.org/presentationml/2006/main">
  <p:tag name="KSO_WM_DIAGRAM_VIRTUALLY_FRAME" val="{&quot;height&quot;:316.5157987009249,&quot;left&quot;:48.32916223878008,&quot;top&quot;:57.16285536771041,&quot;width&quot;:443.138967405648}"/>
</p:tagLst>
</file>

<file path=ppt/tags/tag30.xml><?xml version="1.0" encoding="utf-8"?>
<p:tagLst xmlns:p="http://schemas.openxmlformats.org/presentationml/2006/main">
  <p:tag name="KSO_WM_DIAGRAM_VIRTUALLY_FRAME" val="{&quot;height&quot;:291.6,&quot;left&quot;:64.8,&quot;top&quot;:104.4,&quot;width&quot;:828}"/>
</p:tagLst>
</file>

<file path=ppt/tags/tag31.xml><?xml version="1.0" encoding="utf-8"?>
<p:tagLst xmlns:p="http://schemas.openxmlformats.org/presentationml/2006/main">
  <p:tag name="KSO_WM_DIAGRAM_VIRTUALLY_FRAME" val="{&quot;height&quot;:291.6,&quot;left&quot;:64.8,&quot;top&quot;:104.4,&quot;width&quot;:828}"/>
</p:tagLst>
</file>

<file path=ppt/tags/tag32.xml><?xml version="1.0" encoding="utf-8"?>
<p:tagLst xmlns:p="http://schemas.openxmlformats.org/presentationml/2006/main">
  <p:tag name="KSO_WM_DIAGRAM_VIRTUALLY_FRAME" val="{&quot;height&quot;:291.6,&quot;left&quot;:64.8,&quot;top&quot;:104.4,&quot;width&quot;:828}"/>
</p:tagLst>
</file>

<file path=ppt/tags/tag33.xml><?xml version="1.0" encoding="utf-8"?>
<p:tagLst xmlns:p="http://schemas.openxmlformats.org/presentationml/2006/main">
  <p:tag name="KSO_WM_DIAGRAM_VIRTUALLY_FRAME" val="{&quot;height&quot;:291.6,&quot;left&quot;:64.8,&quot;top&quot;:104.4,&quot;width&quot;:828}"/>
</p:tagLst>
</file>

<file path=ppt/tags/tag34.xml><?xml version="1.0" encoding="utf-8"?>
<p:tagLst xmlns:p="http://schemas.openxmlformats.org/presentationml/2006/main">
  <p:tag name="KSO_WM_DIAGRAM_VIRTUALLY_FRAME" val="{&quot;height&quot;:291.6,&quot;left&quot;:64.8,&quot;top&quot;:104.4,&quot;width&quot;:828}"/>
</p:tagLst>
</file>

<file path=ppt/tags/tag35.xml><?xml version="1.0" encoding="utf-8"?>
<p:tagLst xmlns:p="http://schemas.openxmlformats.org/presentationml/2006/main">
  <p:tag name="KSO_WM_DIAGRAM_VIRTUALLY_FRAME" val="{&quot;height&quot;:291.6,&quot;left&quot;:64.8,&quot;top&quot;:104.4,&quot;width&quot;:828}"/>
</p:tagLst>
</file>

<file path=ppt/tags/tag36.xml><?xml version="1.0" encoding="utf-8"?>
<p:tagLst xmlns:p="http://schemas.openxmlformats.org/presentationml/2006/main">
  <p:tag name="KSO_WM_DIAGRAM_VIRTUALLY_FRAME" val="{&quot;height&quot;:291.6,&quot;left&quot;:64.8,&quot;top&quot;:104.4,&quot;width&quot;:828}"/>
</p:tagLst>
</file>

<file path=ppt/tags/tag37.xml><?xml version="1.0" encoding="utf-8"?>
<p:tagLst xmlns:p="http://schemas.openxmlformats.org/presentationml/2006/main">
  <p:tag name="KSO_WM_DIAGRAM_VIRTUALLY_FRAME" val="{&quot;height&quot;:193.71000000000004,&quot;left&quot;:92.16,&quot;top&quot;:183.57,&quot;width&quot;:770.39}"/>
</p:tagLst>
</file>

<file path=ppt/tags/tag38.xml><?xml version="1.0" encoding="utf-8"?>
<p:tagLst xmlns:p="http://schemas.openxmlformats.org/presentationml/2006/main">
  <p:tag name="KSO_WM_DIAGRAM_VIRTUALLY_FRAME" val="{&quot;height&quot;:193.71000000000004,&quot;left&quot;:92.16,&quot;top&quot;:183.57,&quot;width&quot;:770.39}"/>
</p:tagLst>
</file>

<file path=ppt/tags/tag39.xml><?xml version="1.0" encoding="utf-8"?>
<p:tagLst xmlns:p="http://schemas.openxmlformats.org/presentationml/2006/main">
  <p:tag name="KSO_WM_DIAGRAM_VIRTUALLY_FRAME" val="{&quot;height&quot;:193.71000000000004,&quot;left&quot;:92.16,&quot;top&quot;:183.57,&quot;width&quot;:770.39}"/>
</p:tagLst>
</file>

<file path=ppt/tags/tag40.xml><?xml version="1.0" encoding="utf-8"?>
<p:tagLst xmlns:p="http://schemas.openxmlformats.org/presentationml/2006/main">
  <p:tag name="KSO_WM_DIAGRAM_VIRTUALLY_FRAME" val="{&quot;height&quot;:193.71000000000004,&quot;left&quot;:92.16,&quot;top&quot;:183.57,&quot;width&quot;:770.39}"/>
</p:tagLst>
</file>

<file path=ppt/tags/tag41.xml><?xml version="1.0" encoding="utf-8"?>
<p:tagLst xmlns:p="http://schemas.openxmlformats.org/presentationml/2006/main">
  <p:tag name="KSO_WM_DIAGRAM_VIRTUALLY_FRAME" val="{&quot;height&quot;:193.71000000000004,&quot;left&quot;:92.16,&quot;top&quot;:183.57,&quot;width&quot;:770.39}"/>
</p:tagLst>
</file>

<file path=ppt/tags/tag42.xml><?xml version="1.0" encoding="utf-8"?>
<p:tagLst xmlns:p="http://schemas.openxmlformats.org/presentationml/2006/main">
  <p:tag name="KSO_WM_DIAGRAM_VIRTUALLY_FRAME" val="{&quot;height&quot;:193.71000000000004,&quot;left&quot;:92.16,&quot;top&quot;:183.57,&quot;width&quot;:770.39}"/>
</p:tagLst>
</file>

<file path=ppt/tags/tag43.xml><?xml version="1.0" encoding="utf-8"?>
<p:tagLst xmlns:p="http://schemas.openxmlformats.org/presentationml/2006/main">
  <p:tag name="KSO_WM_DIAGRAM_VIRTUALLY_FRAME" val="{&quot;height&quot;:193.71000000000004,&quot;left&quot;:92.16,&quot;top&quot;:183.57,&quot;width&quot;:770.39}"/>
</p:tagLst>
</file>

<file path=ppt/tags/tag44.xml><?xml version="1.0" encoding="utf-8"?>
<p:tagLst xmlns:p="http://schemas.openxmlformats.org/presentationml/2006/main">
  <p:tag name="KSO_WM_DIAGRAM_VIRTUALLY_FRAME" val="{&quot;height&quot;:193.71000000000004,&quot;left&quot;:92.16,&quot;top&quot;:183.57,&quot;width&quot;:770.39}"/>
</p:tagLst>
</file>

<file path=ppt/tags/tag45.xml><?xml version="1.0" encoding="utf-8"?>
<p:tagLst xmlns:p="http://schemas.openxmlformats.org/presentationml/2006/main">
  <p:tag name="KSO_WM_DIAGRAM_VIRTUALLY_FRAME" val="{&quot;height&quot;:193.71000000000004,&quot;left&quot;:92.16,&quot;top&quot;:183.57,&quot;width&quot;:770.39}"/>
</p:tagLst>
</file>

<file path=ppt/tags/tag46.xml><?xml version="1.0" encoding="utf-8"?>
<p:tagLst xmlns:p="http://schemas.openxmlformats.org/presentationml/2006/main">
  <p:tag name="KSO_WM_DIAGRAM_VIRTUALLY_FRAME" val="{&quot;height&quot;:193.71000000000004,&quot;left&quot;:92.16,&quot;top&quot;:183.57,&quot;width&quot;:770.39}"/>
</p:tagLst>
</file>

<file path=ppt/tags/tag47.xml><?xml version="1.0" encoding="utf-8"?>
<p:tagLst xmlns:p="http://schemas.openxmlformats.org/presentationml/2006/main">
  <p:tag name="KSO_WM_DIAGRAM_VIRTUALLY_FRAME" val="{&quot;height&quot;:193.71000000000004,&quot;left&quot;:92.16,&quot;top&quot;:183.57,&quot;width&quot;:770.39}"/>
</p:tagLst>
</file>

<file path=ppt/tags/tag48.xml><?xml version="1.0" encoding="utf-8"?>
<p:tagLst xmlns:p="http://schemas.openxmlformats.org/presentationml/2006/main">
  <p:tag name="KSO_WM_DIAGRAM_VIRTUALLY_FRAME" val="{&quot;height&quot;:193.71000000000004,&quot;left&quot;:92.16,&quot;top&quot;:183.57,&quot;width&quot;:770.39}"/>
</p:tagLst>
</file>

<file path=ppt/tags/tag49.xml><?xml version="1.0" encoding="utf-8"?>
<p:tagLst xmlns:p="http://schemas.openxmlformats.org/presentationml/2006/main">
  <p:tag name="KSO_WM_DIAGRAM_VIRTUALLY_FRAME" val="{&quot;height&quot;:193.71000000000004,&quot;left&quot;:92.16,&quot;top&quot;:183.57,&quot;width&quot;:770.39}"/>
</p:tagLst>
</file>

<file path=ppt/tags/tag50.xml><?xml version="1.0" encoding="utf-8"?>
<p:tagLst xmlns:p="http://schemas.openxmlformats.org/presentationml/2006/main">
  <p:tag name="KSO_WM_DIAGRAM_VIRTUALLY_FRAME" val="{&quot;height&quot;:183.6,&quot;left&quot;:73.44,&quot;top&quot;:149.76,&quot;width&quot;:828.7199999999999}"/>
</p:tagLst>
</file>

<file path=ppt/tags/tag51.xml><?xml version="1.0" encoding="utf-8"?>
<p:tagLst xmlns:p="http://schemas.openxmlformats.org/presentationml/2006/main">
  <p:tag name="KSO_WM_DIAGRAM_VIRTUALLY_FRAME" val="{&quot;height&quot;:183.6,&quot;left&quot;:73.44,&quot;top&quot;:149.76,&quot;width&quot;:828.7199999999999}"/>
</p:tagLst>
</file>

<file path=ppt/tags/tag52.xml><?xml version="1.0" encoding="utf-8"?>
<p:tagLst xmlns:p="http://schemas.openxmlformats.org/presentationml/2006/main">
  <p:tag name="KSO_WM_DIAGRAM_VIRTUALLY_FRAME" val="{&quot;height&quot;:183.6,&quot;left&quot;:73.44,&quot;top&quot;:149.76,&quot;width&quot;:828.7199999999999}"/>
</p:tagLst>
</file>

<file path=ppt/tags/tag53.xml><?xml version="1.0" encoding="utf-8"?>
<p:tagLst xmlns:p="http://schemas.openxmlformats.org/presentationml/2006/main">
  <p:tag name="KSO_WM_DIAGRAM_VIRTUALLY_FRAME" val="{&quot;height&quot;:183.6,&quot;left&quot;:73.44,&quot;top&quot;:149.76,&quot;width&quot;:828.7199999999999}"/>
</p:tagLst>
</file>

<file path=ppt/tags/tag54.xml><?xml version="1.0" encoding="utf-8"?>
<p:tagLst xmlns:p="http://schemas.openxmlformats.org/presentationml/2006/main">
  <p:tag name="KSO_WM_DIAGRAM_VIRTUALLY_FRAME" val="{&quot;height&quot;:183.6,&quot;left&quot;:73.44,&quot;top&quot;:149.76,&quot;width&quot;:828.7199999999999}"/>
</p:tagLst>
</file>

<file path=ppt/tags/tag55.xml><?xml version="1.0" encoding="utf-8"?>
<p:tagLst xmlns:p="http://schemas.openxmlformats.org/presentationml/2006/main">
  <p:tag name="KSO_WM_DIAGRAM_VIRTUALLY_FRAME" val="{&quot;height&quot;:183.6,&quot;left&quot;:73.44,&quot;top&quot;:149.76,&quot;width&quot;:828.7199999999999}"/>
</p:tagLst>
</file>

<file path=ppt/tags/tag56.xml><?xml version="1.0" encoding="utf-8"?>
<p:tagLst xmlns:p="http://schemas.openxmlformats.org/presentationml/2006/main">
  <p:tag name="KSO_WM_DIAGRAM_VIRTUALLY_FRAME" val="{&quot;height&quot;:183.6,&quot;left&quot;:73.44,&quot;top&quot;:149.76,&quot;width&quot;:828.7199999999999}"/>
</p:tagLst>
</file>

<file path=ppt/tags/tag57.xml><?xml version="1.0" encoding="utf-8"?>
<p:tagLst xmlns:p="http://schemas.openxmlformats.org/presentationml/2006/main">
  <p:tag name="KSO_WM_DIAGRAM_VIRTUALLY_FRAME" val="{&quot;height&quot;:183.6,&quot;left&quot;:73.44,&quot;top&quot;:149.76,&quot;width&quot;:828.7199999999999}"/>
</p:tagLst>
</file>

<file path=ppt/tags/tag58.xml><?xml version="1.0" encoding="utf-8"?>
<p:tagLst xmlns:p="http://schemas.openxmlformats.org/presentationml/2006/main">
  <p:tag name="KSO_WM_DIAGRAM_VIRTUALLY_FRAME" val="{&quot;height&quot;:183.6,&quot;left&quot;:73.44,&quot;top&quot;:149.76,&quot;width&quot;:828.7199999999999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1065</Words>
  <Application>WPS 演示</Application>
  <PresentationFormat>On-screen Show (16:9)</PresentationFormat>
  <Paragraphs>177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SimSun</vt:lpstr>
      <vt:lpstr>Wingdings</vt:lpstr>
      <vt:lpstr>Microsoft YaHei</vt:lpstr>
      <vt:lpstr>Microsoft YaHei</vt:lpstr>
      <vt:lpstr>Arial Unicode MS</vt:lpstr>
      <vt:lpstr>DengXian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/>
</file>