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109D9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411480"/>
            <a:ext cx="1078992" cy="384048"/>
          </a:xfrm>
          <a:prstGeom prst="roundRect">
            <a:avLst>
              <a:gd name="adj" fmla="val 26190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709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64792" y="4572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医疗中心</a:t>
            </a:r>
            <a:endParaRPr lang="en-US" sz="950" dirty="0"/>
          </a:p>
        </p:txBody>
      </p:sp>
      <p:pic>
        <p:nvPicPr>
          <p:cNvPr id="7" name="Image 0" descr="/mnt/data/wide_clean_flat_vector_illustration_of_a_healthca.png">    </p:cNvPr>
          <p:cNvPicPr>
            <a:picLocks noChangeAspect="1"/>
          </p:cNvPicPr>
          <p:nvPr/>
        </p:nvPicPr>
        <p:blipFill>
          <a:blip r:embed="rId1"/>
          <a:srcRect l="7000" r="41211" t="2000" b="12000"/>
          <a:stretch/>
        </p:blipFill>
        <p:spPr>
          <a:xfrm>
            <a:off x="6601968" y="658368"/>
            <a:ext cx="4892040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502920"/>
            <a:ext cx="5166360" cy="4892040"/>
          </a:xfrm>
          <a:prstGeom prst="roundRect">
            <a:avLst>
              <a:gd name="adj" fmla="val 2991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D3ECE8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444752"/>
            <a:ext cx="5257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3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医疗服务收费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43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合规管理指引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以医保规则与价格目录为依据，建立清晰、透明、可追溯的院内收费流程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68680" y="3977640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0416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合规运营部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50592" y="397764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F4A53A"/>
          </a:solidFill>
          <a:ln w="12700">
            <a:solidFill>
              <a:srgbClr val="F4A53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42032" y="4041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2026年第一季度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68680" y="4800600"/>
            <a:ext cx="3886200" cy="0"/>
          </a:xfrm>
          <a:prstGeom prst="line">
            <a:avLst/>
          </a:prstGeom>
          <a:noFill/>
          <a:ln w="12700">
            <a:solidFill>
              <a:srgbClr val="109D9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965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费用项目准入  /  医嘱执行核验  /  结算数据复盘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6547104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收费规范  ·  政策口径  ·  流程核验  ·  持续改进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9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109D9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411480"/>
            <a:ext cx="1078992" cy="384048"/>
          </a:xfrm>
          <a:prstGeom prst="roundRect">
            <a:avLst>
              <a:gd name="adj" fmla="val 26190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709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64792" y="4572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医疗中心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1248" y="1490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从政策口径到日常核验，形成同一套收费管理语言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084832"/>
            <a:ext cx="566928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2240280"/>
            <a:ext cx="530352" cy="530352"/>
          </a:xfrm>
          <a:prstGeom prst="ellipse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3682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政策口径与收费边界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2560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梳理医保、物价与院内授权口径，明确可收费项目的执行条件。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68680" y="3200400"/>
            <a:ext cx="566928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3355848"/>
            <a:ext cx="530352" cy="530352"/>
          </a:xfrm>
          <a:prstGeom prst="ellipse">
            <a:avLst/>
          </a:prstGeom>
          <a:solidFill>
            <a:srgbClr val="F4A53A"/>
          </a:solidFill>
          <a:ln w="12700">
            <a:solidFill>
              <a:srgbClr val="F4A53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4838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易错场景与规范路径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36758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围绕手术、耗材、检查与护理等高频环节，建立核验清单。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68680" y="4315968"/>
            <a:ext cx="566928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4471416"/>
            <a:ext cx="530352" cy="530352"/>
          </a:xfrm>
          <a:prstGeom prst="ellipse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5994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重点工作与协同机制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83080" y="479145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通过培训、抽查、复盘与改进，形成跨部门闭环管理。</a:t>
            </a:r>
            <a:endParaRPr lang="en-US" sz="980" dirty="0"/>
          </a:p>
        </p:txBody>
      </p:sp>
      <p:pic>
        <p:nvPicPr>
          <p:cNvPr id="24" name="Image 0" descr="/mnt/data/a_crisp_realistic_office_clinic_workspace_shown_i.png">    </p:cNvPr>
          <p:cNvPicPr>
            <a:picLocks noChangeAspect="1"/>
          </p:cNvPicPr>
          <p:nvPr/>
        </p:nvPicPr>
        <p:blipFill>
          <a:blip r:embed="rId1"/>
          <a:srcRect l="10000" r="46205" t="4000" b="14000"/>
          <a:stretch/>
        </p:blipFill>
        <p:spPr>
          <a:xfrm>
            <a:off x="7059168" y="1024128"/>
            <a:ext cx="4251960" cy="44805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67728" y="932688"/>
            <a:ext cx="4434840" cy="4663440"/>
          </a:xfrm>
          <a:prstGeom prst="roundRect">
            <a:avLst>
              <a:gd name="adj" fmla="val 2887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5010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核验链路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66760" y="50200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政策确认 → 项目匹配 → 数据复核 → 反馈整改</a:t>
            </a:r>
            <a:endParaRPr lang="en-US" sz="870" dirty="0"/>
          </a:p>
        </p:txBody>
      </p:sp>
      <p:sp>
        <p:nvSpPr>
          <p:cNvPr id="28" name="Text 25"/>
          <p:cNvSpPr/>
          <p:nvPr/>
        </p:nvSpPr>
        <p:spPr>
          <a:xfrm>
            <a:off x="594360" y="6547104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收费规范  ·  政策口径  ·  流程核验  ·  持续改进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9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pic>
        <p:nvPicPr>
          <p:cNvPr id="3" name="Image 0" descr="/mnt/data/wide_clean_flat_vector_illustration_of_a_healthca.png">    </p:cNvPr>
          <p:cNvPicPr>
            <a:picLocks noChangeAspect="1"/>
          </p:cNvPicPr>
          <p:nvPr/>
        </p:nvPicPr>
        <p:blipFill>
          <a:blip r:embed="rId1"/>
          <a:srcRect l="7000" r="42155" t="2000" b="12000"/>
          <a:stretch/>
        </p:blipFill>
        <p:spPr>
          <a:xfrm>
            <a:off x="6446520" y="749808"/>
            <a:ext cx="47548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932688"/>
            <a:ext cx="1188720" cy="402336"/>
          </a:xfrm>
          <a:prstGeom prst="roundRect">
            <a:avLst>
              <a:gd name="adj" fmla="val 27273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1033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2960" y="1847088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政策口径与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收费边界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用统一规则连接诊疗行为、收费项目与结算数据，减少“能不能收、怎么收、收多少”的口径差异。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4224528"/>
            <a:ext cx="4389120" cy="0"/>
          </a:xfrm>
          <a:prstGeom prst="line">
            <a:avLst/>
          </a:prstGeom>
          <a:noFill/>
          <a:ln w="12700">
            <a:solidFill>
              <a:srgbClr val="3CC7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4988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BF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准入审核    医嘱匹配    过程留痕    结算复盘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5EF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109D9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411480"/>
            <a:ext cx="1078992" cy="384048"/>
          </a:xfrm>
          <a:prstGeom prst="roundRect">
            <a:avLst>
              <a:gd name="adj" fmla="val 26190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709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64792" y="4572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医疗中心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主要内容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41248" y="14356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围绕“项目—医嘱—执行—结算—反馈”的全过程管理，将收费规范落实到日常操作。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1901952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1214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1945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55064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项目准入审核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55064" y="2468880"/>
            <a:ext cx="235000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新增或调整收费项目时，同步核对价格目录、医保支付条件与院内授权流程。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416552" y="1901952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1214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4A53A"/>
          </a:solidFill>
          <a:ln w="12700">
            <a:solidFill>
              <a:srgbClr val="F4A53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1945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02936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医嘱收费匹配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02936" y="2468880"/>
            <a:ext cx="235000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将诊疗行为、医嘱记录、执行时间与收费条目进行交叉核验，降低错收漏收。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7973568" y="1901952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21214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21945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59952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耗材联动管理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759952" y="2468880"/>
            <a:ext cx="235000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对高值耗材、一次性材料和手术项目建立联动清单，确保使用与收费对应。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1783080" y="3675888"/>
            <a:ext cx="3749040" cy="1261872"/>
          </a:xfrm>
          <a:prstGeom prst="roundRect">
            <a:avLst>
              <a:gd name="adj" fmla="val 869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4248" y="389534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4A53A"/>
          </a:solidFill>
          <a:ln w="12700">
            <a:solidFill>
              <a:srgbClr val="F4A53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84248" y="39684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9464" y="38770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患者告知留痕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569464" y="4242816"/>
            <a:ext cx="27614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优化收费公示、费用说明和知情确认流程，让患者可查询、可理解、可追溯。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263640" y="3675888"/>
            <a:ext cx="3749040" cy="1261872"/>
          </a:xfrm>
          <a:prstGeom prst="roundRect">
            <a:avLst>
              <a:gd name="adj" fmla="val 869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389534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39684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50024" y="38770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数据复核闭环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50024" y="4242816"/>
            <a:ext cx="27614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定期抽取结算数据，形成问题台账、责任分解和整改复盘，持续修正规则库。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2331720" y="3337560"/>
            <a:ext cx="7498080" cy="0"/>
          </a:xfrm>
          <a:prstGeom prst="line">
            <a:avLst/>
          </a:prstGeom>
          <a:noFill/>
          <a:ln w="12700">
            <a:solidFill>
              <a:srgbClr val="B7DC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41648" y="3209544"/>
            <a:ext cx="320040" cy="274320"/>
          </a:xfrm>
          <a:prstGeom prst="chevron">
            <a:avLst/>
          </a:prstGeom>
          <a:solidFill>
            <a:srgbClr val="B7DCD7">
              <a:alpha val="75000"/>
            </a:srgbClr>
          </a:solidFill>
          <a:ln w="12700">
            <a:solidFill>
              <a:srgbClr val="B7DCD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99248" y="3209544"/>
            <a:ext cx="320040" cy="274320"/>
          </a:xfrm>
          <a:prstGeom prst="chevron">
            <a:avLst/>
          </a:prstGeom>
          <a:solidFill>
            <a:srgbClr val="B7DCD7">
              <a:alpha val="75000"/>
            </a:srgbClr>
          </a:solidFill>
          <a:ln w="12700">
            <a:solidFill>
              <a:srgbClr val="B7DCD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547104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收费规范  ·  政策口径  ·  流程核验  ·  持续改进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9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9D9B"/>
          </a:solidFill>
          <a:ln w="12700">
            <a:solidFill>
              <a:srgbClr val="109D9B">
                <a:alpha val="0"/>
              </a:srgbClr>
            </a:solidFill>
            <a:prstDash val="solid"/>
          </a:ln>
        </p:spPr>
      </p:sp>
      <p:pic>
        <p:nvPicPr>
          <p:cNvPr id="3" name="Image 0" descr="/mnt/data/a_crisp_realistic_office_clinic_workspace_shown_i.png">    </p:cNvPr>
          <p:cNvPicPr>
            <a:picLocks noChangeAspect="1"/>
          </p:cNvPicPr>
          <p:nvPr/>
        </p:nvPicPr>
        <p:blipFill>
          <a:blip r:embed="rId1"/>
          <a:srcRect l="2000" r="47477" t="0" b="5000"/>
          <a:stretch/>
        </p:blipFill>
        <p:spPr>
          <a:xfrm>
            <a:off x="6583680" y="777240"/>
            <a:ext cx="4709160" cy="4983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1051560"/>
            <a:ext cx="5120640" cy="4370832"/>
          </a:xfrm>
          <a:prstGeom prst="roundRect">
            <a:avLst>
              <a:gd name="adj" fmla="val 376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34440" y="1920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3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234440" y="2834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9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澄和医疗中心  ·  合规运营部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920240" y="3310128"/>
            <a:ext cx="2743200" cy="0"/>
          </a:xfrm>
          <a:prstGeom prst="line">
            <a:avLst/>
          </a:prstGeom>
          <a:noFill/>
          <a:ln w="12700">
            <a:solidFill>
              <a:srgbClr val="109D9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25880" y="3584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9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共同维护清晰、透明、可追溯的收费秩序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4087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A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YOUR 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83564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7F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