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9" name="Picture 8" descr="a_clean_modern_medical_healthcare_infographic_ill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0"/>
            <a:ext cx="6812280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94960" y="0"/>
            <a:ext cx="6812280" cy="6858000"/>
          </a:xfrm>
          <a:prstGeom prst="rect">
            <a:avLst/>
          </a:prstGeom>
          <a:solidFill>
            <a:srgbClr val="00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621792"/>
            <a:ext cx="205740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医疗服务价格管理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417320"/>
            <a:ext cx="5669280" cy="77724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200" b="1">
                <a:solidFill>
                  <a:srgbClr val="133545"/>
                </a:solidFill>
                <a:latin typeface="Microsoft YaHei"/>
              </a:defRPr>
            </a:pPr>
            <a:r>
              <a:t>呼吸系统诊疗收费项目</a:t>
            </a:r>
            <a:br/>
            <a:r>
              <a:t>合规解读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71800"/>
            <a:ext cx="493776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56626A"/>
                </a:solidFill>
                <a:latin typeface="Microsoft YaHei"/>
              </a:defRPr>
            </a:pPr>
            <a:r>
              <a:t>基于医保支付口径与院内收费规范的业务培训材料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13632"/>
            <a:ext cx="43891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00" b="1">
                <a:solidFill>
                  <a:srgbClr val="133545"/>
                </a:solidFill>
                <a:latin typeface="Microsoft YaHei"/>
              </a:defRPr>
            </a:pPr>
            <a:r>
              <a:t>瑞康医疗价格管理中心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43400"/>
            <a:ext cx="43891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00" b="0">
                <a:solidFill>
                  <a:srgbClr val="56626A"/>
                </a:solidFill>
                <a:latin typeface="Microsoft YaHei"/>
              </a:defRPr>
            </a:pPr>
            <a:r>
              <a:t>2026年春季</a:t>
            </a:r>
          </a:p>
        </p:txBody>
      </p:sp>
      <p:sp>
        <p:nvSpPr>
          <p:cNvPr id="16" name="Arc 15"/>
          <p:cNvSpPr/>
          <p:nvPr/>
        </p:nvSpPr>
        <p:spPr>
          <a:xfrm>
            <a:off x="914400" y="5225796"/>
            <a:ext cx="704088" cy="1207008"/>
          </a:xfrm>
          <a:prstGeom prst="arc">
            <a:avLst/>
          </a:prstGeom>
          <a:noFill/>
          <a:ln w="30480">
            <a:solidFill>
              <a:srgbClr val="17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1538020" y="5225796"/>
            <a:ext cx="704088" cy="1207008"/>
          </a:xfrm>
          <a:prstGeom prst="arc">
            <a:avLst/>
          </a:prstGeom>
          <a:noFill/>
          <a:ln w="30480">
            <a:solidFill>
              <a:srgbClr val="17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97787" y="5074920"/>
            <a:ext cx="160934" cy="724204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从政策口径到项目明细，按“先规则、后执行”的路径展开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60020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1600200"/>
            <a:ext cx="73152" cy="91440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0432" y="176479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76479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政策文件要点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6712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理解整合口径、医保衔接与价格边界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92608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2926080"/>
            <a:ext cx="73152" cy="91440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0432" y="309067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9067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项目明细规范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9300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按检查、治疗、手术三类建立收费判断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25196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251960"/>
            <a:ext cx="73152" cy="9144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0432" y="441655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1655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执行注意事项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1888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聚焦互斥规则、计价单位和复杂条件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9" name="Picture 8" descr="a_clean_medical_clinical_room_or_lab_scene_overal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7432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43200"/>
            <a:ext cx="676656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政策框架与应用口径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749039"/>
            <a:ext cx="56692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先明确项目边界，再进入具体收费场景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规范整合呼吸系统医疗服务项目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本页承接政策框架，说明项目整理与医保衔接的基本方向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508760"/>
            <a:ext cx="73152" cy="123444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673351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项目整合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围绕呼吸功能检查、内镜诊疗、胸腔及肺部手术等服务产出，统一项目名称和收费边界。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508760"/>
            <a:ext cx="73152" cy="123444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1" y="1673351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项目修订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对名称、计价单位、加收条件和互斥规则进行归并，减少同类项目交叉和重复。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1312" y="1673351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项目停用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历史项目中口径过细、重复或不适合继续单独收费的内容，统一转入整合项目管理。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15468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154680"/>
            <a:ext cx="73152" cy="128016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319272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医保衔接口径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721608"/>
            <a:ext cx="1019556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纳入医保支付范围的项目，按照统一属性、限制范围和个人先行自付规则执行；超出核定项目价格边界的部分，应按规定向患者说明并留存凭证。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006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00600"/>
            <a:ext cx="73152" cy="77724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65192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执行提示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67528"/>
            <a:ext cx="10195560" cy="1188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院内收费审核重点从“名称是否对应”转向“服务产出、计价单位、计价说明是否一致”。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项目类别与价格边界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按服务产出设项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以呼吸系统诊疗环节的最终服务成果为核心，避免把临床步骤拆成多个独立收费点。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政府指导价格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项目价格作为上限管理，院内可结合实际服务和支付政策执行下浮或优惠安排。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价格构成理解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价格构成用于测算资源消耗，不等同于临床操作流程，也不要求未发生环节强制减计。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进入项目明细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加收、扩展与基本物耗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加收项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同一项目在特殊方式或特殊场景下确需差异化时使用，加减收应以主项目价格为基础。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扩展项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只扩展适用范围，不额外提高价格，执行时仍按主项目口径计价。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基本物耗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常规消毒、清洁、防护、标签、普通注射和软件使用等成本纳入项目价格，不另行拆收。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进入项目明细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无创、内镜与手术并行规则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无创定义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通过自然腔道或无需切开皮肤组织的方式完成操作，需与开放手术项目区分。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内镜费用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非手术治疗如需内镜，可按说明收取检查费；内镜下手术已包含内镜使用成本。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并行手术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同一切口不同手术、同一切口双侧手术应按计价说明执行，避免简单叠加。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进入项目明细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9" name="Picture 8" descr="a_clean_modern_medical_healthcare_infographic_ill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7432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43200"/>
            <a:ext cx="676656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项目明细与收费规范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749039"/>
            <a:ext cx="56692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以“检查—治疗—手术—注意事项”的顺序展开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01｜肺功能基础检查：承接上页分类，细化收费口径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肺功能基础检查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围绕肺容积、通气、弥散和气道反应等检查建立项目边界，重点看报告产出、设备准备、测定与用物处理是否完整。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按次计价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报告产出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舒张试验单列规则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02｜气道反应与运动评估：承接上页分类，细化收费口径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气道反应与运动评估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将激发试验、呼吸阻力、运动心肺功能等纳入同一检查逻辑，强调适应证、监测过程和风险告知。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评估气道反应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运动监测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记录留痕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03｜呼吸肌与膈肌评估：承接上页分类，细化收费口径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呼吸肌与膈肌评估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对呼吸肌压力、流量变化及膈肌功能测定进行规范，便于与后续治疗方案衔接。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功能测定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压力指标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结果解释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04｜睡眠与连续监测：承接上页分类，细化收费口径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睡眠与连续监测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睡眠呼吸监测、经皮氧分压和二氧化碳监测按监测场景区分，避免与同类生命体征项目重复计价。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不可重复收费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按次或时段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便携情形另列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05｜支气管镜检查：承接上页分类，细化收费口径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支气管镜检查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常规内镜、超声内镜、共聚焦内镜按照观察深度和成像方式区分，特殊光源仅在实际使用时体现。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内镜类型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图像采集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特殊光源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06｜镜下探查项目：承接上页分类，细化收费口径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镜下探查项目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对肺叶通气评估和纵隔镜探查进行场景化归集，明确入镜、观察、撤镜及报告形成的边界。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自然腔道或切口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评估目的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操作记录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07｜非手术治疗：承接上页分类，细化收费口径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非手术治疗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体外膈肌起搏、一氧化氮吸入、雾化治疗按照治疗过程计价，关键是设备连接、治疗观察与记录完整。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治疗过程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用时管理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多药物规则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08｜灌洗与镜下常规治疗：承接上页分类，细化收费口径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灌洗与镜下常规治疗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全肺灌洗、支气管肺泡灌洗和镜下常规治疗按照清除范围和操作目的区分，不与检查项目混淆。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灌洗范围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不含内镜检查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肺段口径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09｜镜下特殊治疗：承接上页分类，细化收费口径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镜下特殊治疗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封堵、扩张、消融、冷冻等操作归入特殊治疗，要求根据实际技术路径留存操作记录。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治疗方式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设备耗用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必要性说明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10｜气道支架服务：承接上页分类，细化收费口径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气道支架服务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支架置入与取出分别管理，若涉及儿童或特殊风险场景，应按项目说明和院内授权流程执行。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置入/取出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儿童场景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导丝与球囊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11｜无创修补与切除：承接上页分类，细化收费口径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无创修补与切除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经自然腔道完成的瘘修补、气管病变切除等项目，应区分内镜检查费用与治疗费用。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无创方式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不含检查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病变处理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12｜无创减容与异物取出：承接上页分类，细化收费口径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无创减容与异物取出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肺减容和气管异物取出按技术路径归集，收费凭证需体现操作目的和实际完成情况。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活瓣或消融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异物取出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过程留痕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13｜气管成形类手术：承接上页分类，细化收费口径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气管成形类手术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气管成形、隆突重建等重建项目，以手术计划、切除、修复、缝合为核心计价边界。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重建修复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手术计划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耗材边界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14｜气管食管瘘修补：承接上页分类，细化收费口径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气管食管瘘修补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常规与复杂情形应根据是否涉及填充、皮瓣等增强修复措施判断，不宜仅凭病情描述上浮。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复杂定义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修补路径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材料说明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15｜气管病变切除：承接上页分类，细化收费口径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气管病变切除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气管及隆突病变切除按照部位和手术难度管理，术中取样、送检应在记录中说明。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部位识别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切除步骤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送检记录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16｜胸腔探查与胸腔病变：承接上页分类，细化收费口径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胸腔探查与胸腔病变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胸腔探查通常不与同部位其他手术并行计收，胸腔病变切除需明确具体组织范围。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同部位规则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病变范围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止血处理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17｜肺部分切除与肺叶切除：承接上页分类，细化收费口径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肺部分切除与肺叶切除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非解剖性部分切除、肺叶切除按照切除范围区分，复杂情形需满足项目限定条件。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单侧口径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切除范围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复杂依据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18｜肺段切除：承接上页分类，细化收费口径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肺段切除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常规肺段与复杂肺段切除应依据联合肺段、亚段支气管处理等条件判断，避免简单套用高等级项目。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肺段范围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联合情形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术式证据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19｜全肺切除：承接上页分类，细化收费口径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全肺切除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常规与复杂全肺切除按照是否涉及心包内处理、胸膜外路径等情况区分，并保留术式依据。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全肺范围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复杂路径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单侧计价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20｜肺修补与胸腺病变：承接上页分类，细化收费口径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肺修补与胸腺病变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肺组织缺损修补和胸腺病变切除按操作目的分别归集，避免与相邻胸腔项目重复。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组织修补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胸腺病变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边界清晰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21｜胸壁切除与修复：承接上页分类，细化收费口径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胸壁切除与修复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胸壁病变切除、缺损修复以是否需要固定、修复方式和缺损复杂度为判断重点。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缺损修复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固定措施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复杂条件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22｜胸廓成形：承接上页分类，细化收费口径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胸廓成形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胸廓重建需与胸壁缺损修复区分；涉及畸形矫正等复杂情形时，应有充分手术记录支撑。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不重复计价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重建目的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畸形矫正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23｜脓胸廓清：承接上页分类，细化收费口径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脓胸廓清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脓胸廓清按引流、清除和修复措施归集，复杂情形通常需体现填充或皮瓣处理。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清除引流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填充处理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术后记录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24｜胸膜处理：承接上页分类，细化收费口径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胸膜处理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胸膜剥脱、胸膜固定属于不同服务产出，应按照处理目标和实施步骤独立判断。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剥脱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目标不同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25｜胸内异物与纵隔病变：承接上页分类，细化收费口径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胸内异物与纵隔病变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胸内异物清除和纵隔病变切除按部位、入路和是否复杂处理区分，重点保存病灶定位信息。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异物清除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纵隔病变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入路说明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26｜纵隔减压与感染处理：承接上页分类，细化收费口径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纵隔减压与感染处理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纵隔气肿减压、感染清创引流应与胸腔粘连松解等相近项目保持边界，防止并行重复。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减压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清创引流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互斥规则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27｜膈肌相关手术：承接上页分类，细化收费口径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膈肌相关手术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膈肌修补和折叠服务产出不同，收费时需以修补缺损或改善运动功能为核心依据。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膈肌修补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膈肌折叠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目的区分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28｜气管异物与肺空洞处理：承接上页分类，细化收费口径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气管异物与肺空洞处理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气管异物取出和肺空洞药物填充按手术目的归集，药物使用与操作记录保持一致。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异物取出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药物填充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记录一致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29｜淋巴清扫与粘连松解：承接上页分类，细化收费口径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淋巴清扫与粘连松解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t>胸腔淋巴清扫、采样扩展、粘连松解和交感神经链切除按服务产出分别归集。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清扫/采样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粘连松解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D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神经链处理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7315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名称、服务产出、计价单位、计价说明四项一致后再进入院内审核流程；特殊情况需有病历、医嘱或操作记录支撑。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t>执行特别注意事项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t>承接明细页，提炼最容易出错的三类收费风险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05840"/>
          </a:xfrm>
          <a:prstGeom prst="rect">
            <a:avLst/>
          </a:prstGeom>
          <a:solidFill>
            <a:srgbClr val="C75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C75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不得同时收费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严格遵守计价说明中的互斥规则；同部位探查、修复、松解等相近项目不应因名称不同而重复计收。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4320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743200"/>
            <a:ext cx="73152" cy="1005840"/>
          </a:xfrm>
          <a:prstGeom prst="rect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2907792"/>
            <a:ext cx="347472" cy="347472"/>
          </a:xfrm>
          <a:prstGeom prst="ellipse">
            <a:avLst/>
          </a:prstGeom>
          <a:solidFill>
            <a:srgbClr val="E3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0779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计价单位不同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1012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按次、按单侧、按时段等口径需逐项核对，收费数量应与病历记录、操作记录和报告内容一致。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069080"/>
            <a:ext cx="73152" cy="100584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233672"/>
            <a:ext cx="347472" cy="347472"/>
          </a:xfrm>
          <a:prstGeom prst="ellipse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233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t>复杂条件须满足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3600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t>只有达到项目说明中明确的复杂情形，才可执行对应层级；不能仅凭手术耗时或主观难度判断。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5669280"/>
            <a:ext cx="2743200" cy="329184"/>
          </a:xfrm>
          <a:prstGeom prst="roundRect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规范收费 · 留痕可查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3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DA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17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64008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532120"/>
            <a:ext cx="914400" cy="914400"/>
          </a:xfrm>
          <a:prstGeom prst="ellipse">
            <a:avLst/>
          </a:prstGeom>
          <a:solidFill>
            <a:srgbClr val="4E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t>39</a:t>
            </a:r>
          </a:p>
        </p:txBody>
      </p:sp>
      <p:pic>
        <p:nvPicPr>
          <p:cNvPr id="9" name="Picture 8" descr="a_clean_medical_clinical_room_or_lab_scene_overal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148840"/>
            <a:ext cx="786384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090672"/>
            <a:ext cx="75895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以规范口径促进合理收费，以流程留痕支撑合规管理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160520"/>
            <a:ext cx="548640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瑞康医疗价格管理中心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