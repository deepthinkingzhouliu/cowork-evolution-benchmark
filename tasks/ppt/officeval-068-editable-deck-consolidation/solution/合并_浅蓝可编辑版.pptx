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28048" y="475488"/>
            <a:ext cx="2011680" cy="2011680"/>
          </a:xfrm>
          <a:prstGeom prst="ellipse">
            <a:avLst/>
          </a:prstGeom>
          <a:solidFill>
            <a:srgbClr val="E5F5FA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10222992" y="1143000"/>
            <a:ext cx="502920" cy="658368"/>
          </a:xfrm>
          <a:prstGeom prst="chevron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专题汇报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08760"/>
            <a:ext cx="813816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应急有线人工通信保障网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62179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定义、场景、价值与台站体系解析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44368"/>
            <a:ext cx="67208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310128"/>
            <a:ext cx="6172200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保留人工判断与手动路由能力，在自动平台受限或现场条件复杂时，为关键岗位提供稳定、可控、可追踪的有线语音联络。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00600"/>
            <a:ext cx="14173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4910328"/>
            <a:ext cx="201168" cy="201168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846320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人工接续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4800600"/>
            <a:ext cx="14173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05456" y="4910328"/>
            <a:ext cx="201168" cy="201168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4846320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有线传输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1648" y="4800600"/>
            <a:ext cx="14173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51376" y="4910328"/>
            <a:ext cx="201168" cy="201168"/>
          </a:xfrm>
          <a:prstGeom prst="ellipse">
            <a:avLst/>
          </a:prstGeom>
          <a:solidFill>
            <a:srgbClr val="E7F1FF"/>
          </a:solidFill>
          <a:ln w="12700">
            <a:solidFill>
              <a:srgbClr val="35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4846320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层级汇接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87568" y="4800600"/>
            <a:ext cx="14173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4910328"/>
            <a:ext cx="201168" cy="201168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9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4846320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闭环记录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应急有线人工通信保障网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49E9E"/>
                </a:solidFill>
                <a:latin typeface="Microsoft YaHei"/>
              </a:rPr>
              <a:t>内容导航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0" cy="13716"/>
          </a:xfrm>
          <a:prstGeom prst="rect">
            <a:avLst/>
          </a:prstGeom>
          <a:solidFill>
            <a:srgbClr val="B8C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从网络定位到设备与运行闭环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应急通信保障 · 调度坐席协同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673352"/>
            <a:ext cx="10195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1673352"/>
            <a:ext cx="73152" cy="841248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7008" y="1874520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87452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B6DEB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1828800"/>
            <a:ext cx="93726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网络定位与构成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2240280"/>
            <a:ext cx="97749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人工接续、有线链路、用户终端与安全记录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752344"/>
            <a:ext cx="10195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2752344"/>
            <a:ext cx="73152" cy="841248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07008" y="2953512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2953512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2907791"/>
            <a:ext cx="93726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典型保障场景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319272"/>
            <a:ext cx="97749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常态值守、突发联络、现场保障与跨班协同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831335"/>
            <a:ext cx="10195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3831335"/>
            <a:ext cx="73152" cy="841248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7008" y="4032503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9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4032503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9912A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3986783"/>
            <a:ext cx="93726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核心能力价值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4398264"/>
            <a:ext cx="97749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稳定、可控、优先级调度、低依赖与快速恢复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910328"/>
            <a:ext cx="101955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" y="4910328"/>
            <a:ext cx="73152" cy="841248"/>
          </a:xfrm>
          <a:prstGeom prst="rect">
            <a:avLst/>
          </a:prstGeom>
          <a:solidFill>
            <a:srgbClr val="35A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07008" y="511149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35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511149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5A779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5065776"/>
            <a:ext cx="93726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台站层级与设备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5477256"/>
            <a:ext cx="97749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中心汇接、区域转接、现场保障与终端接入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49E9E"/>
                </a:solidFill>
                <a:latin typeface="Microsoft YaHei"/>
              </a:rPr>
              <a:t>01 · 网络定位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网络定位与构成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0" cy="13716"/>
          </a:xfrm>
          <a:prstGeom prst="rect">
            <a:avLst/>
          </a:prstGeom>
          <a:solidFill>
            <a:srgbClr val="B8C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面向应急场景的人工有线语音保障链路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应急通信保障 · 调度坐席协同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00784"/>
            <a:ext cx="41605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00784"/>
            <a:ext cx="73152" cy="3611880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56232"/>
            <a:ext cx="3739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什么是人工通信保障网？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67712"/>
            <a:ext cx="3739896" cy="2898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由人工坐席进行呼叫受理、线路选择与跨站接续的有线语音网络。它不追求完全自动化，而是保留人工判断、身份核对和手动路由能力，在自动平台受限或现场条件复杂时提供稳定联络通道。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1700784"/>
            <a:ext cx="2788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38928" y="1700784"/>
            <a:ext cx="73152" cy="1481328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40096" y="1901952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1901952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B6DEB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1856232"/>
            <a:ext cx="19659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人工接续台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267712"/>
            <a:ext cx="236829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坐席受理、路由选择、通话保持与转接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1700784"/>
            <a:ext cx="2788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8" y="1700784"/>
            <a:ext cx="73152" cy="1481328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03336" y="1901952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901952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1856232"/>
            <a:ext cx="1965959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有线传输链路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2267712"/>
            <a:ext cx="236829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专线、电缆、配线架等物理通道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8" y="3493008"/>
            <a:ext cx="2788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8928" y="3493008"/>
            <a:ext cx="73152" cy="1481328"/>
          </a:xfrm>
          <a:prstGeom prst="rect">
            <a:avLst/>
          </a:prstGeom>
          <a:solidFill>
            <a:srgbClr val="35A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40096" y="369417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35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0096" y="369417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5A779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97296" y="3648456"/>
            <a:ext cx="19659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用户终端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4" y="4059936"/>
            <a:ext cx="236829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固定电话、现场话机、值守终端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02168" y="3493008"/>
            <a:ext cx="2788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02168" y="3493008"/>
            <a:ext cx="73152" cy="1481328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03336" y="369417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9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6" y="369417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9912A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0536" y="3648456"/>
            <a:ext cx="1965959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安全与记录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4059936"/>
            <a:ext cx="236829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身份核对、权限控制、操作日志留存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605272"/>
            <a:ext cx="67665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关键词：人工接续 · 有线传输 · 层级汇接 · 闭环记录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49E9E"/>
                </a:solidFill>
                <a:latin typeface="Microsoft YaHei"/>
              </a:rPr>
              <a:t>02 · 使用场景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典型保障场景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0" cy="13716"/>
          </a:xfrm>
          <a:prstGeom prst="rect">
            <a:avLst/>
          </a:prstGeom>
          <a:solidFill>
            <a:srgbClr val="B8C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从常态值守到突发联络的备用语音链路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应急通信保障 · 调度坐席协同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564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600200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86537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86537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B6DEB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819656"/>
            <a:ext cx="2633471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应急指挥备份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231136"/>
            <a:ext cx="3035808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自动平台拥塞或中断时，保持关键岗位之间的语音联络。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664208"/>
            <a:ext cx="34564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1664208"/>
            <a:ext cx="73152" cy="1600200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81727" y="186537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7" y="186537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1819656"/>
            <a:ext cx="26334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园区专线联络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231136"/>
            <a:ext cx="3035808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用于调度中心、门岗、机房与保障小组之间的固定通道。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2" y="1664208"/>
            <a:ext cx="34564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02752" y="1664208"/>
            <a:ext cx="73152" cy="1600200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0" y="186537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9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86537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9912A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819656"/>
            <a:ext cx="2633471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偏远站点接入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2231136"/>
            <a:ext cx="3035808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在覆盖不足区域，通过有线端点形成基础通话能力。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630168"/>
            <a:ext cx="34564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3630168"/>
            <a:ext cx="73152" cy="1600200"/>
          </a:xfrm>
          <a:prstGeom prst="rect">
            <a:avLst/>
          </a:prstGeom>
          <a:solidFill>
            <a:srgbClr val="35A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3831335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35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831335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5A779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3785615"/>
            <a:ext cx="2633471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跨班值守交接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197096"/>
            <a:ext cx="3035808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将未完成事项、回呼任务和线路状态交接给下一班组。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3630168"/>
            <a:ext cx="34564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59" y="3630168"/>
            <a:ext cx="73152" cy="1600200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81727" y="3831335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7" y="3831335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B6DEB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7" y="3785615"/>
            <a:ext cx="26334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大型活动保障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0016" y="4197096"/>
            <a:ext cx="3035808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临时设置接续坐席，对外联络与内部协同分层处理。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3630168"/>
            <a:ext cx="34564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02752" y="3630168"/>
            <a:ext cx="73152" cy="1600200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03920" y="3831335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831335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785615"/>
            <a:ext cx="2633471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灾害抢险协同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4197096"/>
            <a:ext cx="3035808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现场通道受限时，保留低依赖、可快速恢复的联络方式。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49E9E"/>
                </a:solidFill>
                <a:latin typeface="Microsoft YaHei"/>
              </a:rPr>
              <a:t>03 · 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核心能力价值（一）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0" cy="13716"/>
          </a:xfrm>
          <a:prstGeom prst="rect">
            <a:avLst/>
          </a:prstGeom>
          <a:solidFill>
            <a:srgbClr val="B8C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强调可用、可控、可审计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应急通信保障 · 调度坐席协同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810512"/>
            <a:ext cx="1058875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1810512"/>
            <a:ext cx="73152" cy="1517904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2011680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9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01168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9912A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965960"/>
            <a:ext cx="976579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稳定性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10168128" cy="8046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以物理线路和人工接续为基础，减少对复杂平台、外部网络和单点系统的依赖；当主用通道受限时，仍能维持基础语音联络。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703320"/>
            <a:ext cx="1058875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3703320"/>
            <a:ext cx="73152" cy="1517904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3904487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904487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858768"/>
            <a:ext cx="976579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可控性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70248"/>
            <a:ext cx="10168128" cy="8046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坐席在接续前进行对象确认、权限判断和路由选择；关键通话过程可按岗位规则记录，方便值守复核与责任闭环。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49E9E"/>
                </a:solidFill>
                <a:latin typeface="Microsoft YaHei"/>
              </a:rPr>
              <a:t>03 · 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核心能力价值（二）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0" cy="13716"/>
          </a:xfrm>
          <a:prstGeom prst="rect">
            <a:avLst/>
          </a:prstGeom>
          <a:solidFill>
            <a:srgbClr val="B8C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让应急联络有顺序、有冗余、有恢复路径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应急通信保障 · 调度坐席协同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55648"/>
            <a:ext cx="51023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55648"/>
            <a:ext cx="73152" cy="1572768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" y="195681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9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95681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9912A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911095"/>
            <a:ext cx="427939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优先级调度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322576"/>
            <a:ext cx="4681728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按岗位、事件等级和线路状态安排接续顺序，保障关键联络先行。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755648"/>
            <a:ext cx="51023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755648"/>
            <a:ext cx="73152" cy="1572768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95681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5681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911095"/>
            <a:ext cx="427939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快速恢复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322576"/>
            <a:ext cx="4681728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断点定位、备用通道切换和人工确认流程简单，利于现场抢修。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12464"/>
            <a:ext cx="51023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712464"/>
            <a:ext cx="73152" cy="1572768"/>
          </a:xfrm>
          <a:prstGeom prst="rect">
            <a:avLst/>
          </a:prstGeom>
          <a:solidFill>
            <a:srgbClr val="35A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913632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35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913632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5A779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867912"/>
            <a:ext cx="427939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低依赖运行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" y="4279392"/>
            <a:ext cx="4681728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不强依赖复杂自动化平台，适合电力、网络或设备条件受限环境。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3712464"/>
            <a:ext cx="51023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3712464"/>
            <a:ext cx="73152" cy="1572768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13632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13632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B6DEB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867912"/>
            <a:ext cx="427939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易培训维护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279392"/>
            <a:ext cx="4681728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操作规则清晰，设备构成直观，值守人员可在短周期内掌握。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49E9E"/>
                </a:solidFill>
                <a:latin typeface="Microsoft YaHei"/>
              </a:rPr>
              <a:t>04 · 台站层级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台站体系与协作架构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0" cy="13716"/>
          </a:xfrm>
          <a:prstGeom prst="rect">
            <a:avLst/>
          </a:prstGeom>
          <a:solidFill>
            <a:srgbClr val="B8C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层级汇接、分区管理、按需接入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应急通信保障 · 调度坐席协同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74519"/>
            <a:ext cx="2450592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874519"/>
            <a:ext cx="73152" cy="2176272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2075688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075688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B6DEB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2029967"/>
            <a:ext cx="162763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中心汇接站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2441448"/>
            <a:ext cx="2029968" cy="14630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跨区域调度与总控协调，维护核心线路资源。</a:t>
            </a:r>
          </a:p>
        </p:txBody>
      </p:sp>
      <p:sp>
        <p:nvSpPr>
          <p:cNvPr id="15" name="Chevron 14"/>
          <p:cNvSpPr/>
          <p:nvPr/>
        </p:nvSpPr>
        <p:spPr>
          <a:xfrm>
            <a:off x="3154679" y="2761488"/>
            <a:ext cx="219456" cy="329184"/>
          </a:xfrm>
          <a:prstGeom prst="chevron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65576" y="1874519"/>
            <a:ext cx="2450592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5576" y="1874519"/>
            <a:ext cx="73152" cy="2176272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66744" y="2075688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744" y="2075688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3944" y="2029967"/>
            <a:ext cx="162763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区域转接站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2441448"/>
            <a:ext cx="2029968" cy="14630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承接片区联络与邻区互通，分担话务压力。</a:t>
            </a:r>
          </a:p>
        </p:txBody>
      </p:sp>
      <p:sp>
        <p:nvSpPr>
          <p:cNvPr id="22" name="Chevron 21"/>
          <p:cNvSpPr/>
          <p:nvPr/>
        </p:nvSpPr>
        <p:spPr>
          <a:xfrm>
            <a:off x="6007608" y="2761488"/>
            <a:ext cx="219456" cy="329184"/>
          </a:xfrm>
          <a:prstGeom prst="chevron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18504" y="1874519"/>
            <a:ext cx="2450592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8504" y="1874519"/>
            <a:ext cx="73152" cy="2176272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19672" y="2075688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9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2075688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9912A"/>
                </a:solidFill>
                <a:latin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029967"/>
            <a:ext cx="162763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现场保障站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441448"/>
            <a:ext cx="2029968" cy="14630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靠近任务现场，负责临时通道和人员协同。</a:t>
            </a:r>
          </a:p>
        </p:txBody>
      </p:sp>
      <p:sp>
        <p:nvSpPr>
          <p:cNvPr id="29" name="Chevron 28"/>
          <p:cNvSpPr/>
          <p:nvPr/>
        </p:nvSpPr>
        <p:spPr>
          <a:xfrm>
            <a:off x="8860536" y="2761488"/>
            <a:ext cx="219456" cy="329184"/>
          </a:xfrm>
          <a:prstGeom prst="chevron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71432" y="1874519"/>
            <a:ext cx="2450592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71432" y="1874519"/>
            <a:ext cx="73152" cy="2176272"/>
          </a:xfrm>
          <a:prstGeom prst="rect">
            <a:avLst/>
          </a:prstGeom>
          <a:solidFill>
            <a:srgbClr val="35A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72600" y="2075688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35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2075688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5A779"/>
                </a:solidFill>
                <a:latin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029967"/>
            <a:ext cx="1627631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终端接入点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2441448"/>
            <a:ext cx="2029968" cy="14630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固定岗亭、值守室或移动保障单元的接入端。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" y="4663440"/>
            <a:ext cx="10314432" cy="804672"/>
          </a:xfrm>
          <a:prstGeom prst="roundRect">
            <a:avLst/>
          </a:prstGeom>
          <a:solidFill>
            <a:srgbClr val="E5F5FA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4828032"/>
            <a:ext cx="980236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通过层级化管理，网络可在日常值守、突发调度和跨区域协同之间切换，既保留人工判断，又避免所有通话集中到单一节点。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49E9E"/>
                </a:solidFill>
                <a:latin typeface="Microsoft YaHei"/>
              </a:rPr>
              <a:t>04 · 台站设备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典型设备组成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0" cy="13716"/>
          </a:xfrm>
          <a:prstGeom prst="rect">
            <a:avLst/>
          </a:prstGeom>
          <a:solidFill>
            <a:srgbClr val="B8C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用自绘可编辑图形替代实拍设备，保持表达一致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应急通信保障 · 调度坐席协同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09928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09928"/>
            <a:ext cx="73152" cy="1572768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1109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9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1109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9912A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865376"/>
            <a:ext cx="2633471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人工交换坐席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76856"/>
            <a:ext cx="3035808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受理来话、填写记录、选择线路、保持或转接通话。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1709928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62272" y="1709928"/>
            <a:ext cx="73152" cy="1572768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3440" y="191109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91109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65376"/>
            <a:ext cx="26334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线路分配架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276856"/>
            <a:ext cx="3035808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将多组线缆按区域、用途和优先级集中管理。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3" y="1709928"/>
            <a:ext cx="34564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3" y="1709928"/>
            <a:ext cx="73152" cy="1572768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85632" y="1911096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1911096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B6DEB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865376"/>
            <a:ext cx="2633471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有线传输介质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2276856"/>
            <a:ext cx="3035808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包含专线、电缆和临时敷设线缆，承担语音传输。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9344" y="3685032"/>
            <a:ext cx="43708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9344" y="3685032"/>
            <a:ext cx="73152" cy="1572768"/>
          </a:xfrm>
          <a:prstGeom prst="rect">
            <a:avLst/>
          </a:prstGeom>
          <a:solidFill>
            <a:srgbClr val="35A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10512" y="3886200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35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10512" y="388620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5A779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67712" y="3840480"/>
            <a:ext cx="35478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安全记录设备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251960"/>
            <a:ext cx="3950208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记录接续时间、对象、动作和异常，便于复核。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685032"/>
            <a:ext cx="437083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3685032"/>
            <a:ext cx="73152" cy="1572768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01968" y="3886200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88620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3840480"/>
            <a:ext cx="35478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值守终端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0256" y="4251960"/>
            <a:ext cx="3950208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承载联系人检索、回呼提醒、交接清单和日志查询。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矩形 4096">
            <a:extLst>
              <a:ext uri="{FF2B5EF4-FFF2-40B4-BE49-F238E27FC236}">
                <a16:creationId xmlns:a16="http://schemas.microsoft.com/office/drawing/2014/main" id="{B79D08D7-D8EF-407C-8871-9CAD58240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2F8FF"/>
          </a:solidFill>
          <a:ln w="12700">
            <a:solidFill>
              <a:srgbClr val="F2F8FF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9" name="任意多边形 4097">
            <a:extLst>
              <a:ext uri="{FF2B5EF4-FFF2-40B4-BE49-F238E27FC236}">
                <a16:creationId xmlns:a16="http://schemas.microsoft.com/office/drawing/2014/main" id="{CFA3EFB8-E315-406F-B5B0-3AA794280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1238" y="136525"/>
            <a:ext cx="4479925" cy="4479925"/>
          </a:xfrm>
          <a:custGeom>
            <a:avLst/>
            <a:gdLst>
              <a:gd name="T0" fmla="*/ -19834 w 21600"/>
              <a:gd name="T1" fmla="*/ 13046 h 21600"/>
              <a:gd name="T2" fmla="*/ 0 w 21600"/>
              <a:gd name="T3" fmla="*/ 0 h 21600"/>
              <a:gd name="T4" fmla="*/ 21600 w 21600"/>
              <a:gd name="T5" fmla="*/ 21600 h 21600"/>
              <a:gd name="T6" fmla="*/ -19834 w 21600"/>
              <a:gd name="T7" fmla="*/ 13046 h 21600"/>
              <a:gd name="T8" fmla="*/ 0 w 21600"/>
              <a:gd name="T9" fmla="*/ 0 h 21600"/>
              <a:gd name="T10" fmla="*/ 21600 w 21600"/>
              <a:gd name="T11" fmla="*/ 21600 h 21600"/>
              <a:gd name="T12" fmla="*/ 0 w 21600"/>
              <a:gd name="T13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 fill="none">
                <a:moveTo>
                  <a:pt x="-19834" y="13046"/>
                </a:moveTo>
                <a:cubicBezTo>
                  <a:pt x="-16522" y="5368"/>
                  <a:pt x="-8888" y="0"/>
                  <a:pt x="0" y="0"/>
                </a:cubicBezTo>
                <a:cubicBezTo>
                  <a:pt x="11929" y="0"/>
                  <a:pt x="21600" y="9671"/>
                  <a:pt x="21600" y="21600"/>
                </a:cubicBezTo>
              </a:path>
              <a:path w="21600" h="21600" stroke="0">
                <a:moveTo>
                  <a:pt x="-19834" y="13046"/>
                </a:moveTo>
                <a:cubicBezTo>
                  <a:pt x="-16522" y="5368"/>
                  <a:pt x="-8888" y="0"/>
                  <a:pt x="0" y="0"/>
                </a:cubicBezTo>
                <a:cubicBezTo>
                  <a:pt x="11929" y="0"/>
                  <a:pt x="21600" y="9671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E7F1FF">
              <a:alpha val="0"/>
            </a:srgbClr>
          </a:solidFill>
          <a:ln w="12700">
            <a:solidFill>
              <a:srgbClr val="B8CDE4">
                <a:alpha val="84999"/>
              </a:srgbClr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00" name="任意多边形 4098">
            <a:extLst>
              <a:ext uri="{FF2B5EF4-FFF2-40B4-BE49-F238E27FC236}">
                <a16:creationId xmlns:a16="http://schemas.microsoft.com/office/drawing/2014/main" id="{39F9F5E3-B38E-4DE4-99FE-44E7AE1FC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743200"/>
            <a:ext cx="3108325" cy="3108325"/>
          </a:xfrm>
          <a:custGeom>
            <a:avLst/>
            <a:gdLst>
              <a:gd name="T0" fmla="*/ -19834 w 21600"/>
              <a:gd name="T1" fmla="*/ 13046 h 21600"/>
              <a:gd name="T2" fmla="*/ 0 w 21600"/>
              <a:gd name="T3" fmla="*/ 0 h 21600"/>
              <a:gd name="T4" fmla="*/ 21600 w 21600"/>
              <a:gd name="T5" fmla="*/ 21600 h 21600"/>
              <a:gd name="T6" fmla="*/ -19834 w 21600"/>
              <a:gd name="T7" fmla="*/ 13046 h 21600"/>
              <a:gd name="T8" fmla="*/ 0 w 21600"/>
              <a:gd name="T9" fmla="*/ 0 h 21600"/>
              <a:gd name="T10" fmla="*/ 21600 w 21600"/>
              <a:gd name="T11" fmla="*/ 21600 h 21600"/>
              <a:gd name="T12" fmla="*/ 0 w 21600"/>
              <a:gd name="T13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 fill="none">
                <a:moveTo>
                  <a:pt x="-19834" y="13046"/>
                </a:moveTo>
                <a:cubicBezTo>
                  <a:pt x="-16522" y="5368"/>
                  <a:pt x="-8888" y="0"/>
                  <a:pt x="0" y="0"/>
                </a:cubicBezTo>
                <a:cubicBezTo>
                  <a:pt x="11929" y="0"/>
                  <a:pt x="21600" y="9671"/>
                  <a:pt x="21600" y="21600"/>
                </a:cubicBezTo>
              </a:path>
              <a:path w="21600" h="21600" stroke="0">
                <a:moveTo>
                  <a:pt x="-19834" y="13046"/>
                </a:moveTo>
                <a:cubicBezTo>
                  <a:pt x="-16522" y="5368"/>
                  <a:pt x="-8888" y="0"/>
                  <a:pt x="0" y="0"/>
                </a:cubicBezTo>
                <a:cubicBezTo>
                  <a:pt x="11929" y="0"/>
                  <a:pt x="21600" y="9671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E7F1FF">
              <a:alpha val="0"/>
            </a:srgbClr>
          </a:solidFill>
          <a:ln w="12700">
            <a:solidFill>
              <a:srgbClr val="B8CDE4">
                <a:alpha val="89999"/>
              </a:srgbClr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01" name="矩形 4099">
            <a:extLst>
              <a:ext uri="{FF2B5EF4-FFF2-40B4-BE49-F238E27FC236}">
                <a16:creationId xmlns:a16="http://schemas.microsoft.com/office/drawing/2014/main" id="{305B3DEF-7C8E-41CA-A4C9-093049647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1444625"/>
            <a:ext cx="57150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4102" name="矩形 4100">
            <a:extLst>
              <a:ext uri="{FF2B5EF4-FFF2-40B4-BE49-F238E27FC236}">
                <a16:creationId xmlns:a16="http://schemas.microsoft.com/office/drawing/2014/main" id="{98B74ACB-4429-4427-A2E3-CC565AA1F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149475"/>
            <a:ext cx="58515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操作介绍与值守流程</a:t>
            </a:r>
          </a:p>
        </p:txBody>
      </p:sp>
      <p:sp>
        <p:nvSpPr>
          <p:cNvPr id="4103" name="矩形 4101">
            <a:extLst>
              <a:ext uri="{FF2B5EF4-FFF2-40B4-BE49-F238E27FC236}">
                <a16:creationId xmlns:a16="http://schemas.microsoft.com/office/drawing/2014/main" id="{E660300E-2C93-480B-B63E-0F066A07E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789238"/>
            <a:ext cx="59436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面向调度中心、服务热线、园区值守等场景</a:t>
            </a:r>
          </a:p>
        </p:txBody>
      </p:sp>
      <p:sp>
        <p:nvSpPr>
          <p:cNvPr id="4104" name="圆角矩形 4102">
            <a:extLst>
              <a:ext uri="{FF2B5EF4-FFF2-40B4-BE49-F238E27FC236}">
                <a16:creationId xmlns:a16="http://schemas.microsoft.com/office/drawing/2014/main" id="{F2E80BEB-D6AC-4771-AFCA-A049435E6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3932238"/>
            <a:ext cx="960438" cy="328612"/>
          </a:xfrm>
          <a:prstGeom prst="roundRect">
            <a:avLst>
              <a:gd name="adj" fmla="val 16667"/>
            </a:avLst>
          </a:prstGeom>
          <a:solidFill>
            <a:srgbClr val="FFFFFF">
              <a:alpha val="92999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登录</a:t>
            </a:r>
          </a:p>
        </p:txBody>
      </p:sp>
      <p:sp>
        <p:nvSpPr>
          <p:cNvPr id="4105" name="圆角矩形 4103">
            <a:extLst>
              <a:ext uri="{FF2B5EF4-FFF2-40B4-BE49-F238E27FC236}">
                <a16:creationId xmlns:a16="http://schemas.microsoft.com/office/drawing/2014/main" id="{C0B3CF1E-9CCD-41B7-A5B2-5B7478EB3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3932238"/>
            <a:ext cx="960438" cy="328612"/>
          </a:xfrm>
          <a:prstGeom prst="roundRect">
            <a:avLst>
              <a:gd name="adj" fmla="val 16667"/>
            </a:avLst>
          </a:prstGeom>
          <a:solidFill>
            <a:srgbClr val="FFFFFF">
              <a:alpha val="92999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接续</a:t>
            </a:r>
          </a:p>
        </p:txBody>
      </p:sp>
      <p:sp>
        <p:nvSpPr>
          <p:cNvPr id="4106" name="圆角矩形 4104">
            <a:extLst>
              <a:ext uri="{FF2B5EF4-FFF2-40B4-BE49-F238E27FC236}">
                <a16:creationId xmlns:a16="http://schemas.microsoft.com/office/drawing/2014/main" id="{69FF2E1C-2718-49CB-A81D-4506345E0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932238"/>
            <a:ext cx="960437" cy="328612"/>
          </a:xfrm>
          <a:prstGeom prst="roundRect">
            <a:avLst>
              <a:gd name="adj" fmla="val 16667"/>
            </a:avLst>
          </a:prstGeom>
          <a:solidFill>
            <a:srgbClr val="FFFFFF">
              <a:alpha val="92999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会议</a:t>
            </a:r>
          </a:p>
        </p:txBody>
      </p:sp>
      <p:sp>
        <p:nvSpPr>
          <p:cNvPr id="4107" name="圆角矩形 4105">
            <a:extLst>
              <a:ext uri="{FF2B5EF4-FFF2-40B4-BE49-F238E27FC236}">
                <a16:creationId xmlns:a16="http://schemas.microsoft.com/office/drawing/2014/main" id="{E655C1BD-1592-4C08-AFFB-AD6D9C62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3932238"/>
            <a:ext cx="960437" cy="328612"/>
          </a:xfrm>
          <a:prstGeom prst="roundRect">
            <a:avLst>
              <a:gd name="adj" fmla="val 16667"/>
            </a:avLst>
          </a:prstGeom>
          <a:solidFill>
            <a:srgbClr val="FFFFFF">
              <a:alpha val="92999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回呼</a:t>
            </a:r>
          </a:p>
        </p:txBody>
      </p:sp>
      <p:sp>
        <p:nvSpPr>
          <p:cNvPr id="4108" name="圆角矩形 4106">
            <a:extLst>
              <a:ext uri="{FF2B5EF4-FFF2-40B4-BE49-F238E27FC236}">
                <a16:creationId xmlns:a16="http://schemas.microsoft.com/office/drawing/2014/main" id="{632241F0-B70A-4A13-9848-0236D74EB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038" y="1325563"/>
            <a:ext cx="4433887" cy="41322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09" name="矩形 4107">
            <a:extLst>
              <a:ext uri="{FF2B5EF4-FFF2-40B4-BE49-F238E27FC236}">
                <a16:creationId xmlns:a16="http://schemas.microsoft.com/office/drawing/2014/main" id="{C0E36E9B-2848-4469-9958-81E32B526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100" y="1600200"/>
            <a:ext cx="3932238" cy="311150"/>
          </a:xfrm>
          <a:prstGeom prst="rect">
            <a:avLst/>
          </a:prstGeom>
          <a:solidFill>
            <a:srgbClr val="E7F1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0" name="圆角矩形 4108">
            <a:extLst>
              <a:ext uri="{FF2B5EF4-FFF2-40B4-BE49-F238E27FC236}">
                <a16:creationId xmlns:a16="http://schemas.microsoft.com/office/drawing/2014/main" id="{32D53EF2-8828-4FC4-880C-56D7B1548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2130425"/>
            <a:ext cx="1663700" cy="4206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1" name="圆角矩形 4109">
            <a:extLst>
              <a:ext uri="{FF2B5EF4-FFF2-40B4-BE49-F238E27FC236}">
                <a16:creationId xmlns:a16="http://schemas.microsoft.com/office/drawing/2014/main" id="{25744EB6-6D6B-463B-B753-9BAF82C0D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2130425"/>
            <a:ext cx="1663700" cy="420688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2" name="圆角矩形 4110">
            <a:extLst>
              <a:ext uri="{FF2B5EF4-FFF2-40B4-BE49-F238E27FC236}">
                <a16:creationId xmlns:a16="http://schemas.microsoft.com/office/drawing/2014/main" id="{F22EDFE3-A608-4335-B8CE-E9B20DF65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2789238"/>
            <a:ext cx="1663700" cy="420687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3" name="圆角矩形 4111">
            <a:extLst>
              <a:ext uri="{FF2B5EF4-FFF2-40B4-BE49-F238E27FC236}">
                <a16:creationId xmlns:a16="http://schemas.microsoft.com/office/drawing/2014/main" id="{46227653-4692-4B82-97EF-646700153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2789238"/>
            <a:ext cx="1663700" cy="4206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4" name="圆角矩形 4112">
            <a:extLst>
              <a:ext uri="{FF2B5EF4-FFF2-40B4-BE49-F238E27FC236}">
                <a16:creationId xmlns:a16="http://schemas.microsoft.com/office/drawing/2014/main" id="{34221D5B-75C7-4DE1-BABA-3D6192566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3448050"/>
            <a:ext cx="1663700" cy="420688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5" name="圆角矩形 4113">
            <a:extLst>
              <a:ext uri="{FF2B5EF4-FFF2-40B4-BE49-F238E27FC236}">
                <a16:creationId xmlns:a16="http://schemas.microsoft.com/office/drawing/2014/main" id="{80CDDFE4-B191-4EF1-B82A-AB6423E30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3448050"/>
            <a:ext cx="1663700" cy="420688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6" name="圆角矩形 4114">
            <a:extLst>
              <a:ext uri="{FF2B5EF4-FFF2-40B4-BE49-F238E27FC236}">
                <a16:creationId xmlns:a16="http://schemas.microsoft.com/office/drawing/2014/main" id="{5D6928B5-8DD9-4710-97C2-C30CB29D7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4105275"/>
            <a:ext cx="1663700" cy="4206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7" name="圆角矩形 4115">
            <a:extLst>
              <a:ext uri="{FF2B5EF4-FFF2-40B4-BE49-F238E27FC236}">
                <a16:creationId xmlns:a16="http://schemas.microsoft.com/office/drawing/2014/main" id="{AFE33236-1F36-4B9C-A72D-78A805C91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4105275"/>
            <a:ext cx="1663700" cy="420688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8" name="矩形 4116">
            <a:extLst>
              <a:ext uri="{FF2B5EF4-FFF2-40B4-BE49-F238E27FC236}">
                <a16:creationId xmlns:a16="http://schemas.microsoft.com/office/drawing/2014/main" id="{165E5901-4C6B-45BC-B3C3-6173FDEF1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100" y="4827588"/>
            <a:ext cx="3932238" cy="292100"/>
          </a:xfrm>
          <a:prstGeom prst="rect">
            <a:avLst/>
          </a:prstGeom>
          <a:solidFill>
            <a:srgbClr val="E7F1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9" name="矩形 4117">
            <a:extLst>
              <a:ext uri="{FF2B5EF4-FFF2-40B4-BE49-F238E27FC236}">
                <a16:creationId xmlns:a16="http://schemas.microsoft.com/office/drawing/2014/main" id="{DA2911FA-30FA-4E6B-BDA8-5C834FAD0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6145213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2026</a:t>
            </a:r>
          </a:p>
        </p:txBody>
      </p:sp>
      <p:sp>
        <p:nvSpPr>
          <p:cNvPr id="4120" name="文本框 4118">
            <a:extLst>
              <a:ext uri="{FF2B5EF4-FFF2-40B4-BE49-F238E27FC236}">
                <a16:creationId xmlns:a16="http://schemas.microsoft.com/office/drawing/2014/main" id="{2A67DAA8-BAF1-44FC-BC52-968D4D1B4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9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矩形 5120">
            <a:extLst>
              <a:ext uri="{FF2B5EF4-FFF2-40B4-BE49-F238E27FC236}">
                <a16:creationId xmlns:a16="http://schemas.microsoft.com/office/drawing/2014/main" id="{9FC85DF9-73F8-47D2-93D0-CDC99FFCA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6147" name="矩形 5121">
            <a:extLst>
              <a:ext uri="{FF2B5EF4-FFF2-40B4-BE49-F238E27FC236}">
                <a16:creationId xmlns:a16="http://schemas.microsoft.com/office/drawing/2014/main" id="{568EDACA-6BC2-4E33-B278-44F61BF59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内容结构</a:t>
            </a:r>
          </a:p>
        </p:txBody>
      </p:sp>
      <p:sp>
        <p:nvSpPr>
          <p:cNvPr id="6148" name="直接连接符 5122">
            <a:extLst>
              <a:ext uri="{FF2B5EF4-FFF2-40B4-BE49-F238E27FC236}">
                <a16:creationId xmlns:a16="http://schemas.microsoft.com/office/drawing/2014/main" id="{D9E59804-6531-4EFE-A2DE-2E93CE2CE5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矩形 5123">
            <a:extLst>
              <a:ext uri="{FF2B5EF4-FFF2-40B4-BE49-F238E27FC236}">
                <a16:creationId xmlns:a16="http://schemas.microsoft.com/office/drawing/2014/main" id="{DC37EB44-7FF3-4697-B665-429E20639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6150" name="椭圆 5124">
            <a:extLst>
              <a:ext uri="{FF2B5EF4-FFF2-40B4-BE49-F238E27FC236}">
                <a16:creationId xmlns:a16="http://schemas.microsoft.com/office/drawing/2014/main" id="{9928D77B-B63D-4745-88D5-FFDD3D3C6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1554163"/>
            <a:ext cx="603250" cy="603250"/>
          </a:xfrm>
          <a:prstGeom prst="ellipse">
            <a:avLst/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01</a:t>
            </a:r>
          </a:p>
        </p:txBody>
      </p:sp>
      <p:sp>
        <p:nvSpPr>
          <p:cNvPr id="6151" name="矩形 5125">
            <a:extLst>
              <a:ext uri="{FF2B5EF4-FFF2-40B4-BE49-F238E27FC236}">
                <a16:creationId xmlns:a16="http://schemas.microsoft.com/office/drawing/2014/main" id="{8540E8FD-5E00-487E-8969-E104AFE9A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573213"/>
            <a:ext cx="2239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登录与界面</a:t>
            </a:r>
          </a:p>
        </p:txBody>
      </p:sp>
      <p:sp>
        <p:nvSpPr>
          <p:cNvPr id="6152" name="矩形 5126">
            <a:extLst>
              <a:ext uri="{FF2B5EF4-FFF2-40B4-BE49-F238E27FC236}">
                <a16:creationId xmlns:a16="http://schemas.microsoft.com/office/drawing/2014/main" id="{4E35D060-FE9B-4EFE-BA3B-F64694D2B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947863"/>
            <a:ext cx="256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账号进入、工作区、焦点规则</a:t>
            </a:r>
          </a:p>
        </p:txBody>
      </p:sp>
      <p:sp>
        <p:nvSpPr>
          <p:cNvPr id="6153" name="椭圆 5127">
            <a:extLst>
              <a:ext uri="{FF2B5EF4-FFF2-40B4-BE49-F238E27FC236}">
                <a16:creationId xmlns:a16="http://schemas.microsoft.com/office/drawing/2014/main" id="{FCDDD59F-DA2E-4465-9C66-07822D8F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1554163"/>
            <a:ext cx="603250" cy="603250"/>
          </a:xfrm>
          <a:prstGeom prst="ellipse">
            <a:avLst/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02</a:t>
            </a:r>
          </a:p>
        </p:txBody>
      </p:sp>
      <p:sp>
        <p:nvSpPr>
          <p:cNvPr id="6154" name="矩形 5128">
            <a:extLst>
              <a:ext uri="{FF2B5EF4-FFF2-40B4-BE49-F238E27FC236}">
                <a16:creationId xmlns:a16="http://schemas.microsoft.com/office/drawing/2014/main" id="{567F57DF-1CF9-4466-B302-6D38EE50D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1573213"/>
            <a:ext cx="22399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工单处理</a:t>
            </a:r>
          </a:p>
        </p:txBody>
      </p:sp>
      <p:sp>
        <p:nvSpPr>
          <p:cNvPr id="6155" name="矩形 5129">
            <a:extLst>
              <a:ext uri="{FF2B5EF4-FFF2-40B4-BE49-F238E27FC236}">
                <a16:creationId xmlns:a16="http://schemas.microsoft.com/office/drawing/2014/main" id="{ADEEAAF0-2E08-4173-AA60-1D3588B2A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1947863"/>
            <a:ext cx="2560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填写、保存、线路选择、列表管理</a:t>
            </a:r>
          </a:p>
        </p:txBody>
      </p:sp>
      <p:sp>
        <p:nvSpPr>
          <p:cNvPr id="6156" name="椭圆 5130">
            <a:extLst>
              <a:ext uri="{FF2B5EF4-FFF2-40B4-BE49-F238E27FC236}">
                <a16:creationId xmlns:a16="http://schemas.microsoft.com/office/drawing/2014/main" id="{D4B2D80A-86AB-4348-941B-3B0503CCF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525" y="1554163"/>
            <a:ext cx="603250" cy="603250"/>
          </a:xfrm>
          <a:prstGeom prst="ellipse">
            <a:avLst/>
          </a:prstGeom>
          <a:solidFill>
            <a:srgbClr val="FFF4E2"/>
          </a:solidFill>
          <a:ln w="15120">
            <a:solidFill>
              <a:srgbClr val="F59E0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03</a:t>
            </a:r>
          </a:p>
        </p:txBody>
      </p:sp>
      <p:sp>
        <p:nvSpPr>
          <p:cNvPr id="6157" name="矩形 5131">
            <a:extLst>
              <a:ext uri="{FF2B5EF4-FFF2-40B4-BE49-F238E27FC236}">
                <a16:creationId xmlns:a16="http://schemas.microsoft.com/office/drawing/2014/main" id="{6A5C378C-93AA-4F96-9E55-BE066AF51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1573213"/>
            <a:ext cx="2239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接续操作</a:t>
            </a:r>
          </a:p>
        </p:txBody>
      </p:sp>
      <p:sp>
        <p:nvSpPr>
          <p:cNvPr id="6158" name="矩形 5132">
            <a:extLst>
              <a:ext uri="{FF2B5EF4-FFF2-40B4-BE49-F238E27FC236}">
                <a16:creationId xmlns:a16="http://schemas.microsoft.com/office/drawing/2014/main" id="{0D197E6D-A8B5-4F0F-80A9-03D4DEEC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1947863"/>
            <a:ext cx="256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接入、呼出、转接、合并与拆分</a:t>
            </a:r>
          </a:p>
        </p:txBody>
      </p:sp>
      <p:sp>
        <p:nvSpPr>
          <p:cNvPr id="6159" name="椭圆 5133">
            <a:extLst>
              <a:ext uri="{FF2B5EF4-FFF2-40B4-BE49-F238E27FC236}">
                <a16:creationId xmlns:a16="http://schemas.microsoft.com/office/drawing/2014/main" id="{83C5D948-6296-476A-BD0B-D5A5A275D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3548063"/>
            <a:ext cx="603250" cy="603250"/>
          </a:xfrm>
          <a:prstGeom prst="ellipse">
            <a:avLst/>
          </a:prstGeom>
          <a:solidFill>
            <a:srgbClr val="EAF7F0"/>
          </a:solidFill>
          <a:ln w="15120">
            <a:solidFill>
              <a:srgbClr val="35A779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04</a:t>
            </a:r>
          </a:p>
        </p:txBody>
      </p:sp>
      <p:sp>
        <p:nvSpPr>
          <p:cNvPr id="6160" name="矩形 5134">
            <a:extLst>
              <a:ext uri="{FF2B5EF4-FFF2-40B4-BE49-F238E27FC236}">
                <a16:creationId xmlns:a16="http://schemas.microsoft.com/office/drawing/2014/main" id="{A3FB467F-2C65-4A36-A1F7-C0809C187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3565525"/>
            <a:ext cx="2239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检索查号</a:t>
            </a:r>
          </a:p>
        </p:txBody>
      </p:sp>
      <p:sp>
        <p:nvSpPr>
          <p:cNvPr id="6161" name="矩形 5135">
            <a:extLst>
              <a:ext uri="{FF2B5EF4-FFF2-40B4-BE49-F238E27FC236}">
                <a16:creationId xmlns:a16="http://schemas.microsoft.com/office/drawing/2014/main" id="{9C2E6E93-E271-4BF7-95EE-3E230FEE3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3940175"/>
            <a:ext cx="256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按姓名、单位、号码快速定位</a:t>
            </a:r>
          </a:p>
        </p:txBody>
      </p:sp>
      <p:sp>
        <p:nvSpPr>
          <p:cNvPr id="6162" name="椭圆 5136">
            <a:extLst>
              <a:ext uri="{FF2B5EF4-FFF2-40B4-BE49-F238E27FC236}">
                <a16:creationId xmlns:a16="http://schemas.microsoft.com/office/drawing/2014/main" id="{8F8134F7-CB27-461B-A647-D4389C709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3548063"/>
            <a:ext cx="603250" cy="603250"/>
          </a:xfrm>
          <a:prstGeom prst="ellipse">
            <a:avLst/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05</a:t>
            </a:r>
          </a:p>
        </p:txBody>
      </p:sp>
      <p:sp>
        <p:nvSpPr>
          <p:cNvPr id="6163" name="矩形 5137">
            <a:extLst>
              <a:ext uri="{FF2B5EF4-FFF2-40B4-BE49-F238E27FC236}">
                <a16:creationId xmlns:a16="http://schemas.microsoft.com/office/drawing/2014/main" id="{EBDF0FD7-6C91-4766-B68D-261E2D7DE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3565525"/>
            <a:ext cx="22399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会议协作</a:t>
            </a:r>
          </a:p>
        </p:txBody>
      </p:sp>
      <p:sp>
        <p:nvSpPr>
          <p:cNvPr id="6164" name="矩形 5138">
            <a:extLst>
              <a:ext uri="{FF2B5EF4-FFF2-40B4-BE49-F238E27FC236}">
                <a16:creationId xmlns:a16="http://schemas.microsoft.com/office/drawing/2014/main" id="{2F7F1612-537F-4B2B-BE1F-AB1A01619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3940175"/>
            <a:ext cx="2560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预约会议、即时会议、座席互联</a:t>
            </a:r>
          </a:p>
        </p:txBody>
      </p:sp>
      <p:sp>
        <p:nvSpPr>
          <p:cNvPr id="6165" name="椭圆 5139">
            <a:extLst>
              <a:ext uri="{FF2B5EF4-FFF2-40B4-BE49-F238E27FC236}">
                <a16:creationId xmlns:a16="http://schemas.microsoft.com/office/drawing/2014/main" id="{BAF12835-777D-4D5A-B678-D1B21E5AC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525" y="3548063"/>
            <a:ext cx="603250" cy="603250"/>
          </a:xfrm>
          <a:prstGeom prst="ellipse">
            <a:avLst/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06</a:t>
            </a:r>
          </a:p>
        </p:txBody>
      </p:sp>
      <p:sp>
        <p:nvSpPr>
          <p:cNvPr id="6166" name="矩形 5140">
            <a:extLst>
              <a:ext uri="{FF2B5EF4-FFF2-40B4-BE49-F238E27FC236}">
                <a16:creationId xmlns:a16="http://schemas.microsoft.com/office/drawing/2014/main" id="{D33A58FE-8336-4DA5-B496-10D49B87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3565525"/>
            <a:ext cx="2239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值守规范</a:t>
            </a:r>
          </a:p>
        </p:txBody>
      </p:sp>
      <p:sp>
        <p:nvSpPr>
          <p:cNvPr id="6167" name="矩形 5141">
            <a:extLst>
              <a:ext uri="{FF2B5EF4-FFF2-40B4-BE49-F238E27FC236}">
                <a16:creationId xmlns:a16="http://schemas.microsoft.com/office/drawing/2014/main" id="{FBBAF388-422D-492B-A876-2E1376315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3940175"/>
            <a:ext cx="256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回呼预约、菜单入口、交接检查</a:t>
            </a:r>
          </a:p>
        </p:txBody>
      </p:sp>
      <p:sp>
        <p:nvSpPr>
          <p:cNvPr id="6168" name="直接连接符 5142">
            <a:extLst>
              <a:ext uri="{FF2B5EF4-FFF2-40B4-BE49-F238E27FC236}">
                <a16:creationId xmlns:a16="http://schemas.microsoft.com/office/drawing/2014/main" id="{B5C142EC-9760-45B3-88F5-6CA6EDA408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5834063"/>
            <a:ext cx="10423525" cy="1587"/>
          </a:xfrm>
          <a:prstGeom prst="line">
            <a:avLst/>
          </a:prstGeom>
          <a:noFill/>
          <a:ln w="12600">
            <a:solidFill>
              <a:srgbClr val="D5E1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9" name="文本框 5144">
            <a:extLst>
              <a:ext uri="{FF2B5EF4-FFF2-40B4-BE49-F238E27FC236}">
                <a16:creationId xmlns:a16="http://schemas.microsoft.com/office/drawing/2014/main" id="{7F0E25EF-8292-4926-B710-83BE9C85F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10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矩形 6144">
            <a:extLst>
              <a:ext uri="{FF2B5EF4-FFF2-40B4-BE49-F238E27FC236}">
                <a16:creationId xmlns:a16="http://schemas.microsoft.com/office/drawing/2014/main" id="{B36CDE3E-1711-448A-9B5E-CBEAAE71F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8195" name="矩形 6145">
            <a:extLst>
              <a:ext uri="{FF2B5EF4-FFF2-40B4-BE49-F238E27FC236}">
                <a16:creationId xmlns:a16="http://schemas.microsoft.com/office/drawing/2014/main" id="{EA6883D8-00E2-48AE-9A1C-FD698A7AB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系统总览：调度坐席的四层协作</a:t>
            </a:r>
          </a:p>
        </p:txBody>
      </p:sp>
      <p:sp>
        <p:nvSpPr>
          <p:cNvPr id="8196" name="直接连接符 6146">
            <a:extLst>
              <a:ext uri="{FF2B5EF4-FFF2-40B4-BE49-F238E27FC236}">
                <a16:creationId xmlns:a16="http://schemas.microsoft.com/office/drawing/2014/main" id="{E9FA5B55-8110-4634-AC9A-0721B1CD6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矩形 6147">
            <a:extLst>
              <a:ext uri="{FF2B5EF4-FFF2-40B4-BE49-F238E27FC236}">
                <a16:creationId xmlns:a16="http://schemas.microsoft.com/office/drawing/2014/main" id="{00166332-0537-4BA8-A07A-8C9375089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8198" name="直接连接符 6148">
            <a:extLst>
              <a:ext uri="{FF2B5EF4-FFF2-40B4-BE49-F238E27FC236}">
                <a16:creationId xmlns:a16="http://schemas.microsoft.com/office/drawing/2014/main" id="{17214ADF-B806-49C6-949B-BD9A0DC74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090863"/>
            <a:ext cx="1023938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直接连接符 6149">
            <a:extLst>
              <a:ext uri="{FF2B5EF4-FFF2-40B4-BE49-F238E27FC236}">
                <a16:creationId xmlns:a16="http://schemas.microsoft.com/office/drawing/2014/main" id="{692FD00A-EFB9-4492-905C-0D7F4D17DF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1763" y="3090863"/>
            <a:ext cx="1023937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直接连接符 6150">
            <a:extLst>
              <a:ext uri="{FF2B5EF4-FFF2-40B4-BE49-F238E27FC236}">
                <a16:creationId xmlns:a16="http://schemas.microsoft.com/office/drawing/2014/main" id="{D128966B-5474-4261-AD10-33139E5AA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0325" y="3090863"/>
            <a:ext cx="1023938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圆角矩形 6151">
            <a:extLst>
              <a:ext uri="{FF2B5EF4-FFF2-40B4-BE49-F238E27FC236}">
                <a16:creationId xmlns:a16="http://schemas.microsoft.com/office/drawing/2014/main" id="{DBDED38B-8109-4F1B-9C7C-0F55538E6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487613"/>
            <a:ext cx="1919288" cy="120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来话接入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热线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专线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内线</a:t>
            </a:r>
          </a:p>
        </p:txBody>
      </p:sp>
      <p:sp>
        <p:nvSpPr>
          <p:cNvPr id="8202" name="圆角矩形 6152">
            <a:extLst>
              <a:ext uri="{FF2B5EF4-FFF2-40B4-BE49-F238E27FC236}">
                <a16:creationId xmlns:a16="http://schemas.microsoft.com/office/drawing/2014/main" id="{0D63C149-5E67-4CE6-82CD-D8E71EDA9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487613"/>
            <a:ext cx="1736725" cy="120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坐席工作区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受理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查询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记录</a:t>
            </a:r>
          </a:p>
        </p:txBody>
      </p:sp>
      <p:sp>
        <p:nvSpPr>
          <p:cNvPr id="8203" name="圆角矩形 6153">
            <a:extLst>
              <a:ext uri="{FF2B5EF4-FFF2-40B4-BE49-F238E27FC236}">
                <a16:creationId xmlns:a16="http://schemas.microsoft.com/office/drawing/2014/main" id="{765B8DD6-D782-436F-95EE-1E1FF825E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2487613"/>
            <a:ext cx="1736725" cy="120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路由与交换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呼出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转接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保持</a:t>
            </a:r>
          </a:p>
        </p:txBody>
      </p:sp>
      <p:sp>
        <p:nvSpPr>
          <p:cNvPr id="8204" name="圆角矩形 6154">
            <a:extLst>
              <a:ext uri="{FF2B5EF4-FFF2-40B4-BE49-F238E27FC236}">
                <a16:creationId xmlns:a16="http://schemas.microsoft.com/office/drawing/2014/main" id="{3CDCF62A-79A7-4E00-996D-02038FB80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0" y="2487613"/>
            <a:ext cx="1874838" cy="120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协作与归档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会议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回呼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日志</a:t>
            </a:r>
          </a:p>
        </p:txBody>
      </p:sp>
      <p:sp>
        <p:nvSpPr>
          <p:cNvPr id="8205" name="直接连接符 6156">
            <a:extLst>
              <a:ext uri="{FF2B5EF4-FFF2-40B4-BE49-F238E27FC236}">
                <a16:creationId xmlns:a16="http://schemas.microsoft.com/office/drawing/2014/main" id="{08E1ECE3-B971-4029-ABE0-E177C3D75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8375" y="5148263"/>
            <a:ext cx="4781550" cy="1587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" name="直接连接符 6158">
            <a:extLst>
              <a:ext uri="{FF2B5EF4-FFF2-40B4-BE49-F238E27FC236}">
                <a16:creationId xmlns:a16="http://schemas.microsoft.com/office/drawing/2014/main" id="{4A95C40F-5693-407F-8CCE-B6784F92AE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5148263"/>
            <a:ext cx="4781550" cy="1587"/>
          </a:xfrm>
          <a:prstGeom prst="line">
            <a:avLst/>
          </a:prstGeom>
          <a:noFill/>
          <a:ln w="25560">
            <a:solidFill>
              <a:srgbClr val="35A7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" name="文本框 6159">
            <a:extLst>
              <a:ext uri="{FF2B5EF4-FFF2-40B4-BE49-F238E27FC236}">
                <a16:creationId xmlns:a16="http://schemas.microsoft.com/office/drawing/2014/main" id="{FC09613F-C68B-43BB-AF34-9438AACBC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11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矩形 7168">
            <a:extLst>
              <a:ext uri="{FF2B5EF4-FFF2-40B4-BE49-F238E27FC236}">
                <a16:creationId xmlns:a16="http://schemas.microsoft.com/office/drawing/2014/main" id="{ABAFF71B-7C66-478B-AC1A-505AF738C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0243" name="矩形 7169">
            <a:extLst>
              <a:ext uri="{FF2B5EF4-FFF2-40B4-BE49-F238E27FC236}">
                <a16:creationId xmlns:a16="http://schemas.microsoft.com/office/drawing/2014/main" id="{882CC461-7DAB-472C-A9F9-2BF12DDDF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登录：进入值守环境</a:t>
            </a:r>
          </a:p>
        </p:txBody>
      </p:sp>
      <p:sp>
        <p:nvSpPr>
          <p:cNvPr id="10244" name="直接连接符 7170">
            <a:extLst>
              <a:ext uri="{FF2B5EF4-FFF2-40B4-BE49-F238E27FC236}">
                <a16:creationId xmlns:a16="http://schemas.microsoft.com/office/drawing/2014/main" id="{4AEF5AB4-73AB-4B02-84B9-12B7493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" name="矩形 7171">
            <a:extLst>
              <a:ext uri="{FF2B5EF4-FFF2-40B4-BE49-F238E27FC236}">
                <a16:creationId xmlns:a16="http://schemas.microsoft.com/office/drawing/2014/main" id="{34BDB2C8-7C71-4D3D-9490-169B81743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0246" name="圆角矩形 7172">
            <a:extLst>
              <a:ext uri="{FF2B5EF4-FFF2-40B4-BE49-F238E27FC236}">
                <a16:creationId xmlns:a16="http://schemas.microsoft.com/office/drawing/2014/main" id="{8381448C-1E4B-46DA-80D1-8E4AC8A73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1554163"/>
            <a:ext cx="4205288" cy="42513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7" name="矩形 7173">
            <a:extLst>
              <a:ext uri="{FF2B5EF4-FFF2-40B4-BE49-F238E27FC236}">
                <a16:creationId xmlns:a16="http://schemas.microsoft.com/office/drawing/2014/main" id="{64D91E35-498D-49B2-B369-BCCEB7B9A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901825"/>
            <a:ext cx="34750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坐席登录</a:t>
            </a:r>
          </a:p>
        </p:txBody>
      </p:sp>
      <p:sp>
        <p:nvSpPr>
          <p:cNvPr id="10248" name="矩形 7174">
            <a:extLst>
              <a:ext uri="{FF2B5EF4-FFF2-40B4-BE49-F238E27FC236}">
                <a16:creationId xmlns:a16="http://schemas.microsoft.com/office/drawing/2014/main" id="{88AFDE7F-240D-49B8-9A09-AEBAB10B2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2524125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坐席编号</a:t>
            </a:r>
          </a:p>
        </p:txBody>
      </p:sp>
      <p:sp>
        <p:nvSpPr>
          <p:cNvPr id="10249" name="圆角矩形 7175">
            <a:extLst>
              <a:ext uri="{FF2B5EF4-FFF2-40B4-BE49-F238E27FC236}">
                <a16:creationId xmlns:a16="http://schemas.microsoft.com/office/drawing/2014/main" id="{C1090C59-2536-4E87-B249-53EFF92D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2432050"/>
            <a:ext cx="2239963" cy="3841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0" name="矩形 7176">
            <a:extLst>
              <a:ext uri="{FF2B5EF4-FFF2-40B4-BE49-F238E27FC236}">
                <a16:creationId xmlns:a16="http://schemas.microsoft.com/office/drawing/2014/main" id="{C74026A1-3910-4408-A25D-CEB7033DA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181350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登录口令</a:t>
            </a:r>
          </a:p>
        </p:txBody>
      </p:sp>
      <p:sp>
        <p:nvSpPr>
          <p:cNvPr id="10251" name="圆角矩形 7177">
            <a:extLst>
              <a:ext uri="{FF2B5EF4-FFF2-40B4-BE49-F238E27FC236}">
                <a16:creationId xmlns:a16="http://schemas.microsoft.com/office/drawing/2014/main" id="{F605A95E-4B00-474E-B302-ACA35ACB4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090863"/>
            <a:ext cx="2239963" cy="3841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2" name="矩形 7178">
            <a:extLst>
              <a:ext uri="{FF2B5EF4-FFF2-40B4-BE49-F238E27FC236}">
                <a16:creationId xmlns:a16="http://schemas.microsoft.com/office/drawing/2014/main" id="{7A9E788B-6CF4-4C6C-8A65-C009FAC77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840163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班次</a:t>
            </a:r>
          </a:p>
        </p:txBody>
      </p:sp>
      <p:sp>
        <p:nvSpPr>
          <p:cNvPr id="10253" name="圆角矩形 7179">
            <a:extLst>
              <a:ext uri="{FF2B5EF4-FFF2-40B4-BE49-F238E27FC236}">
                <a16:creationId xmlns:a16="http://schemas.microsoft.com/office/drawing/2014/main" id="{952B483E-30E2-4643-B95D-A70A32F70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749675"/>
            <a:ext cx="2239963" cy="3841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4" name="圆角矩形 7180">
            <a:extLst>
              <a:ext uri="{FF2B5EF4-FFF2-40B4-BE49-F238E27FC236}">
                <a16:creationId xmlns:a16="http://schemas.microsoft.com/office/drawing/2014/main" id="{7EE6CAE8-5004-429F-9DD5-15D23E507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1138" y="4883150"/>
            <a:ext cx="2906712" cy="4381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进入工作区</a:t>
            </a:r>
          </a:p>
        </p:txBody>
      </p:sp>
      <p:sp>
        <p:nvSpPr>
          <p:cNvPr id="10255" name="矩形 7181">
            <a:extLst>
              <a:ext uri="{FF2B5EF4-FFF2-40B4-BE49-F238E27FC236}">
                <a16:creationId xmlns:a16="http://schemas.microsoft.com/office/drawing/2014/main" id="{C75EDC3D-3F87-4A4E-85D7-36CBD8BCC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1692275"/>
            <a:ext cx="5119688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" tIns="1080" rIns="1080" bIns="108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首次启用时先选择服务器组、语音设备与班组策略。</a:t>
            </a:r>
          </a:p>
          <a:p>
            <a:pPr hangingPunct="1" algn="l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登录后自动载入上次窗口布局，减少值守准备时间。</a:t>
            </a:r>
          </a:p>
          <a:p>
            <a:pPr hangingPunct="1" algn="l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权限按岗位分组，普通坐席与班长席看到的菜单不同。</a:t>
            </a:r>
          </a:p>
          <a:p>
            <a:pPr hangingPunct="1" algn="l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异常退出再次进入时，系统提示恢复未完成工单。</a:t>
            </a:r>
          </a:p>
        </p:txBody>
      </p:sp>
      <p:sp>
        <p:nvSpPr>
          <p:cNvPr id="10256" name="圆角矩形 7182">
            <a:extLst>
              <a:ext uri="{FF2B5EF4-FFF2-40B4-BE49-F238E27FC236}">
                <a16:creationId xmlns:a16="http://schemas.microsoft.com/office/drawing/2014/main" id="{21A501DC-2F0A-4CE9-8D22-F9CB55A03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4892675"/>
            <a:ext cx="5119688" cy="877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安全规则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口令由值班人员自行维护；跨班交接必须先注销当前坐席，再由下一班重新进入。</a:t>
            </a:r>
          </a:p>
        </p:txBody>
      </p:sp>
      <p:sp>
        <p:nvSpPr>
          <p:cNvPr id="10257" name="直接连接符 7183">
            <a:extLst>
              <a:ext uri="{FF2B5EF4-FFF2-40B4-BE49-F238E27FC236}">
                <a16:creationId xmlns:a16="http://schemas.microsoft.com/office/drawing/2014/main" id="{354E4C23-B281-4AC8-AB78-FBA9D781B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7100" y="4149725"/>
            <a:ext cx="4827588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8" name="文本框 7184">
            <a:extLst>
              <a:ext uri="{FF2B5EF4-FFF2-40B4-BE49-F238E27FC236}">
                <a16:creationId xmlns:a16="http://schemas.microsoft.com/office/drawing/2014/main" id="{3D64A276-3615-4177-A1D0-B04FDC572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12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矩形 8192">
            <a:extLst>
              <a:ext uri="{FF2B5EF4-FFF2-40B4-BE49-F238E27FC236}">
                <a16:creationId xmlns:a16="http://schemas.microsoft.com/office/drawing/2014/main" id="{072256EF-09BE-4B9B-9B42-DA23FE340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2291" name="矩形 8193">
            <a:extLst>
              <a:ext uri="{FF2B5EF4-FFF2-40B4-BE49-F238E27FC236}">
                <a16:creationId xmlns:a16="http://schemas.microsoft.com/office/drawing/2014/main" id="{E7ACE481-FF00-4FDF-9934-2B2CFC566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主界面：把高频操作放在同一屏</a:t>
            </a:r>
          </a:p>
        </p:txBody>
      </p:sp>
      <p:sp>
        <p:nvSpPr>
          <p:cNvPr id="12292" name="直接连接符 8194">
            <a:extLst>
              <a:ext uri="{FF2B5EF4-FFF2-40B4-BE49-F238E27FC236}">
                <a16:creationId xmlns:a16="http://schemas.microsoft.com/office/drawing/2014/main" id="{21E2C2D4-49AF-43BC-84FE-9E3B02E75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" name="矩形 8195">
            <a:extLst>
              <a:ext uri="{FF2B5EF4-FFF2-40B4-BE49-F238E27FC236}">
                <a16:creationId xmlns:a16="http://schemas.microsoft.com/office/drawing/2014/main" id="{B36E4B18-5E62-484E-99B4-DDBD68A05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2294" name="圆角矩形 8196">
            <a:extLst>
              <a:ext uri="{FF2B5EF4-FFF2-40B4-BE49-F238E27FC236}">
                <a16:creationId xmlns:a16="http://schemas.microsoft.com/office/drawing/2014/main" id="{0741BC36-52B7-4FDD-ADB7-5B4DF4404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444625"/>
            <a:ext cx="6583362" cy="45529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95" name="矩形 8197">
            <a:extLst>
              <a:ext uri="{FF2B5EF4-FFF2-40B4-BE49-F238E27FC236}">
                <a16:creationId xmlns:a16="http://schemas.microsoft.com/office/drawing/2014/main" id="{D9C21328-68D8-4FFB-9033-F1C199976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1682750"/>
            <a:ext cx="6218238" cy="311150"/>
          </a:xfrm>
          <a:prstGeom prst="rect">
            <a:avLst/>
          </a:prstGeom>
          <a:solidFill>
            <a:srgbClr val="172A4A"/>
          </a:solidFill>
          <a:ln w="12600">
            <a:solidFill>
              <a:srgbClr val="172A4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96" name="矩形 8198">
            <a:extLst>
              <a:ext uri="{FF2B5EF4-FFF2-40B4-BE49-F238E27FC236}">
                <a16:creationId xmlns:a16="http://schemas.microsoft.com/office/drawing/2014/main" id="{EEFF38F8-9114-49FC-A2AB-CD3535F3C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1736725"/>
            <a:ext cx="27432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标题栏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·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菜单栏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·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工具栏</a:t>
            </a:r>
          </a:p>
        </p:txBody>
      </p:sp>
      <p:sp>
        <p:nvSpPr>
          <p:cNvPr id="12297" name="矩形 8199">
            <a:extLst>
              <a:ext uri="{FF2B5EF4-FFF2-40B4-BE49-F238E27FC236}">
                <a16:creationId xmlns:a16="http://schemas.microsoft.com/office/drawing/2014/main" id="{B129970A-4493-4F8F-9BDA-901BF8226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076450"/>
            <a:ext cx="6218238" cy="45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98" name="矩形 8200">
            <a:extLst>
              <a:ext uri="{FF2B5EF4-FFF2-40B4-BE49-F238E27FC236}">
                <a16:creationId xmlns:a16="http://schemas.microsoft.com/office/drawing/2014/main" id="{3DEF57CC-569C-4567-AFD0-6131DB45C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85988"/>
            <a:ext cx="3840162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线路状态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工单暂存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接续暂存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共享队列</a:t>
            </a:r>
          </a:p>
        </p:txBody>
      </p:sp>
      <p:sp>
        <p:nvSpPr>
          <p:cNvPr id="12299" name="圆角矩形 8201">
            <a:extLst>
              <a:ext uri="{FF2B5EF4-FFF2-40B4-BE49-F238E27FC236}">
                <a16:creationId xmlns:a16="http://schemas.microsoft.com/office/drawing/2014/main" id="{FAB419E6-922B-45F9-B52E-50865CCE9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724150"/>
            <a:ext cx="1389063" cy="749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0" name="矩形 8202">
            <a:extLst>
              <a:ext uri="{FF2B5EF4-FFF2-40B4-BE49-F238E27FC236}">
                <a16:creationId xmlns:a16="http://schemas.microsoft.com/office/drawing/2014/main" id="{D8963C52-9B0C-41AA-8CE0-9EF8E0B11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2835275"/>
            <a:ext cx="731837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301" name="椭圆 8203">
            <a:extLst>
              <a:ext uri="{FF2B5EF4-FFF2-40B4-BE49-F238E27FC236}">
                <a16:creationId xmlns:a16="http://schemas.microsoft.com/office/drawing/2014/main" id="{2EE957D7-8D32-4676-A2EE-4C37F9F1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2835275"/>
            <a:ext cx="163512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2" name="圆角矩形 8204">
            <a:extLst>
              <a:ext uri="{FF2B5EF4-FFF2-40B4-BE49-F238E27FC236}">
                <a16:creationId xmlns:a16="http://schemas.microsoft.com/office/drawing/2014/main" id="{243020C5-EB64-4C9C-A95F-AC42A75E6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2724150"/>
            <a:ext cx="1389062" cy="749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3" name="矩形 8205">
            <a:extLst>
              <a:ext uri="{FF2B5EF4-FFF2-40B4-BE49-F238E27FC236}">
                <a16:creationId xmlns:a16="http://schemas.microsoft.com/office/drawing/2014/main" id="{392BC2E4-CFD7-44C5-88A4-01A449486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2835275"/>
            <a:ext cx="731838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304" name="椭圆 8206">
            <a:extLst>
              <a:ext uri="{FF2B5EF4-FFF2-40B4-BE49-F238E27FC236}">
                <a16:creationId xmlns:a16="http://schemas.microsoft.com/office/drawing/2014/main" id="{066672E3-6F57-4459-BAF7-50BC2D766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2835275"/>
            <a:ext cx="163513" cy="163513"/>
          </a:xfrm>
          <a:prstGeom prst="ellipse">
            <a:avLst/>
          </a:prstGeom>
          <a:solidFill>
            <a:srgbClr val="00A6A6"/>
          </a:solidFill>
          <a:ln w="12600">
            <a:solidFill>
              <a:srgbClr val="00A6A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5" name="圆角矩形 8207">
            <a:extLst>
              <a:ext uri="{FF2B5EF4-FFF2-40B4-BE49-F238E27FC236}">
                <a16:creationId xmlns:a16="http://schemas.microsoft.com/office/drawing/2014/main" id="{6064C56E-B8D8-4CD7-B633-5489EA829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2724150"/>
            <a:ext cx="1389062" cy="749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6" name="矩形 8208">
            <a:extLst>
              <a:ext uri="{FF2B5EF4-FFF2-40B4-BE49-F238E27FC236}">
                <a16:creationId xmlns:a16="http://schemas.microsoft.com/office/drawing/2014/main" id="{7D5EABD5-7B50-483B-8799-A6C1E3A2A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835275"/>
            <a:ext cx="731838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307" name="椭圆 8209">
            <a:extLst>
              <a:ext uri="{FF2B5EF4-FFF2-40B4-BE49-F238E27FC236}">
                <a16:creationId xmlns:a16="http://schemas.microsoft.com/office/drawing/2014/main" id="{CEF6F59C-DC72-49C3-AB55-BC9B041B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2835275"/>
            <a:ext cx="163513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8" name="圆角矩形 8210">
            <a:extLst>
              <a:ext uri="{FF2B5EF4-FFF2-40B4-BE49-F238E27FC236}">
                <a16:creationId xmlns:a16="http://schemas.microsoft.com/office/drawing/2014/main" id="{C77788F4-94E5-4AEA-947D-00FE1B92F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2724150"/>
            <a:ext cx="1389063" cy="749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9" name="矩形 8211">
            <a:extLst>
              <a:ext uri="{FF2B5EF4-FFF2-40B4-BE49-F238E27FC236}">
                <a16:creationId xmlns:a16="http://schemas.microsoft.com/office/drawing/2014/main" id="{79E3ED89-A861-43C8-A5D2-35D330C88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2835275"/>
            <a:ext cx="731837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2310" name="椭圆 8212">
            <a:extLst>
              <a:ext uri="{FF2B5EF4-FFF2-40B4-BE49-F238E27FC236}">
                <a16:creationId xmlns:a16="http://schemas.microsoft.com/office/drawing/2014/main" id="{E0E26751-52D2-412C-A624-E242C0F28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2835275"/>
            <a:ext cx="163512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1" name="圆角矩形 8213">
            <a:extLst>
              <a:ext uri="{FF2B5EF4-FFF2-40B4-BE49-F238E27FC236}">
                <a16:creationId xmlns:a16="http://schemas.microsoft.com/office/drawing/2014/main" id="{8086EB77-F260-492A-9BC7-B79E1C3BE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3711575"/>
            <a:ext cx="1389063" cy="749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2" name="矩形 8214">
            <a:extLst>
              <a:ext uri="{FF2B5EF4-FFF2-40B4-BE49-F238E27FC236}">
                <a16:creationId xmlns:a16="http://schemas.microsoft.com/office/drawing/2014/main" id="{864584E0-48DE-4D25-895E-77A53C99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3822700"/>
            <a:ext cx="731837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2313" name="椭圆 8215">
            <a:extLst>
              <a:ext uri="{FF2B5EF4-FFF2-40B4-BE49-F238E27FC236}">
                <a16:creationId xmlns:a16="http://schemas.microsoft.com/office/drawing/2014/main" id="{4529A9FA-CE50-430D-8183-4F054214E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3822700"/>
            <a:ext cx="163512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4" name="圆角矩形 8216">
            <a:extLst>
              <a:ext uri="{FF2B5EF4-FFF2-40B4-BE49-F238E27FC236}">
                <a16:creationId xmlns:a16="http://schemas.microsoft.com/office/drawing/2014/main" id="{64F0DD2C-A8A4-487C-AC6B-A63032556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711575"/>
            <a:ext cx="1389062" cy="749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5" name="矩形 8217">
            <a:extLst>
              <a:ext uri="{FF2B5EF4-FFF2-40B4-BE49-F238E27FC236}">
                <a16:creationId xmlns:a16="http://schemas.microsoft.com/office/drawing/2014/main" id="{9FC718A5-6E3F-45EF-A2D1-8D3AEA85D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822700"/>
            <a:ext cx="731838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2316" name="椭圆 8218">
            <a:extLst>
              <a:ext uri="{FF2B5EF4-FFF2-40B4-BE49-F238E27FC236}">
                <a16:creationId xmlns:a16="http://schemas.microsoft.com/office/drawing/2014/main" id="{70F192CD-DF3C-4F96-9EE0-DFE71A124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3822700"/>
            <a:ext cx="163513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7" name="圆角矩形 8219">
            <a:extLst>
              <a:ext uri="{FF2B5EF4-FFF2-40B4-BE49-F238E27FC236}">
                <a16:creationId xmlns:a16="http://schemas.microsoft.com/office/drawing/2014/main" id="{4987C69F-B037-4765-85F5-15E17F15B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3711575"/>
            <a:ext cx="1389062" cy="749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8" name="矩形 8220">
            <a:extLst>
              <a:ext uri="{FF2B5EF4-FFF2-40B4-BE49-F238E27FC236}">
                <a16:creationId xmlns:a16="http://schemas.microsoft.com/office/drawing/2014/main" id="{2827D5AD-1D61-4C0C-B61E-651241E70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3822700"/>
            <a:ext cx="731838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319" name="椭圆 8221">
            <a:extLst>
              <a:ext uri="{FF2B5EF4-FFF2-40B4-BE49-F238E27FC236}">
                <a16:creationId xmlns:a16="http://schemas.microsoft.com/office/drawing/2014/main" id="{35F51E63-B162-4B47-ACEE-B6B153CCA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3822700"/>
            <a:ext cx="163513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20" name="圆角矩形 8222">
            <a:extLst>
              <a:ext uri="{FF2B5EF4-FFF2-40B4-BE49-F238E27FC236}">
                <a16:creationId xmlns:a16="http://schemas.microsoft.com/office/drawing/2014/main" id="{0E77AC0D-8C42-4C1D-8CF0-43126B5E4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3711575"/>
            <a:ext cx="1389063" cy="749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21" name="矩形 8223">
            <a:extLst>
              <a:ext uri="{FF2B5EF4-FFF2-40B4-BE49-F238E27FC236}">
                <a16:creationId xmlns:a16="http://schemas.microsoft.com/office/drawing/2014/main" id="{5C2D8EAB-C02A-4A80-9B16-CCAAFD2FB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822700"/>
            <a:ext cx="731837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322" name="椭圆 8224">
            <a:extLst>
              <a:ext uri="{FF2B5EF4-FFF2-40B4-BE49-F238E27FC236}">
                <a16:creationId xmlns:a16="http://schemas.microsoft.com/office/drawing/2014/main" id="{6F8A0736-1891-4B4D-B3E8-7594236BE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3822700"/>
            <a:ext cx="163512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23" name="矩形 8225">
            <a:extLst>
              <a:ext uri="{FF2B5EF4-FFF2-40B4-BE49-F238E27FC236}">
                <a16:creationId xmlns:a16="http://schemas.microsoft.com/office/drawing/2014/main" id="{810A3F88-F688-4500-BBFC-9376CD409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4892675"/>
            <a:ext cx="6218238" cy="712788"/>
          </a:xfrm>
          <a:prstGeom prst="rect">
            <a:avLst/>
          </a:prstGeom>
          <a:solidFill>
            <a:srgbClr val="FFFFFF"/>
          </a:solidFill>
          <a:ln w="1260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24" name="矩形 8226">
            <a:extLst>
              <a:ext uri="{FF2B5EF4-FFF2-40B4-BE49-F238E27FC236}">
                <a16:creationId xmlns:a16="http://schemas.microsoft.com/office/drawing/2014/main" id="{0F78A1EB-EEB4-4401-A393-09EFBFF25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5102225"/>
            <a:ext cx="2103437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白板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运行提示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状态栏</a:t>
            </a:r>
          </a:p>
        </p:txBody>
      </p:sp>
      <p:sp>
        <p:nvSpPr>
          <p:cNvPr id="12325" name="圆角矩形 8227">
            <a:extLst>
              <a:ext uri="{FF2B5EF4-FFF2-40B4-BE49-F238E27FC236}">
                <a16:creationId xmlns:a16="http://schemas.microsoft.com/office/drawing/2014/main" id="{689D4802-FA22-47A7-9E3A-E0F6FF8BB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2863" y="1508125"/>
            <a:ext cx="3565525" cy="9683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区域说明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界面由标题栏、菜单、工具区、任务暂存、接续窗口、白板、提示栏和状态栏组成。</a:t>
            </a:r>
          </a:p>
        </p:txBody>
      </p:sp>
      <p:sp>
        <p:nvSpPr>
          <p:cNvPr id="12326" name="直接连接符 8228">
            <a:extLst>
              <a:ext uri="{FF2B5EF4-FFF2-40B4-BE49-F238E27FC236}">
                <a16:creationId xmlns:a16="http://schemas.microsoft.com/office/drawing/2014/main" id="{6497B8D0-96C1-4E9C-AADE-ACF7DBC4D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8913" y="2798763"/>
            <a:ext cx="3273425" cy="1587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27" name="圆角矩形 8229">
            <a:extLst>
              <a:ext uri="{FF2B5EF4-FFF2-40B4-BE49-F238E27FC236}">
                <a16:creationId xmlns:a16="http://schemas.microsoft.com/office/drawing/2014/main" id="{FA6B73C9-34AE-4B0A-9669-7C8303274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0800" y="3068638"/>
            <a:ext cx="3565525" cy="9683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键盘习惯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数字键切换窗口；方向键承担呼出、插入通话、撤出等动作，适合高频值守。</a:t>
            </a:r>
          </a:p>
        </p:txBody>
      </p:sp>
      <p:sp>
        <p:nvSpPr>
          <p:cNvPr id="12328" name="直接连接符 8230">
            <a:extLst>
              <a:ext uri="{FF2B5EF4-FFF2-40B4-BE49-F238E27FC236}">
                <a16:creationId xmlns:a16="http://schemas.microsoft.com/office/drawing/2014/main" id="{7F61A41B-BD7C-4E0A-8F96-68BC696A0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8913" y="4329113"/>
            <a:ext cx="3273425" cy="1587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29" name="圆角矩形 8231">
            <a:extLst>
              <a:ext uri="{FF2B5EF4-FFF2-40B4-BE49-F238E27FC236}">
                <a16:creationId xmlns:a16="http://schemas.microsoft.com/office/drawing/2014/main" id="{C2AC7298-0287-44C8-85D0-5AD77A375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4643438"/>
            <a:ext cx="3565525" cy="9683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注意事项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菜单被激活时，功能键可能指向菜单栏；需要先取消菜单焦点再继续接续。</a:t>
            </a:r>
          </a:p>
        </p:txBody>
      </p:sp>
      <p:sp>
        <p:nvSpPr>
          <p:cNvPr id="12330" name="直接连接符 8232">
            <a:extLst>
              <a:ext uri="{FF2B5EF4-FFF2-40B4-BE49-F238E27FC236}">
                <a16:creationId xmlns:a16="http://schemas.microsoft.com/office/drawing/2014/main" id="{2FAD3D69-A6A5-422D-A4E6-13690FE2A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8913" y="5949950"/>
            <a:ext cx="3273425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1" name="文本框 8233">
            <a:extLst>
              <a:ext uri="{FF2B5EF4-FFF2-40B4-BE49-F238E27FC236}">
                <a16:creationId xmlns:a16="http://schemas.microsoft.com/office/drawing/2014/main" id="{F35A7F7A-FCD3-4BCC-ABEE-3B0C0AE53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13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矩形 9216">
            <a:extLst>
              <a:ext uri="{FF2B5EF4-FFF2-40B4-BE49-F238E27FC236}">
                <a16:creationId xmlns:a16="http://schemas.microsoft.com/office/drawing/2014/main" id="{813D1FA8-BE71-44B6-9D66-996E8A7F5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4339" name="矩形 9217">
            <a:extLst>
              <a:ext uri="{FF2B5EF4-FFF2-40B4-BE49-F238E27FC236}">
                <a16:creationId xmlns:a16="http://schemas.microsoft.com/office/drawing/2014/main" id="{B3D99AC0-38D7-47F1-8716-71F659F9D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焦点规则：先确认“操作”，再确认“语音”</a:t>
            </a:r>
          </a:p>
        </p:txBody>
      </p:sp>
      <p:sp>
        <p:nvSpPr>
          <p:cNvPr id="14340" name="直接连接符 9218">
            <a:extLst>
              <a:ext uri="{FF2B5EF4-FFF2-40B4-BE49-F238E27FC236}">
                <a16:creationId xmlns:a16="http://schemas.microsoft.com/office/drawing/2014/main" id="{9AC5DB43-129D-46DC-9D82-40F1D1BA2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矩形 9219">
            <a:extLst>
              <a:ext uri="{FF2B5EF4-FFF2-40B4-BE49-F238E27FC236}">
                <a16:creationId xmlns:a16="http://schemas.microsoft.com/office/drawing/2014/main" id="{9FAA5394-49C0-4E35-8542-0AA9E603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4342" name="直接连接符 9220">
            <a:extLst>
              <a:ext uri="{FF2B5EF4-FFF2-40B4-BE49-F238E27FC236}">
                <a16:creationId xmlns:a16="http://schemas.microsoft.com/office/drawing/2014/main" id="{5922B4AF-2BC5-46E1-B5AA-1596F9A03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9238" y="2789238"/>
            <a:ext cx="1160462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直接连接符 9221">
            <a:extLst>
              <a:ext uri="{FF2B5EF4-FFF2-40B4-BE49-F238E27FC236}">
                <a16:creationId xmlns:a16="http://schemas.microsoft.com/office/drawing/2014/main" id="{EDB98AA2-609F-43AE-850A-1315C67B0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789238"/>
            <a:ext cx="1050925" cy="1587"/>
          </a:xfrm>
          <a:prstGeom prst="line">
            <a:avLst/>
          </a:prstGeom>
          <a:noFill/>
          <a:ln w="20160">
            <a:solidFill>
              <a:srgbClr val="F59E0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4" name="圆角矩形 9222">
            <a:extLst>
              <a:ext uri="{FF2B5EF4-FFF2-40B4-BE49-F238E27FC236}">
                <a16:creationId xmlns:a16="http://schemas.microsoft.com/office/drawing/2014/main" id="{9FADD04C-5A08-40D3-88CA-542C9687E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76463"/>
            <a:ext cx="1828800" cy="120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选择窗口</a:t>
            </a:r>
          </a:p>
          <a:p>
            <a:pPr algn="l" hangingPunct="1">
              <a:lnSpc>
                <a:spcPct val="100000"/>
              </a:lnSpc>
            </a:pP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0 / 9 / 1–8</a:t>
            </a:r>
          </a:p>
        </p:txBody>
      </p:sp>
      <p:sp>
        <p:nvSpPr>
          <p:cNvPr id="14345" name="圆角矩形 9223">
            <a:extLst>
              <a:ext uri="{FF2B5EF4-FFF2-40B4-BE49-F238E27FC236}">
                <a16:creationId xmlns:a16="http://schemas.microsoft.com/office/drawing/2014/main" id="{9C51F4D5-F782-4A25-8DED-49E40FB47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213" y="2176463"/>
            <a:ext cx="2193925" cy="120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操作焦点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键盘动作生效</a:t>
            </a:r>
          </a:p>
        </p:txBody>
      </p:sp>
      <p:sp>
        <p:nvSpPr>
          <p:cNvPr id="14346" name="圆角矩形 9224">
            <a:extLst>
              <a:ext uri="{FF2B5EF4-FFF2-40B4-BE49-F238E27FC236}">
                <a16:creationId xmlns:a16="http://schemas.microsoft.com/office/drawing/2014/main" id="{BB269730-F529-4946-88FE-9D2B92F6B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225" y="2176463"/>
            <a:ext cx="2193925" cy="120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语音焦点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通话声音生效</a:t>
            </a:r>
          </a:p>
        </p:txBody>
      </p:sp>
      <p:sp>
        <p:nvSpPr>
          <p:cNvPr id="14347" name="直接连接符 9225">
            <a:extLst>
              <a:ext uri="{FF2B5EF4-FFF2-40B4-BE49-F238E27FC236}">
                <a16:creationId xmlns:a16="http://schemas.microsoft.com/office/drawing/2014/main" id="{14422B5D-B65F-4430-940D-BCC1A3869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3767138"/>
            <a:ext cx="1588" cy="777875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8" name="直接连接符 9226">
            <a:extLst>
              <a:ext uri="{FF2B5EF4-FFF2-40B4-BE49-F238E27FC236}">
                <a16:creationId xmlns:a16="http://schemas.microsoft.com/office/drawing/2014/main" id="{6CF53130-2202-4ED5-BED3-71438B58E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5188" y="3767138"/>
            <a:ext cx="1587" cy="777875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9" name="矩形 9227">
            <a:extLst>
              <a:ext uri="{FF2B5EF4-FFF2-40B4-BE49-F238E27FC236}">
                <a16:creationId xmlns:a16="http://schemas.microsoft.com/office/drawing/2014/main" id="{FA23132E-EDE8-4AE8-9B2A-9730D599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64075"/>
            <a:ext cx="2925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窗口边框高亮，表示当前键盘命令会作用于此处。</a:t>
            </a:r>
          </a:p>
        </p:txBody>
      </p:sp>
      <p:sp>
        <p:nvSpPr>
          <p:cNvPr id="14350" name="矩形 9228">
            <a:extLst>
              <a:ext uri="{FF2B5EF4-FFF2-40B4-BE49-F238E27FC236}">
                <a16:creationId xmlns:a16="http://schemas.microsoft.com/office/drawing/2014/main" id="{AB5CAEE7-D4AB-4CD2-A428-4DE5F9879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3" y="4664075"/>
            <a:ext cx="2925762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头像状态高亮，表示坐席声音已接入该窗口。</a:t>
            </a:r>
          </a:p>
        </p:txBody>
      </p:sp>
      <p:sp>
        <p:nvSpPr>
          <p:cNvPr id="14351" name="圆角矩形 9229">
            <a:extLst>
              <a:ext uri="{FF2B5EF4-FFF2-40B4-BE49-F238E27FC236}">
                <a16:creationId xmlns:a16="http://schemas.microsoft.com/office/drawing/2014/main" id="{D6FC68B6-D2A4-4C91-8383-EC51CD5E5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505450"/>
            <a:ext cx="9920288" cy="7127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快捷规则</a:t>
            </a:r>
          </a:p>
          <a:p>
            <a:pPr hangingPunct="1" algn="l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Home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获取语音焦点；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Esc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或再次按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Alt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可退出菜单选择；接续前必须同时拥有通路和语音焦点。</a:t>
            </a:r>
          </a:p>
        </p:txBody>
      </p:sp>
      <p:sp>
        <p:nvSpPr>
          <p:cNvPr id="14352" name="直接连接符 9230">
            <a:extLst>
              <a:ext uri="{FF2B5EF4-FFF2-40B4-BE49-F238E27FC236}">
                <a16:creationId xmlns:a16="http://schemas.microsoft.com/office/drawing/2014/main" id="{B2D709FD-A5E6-43C4-9C09-8198AD157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0138" y="5229225"/>
            <a:ext cx="9628187" cy="1588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3" name="文本框 9231">
            <a:extLst>
              <a:ext uri="{FF2B5EF4-FFF2-40B4-BE49-F238E27FC236}">
                <a16:creationId xmlns:a16="http://schemas.microsoft.com/office/drawing/2014/main" id="{E332DBED-42B6-4C19-875A-4CD03A2ED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14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矩形 10240">
            <a:extLst>
              <a:ext uri="{FF2B5EF4-FFF2-40B4-BE49-F238E27FC236}">
                <a16:creationId xmlns:a16="http://schemas.microsoft.com/office/drawing/2014/main" id="{1C8111A0-C61D-4172-A640-4D42545E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6387" name="矩形 10241">
            <a:extLst>
              <a:ext uri="{FF2B5EF4-FFF2-40B4-BE49-F238E27FC236}">
                <a16:creationId xmlns:a16="http://schemas.microsoft.com/office/drawing/2014/main" id="{1AD62DC1-BCE8-4FD8-BC6E-AC32358C4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工单窗口：先记录，再执行呼叫动作</a:t>
            </a:r>
          </a:p>
        </p:txBody>
      </p:sp>
      <p:sp>
        <p:nvSpPr>
          <p:cNvPr id="16388" name="直接连接符 10242">
            <a:extLst>
              <a:ext uri="{FF2B5EF4-FFF2-40B4-BE49-F238E27FC236}">
                <a16:creationId xmlns:a16="http://schemas.microsoft.com/office/drawing/2014/main" id="{ED220EAE-E392-48B6-BB38-D5E62A6A8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矩形 10243">
            <a:extLst>
              <a:ext uri="{FF2B5EF4-FFF2-40B4-BE49-F238E27FC236}">
                <a16:creationId xmlns:a16="http://schemas.microsoft.com/office/drawing/2014/main" id="{3C24102E-72CE-45FC-8554-DB39AE714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6390" name="圆角矩形 10244">
            <a:extLst>
              <a:ext uri="{FF2B5EF4-FFF2-40B4-BE49-F238E27FC236}">
                <a16:creationId xmlns:a16="http://schemas.microsoft.com/office/drawing/2014/main" id="{45D8F8A1-5108-4836-86B0-35D43CB76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1417638"/>
            <a:ext cx="4846638" cy="4406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91" name="矩形 10245">
            <a:extLst>
              <a:ext uri="{FF2B5EF4-FFF2-40B4-BE49-F238E27FC236}">
                <a16:creationId xmlns:a16="http://schemas.microsoft.com/office/drawing/2014/main" id="{586076D8-CEF3-4068-802D-06F7B80D6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1755775"/>
            <a:ext cx="2103437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新建工单</a:t>
            </a:r>
          </a:p>
        </p:txBody>
      </p:sp>
      <p:sp>
        <p:nvSpPr>
          <p:cNvPr id="16392" name="矩形 10246">
            <a:extLst>
              <a:ext uri="{FF2B5EF4-FFF2-40B4-BE49-F238E27FC236}">
                <a16:creationId xmlns:a16="http://schemas.microsoft.com/office/drawing/2014/main" id="{3F27135F-29D9-4EA3-9958-D21116E38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322513"/>
            <a:ext cx="914400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受理类型</a:t>
            </a:r>
          </a:p>
        </p:txBody>
      </p:sp>
      <p:sp>
        <p:nvSpPr>
          <p:cNvPr id="16393" name="圆角矩形 10247">
            <a:extLst>
              <a:ext uri="{FF2B5EF4-FFF2-40B4-BE49-F238E27FC236}">
                <a16:creationId xmlns:a16="http://schemas.microsoft.com/office/drawing/2014/main" id="{075915BA-2647-4796-85C4-16A2798CC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2232025"/>
            <a:ext cx="3154362" cy="3476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94" name="矩形 10248">
            <a:extLst>
              <a:ext uri="{FF2B5EF4-FFF2-40B4-BE49-F238E27FC236}">
                <a16:creationId xmlns:a16="http://schemas.microsoft.com/office/drawing/2014/main" id="{0F7A2F57-5685-4344-A2F3-BDD7405EA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981325"/>
            <a:ext cx="914400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受话对象</a:t>
            </a:r>
          </a:p>
        </p:txBody>
      </p:sp>
      <p:sp>
        <p:nvSpPr>
          <p:cNvPr id="16395" name="圆角矩形 10249">
            <a:extLst>
              <a:ext uri="{FF2B5EF4-FFF2-40B4-BE49-F238E27FC236}">
                <a16:creationId xmlns:a16="http://schemas.microsoft.com/office/drawing/2014/main" id="{4CAEA9DA-B284-4390-A270-17C413AB9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2889250"/>
            <a:ext cx="3154362" cy="3476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96" name="矩形 10250">
            <a:extLst>
              <a:ext uri="{FF2B5EF4-FFF2-40B4-BE49-F238E27FC236}">
                <a16:creationId xmlns:a16="http://schemas.microsoft.com/office/drawing/2014/main" id="{F7CCC634-2853-45D8-87FD-EA2C2D57F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638550"/>
            <a:ext cx="914400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联系号码</a:t>
            </a:r>
          </a:p>
        </p:txBody>
      </p:sp>
      <p:sp>
        <p:nvSpPr>
          <p:cNvPr id="16397" name="圆角矩形 10251">
            <a:extLst>
              <a:ext uri="{FF2B5EF4-FFF2-40B4-BE49-F238E27FC236}">
                <a16:creationId xmlns:a16="http://schemas.microsoft.com/office/drawing/2014/main" id="{2478C38B-F25F-4025-AAA2-FD7C57441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3548063"/>
            <a:ext cx="3154362" cy="3476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98" name="矩形 10252">
            <a:extLst>
              <a:ext uri="{FF2B5EF4-FFF2-40B4-BE49-F238E27FC236}">
                <a16:creationId xmlns:a16="http://schemas.microsoft.com/office/drawing/2014/main" id="{F87CA70F-AA78-4E7C-B58D-6971B24A8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297363"/>
            <a:ext cx="914400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处理备注</a:t>
            </a:r>
          </a:p>
        </p:txBody>
      </p:sp>
      <p:sp>
        <p:nvSpPr>
          <p:cNvPr id="16399" name="圆角矩形 10253">
            <a:extLst>
              <a:ext uri="{FF2B5EF4-FFF2-40B4-BE49-F238E27FC236}">
                <a16:creationId xmlns:a16="http://schemas.microsoft.com/office/drawing/2014/main" id="{BC83925C-D57F-480E-AAD7-853C2658C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4206875"/>
            <a:ext cx="3154362" cy="6397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00" name="圆角矩形 10254">
            <a:extLst>
              <a:ext uri="{FF2B5EF4-FFF2-40B4-BE49-F238E27FC236}">
                <a16:creationId xmlns:a16="http://schemas.microsoft.com/office/drawing/2014/main" id="{3CF11D52-74AA-4B0E-85E3-D8747143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5230813"/>
            <a:ext cx="2651125" cy="4016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保存到当前窗口</a:t>
            </a:r>
          </a:p>
        </p:txBody>
      </p:sp>
      <p:sp>
        <p:nvSpPr>
          <p:cNvPr id="16401" name="圆角矩形 10255">
            <a:extLst>
              <a:ext uri="{FF2B5EF4-FFF2-40B4-BE49-F238E27FC236}">
                <a16:creationId xmlns:a16="http://schemas.microsoft.com/office/drawing/2014/main" id="{6801569C-0CB7-48CC-BF5E-6FEA8AA5D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5" y="1536700"/>
            <a:ext cx="4525963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自动补全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输入短号或关键字后，平台可从本地通讯录匹配人员、部门和常用号码。</a:t>
            </a:r>
          </a:p>
        </p:txBody>
      </p:sp>
      <p:sp>
        <p:nvSpPr>
          <p:cNvPr id="16402" name="直接连接符 10256">
            <a:extLst>
              <a:ext uri="{FF2B5EF4-FFF2-40B4-BE49-F238E27FC236}">
                <a16:creationId xmlns:a16="http://schemas.microsoft.com/office/drawing/2014/main" id="{AB8B0197-9594-47E8-8B11-0F188D388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2709863"/>
            <a:ext cx="4233863" cy="1587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3" name="圆角矩形 10257">
            <a:extLst>
              <a:ext uri="{FF2B5EF4-FFF2-40B4-BE49-F238E27FC236}">
                <a16:creationId xmlns:a16="http://schemas.microsoft.com/office/drawing/2014/main" id="{0991DCD5-6F43-42FA-9278-3B1A39ED1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975" y="2922588"/>
            <a:ext cx="4525963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保存逻辑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保存时工单进入当前接续窗口；后续呼出、转接、撤销都以该窗口为准。</a:t>
            </a:r>
          </a:p>
        </p:txBody>
      </p:sp>
      <p:sp>
        <p:nvSpPr>
          <p:cNvPr id="16404" name="直接连接符 10258">
            <a:extLst>
              <a:ext uri="{FF2B5EF4-FFF2-40B4-BE49-F238E27FC236}">
                <a16:creationId xmlns:a16="http://schemas.microsoft.com/office/drawing/2014/main" id="{C196140E-7841-4532-83ED-69B0DF6E2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4222750"/>
            <a:ext cx="4233863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5" name="圆角矩形 10259">
            <a:extLst>
              <a:ext uri="{FF2B5EF4-FFF2-40B4-BE49-F238E27FC236}">
                <a16:creationId xmlns:a16="http://schemas.microsoft.com/office/drawing/2014/main" id="{68F832F3-BF86-4E32-AD22-F13F15434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25" y="4592638"/>
            <a:ext cx="4525963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手动选线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遇到外线或专线路由时，可打开线路选择面板，按优先级挑选可用通道。</a:t>
            </a:r>
          </a:p>
        </p:txBody>
      </p:sp>
      <p:sp>
        <p:nvSpPr>
          <p:cNvPr id="16406" name="直接连接符 10260">
            <a:extLst>
              <a:ext uri="{FF2B5EF4-FFF2-40B4-BE49-F238E27FC236}">
                <a16:creationId xmlns:a16="http://schemas.microsoft.com/office/drawing/2014/main" id="{BD171261-A5C5-496B-A115-8EFA8EAB1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5875" y="5824538"/>
            <a:ext cx="4233863" cy="1587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7" name="文本框 10261">
            <a:extLst>
              <a:ext uri="{FF2B5EF4-FFF2-40B4-BE49-F238E27FC236}">
                <a16:creationId xmlns:a16="http://schemas.microsoft.com/office/drawing/2014/main" id="{4233EB9F-BE7A-4AF7-A869-5EEDAA944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15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矩形 11264">
            <a:extLst>
              <a:ext uri="{FF2B5EF4-FFF2-40B4-BE49-F238E27FC236}">
                <a16:creationId xmlns:a16="http://schemas.microsoft.com/office/drawing/2014/main" id="{03FADF82-435A-4BE2-B8B0-0DE2DEDD2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8435" name="矩形 11265">
            <a:extLst>
              <a:ext uri="{FF2B5EF4-FFF2-40B4-BE49-F238E27FC236}">
                <a16:creationId xmlns:a16="http://schemas.microsoft.com/office/drawing/2014/main" id="{516CB3AF-2EFF-4276-9B82-3A4B61FDC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线路状态：用可视化面板降低误操作</a:t>
            </a:r>
          </a:p>
        </p:txBody>
      </p:sp>
      <p:sp>
        <p:nvSpPr>
          <p:cNvPr id="18436" name="直接连接符 11266">
            <a:extLst>
              <a:ext uri="{FF2B5EF4-FFF2-40B4-BE49-F238E27FC236}">
                <a16:creationId xmlns:a16="http://schemas.microsoft.com/office/drawing/2014/main" id="{7763F85E-8023-4F0E-9764-859AE70C3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7" name="矩形 11267">
            <a:extLst>
              <a:ext uri="{FF2B5EF4-FFF2-40B4-BE49-F238E27FC236}">
                <a16:creationId xmlns:a16="http://schemas.microsoft.com/office/drawing/2014/main" id="{4A684F84-298B-4014-B6A0-0BC1FF4B2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8438" name="圆角矩形 11268">
            <a:extLst>
              <a:ext uri="{FF2B5EF4-FFF2-40B4-BE49-F238E27FC236}">
                <a16:creationId xmlns:a16="http://schemas.microsoft.com/office/drawing/2014/main" id="{B8A8CB97-0F64-4CE4-9330-2B9FD7A30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1390650"/>
            <a:ext cx="5486400" cy="4479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9" name="矩形 11269">
            <a:extLst>
              <a:ext uri="{FF2B5EF4-FFF2-40B4-BE49-F238E27FC236}">
                <a16:creationId xmlns:a16="http://schemas.microsoft.com/office/drawing/2014/main" id="{6E1F6A84-FE75-48AB-B8C8-5C9919CC1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1700213"/>
            <a:ext cx="25606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线路状态面板</a:t>
            </a:r>
          </a:p>
        </p:txBody>
      </p:sp>
      <p:sp>
        <p:nvSpPr>
          <p:cNvPr id="18440" name="圆角矩形 11270">
            <a:extLst>
              <a:ext uri="{FF2B5EF4-FFF2-40B4-BE49-F238E27FC236}">
                <a16:creationId xmlns:a16="http://schemas.microsoft.com/office/drawing/2014/main" id="{3428D991-0448-4894-8781-49415E39C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2176463"/>
            <a:ext cx="712788" cy="328612"/>
          </a:xfrm>
          <a:prstGeom prst="roundRect">
            <a:avLst>
              <a:gd name="adj" fmla="val 16667"/>
            </a:avLst>
          </a:prstGeom>
          <a:solidFill>
            <a:srgbClr val="FFFFFF">
              <a:alpha val="92999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空闲</a:t>
            </a:r>
          </a:p>
        </p:txBody>
      </p:sp>
      <p:sp>
        <p:nvSpPr>
          <p:cNvPr id="18441" name="圆角矩形 11271">
            <a:extLst>
              <a:ext uri="{FF2B5EF4-FFF2-40B4-BE49-F238E27FC236}">
                <a16:creationId xmlns:a16="http://schemas.microsoft.com/office/drawing/2014/main" id="{172EBE06-207E-4D6A-A34A-A28D98FD7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2176463"/>
            <a:ext cx="712787" cy="328612"/>
          </a:xfrm>
          <a:prstGeom prst="roundRect">
            <a:avLst>
              <a:gd name="adj" fmla="val 16667"/>
            </a:avLst>
          </a:prstGeom>
          <a:solidFill>
            <a:srgbClr val="FFFFFF">
              <a:alpha val="92999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振铃</a:t>
            </a:r>
          </a:p>
        </p:txBody>
      </p:sp>
      <p:sp>
        <p:nvSpPr>
          <p:cNvPr id="18442" name="圆角矩形 11272">
            <a:extLst>
              <a:ext uri="{FF2B5EF4-FFF2-40B4-BE49-F238E27FC236}">
                <a16:creationId xmlns:a16="http://schemas.microsoft.com/office/drawing/2014/main" id="{4DBE1CC8-18F8-4216-A99A-A48C0DA6F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75" y="2176463"/>
            <a:ext cx="712788" cy="328612"/>
          </a:xfrm>
          <a:prstGeom prst="roundRect">
            <a:avLst>
              <a:gd name="adj" fmla="val 16667"/>
            </a:avLst>
          </a:prstGeom>
          <a:solidFill>
            <a:srgbClr val="FFFFFF">
              <a:alpha val="92999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通话</a:t>
            </a:r>
          </a:p>
        </p:txBody>
      </p:sp>
      <p:sp>
        <p:nvSpPr>
          <p:cNvPr id="18443" name="圆角矩形 11273">
            <a:extLst>
              <a:ext uri="{FF2B5EF4-FFF2-40B4-BE49-F238E27FC236}">
                <a16:creationId xmlns:a16="http://schemas.microsoft.com/office/drawing/2014/main" id="{D25A792D-B45D-4A17-9C13-4FD2E4F13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3188" y="2176463"/>
            <a:ext cx="712787" cy="328612"/>
          </a:xfrm>
          <a:prstGeom prst="roundRect">
            <a:avLst>
              <a:gd name="adj" fmla="val 16667"/>
            </a:avLst>
          </a:prstGeom>
          <a:solidFill>
            <a:srgbClr val="FFFFFF">
              <a:alpha val="92999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保持</a:t>
            </a:r>
          </a:p>
        </p:txBody>
      </p:sp>
      <p:sp>
        <p:nvSpPr>
          <p:cNvPr id="18444" name="圆角矩形 11274">
            <a:extLst>
              <a:ext uri="{FF2B5EF4-FFF2-40B4-BE49-F238E27FC236}">
                <a16:creationId xmlns:a16="http://schemas.microsoft.com/office/drawing/2014/main" id="{AFCAF319-A3C1-45D8-9978-A1959483E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176463"/>
            <a:ext cx="712788" cy="328612"/>
          </a:xfrm>
          <a:prstGeom prst="roundRect">
            <a:avLst>
              <a:gd name="adj" fmla="val 16667"/>
            </a:avLst>
          </a:prstGeom>
          <a:solidFill>
            <a:srgbClr val="FFFFFF">
              <a:alpha val="92999"/>
            </a:srgbClr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维护</a:t>
            </a:r>
          </a:p>
        </p:txBody>
      </p:sp>
      <p:sp>
        <p:nvSpPr>
          <p:cNvPr id="18445" name="圆角矩形 11275">
            <a:extLst>
              <a:ext uri="{FF2B5EF4-FFF2-40B4-BE49-F238E27FC236}">
                <a16:creationId xmlns:a16="http://schemas.microsoft.com/office/drawing/2014/main" id="{2D16101C-505E-4B30-B53F-34C5773B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2789238"/>
            <a:ext cx="658813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46" name="矩形 11276">
            <a:extLst>
              <a:ext uri="{FF2B5EF4-FFF2-40B4-BE49-F238E27FC236}">
                <a16:creationId xmlns:a16="http://schemas.microsoft.com/office/drawing/2014/main" id="{45E64C09-3AA7-4004-970F-CFD866C4E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L01</a:t>
            </a:r>
          </a:p>
        </p:txBody>
      </p:sp>
      <p:sp>
        <p:nvSpPr>
          <p:cNvPr id="18447" name="圆角矩形 11277">
            <a:extLst>
              <a:ext uri="{FF2B5EF4-FFF2-40B4-BE49-F238E27FC236}">
                <a16:creationId xmlns:a16="http://schemas.microsoft.com/office/drawing/2014/main" id="{80C50292-ADAE-4C96-8F66-B68B4730C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2789238"/>
            <a:ext cx="658813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48" name="矩形 11278">
            <a:extLst>
              <a:ext uri="{FF2B5EF4-FFF2-40B4-BE49-F238E27FC236}">
                <a16:creationId xmlns:a16="http://schemas.microsoft.com/office/drawing/2014/main" id="{16D750DB-03C8-433B-B73F-2C3EF3F5F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L02</a:t>
            </a:r>
          </a:p>
        </p:txBody>
      </p:sp>
      <p:sp>
        <p:nvSpPr>
          <p:cNvPr id="18449" name="圆角矩形 11279">
            <a:extLst>
              <a:ext uri="{FF2B5EF4-FFF2-40B4-BE49-F238E27FC236}">
                <a16:creationId xmlns:a16="http://schemas.microsoft.com/office/drawing/2014/main" id="{C3E72C6A-3DF5-4924-BB47-05DA4BEBF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2789238"/>
            <a:ext cx="658813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0" name="矩形 11280">
            <a:extLst>
              <a:ext uri="{FF2B5EF4-FFF2-40B4-BE49-F238E27FC236}">
                <a16:creationId xmlns:a16="http://schemas.microsoft.com/office/drawing/2014/main" id="{1D5FFB44-0E53-4F4B-B7B7-77D178F3F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L03</a:t>
            </a:r>
          </a:p>
        </p:txBody>
      </p:sp>
      <p:sp>
        <p:nvSpPr>
          <p:cNvPr id="18451" name="圆角矩形 11281">
            <a:extLst>
              <a:ext uri="{FF2B5EF4-FFF2-40B4-BE49-F238E27FC236}">
                <a16:creationId xmlns:a16="http://schemas.microsoft.com/office/drawing/2014/main" id="{10D5BEBF-8EB6-41F6-84BE-5A65C3563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2789238"/>
            <a:ext cx="658812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2" name="矩形 11282">
            <a:extLst>
              <a:ext uri="{FF2B5EF4-FFF2-40B4-BE49-F238E27FC236}">
                <a16:creationId xmlns:a16="http://schemas.microsoft.com/office/drawing/2014/main" id="{8E66B5DA-D08E-42C5-BAF1-5778E2321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L04</a:t>
            </a:r>
          </a:p>
        </p:txBody>
      </p:sp>
      <p:sp>
        <p:nvSpPr>
          <p:cNvPr id="18453" name="圆角矩形 11283">
            <a:extLst>
              <a:ext uri="{FF2B5EF4-FFF2-40B4-BE49-F238E27FC236}">
                <a16:creationId xmlns:a16="http://schemas.microsoft.com/office/drawing/2014/main" id="{29CC2E8C-24FA-4FB4-B276-8ACE4F41E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2789238"/>
            <a:ext cx="658813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4" name="矩形 11284">
            <a:extLst>
              <a:ext uri="{FF2B5EF4-FFF2-40B4-BE49-F238E27FC236}">
                <a16:creationId xmlns:a16="http://schemas.microsoft.com/office/drawing/2014/main" id="{3025835A-6F69-44CE-8D23-E232FCA44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L05</a:t>
            </a:r>
          </a:p>
        </p:txBody>
      </p:sp>
      <p:sp>
        <p:nvSpPr>
          <p:cNvPr id="18455" name="圆角矩形 11285">
            <a:extLst>
              <a:ext uri="{FF2B5EF4-FFF2-40B4-BE49-F238E27FC236}">
                <a16:creationId xmlns:a16="http://schemas.microsoft.com/office/drawing/2014/main" id="{647E4B69-EC21-4CFF-9710-236DFA952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3355975"/>
            <a:ext cx="658813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6" name="矩形 11286">
            <a:extLst>
              <a:ext uri="{FF2B5EF4-FFF2-40B4-BE49-F238E27FC236}">
                <a16:creationId xmlns:a16="http://schemas.microsoft.com/office/drawing/2014/main" id="{BDDC8282-D9AF-4F6E-83A0-39344F19D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L06</a:t>
            </a:r>
          </a:p>
        </p:txBody>
      </p:sp>
      <p:sp>
        <p:nvSpPr>
          <p:cNvPr id="18457" name="圆角矩形 11287">
            <a:extLst>
              <a:ext uri="{FF2B5EF4-FFF2-40B4-BE49-F238E27FC236}">
                <a16:creationId xmlns:a16="http://schemas.microsoft.com/office/drawing/2014/main" id="{4D58B251-D4E7-478B-9B95-65B2FC4E7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3355975"/>
            <a:ext cx="658813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8" name="矩形 11288">
            <a:extLst>
              <a:ext uri="{FF2B5EF4-FFF2-40B4-BE49-F238E27FC236}">
                <a16:creationId xmlns:a16="http://schemas.microsoft.com/office/drawing/2014/main" id="{F2406376-A199-4C03-AE3C-E02D4C0C7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L07</a:t>
            </a:r>
          </a:p>
        </p:txBody>
      </p:sp>
      <p:sp>
        <p:nvSpPr>
          <p:cNvPr id="18459" name="圆角矩形 11289">
            <a:extLst>
              <a:ext uri="{FF2B5EF4-FFF2-40B4-BE49-F238E27FC236}">
                <a16:creationId xmlns:a16="http://schemas.microsoft.com/office/drawing/2014/main" id="{4349744B-B0F5-4FEB-9DBA-FFA9938B3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3355975"/>
            <a:ext cx="658813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0" name="矩形 11290">
            <a:extLst>
              <a:ext uri="{FF2B5EF4-FFF2-40B4-BE49-F238E27FC236}">
                <a16:creationId xmlns:a16="http://schemas.microsoft.com/office/drawing/2014/main" id="{D23EF554-CDB9-4512-8906-74F07CB1C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L08</a:t>
            </a:r>
          </a:p>
        </p:txBody>
      </p:sp>
      <p:sp>
        <p:nvSpPr>
          <p:cNvPr id="18461" name="圆角矩形 11291">
            <a:extLst>
              <a:ext uri="{FF2B5EF4-FFF2-40B4-BE49-F238E27FC236}">
                <a16:creationId xmlns:a16="http://schemas.microsoft.com/office/drawing/2014/main" id="{68596F28-128B-4BEF-84CE-20E4030DB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3355975"/>
            <a:ext cx="658812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2" name="矩形 11292">
            <a:extLst>
              <a:ext uri="{FF2B5EF4-FFF2-40B4-BE49-F238E27FC236}">
                <a16:creationId xmlns:a16="http://schemas.microsoft.com/office/drawing/2014/main" id="{05E3EAA3-799B-46CC-ADA6-4EBD10539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L09</a:t>
            </a:r>
          </a:p>
        </p:txBody>
      </p:sp>
      <p:sp>
        <p:nvSpPr>
          <p:cNvPr id="18463" name="圆角矩形 11293">
            <a:extLst>
              <a:ext uri="{FF2B5EF4-FFF2-40B4-BE49-F238E27FC236}">
                <a16:creationId xmlns:a16="http://schemas.microsoft.com/office/drawing/2014/main" id="{2DC623B9-50DF-4B6B-B8AE-708727657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3355975"/>
            <a:ext cx="658813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4" name="矩形 11294">
            <a:extLst>
              <a:ext uri="{FF2B5EF4-FFF2-40B4-BE49-F238E27FC236}">
                <a16:creationId xmlns:a16="http://schemas.microsoft.com/office/drawing/2014/main" id="{14A2987A-BC83-4BAE-964D-580575220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L10</a:t>
            </a:r>
          </a:p>
        </p:txBody>
      </p:sp>
      <p:sp>
        <p:nvSpPr>
          <p:cNvPr id="18465" name="圆角矩形 11295">
            <a:extLst>
              <a:ext uri="{FF2B5EF4-FFF2-40B4-BE49-F238E27FC236}">
                <a16:creationId xmlns:a16="http://schemas.microsoft.com/office/drawing/2014/main" id="{F4EF8BC0-D09F-4708-A32D-6267383D0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3922713"/>
            <a:ext cx="658813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6" name="矩形 11296">
            <a:extLst>
              <a:ext uri="{FF2B5EF4-FFF2-40B4-BE49-F238E27FC236}">
                <a16:creationId xmlns:a16="http://schemas.microsoft.com/office/drawing/2014/main" id="{19C9D5A2-8FC4-4CA8-B51C-5FB8459F8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L11</a:t>
            </a:r>
          </a:p>
        </p:txBody>
      </p:sp>
      <p:sp>
        <p:nvSpPr>
          <p:cNvPr id="18467" name="圆角矩形 11297">
            <a:extLst>
              <a:ext uri="{FF2B5EF4-FFF2-40B4-BE49-F238E27FC236}">
                <a16:creationId xmlns:a16="http://schemas.microsoft.com/office/drawing/2014/main" id="{A77BEC10-18E7-4479-86C7-9190A479E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3922713"/>
            <a:ext cx="658813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8" name="矩形 11298">
            <a:extLst>
              <a:ext uri="{FF2B5EF4-FFF2-40B4-BE49-F238E27FC236}">
                <a16:creationId xmlns:a16="http://schemas.microsoft.com/office/drawing/2014/main" id="{9D757DFC-9616-4595-A3FB-4CB1B9679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L12</a:t>
            </a:r>
          </a:p>
        </p:txBody>
      </p:sp>
      <p:sp>
        <p:nvSpPr>
          <p:cNvPr id="18469" name="圆角矩形 11299">
            <a:extLst>
              <a:ext uri="{FF2B5EF4-FFF2-40B4-BE49-F238E27FC236}">
                <a16:creationId xmlns:a16="http://schemas.microsoft.com/office/drawing/2014/main" id="{B4E8FB18-24FB-47C7-8106-16C80F4D3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3922713"/>
            <a:ext cx="658813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0" name="矩形 11300">
            <a:extLst>
              <a:ext uri="{FF2B5EF4-FFF2-40B4-BE49-F238E27FC236}">
                <a16:creationId xmlns:a16="http://schemas.microsoft.com/office/drawing/2014/main" id="{3BE5E0C7-5F37-4252-A88C-0763791F7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L13</a:t>
            </a:r>
          </a:p>
        </p:txBody>
      </p:sp>
      <p:sp>
        <p:nvSpPr>
          <p:cNvPr id="18471" name="圆角矩形 11301">
            <a:extLst>
              <a:ext uri="{FF2B5EF4-FFF2-40B4-BE49-F238E27FC236}">
                <a16:creationId xmlns:a16="http://schemas.microsoft.com/office/drawing/2014/main" id="{A6FD6120-CE53-42B0-8910-EC552D090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3922713"/>
            <a:ext cx="658812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2" name="矩形 11302">
            <a:extLst>
              <a:ext uri="{FF2B5EF4-FFF2-40B4-BE49-F238E27FC236}">
                <a16:creationId xmlns:a16="http://schemas.microsoft.com/office/drawing/2014/main" id="{1CC45E5C-911D-41F4-A274-3A0DEAAE8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L14</a:t>
            </a:r>
          </a:p>
        </p:txBody>
      </p:sp>
      <p:sp>
        <p:nvSpPr>
          <p:cNvPr id="18473" name="圆角矩形 11303">
            <a:extLst>
              <a:ext uri="{FF2B5EF4-FFF2-40B4-BE49-F238E27FC236}">
                <a16:creationId xmlns:a16="http://schemas.microsoft.com/office/drawing/2014/main" id="{332FAE21-91FE-4A69-AF26-4A813A4FD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3922713"/>
            <a:ext cx="658813" cy="3286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4" name="矩形 11304">
            <a:extLst>
              <a:ext uri="{FF2B5EF4-FFF2-40B4-BE49-F238E27FC236}">
                <a16:creationId xmlns:a16="http://schemas.microsoft.com/office/drawing/2014/main" id="{5D3636B6-4AF7-43E2-AB54-1F9AFCC21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L15</a:t>
            </a:r>
          </a:p>
        </p:txBody>
      </p:sp>
      <p:sp>
        <p:nvSpPr>
          <p:cNvPr id="18475" name="圆角矩形 11305">
            <a:extLst>
              <a:ext uri="{FF2B5EF4-FFF2-40B4-BE49-F238E27FC236}">
                <a16:creationId xmlns:a16="http://schemas.microsoft.com/office/drawing/2014/main" id="{50CD4999-2B7F-441E-AE6A-5D8A58E8D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4489450"/>
            <a:ext cx="658813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6" name="矩形 11306">
            <a:extLst>
              <a:ext uri="{FF2B5EF4-FFF2-40B4-BE49-F238E27FC236}">
                <a16:creationId xmlns:a16="http://schemas.microsoft.com/office/drawing/2014/main" id="{C8276BA6-ADEF-429E-84FE-079CC5A41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L16</a:t>
            </a:r>
          </a:p>
        </p:txBody>
      </p:sp>
      <p:sp>
        <p:nvSpPr>
          <p:cNvPr id="18477" name="圆角矩形 11307">
            <a:extLst>
              <a:ext uri="{FF2B5EF4-FFF2-40B4-BE49-F238E27FC236}">
                <a16:creationId xmlns:a16="http://schemas.microsoft.com/office/drawing/2014/main" id="{3D6D0951-11A4-450D-8A9A-8CD392AC7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4489450"/>
            <a:ext cx="658813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8" name="矩形 11308">
            <a:extLst>
              <a:ext uri="{FF2B5EF4-FFF2-40B4-BE49-F238E27FC236}">
                <a16:creationId xmlns:a16="http://schemas.microsoft.com/office/drawing/2014/main" id="{3D7F73BB-B5E5-42AC-ABFD-635BF2652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L17</a:t>
            </a:r>
          </a:p>
        </p:txBody>
      </p:sp>
      <p:sp>
        <p:nvSpPr>
          <p:cNvPr id="18479" name="圆角矩形 11309">
            <a:extLst>
              <a:ext uri="{FF2B5EF4-FFF2-40B4-BE49-F238E27FC236}">
                <a16:creationId xmlns:a16="http://schemas.microsoft.com/office/drawing/2014/main" id="{41B005BC-1874-4AE7-950C-9188237E1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4489450"/>
            <a:ext cx="658813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80" name="矩形 11310">
            <a:extLst>
              <a:ext uri="{FF2B5EF4-FFF2-40B4-BE49-F238E27FC236}">
                <a16:creationId xmlns:a16="http://schemas.microsoft.com/office/drawing/2014/main" id="{3A7443C3-3B10-42BB-B04A-6CCD7F55B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L18</a:t>
            </a:r>
          </a:p>
        </p:txBody>
      </p:sp>
      <p:sp>
        <p:nvSpPr>
          <p:cNvPr id="18481" name="圆角矩形 11311">
            <a:extLst>
              <a:ext uri="{FF2B5EF4-FFF2-40B4-BE49-F238E27FC236}">
                <a16:creationId xmlns:a16="http://schemas.microsoft.com/office/drawing/2014/main" id="{9FE9378F-A965-4DAA-8C31-448B76461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4489450"/>
            <a:ext cx="658812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82" name="矩形 11312">
            <a:extLst>
              <a:ext uri="{FF2B5EF4-FFF2-40B4-BE49-F238E27FC236}">
                <a16:creationId xmlns:a16="http://schemas.microsoft.com/office/drawing/2014/main" id="{24BC0043-0D69-4F14-A96B-5F00A5273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L19</a:t>
            </a:r>
          </a:p>
        </p:txBody>
      </p:sp>
      <p:sp>
        <p:nvSpPr>
          <p:cNvPr id="18483" name="圆角矩形 11313">
            <a:extLst>
              <a:ext uri="{FF2B5EF4-FFF2-40B4-BE49-F238E27FC236}">
                <a16:creationId xmlns:a16="http://schemas.microsoft.com/office/drawing/2014/main" id="{BAA1E9F5-99A5-4839-8EDD-B9F5686C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4489450"/>
            <a:ext cx="658813" cy="3286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84" name="矩形 11314">
            <a:extLst>
              <a:ext uri="{FF2B5EF4-FFF2-40B4-BE49-F238E27FC236}">
                <a16:creationId xmlns:a16="http://schemas.microsoft.com/office/drawing/2014/main" id="{B9FB8FAE-EA46-4F19-B7BB-52A5F9793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L20</a:t>
            </a:r>
          </a:p>
        </p:txBody>
      </p:sp>
      <p:sp>
        <p:nvSpPr>
          <p:cNvPr id="18485" name="矩形 11315">
            <a:extLst>
              <a:ext uri="{FF2B5EF4-FFF2-40B4-BE49-F238E27FC236}">
                <a16:creationId xmlns:a16="http://schemas.microsoft.com/office/drawing/2014/main" id="{7CC10C02-037F-4F7A-AA30-7CFE207EE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1609725"/>
            <a:ext cx="4389438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" tIns="1080" rIns="1080" bIns="108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状态数据来自班长席配置，可按班组、线路组或用途筛选。</a:t>
            </a:r>
          </a:p>
          <a:p>
            <a:pPr hangingPunct="1" algn="l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手动选线仅显示可用通道，避免呼叫落到维护线路。</a:t>
            </a:r>
          </a:p>
          <a:p>
            <a:pPr hangingPunct="1" algn="l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异常状态统一进入运行提示栏，方便快速复核。</a:t>
            </a:r>
          </a:p>
        </p:txBody>
      </p:sp>
      <p:sp>
        <p:nvSpPr>
          <p:cNvPr id="18486" name="圆角矩形 11316">
            <a:extLst>
              <a:ext uri="{FF2B5EF4-FFF2-40B4-BE49-F238E27FC236}">
                <a16:creationId xmlns:a16="http://schemas.microsoft.com/office/drawing/2014/main" id="{5861F2F0-9776-49E3-9284-9D445B778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4160838"/>
            <a:ext cx="4251325" cy="1050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值守建议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呼叫前先检查线路组状态；连续失败时不要重复占线，应切换备用路由或上报班长席。</a:t>
            </a:r>
          </a:p>
        </p:txBody>
      </p:sp>
      <p:sp>
        <p:nvSpPr>
          <p:cNvPr id="18487" name="直接连接符 11317">
            <a:extLst>
              <a:ext uri="{FF2B5EF4-FFF2-40B4-BE49-F238E27FC236}">
                <a16:creationId xmlns:a16="http://schemas.microsoft.com/office/drawing/2014/main" id="{CCFA471F-41BF-46FF-AA61-45D3FAD6C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7525" y="3698875"/>
            <a:ext cx="3959225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88" name="文本框 11318">
            <a:extLst>
              <a:ext uri="{FF2B5EF4-FFF2-40B4-BE49-F238E27FC236}">
                <a16:creationId xmlns:a16="http://schemas.microsoft.com/office/drawing/2014/main" id="{A2DBCE8A-ACB0-4E87-BD9C-1E51EB11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16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矩形 12288">
            <a:extLst>
              <a:ext uri="{FF2B5EF4-FFF2-40B4-BE49-F238E27FC236}">
                <a16:creationId xmlns:a16="http://schemas.microsoft.com/office/drawing/2014/main" id="{57B1FEC9-4D38-4B7D-B2A0-8669D041F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20483" name="矩形 12289">
            <a:extLst>
              <a:ext uri="{FF2B5EF4-FFF2-40B4-BE49-F238E27FC236}">
                <a16:creationId xmlns:a16="http://schemas.microsoft.com/office/drawing/2014/main" id="{9F6607D4-B944-4588-84F1-3149AE1CF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接续流程：从来话到三方沟通</a:t>
            </a:r>
          </a:p>
        </p:txBody>
      </p:sp>
      <p:sp>
        <p:nvSpPr>
          <p:cNvPr id="20484" name="直接连接符 12290">
            <a:extLst>
              <a:ext uri="{FF2B5EF4-FFF2-40B4-BE49-F238E27FC236}">
                <a16:creationId xmlns:a16="http://schemas.microsoft.com/office/drawing/2014/main" id="{E08DE24C-2864-46B7-ACB1-4C7FD7782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矩形 12291">
            <a:extLst>
              <a:ext uri="{FF2B5EF4-FFF2-40B4-BE49-F238E27FC236}">
                <a16:creationId xmlns:a16="http://schemas.microsoft.com/office/drawing/2014/main" id="{3B1623D9-6256-4FAD-9D50-0B10AE294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20486" name="直接连接符 12292">
            <a:extLst>
              <a:ext uri="{FF2B5EF4-FFF2-40B4-BE49-F238E27FC236}">
                <a16:creationId xmlns:a16="http://schemas.microsoft.com/office/drawing/2014/main" id="{714BA111-A19F-465A-826E-352C12B4E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2614613"/>
            <a:ext cx="557213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7" name="直接连接符 12293">
            <a:extLst>
              <a:ext uri="{FF2B5EF4-FFF2-40B4-BE49-F238E27FC236}">
                <a16:creationId xmlns:a16="http://schemas.microsoft.com/office/drawing/2014/main" id="{79F39830-E279-4EC6-874F-CDD1347C4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7363" y="2614613"/>
            <a:ext cx="557212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直接连接符 12294">
            <a:extLst>
              <a:ext uri="{FF2B5EF4-FFF2-40B4-BE49-F238E27FC236}">
                <a16:creationId xmlns:a16="http://schemas.microsoft.com/office/drawing/2014/main" id="{57EEBA04-97AF-4683-B2EB-423DC8E0D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614613"/>
            <a:ext cx="557213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9" name="直接连接符 12295">
            <a:extLst>
              <a:ext uri="{FF2B5EF4-FFF2-40B4-BE49-F238E27FC236}">
                <a16:creationId xmlns:a16="http://schemas.microsoft.com/office/drawing/2014/main" id="{CD539AD4-25C4-4F63-81B7-615CD318C81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4238" y="2614613"/>
            <a:ext cx="557212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0" name="圆角矩形 12296">
            <a:extLst>
              <a:ext uri="{FF2B5EF4-FFF2-40B4-BE49-F238E27FC236}">
                <a16:creationId xmlns:a16="http://schemas.microsoft.com/office/drawing/2014/main" id="{03A433BA-4628-416B-B26F-DD503A33B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2139950"/>
            <a:ext cx="1417638" cy="9509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来话上台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空格接入</a:t>
            </a:r>
          </a:p>
        </p:txBody>
      </p:sp>
      <p:sp>
        <p:nvSpPr>
          <p:cNvPr id="20491" name="圆角矩形 12297">
            <a:extLst>
              <a:ext uri="{FF2B5EF4-FFF2-40B4-BE49-F238E27FC236}">
                <a16:creationId xmlns:a16="http://schemas.microsoft.com/office/drawing/2014/main" id="{09146EE4-09E3-4A88-8376-48A18BCC6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725" y="2139950"/>
            <a:ext cx="1417638" cy="9509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填写工单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确认对象</a:t>
            </a:r>
          </a:p>
        </p:txBody>
      </p:sp>
      <p:sp>
        <p:nvSpPr>
          <p:cNvPr id="20492" name="圆角矩形 12298">
            <a:extLst>
              <a:ext uri="{FF2B5EF4-FFF2-40B4-BE49-F238E27FC236}">
                <a16:creationId xmlns:a16="http://schemas.microsoft.com/office/drawing/2014/main" id="{5C6B66E2-C262-4305-BCC6-3C050F43D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2139950"/>
            <a:ext cx="1417637" cy="9509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呼叫目标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选择路由</a:t>
            </a:r>
          </a:p>
        </p:txBody>
      </p:sp>
      <p:sp>
        <p:nvSpPr>
          <p:cNvPr id="20493" name="圆角矩形 12299">
            <a:extLst>
              <a:ext uri="{FF2B5EF4-FFF2-40B4-BE49-F238E27FC236}">
                <a16:creationId xmlns:a16="http://schemas.microsoft.com/office/drawing/2014/main" id="{A00DC02D-8A4B-4517-BE3A-90E138C45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139950"/>
            <a:ext cx="1417638" cy="9509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三方通话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核对需求</a:t>
            </a:r>
          </a:p>
        </p:txBody>
      </p:sp>
      <p:sp>
        <p:nvSpPr>
          <p:cNvPr id="20494" name="圆角矩形 12300">
            <a:extLst>
              <a:ext uri="{FF2B5EF4-FFF2-40B4-BE49-F238E27FC236}">
                <a16:creationId xmlns:a16="http://schemas.microsoft.com/office/drawing/2014/main" id="{CEF7C0DF-C6ED-4F2F-B828-CD93834EF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0038" y="2139950"/>
            <a:ext cx="1417637" cy="9509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坐席撤出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归档工单</a:t>
            </a:r>
          </a:p>
        </p:txBody>
      </p:sp>
      <p:sp>
        <p:nvSpPr>
          <p:cNvPr id="20495" name="圆角矩形 12301">
            <a:extLst>
              <a:ext uri="{FF2B5EF4-FFF2-40B4-BE49-F238E27FC236}">
                <a16:creationId xmlns:a16="http://schemas.microsoft.com/office/drawing/2014/main" id="{5B393799-339B-43D1-BF36-17AF183E9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4068763"/>
            <a:ext cx="3246437" cy="9604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操作口径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新来话到达时，无论当前是否在录入工单，都优先接入新用户并确认诉求。</a:t>
            </a:r>
          </a:p>
        </p:txBody>
      </p:sp>
      <p:sp>
        <p:nvSpPr>
          <p:cNvPr id="20496" name="直接连接符 12302">
            <a:extLst>
              <a:ext uri="{FF2B5EF4-FFF2-40B4-BE49-F238E27FC236}">
                <a16:creationId xmlns:a16="http://schemas.microsoft.com/office/drawing/2014/main" id="{633BFE78-9F98-45A4-882A-323E99D42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688" y="3565525"/>
            <a:ext cx="2952750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圆角矩形 12303">
            <a:extLst>
              <a:ext uri="{FF2B5EF4-FFF2-40B4-BE49-F238E27FC236}">
                <a16:creationId xmlns:a16="http://schemas.microsoft.com/office/drawing/2014/main" id="{5508572C-B988-4B9B-88FB-E6C7C9B9A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4068763"/>
            <a:ext cx="3246438" cy="9604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通话秩序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与第一方说明等待后，再呼叫第二方；接通后按规则插入三方。</a:t>
            </a:r>
          </a:p>
        </p:txBody>
      </p:sp>
      <p:sp>
        <p:nvSpPr>
          <p:cNvPr id="20498" name="直接连接符 12304">
            <a:extLst>
              <a:ext uri="{FF2B5EF4-FFF2-40B4-BE49-F238E27FC236}">
                <a16:creationId xmlns:a16="http://schemas.microsoft.com/office/drawing/2014/main" id="{A44E6E23-9505-41F2-955F-E12679730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3552825"/>
            <a:ext cx="2952750" cy="1588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圆角矩形 12305">
            <a:extLst>
              <a:ext uri="{FF2B5EF4-FFF2-40B4-BE49-F238E27FC236}">
                <a16:creationId xmlns:a16="http://schemas.microsoft.com/office/drawing/2014/main" id="{626CA08B-5CA9-4F0C-97C3-C648682C4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4068763"/>
            <a:ext cx="3246438" cy="9604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结束动作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完成转接或沟通后，应撤出三方并检查是否还有保留工单。</a:t>
            </a:r>
          </a:p>
        </p:txBody>
      </p:sp>
      <p:sp>
        <p:nvSpPr>
          <p:cNvPr id="20500" name="直接连接符 12306">
            <a:extLst>
              <a:ext uri="{FF2B5EF4-FFF2-40B4-BE49-F238E27FC236}">
                <a16:creationId xmlns:a16="http://schemas.microsoft.com/office/drawing/2014/main" id="{B8114530-94FB-4978-9267-67956916E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8188" y="3560763"/>
            <a:ext cx="2952750" cy="1587"/>
          </a:xfrm>
          <a:prstGeom prst="line">
            <a:avLst/>
          </a:prstGeom>
          <a:noFill/>
          <a:ln w="25560">
            <a:solidFill>
              <a:srgbClr val="35A7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1" name="文本框 12307">
            <a:extLst>
              <a:ext uri="{FF2B5EF4-FFF2-40B4-BE49-F238E27FC236}">
                <a16:creationId xmlns:a16="http://schemas.microsoft.com/office/drawing/2014/main" id="{1F96A1A6-9C95-46DB-BF57-192355A51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17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矩形 13312">
            <a:extLst>
              <a:ext uri="{FF2B5EF4-FFF2-40B4-BE49-F238E27FC236}">
                <a16:creationId xmlns:a16="http://schemas.microsoft.com/office/drawing/2014/main" id="{787E2773-2B5A-456F-A8D3-14A020CD2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22531" name="矩形 13313">
            <a:extLst>
              <a:ext uri="{FF2B5EF4-FFF2-40B4-BE49-F238E27FC236}">
                <a16:creationId xmlns:a16="http://schemas.microsoft.com/office/drawing/2014/main" id="{B9311FBF-7E6A-40E2-9EF7-7869703D0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转接与交叉操作：语音不一定跟着窗口走</a:t>
            </a:r>
          </a:p>
        </p:txBody>
      </p:sp>
      <p:sp>
        <p:nvSpPr>
          <p:cNvPr id="22532" name="直接连接符 13314">
            <a:extLst>
              <a:ext uri="{FF2B5EF4-FFF2-40B4-BE49-F238E27FC236}">
                <a16:creationId xmlns:a16="http://schemas.microsoft.com/office/drawing/2014/main" id="{222A4D3D-96D4-4756-B6E2-9BB43BC41B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矩形 13315">
            <a:extLst>
              <a:ext uri="{FF2B5EF4-FFF2-40B4-BE49-F238E27FC236}">
                <a16:creationId xmlns:a16="http://schemas.microsoft.com/office/drawing/2014/main" id="{7A9E8EEB-D036-414F-97A1-77D6BAFB4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22534" name="圆角矩形 13316">
            <a:extLst>
              <a:ext uri="{FF2B5EF4-FFF2-40B4-BE49-F238E27FC236}">
                <a16:creationId xmlns:a16="http://schemas.microsoft.com/office/drawing/2014/main" id="{77560859-25D8-4B27-BA89-59F8F2021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1481138"/>
            <a:ext cx="4498975" cy="41878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5" name="矩形 13317">
            <a:extLst>
              <a:ext uri="{FF2B5EF4-FFF2-40B4-BE49-F238E27FC236}">
                <a16:creationId xmlns:a16="http://schemas.microsoft.com/office/drawing/2014/main" id="{27096421-53B0-4B91-8FFB-A5339A547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1809750"/>
            <a:ext cx="25606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1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：正在通话</a:t>
            </a:r>
          </a:p>
        </p:txBody>
      </p:sp>
      <p:sp>
        <p:nvSpPr>
          <p:cNvPr id="22536" name="椭圆 13318">
            <a:extLst>
              <a:ext uri="{FF2B5EF4-FFF2-40B4-BE49-F238E27FC236}">
                <a16:creationId xmlns:a16="http://schemas.microsoft.com/office/drawing/2014/main" id="{00ED9A19-26A4-47E4-98CD-0A5C5F624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475" y="2487613"/>
            <a:ext cx="914400" cy="914400"/>
          </a:xfrm>
          <a:prstGeom prst="ellipse">
            <a:avLst/>
          </a:prstGeom>
          <a:solidFill>
            <a:srgbClr val="E6F8F8"/>
          </a:solidFill>
          <a:ln w="12600">
            <a:solidFill>
              <a:srgbClr val="00A6A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7" name="矩形 13319">
            <a:extLst>
              <a:ext uri="{FF2B5EF4-FFF2-40B4-BE49-F238E27FC236}">
                <a16:creationId xmlns:a16="http://schemas.microsoft.com/office/drawing/2014/main" id="{8EC1CC66-AFF6-48A7-89C3-30C25E4B2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3594100"/>
            <a:ext cx="14176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语音焦点</a:t>
            </a:r>
          </a:p>
        </p:txBody>
      </p:sp>
      <p:sp>
        <p:nvSpPr>
          <p:cNvPr id="22538" name="圆角矩形 13320">
            <a:extLst>
              <a:ext uri="{FF2B5EF4-FFF2-40B4-BE49-F238E27FC236}">
                <a16:creationId xmlns:a16="http://schemas.microsoft.com/office/drawing/2014/main" id="{B78BE5C3-8D4E-45D8-88C4-577001DF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1481138"/>
            <a:ext cx="4498975" cy="41878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9" name="矩形 13321">
            <a:extLst>
              <a:ext uri="{FF2B5EF4-FFF2-40B4-BE49-F238E27FC236}">
                <a16:creationId xmlns:a16="http://schemas.microsoft.com/office/drawing/2014/main" id="{69170740-3EBF-4980-91CF-AA9513D7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0" y="1809750"/>
            <a:ext cx="26511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2</a:t>
            </a: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：录入与呼出</a:t>
            </a:r>
          </a:p>
        </p:txBody>
      </p:sp>
      <p:sp>
        <p:nvSpPr>
          <p:cNvPr id="22540" name="圆角矩形 13322">
            <a:extLst>
              <a:ext uri="{FF2B5EF4-FFF2-40B4-BE49-F238E27FC236}">
                <a16:creationId xmlns:a16="http://schemas.microsoft.com/office/drawing/2014/main" id="{265D615B-BDF4-450A-B79D-51A19984F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213" y="2541588"/>
            <a:ext cx="3290887" cy="676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1" name="矩形 13323">
            <a:extLst>
              <a:ext uri="{FF2B5EF4-FFF2-40B4-BE49-F238E27FC236}">
                <a16:creationId xmlns:a16="http://schemas.microsoft.com/office/drawing/2014/main" id="{36FB8CAC-60EF-4075-AA60-D0EAAB9F6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2743200"/>
            <a:ext cx="14176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操作焦点</a:t>
            </a:r>
          </a:p>
        </p:txBody>
      </p:sp>
      <p:sp>
        <p:nvSpPr>
          <p:cNvPr id="22542" name="直接连接符 13324">
            <a:extLst>
              <a:ext uri="{FF2B5EF4-FFF2-40B4-BE49-F238E27FC236}">
                <a16:creationId xmlns:a16="http://schemas.microsoft.com/office/drawing/2014/main" id="{00949361-4DD1-4689-A1E4-2B5CD6840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9875" y="3127375"/>
            <a:ext cx="292100" cy="1588"/>
          </a:xfrm>
          <a:prstGeom prst="line">
            <a:avLst/>
          </a:prstGeom>
          <a:noFill/>
          <a:ln w="16560">
            <a:solidFill>
              <a:srgbClr val="F59E0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矩形 13325">
            <a:extLst>
              <a:ext uri="{FF2B5EF4-FFF2-40B4-BE49-F238E27FC236}">
                <a16:creationId xmlns:a16="http://schemas.microsoft.com/office/drawing/2014/main" id="{81B1CD6D-DC87-471D-9099-028356A21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5989638"/>
            <a:ext cx="9418638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保持与当前用户沟通，同时为另一窗口填写工单、呼叫或转接。</a:t>
            </a:r>
          </a:p>
        </p:txBody>
      </p:sp>
      <p:sp>
        <p:nvSpPr>
          <p:cNvPr id="22544" name="文本框 13326">
            <a:extLst>
              <a:ext uri="{FF2B5EF4-FFF2-40B4-BE49-F238E27FC236}">
                <a16:creationId xmlns:a16="http://schemas.microsoft.com/office/drawing/2014/main" id="{436EBCF3-1FFA-4F9E-A7C6-F88B5B577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18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矩形 14336">
            <a:extLst>
              <a:ext uri="{FF2B5EF4-FFF2-40B4-BE49-F238E27FC236}">
                <a16:creationId xmlns:a16="http://schemas.microsoft.com/office/drawing/2014/main" id="{633B9B77-A038-41A2-A738-7DDCCFBB1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24579" name="矩形 14337">
            <a:extLst>
              <a:ext uri="{FF2B5EF4-FFF2-40B4-BE49-F238E27FC236}">
                <a16:creationId xmlns:a16="http://schemas.microsoft.com/office/drawing/2014/main" id="{8628221E-F948-4CEC-BEE0-2CF3258DF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合并与拆分：处理复杂通话关系</a:t>
            </a:r>
          </a:p>
        </p:txBody>
      </p:sp>
      <p:sp>
        <p:nvSpPr>
          <p:cNvPr id="24580" name="直接连接符 14338">
            <a:extLst>
              <a:ext uri="{FF2B5EF4-FFF2-40B4-BE49-F238E27FC236}">
                <a16:creationId xmlns:a16="http://schemas.microsoft.com/office/drawing/2014/main" id="{B82C68FF-AF33-43C1-B22B-1EEBBCDEBB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矩形 14339">
            <a:extLst>
              <a:ext uri="{FF2B5EF4-FFF2-40B4-BE49-F238E27FC236}">
                <a16:creationId xmlns:a16="http://schemas.microsoft.com/office/drawing/2014/main" id="{9953937E-4079-488B-AACA-6F575ED32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24582" name="直接连接符 14340">
            <a:extLst>
              <a:ext uri="{FF2B5EF4-FFF2-40B4-BE49-F238E27FC236}">
                <a16:creationId xmlns:a16="http://schemas.microsoft.com/office/drawing/2014/main" id="{D3B3DEDE-44E5-42C1-AF50-4D61C6998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0188" y="2422525"/>
            <a:ext cx="1096962" cy="1588"/>
          </a:xfrm>
          <a:prstGeom prst="line">
            <a:avLst/>
          </a:prstGeom>
          <a:noFill/>
          <a:ln w="20160">
            <a:solidFill>
              <a:srgbClr val="35A77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3" name="直接连接符 14341">
            <a:extLst>
              <a:ext uri="{FF2B5EF4-FFF2-40B4-BE49-F238E27FC236}">
                <a16:creationId xmlns:a16="http://schemas.microsoft.com/office/drawing/2014/main" id="{C05C1D44-09F6-4F7A-A2B6-BDFDB80BB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2422525"/>
            <a:ext cx="1116013" cy="1588"/>
          </a:xfrm>
          <a:prstGeom prst="line">
            <a:avLst/>
          </a:prstGeom>
          <a:noFill/>
          <a:ln w="20160">
            <a:solidFill>
              <a:srgbClr val="F59E0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4" name="圆角矩形 14342">
            <a:extLst>
              <a:ext uri="{FF2B5EF4-FFF2-40B4-BE49-F238E27FC236}">
                <a16:creationId xmlns:a16="http://schemas.microsoft.com/office/drawing/2014/main" id="{F7FD0030-7747-4576-B8D9-7549E4380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1920875"/>
            <a:ext cx="1417637" cy="1004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用户甲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4585" name="圆角矩形 14343">
            <a:extLst>
              <a:ext uri="{FF2B5EF4-FFF2-40B4-BE49-F238E27FC236}">
                <a16:creationId xmlns:a16="http://schemas.microsoft.com/office/drawing/2014/main" id="{EF1CA5C3-701E-406F-9DE4-ACD897276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163" y="1920875"/>
            <a:ext cx="1417637" cy="1004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用户乙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4586" name="圆角矩形 14344">
            <a:extLst>
              <a:ext uri="{FF2B5EF4-FFF2-40B4-BE49-F238E27FC236}">
                <a16:creationId xmlns:a16="http://schemas.microsoft.com/office/drawing/2014/main" id="{2B2D9E76-D41E-4241-B860-9E32DCF52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1920875"/>
            <a:ext cx="1736725" cy="1004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合并到单窗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插入三方</a:t>
            </a:r>
          </a:p>
        </p:txBody>
      </p:sp>
      <p:sp>
        <p:nvSpPr>
          <p:cNvPr id="24587" name="圆角矩形 14345">
            <a:extLst>
              <a:ext uri="{FF2B5EF4-FFF2-40B4-BE49-F238E27FC236}">
                <a16:creationId xmlns:a16="http://schemas.microsoft.com/office/drawing/2014/main" id="{3E2AC3A1-EBFC-4D64-9ED9-923EC02E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1920875"/>
            <a:ext cx="1736725" cy="1004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完成后撤出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释放坐席</a:t>
            </a:r>
          </a:p>
        </p:txBody>
      </p:sp>
      <p:sp>
        <p:nvSpPr>
          <p:cNvPr id="24588" name="圆角矩形 14346">
            <a:extLst>
              <a:ext uri="{FF2B5EF4-FFF2-40B4-BE49-F238E27FC236}">
                <a16:creationId xmlns:a16="http://schemas.microsoft.com/office/drawing/2014/main" id="{97F3E7B4-257D-4347-A29E-07ABE9E15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978275"/>
            <a:ext cx="4618038" cy="9604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合并场景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两名用户已分别占用不同窗口，其中一方正是另一方的目标联系人，可合并后建立通话。</a:t>
            </a:r>
          </a:p>
        </p:txBody>
      </p:sp>
      <p:sp>
        <p:nvSpPr>
          <p:cNvPr id="24589" name="直接连接符 14347">
            <a:extLst>
              <a:ext uri="{FF2B5EF4-FFF2-40B4-BE49-F238E27FC236}">
                <a16:creationId xmlns:a16="http://schemas.microsoft.com/office/drawing/2014/main" id="{7DD625DB-964C-4BB8-9B34-F0DD7BD9E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3509963"/>
            <a:ext cx="4324350" cy="1587"/>
          </a:xfrm>
          <a:prstGeom prst="line">
            <a:avLst/>
          </a:prstGeom>
          <a:noFill/>
          <a:ln w="25560">
            <a:solidFill>
              <a:srgbClr val="35A7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圆角矩形 14348">
            <a:extLst>
              <a:ext uri="{FF2B5EF4-FFF2-40B4-BE49-F238E27FC236}">
                <a16:creationId xmlns:a16="http://schemas.microsoft.com/office/drawing/2014/main" id="{727F9176-EBA4-4580-813B-222406C70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25" y="3978275"/>
            <a:ext cx="4618038" cy="9604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拆分场景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两名用户在同一窗口内，一方与坐席通话、另一方等待时，可拆分到空闲窗口。</a:t>
            </a:r>
          </a:p>
        </p:txBody>
      </p:sp>
      <p:sp>
        <p:nvSpPr>
          <p:cNvPr id="24591" name="直接连接符 14349">
            <a:extLst>
              <a:ext uri="{FF2B5EF4-FFF2-40B4-BE49-F238E27FC236}">
                <a16:creationId xmlns:a16="http://schemas.microsoft.com/office/drawing/2014/main" id="{69A26B4A-6D70-4F07-B3C8-79403C4132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3514725"/>
            <a:ext cx="4324350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2" name="圆角矩形 14350">
            <a:extLst>
              <a:ext uri="{FF2B5EF4-FFF2-40B4-BE49-F238E27FC236}">
                <a16:creationId xmlns:a16="http://schemas.microsoft.com/office/drawing/2014/main" id="{C3501054-CBD6-4179-99CE-B2D6FB94F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963" y="5357813"/>
            <a:ext cx="7177087" cy="6588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确认提示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进行拆线或释放前会出现二次确认；值守人员应先核对是否仍有保持通话。</a:t>
            </a:r>
          </a:p>
        </p:txBody>
      </p:sp>
      <p:sp>
        <p:nvSpPr>
          <p:cNvPr id="24593" name="直接连接符 14351">
            <a:extLst>
              <a:ext uri="{FF2B5EF4-FFF2-40B4-BE49-F238E27FC236}">
                <a16:creationId xmlns:a16="http://schemas.microsoft.com/office/drawing/2014/main" id="{24989EDE-63D7-4E9C-8FF7-E5EC00E0B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9513" y="5138738"/>
            <a:ext cx="6884987" cy="1587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4" name="文本框 14352">
            <a:extLst>
              <a:ext uri="{FF2B5EF4-FFF2-40B4-BE49-F238E27FC236}">
                <a16:creationId xmlns:a16="http://schemas.microsoft.com/office/drawing/2014/main" id="{A8EF94E1-7EB4-422D-841E-35CC0E382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19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矩形 15360">
            <a:extLst>
              <a:ext uri="{FF2B5EF4-FFF2-40B4-BE49-F238E27FC236}">
                <a16:creationId xmlns:a16="http://schemas.microsoft.com/office/drawing/2014/main" id="{D5365455-DB65-4377-A52D-0A296AF58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26627" name="矩形 15361">
            <a:extLst>
              <a:ext uri="{FF2B5EF4-FFF2-40B4-BE49-F238E27FC236}">
                <a16:creationId xmlns:a16="http://schemas.microsoft.com/office/drawing/2014/main" id="{678EB6F2-DDD1-4B33-81B3-BBD5B0D08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查号：用更少输入找到正确联系人</a:t>
            </a:r>
          </a:p>
        </p:txBody>
      </p:sp>
      <p:sp>
        <p:nvSpPr>
          <p:cNvPr id="26628" name="直接连接符 15362">
            <a:extLst>
              <a:ext uri="{FF2B5EF4-FFF2-40B4-BE49-F238E27FC236}">
                <a16:creationId xmlns:a16="http://schemas.microsoft.com/office/drawing/2014/main" id="{95893D5E-D8A2-4DE2-B97B-E3D2E9036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矩形 15363">
            <a:extLst>
              <a:ext uri="{FF2B5EF4-FFF2-40B4-BE49-F238E27FC236}">
                <a16:creationId xmlns:a16="http://schemas.microsoft.com/office/drawing/2014/main" id="{70ED8C4B-A4C9-4AAE-93F5-F528FEE53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26630" name="圆角矩形 15364">
            <a:extLst>
              <a:ext uri="{FF2B5EF4-FFF2-40B4-BE49-F238E27FC236}">
                <a16:creationId xmlns:a16="http://schemas.microsoft.com/office/drawing/2014/main" id="{D51CB8D7-38A2-4F49-8491-F399C50E5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1573213"/>
            <a:ext cx="2971800" cy="11160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姓名检索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输入姓名拼音首字母，按首字符匹配。</a:t>
            </a:r>
          </a:p>
        </p:txBody>
      </p:sp>
      <p:sp>
        <p:nvSpPr>
          <p:cNvPr id="26631" name="直接连接符 15365">
            <a:extLst>
              <a:ext uri="{FF2B5EF4-FFF2-40B4-BE49-F238E27FC236}">
                <a16:creationId xmlns:a16="http://schemas.microsoft.com/office/drawing/2014/main" id="{51041A85-EE0D-45CA-9E16-EAD114744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" y="2967038"/>
            <a:ext cx="2679700" cy="1587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圆角矩形 15366">
            <a:extLst>
              <a:ext uri="{FF2B5EF4-FFF2-40B4-BE49-F238E27FC236}">
                <a16:creationId xmlns:a16="http://schemas.microsoft.com/office/drawing/2014/main" id="{7D48BA94-4031-496D-BDFE-2090883A7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1573213"/>
            <a:ext cx="2971800" cy="11160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单位检索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输入单位简称或部门缩写，快速筛出候选。</a:t>
            </a:r>
          </a:p>
        </p:txBody>
      </p:sp>
      <p:sp>
        <p:nvSpPr>
          <p:cNvPr id="26633" name="直接连接符 15367">
            <a:extLst>
              <a:ext uri="{FF2B5EF4-FFF2-40B4-BE49-F238E27FC236}">
                <a16:creationId xmlns:a16="http://schemas.microsoft.com/office/drawing/2014/main" id="{0A8C6C8E-E711-4E0E-AE97-1DFBB2888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525" y="2967038"/>
            <a:ext cx="2679700" cy="1587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4" name="圆角矩形 15368">
            <a:extLst>
              <a:ext uri="{FF2B5EF4-FFF2-40B4-BE49-F238E27FC236}">
                <a16:creationId xmlns:a16="http://schemas.microsoft.com/office/drawing/2014/main" id="{7B555219-B5E4-4451-87FA-3B9BE899A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188" y="1573213"/>
            <a:ext cx="2971800" cy="11160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号码检索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输入号码片段，覆盖短号、内线、外线字段。</a:t>
            </a:r>
          </a:p>
        </p:txBody>
      </p:sp>
      <p:sp>
        <p:nvSpPr>
          <p:cNvPr id="26635" name="直接连接符 15369">
            <a:extLst>
              <a:ext uri="{FF2B5EF4-FFF2-40B4-BE49-F238E27FC236}">
                <a16:creationId xmlns:a16="http://schemas.microsoft.com/office/drawing/2014/main" id="{6862928E-FC62-48AD-878D-D07ED72E4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0913" y="2933700"/>
            <a:ext cx="2679700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圆角矩形 15370">
            <a:extLst>
              <a:ext uri="{FF2B5EF4-FFF2-40B4-BE49-F238E27FC236}">
                <a16:creationId xmlns:a16="http://schemas.microsoft.com/office/drawing/2014/main" id="{4F11DCD3-D862-4C64-AFE9-883A97F3C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3289300"/>
            <a:ext cx="10012363" cy="14176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37" name="矩形 15371">
            <a:extLst>
              <a:ext uri="{FF2B5EF4-FFF2-40B4-BE49-F238E27FC236}">
                <a16:creationId xmlns:a16="http://schemas.microsoft.com/office/drawing/2014/main" id="{E10F8425-19A4-4CC4-B658-1626843EB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3557588"/>
            <a:ext cx="9144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检索框</a:t>
            </a:r>
          </a:p>
        </p:txBody>
      </p:sp>
      <p:sp>
        <p:nvSpPr>
          <p:cNvPr id="26638" name="圆角矩形 15372">
            <a:extLst>
              <a:ext uri="{FF2B5EF4-FFF2-40B4-BE49-F238E27FC236}">
                <a16:creationId xmlns:a16="http://schemas.microsoft.com/office/drawing/2014/main" id="{8D765FBB-3F16-4B35-AA32-C14045741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3429000"/>
            <a:ext cx="4343400" cy="5032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39" name="矩形 15373">
            <a:extLst>
              <a:ext uri="{FF2B5EF4-FFF2-40B4-BE49-F238E27FC236}">
                <a16:creationId xmlns:a16="http://schemas.microsoft.com/office/drawing/2014/main" id="{1E989159-D930-4229-8AAE-D27264A11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25" y="3565525"/>
            <a:ext cx="2011363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关键词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/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号码片段</a:t>
            </a:r>
          </a:p>
        </p:txBody>
      </p:sp>
      <p:sp>
        <p:nvSpPr>
          <p:cNvPr id="26640" name="圆角矩形 15374">
            <a:extLst>
              <a:ext uri="{FF2B5EF4-FFF2-40B4-BE49-F238E27FC236}">
                <a16:creationId xmlns:a16="http://schemas.microsoft.com/office/drawing/2014/main" id="{1AF1EAED-DB8B-402E-B93F-94329415D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3429000"/>
            <a:ext cx="1096962" cy="5032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查找</a:t>
            </a:r>
          </a:p>
        </p:txBody>
      </p:sp>
      <p:sp>
        <p:nvSpPr>
          <p:cNvPr id="26641" name="矩形 15375">
            <a:extLst>
              <a:ext uri="{FF2B5EF4-FFF2-40B4-BE49-F238E27FC236}">
                <a16:creationId xmlns:a16="http://schemas.microsoft.com/office/drawing/2014/main" id="{D6509C26-1D6B-4FFE-849C-78BF55D5D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5211763"/>
            <a:ext cx="8137525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" tIns="1080" rIns="1080" bIns="108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F1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调出检索窗口并保留上次结果。</a:t>
            </a:r>
          </a:p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F2 </a:t>
            </a: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清空条件后重新检索。</a:t>
            </a:r>
          </a:p>
          <a:p>
            <a:pPr algn="l" hangingPunct="1">
              <a:lnSpc>
                <a:spcPct val="100000"/>
              </a:lnSpc>
            </a:pP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• 选中联系人可回填到当前工单。</a:t>
            </a:r>
          </a:p>
        </p:txBody>
      </p:sp>
      <p:sp>
        <p:nvSpPr>
          <p:cNvPr id="26642" name="文本框 15376">
            <a:extLst>
              <a:ext uri="{FF2B5EF4-FFF2-40B4-BE49-F238E27FC236}">
                <a16:creationId xmlns:a16="http://schemas.microsoft.com/office/drawing/2014/main" id="{8C51BD55-02A9-4885-8FBC-D459998BA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20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矩形 17408">
            <a:extLst>
              <a:ext uri="{FF2B5EF4-FFF2-40B4-BE49-F238E27FC236}">
                <a16:creationId xmlns:a16="http://schemas.microsoft.com/office/drawing/2014/main" id="{04642D54-AAEB-448D-AF69-E6732007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30723" name="矩形 17409">
            <a:extLst>
              <a:ext uri="{FF2B5EF4-FFF2-40B4-BE49-F238E27FC236}">
                <a16:creationId xmlns:a16="http://schemas.microsoft.com/office/drawing/2014/main" id="{A0C734A6-E4DF-47D3-82FF-756314976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即时会议：临时协同但不污染会议列表</a:t>
            </a:r>
          </a:p>
        </p:txBody>
      </p:sp>
      <p:sp>
        <p:nvSpPr>
          <p:cNvPr id="30724" name="直接连接符 17410">
            <a:extLst>
              <a:ext uri="{FF2B5EF4-FFF2-40B4-BE49-F238E27FC236}">
                <a16:creationId xmlns:a16="http://schemas.microsoft.com/office/drawing/2014/main" id="{22C5354E-412F-4860-AF23-176146B2B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矩形 17411">
            <a:extLst>
              <a:ext uri="{FF2B5EF4-FFF2-40B4-BE49-F238E27FC236}">
                <a16:creationId xmlns:a16="http://schemas.microsoft.com/office/drawing/2014/main" id="{82C83988-92E5-4606-B324-7D130E3B1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30726" name="圆角矩形 17412">
            <a:extLst>
              <a:ext uri="{FF2B5EF4-FFF2-40B4-BE49-F238E27FC236}">
                <a16:creationId xmlns:a16="http://schemas.microsoft.com/office/drawing/2014/main" id="{DA40A5DA-8385-41F1-A368-E3EDD2C20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1463675"/>
            <a:ext cx="3200400" cy="1004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发起方式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从菜单进入即时会议，输入主题、用途和主持席后直接打开会场。</a:t>
            </a:r>
          </a:p>
        </p:txBody>
      </p:sp>
      <p:sp>
        <p:nvSpPr>
          <p:cNvPr id="30727" name="直接连接符 17413">
            <a:extLst>
              <a:ext uri="{FF2B5EF4-FFF2-40B4-BE49-F238E27FC236}">
                <a16:creationId xmlns:a16="http://schemas.microsoft.com/office/drawing/2014/main" id="{DB5F0D46-B1B2-4BA1-928F-A71EDB299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200" y="2708275"/>
            <a:ext cx="2908300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8" name="圆角矩形 17414">
            <a:extLst>
              <a:ext uri="{FF2B5EF4-FFF2-40B4-BE49-F238E27FC236}">
                <a16:creationId xmlns:a16="http://schemas.microsoft.com/office/drawing/2014/main" id="{693FA88F-9E46-4684-BDCC-598F6A21C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1463675"/>
            <a:ext cx="3200400" cy="1004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使用特点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不保存到预约会议列表；适合临时沟通、突发事件和跨班确认。</a:t>
            </a:r>
          </a:p>
        </p:txBody>
      </p:sp>
      <p:sp>
        <p:nvSpPr>
          <p:cNvPr id="30729" name="直接连接符 17415">
            <a:extLst>
              <a:ext uri="{FF2B5EF4-FFF2-40B4-BE49-F238E27FC236}">
                <a16:creationId xmlns:a16="http://schemas.microsoft.com/office/drawing/2014/main" id="{435180CD-1889-4947-9211-EA4B37D32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5650" y="2743200"/>
            <a:ext cx="2908300" cy="1588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0" name="圆角矩形 17416">
            <a:extLst>
              <a:ext uri="{FF2B5EF4-FFF2-40B4-BE49-F238E27FC236}">
                <a16:creationId xmlns:a16="http://schemas.microsoft.com/office/drawing/2014/main" id="{406AA937-1C70-409D-8770-4BAE22F1F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575" y="1463675"/>
            <a:ext cx="3200400" cy="1004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退出提醒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隐藏或关闭后，如主界面需要继续通话，应重新获取语音焦点。</a:t>
            </a:r>
          </a:p>
        </p:txBody>
      </p:sp>
      <p:sp>
        <p:nvSpPr>
          <p:cNvPr id="30731" name="直接连接符 17417">
            <a:extLst>
              <a:ext uri="{FF2B5EF4-FFF2-40B4-BE49-F238E27FC236}">
                <a16:creationId xmlns:a16="http://schemas.microsoft.com/office/drawing/2014/main" id="{D7AD307B-F021-435D-A2D8-48430C768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6588" y="2743200"/>
            <a:ext cx="2908300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圆角矩形 17418">
            <a:extLst>
              <a:ext uri="{FF2B5EF4-FFF2-40B4-BE49-F238E27FC236}">
                <a16:creationId xmlns:a16="http://schemas.microsoft.com/office/drawing/2014/main" id="{7FE12C28-2DDF-42C1-97E2-C48F3D443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25" y="3017838"/>
            <a:ext cx="9190038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33" name="圆角矩形 17419">
            <a:extLst>
              <a:ext uri="{FF2B5EF4-FFF2-40B4-BE49-F238E27FC236}">
                <a16:creationId xmlns:a16="http://schemas.microsoft.com/office/drawing/2014/main" id="{0BDADE6E-B4D3-45D5-9671-EC69E19F1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548063"/>
            <a:ext cx="1042988" cy="7127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34" name="矩形 17420">
            <a:extLst>
              <a:ext uri="{FF2B5EF4-FFF2-40B4-BE49-F238E27FC236}">
                <a16:creationId xmlns:a16="http://schemas.microsoft.com/office/drawing/2014/main" id="{A895FFE1-37A2-48F5-AB91-171CE2CCF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275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参会方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0735" name="圆角矩形 17421">
            <a:extLst>
              <a:ext uri="{FF2B5EF4-FFF2-40B4-BE49-F238E27FC236}">
                <a16:creationId xmlns:a16="http://schemas.microsoft.com/office/drawing/2014/main" id="{57A5AB7D-276A-4C3D-B010-7BFFF6637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548063"/>
            <a:ext cx="1042988" cy="7127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36" name="矩形 17422">
            <a:extLst>
              <a:ext uri="{FF2B5EF4-FFF2-40B4-BE49-F238E27FC236}">
                <a16:creationId xmlns:a16="http://schemas.microsoft.com/office/drawing/2014/main" id="{EC7E5897-E978-468D-A89F-83336C466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参会方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0737" name="圆角矩形 17423">
            <a:extLst>
              <a:ext uri="{FF2B5EF4-FFF2-40B4-BE49-F238E27FC236}">
                <a16:creationId xmlns:a16="http://schemas.microsoft.com/office/drawing/2014/main" id="{48E939A7-8099-4305-9D4B-911F75494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3548063"/>
            <a:ext cx="1042988" cy="7127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38" name="矩形 17424">
            <a:extLst>
              <a:ext uri="{FF2B5EF4-FFF2-40B4-BE49-F238E27FC236}">
                <a16:creationId xmlns:a16="http://schemas.microsoft.com/office/drawing/2014/main" id="{FB89B89C-D8AC-430D-9ED1-11DCC6759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参会方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0739" name="圆角矩形 17425">
            <a:extLst>
              <a:ext uri="{FF2B5EF4-FFF2-40B4-BE49-F238E27FC236}">
                <a16:creationId xmlns:a16="http://schemas.microsoft.com/office/drawing/2014/main" id="{7A449ADF-7942-45FA-8472-8FBBCB0B4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650" y="3548063"/>
            <a:ext cx="1042988" cy="7127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40" name="矩形 17426">
            <a:extLst>
              <a:ext uri="{FF2B5EF4-FFF2-40B4-BE49-F238E27FC236}">
                <a16:creationId xmlns:a16="http://schemas.microsoft.com/office/drawing/2014/main" id="{8661B76A-4392-4F3E-B524-FC5D65E9E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150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参会方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0741" name="圆角矩形 17427">
            <a:extLst>
              <a:ext uri="{FF2B5EF4-FFF2-40B4-BE49-F238E27FC236}">
                <a16:creationId xmlns:a16="http://schemas.microsoft.com/office/drawing/2014/main" id="{9ACC6B54-5A77-4159-A2EA-D90C3C478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275" y="3548063"/>
            <a:ext cx="1042988" cy="7127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42" name="矩形 17428">
            <a:extLst>
              <a:ext uri="{FF2B5EF4-FFF2-40B4-BE49-F238E27FC236}">
                <a16:creationId xmlns:a16="http://schemas.microsoft.com/office/drawing/2014/main" id="{8CC0CB3E-A185-4815-B202-387B80450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775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参会方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0743" name="圆角矩形 17429">
            <a:extLst>
              <a:ext uri="{FF2B5EF4-FFF2-40B4-BE49-F238E27FC236}">
                <a16:creationId xmlns:a16="http://schemas.microsoft.com/office/drawing/2014/main" id="{67699E9F-3C1C-4EDE-9131-FB8B29A11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8900" y="3548063"/>
            <a:ext cx="1042988" cy="7127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44" name="矩形 17430">
            <a:extLst>
              <a:ext uri="{FF2B5EF4-FFF2-40B4-BE49-F238E27FC236}">
                <a16:creationId xmlns:a16="http://schemas.microsoft.com/office/drawing/2014/main" id="{F2A1BAF4-9762-46A0-B0EA-D319EC295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3988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参会方 </a:t>
            </a:r>
            <a:r>
              <a:rPr lang="en-US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0745" name="矩形 17431">
            <a:extLst>
              <a:ext uri="{FF2B5EF4-FFF2-40B4-BE49-F238E27FC236}">
                <a16:creationId xmlns:a16="http://schemas.microsoft.com/office/drawing/2014/main" id="{0CCDD1FB-CE23-4BE1-B443-D61A5FA25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4737100"/>
            <a:ext cx="7589838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会场窗口支持独立呼叫、入会、撤出、清空与主讲人控制。</a:t>
            </a:r>
          </a:p>
        </p:txBody>
      </p:sp>
      <p:sp>
        <p:nvSpPr>
          <p:cNvPr id="30746" name="文本框 17432">
            <a:extLst>
              <a:ext uri="{FF2B5EF4-FFF2-40B4-BE49-F238E27FC236}">
                <a16:creationId xmlns:a16="http://schemas.microsoft.com/office/drawing/2014/main" id="{A311E773-E5FD-43B1-9B3B-0DEF2BF1C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21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矩形 18432">
            <a:extLst>
              <a:ext uri="{FF2B5EF4-FFF2-40B4-BE49-F238E27FC236}">
                <a16:creationId xmlns:a16="http://schemas.microsoft.com/office/drawing/2014/main" id="{F749D0AD-F2D5-4B7F-B2F0-2196C3E2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32771" name="矩形 18433">
            <a:extLst>
              <a:ext uri="{FF2B5EF4-FFF2-40B4-BE49-F238E27FC236}">
                <a16:creationId xmlns:a16="http://schemas.microsoft.com/office/drawing/2014/main" id="{DE826925-6EE9-4332-91D8-EB718CC56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座席互联：用于班组内快速沟通</a:t>
            </a:r>
          </a:p>
        </p:txBody>
      </p:sp>
      <p:sp>
        <p:nvSpPr>
          <p:cNvPr id="32772" name="直接连接符 18434">
            <a:extLst>
              <a:ext uri="{FF2B5EF4-FFF2-40B4-BE49-F238E27FC236}">
                <a16:creationId xmlns:a16="http://schemas.microsoft.com/office/drawing/2014/main" id="{DE9EC338-80AB-44F2-830F-2B634A001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3" name="矩形 18435">
            <a:extLst>
              <a:ext uri="{FF2B5EF4-FFF2-40B4-BE49-F238E27FC236}">
                <a16:creationId xmlns:a16="http://schemas.microsoft.com/office/drawing/2014/main" id="{002CEFFA-05D2-40B2-879A-F909981BD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32774" name="直接连接符 18436">
            <a:extLst>
              <a:ext uri="{FF2B5EF4-FFF2-40B4-BE49-F238E27FC236}">
                <a16:creationId xmlns:a16="http://schemas.microsoft.com/office/drawing/2014/main" id="{55EC0E7B-9E36-430F-9CA6-0DA8E3A47F43}"/>
              </a:ext>
            </a:extLst>
          </p:cNvPr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794125" y="2908300"/>
            <a:ext cx="3475038" cy="1588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5" name="直接连接符 18437">
            <a:extLst>
              <a:ext uri="{FF2B5EF4-FFF2-40B4-BE49-F238E27FC236}">
                <a16:creationId xmlns:a16="http://schemas.microsoft.com/office/drawing/2014/main" id="{E0D33771-93FA-4093-81C4-CB59DA2CC16C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H="1">
            <a:off x="3795713" y="3273425"/>
            <a:ext cx="3475037" cy="1588"/>
          </a:xfrm>
          <a:prstGeom prst="line">
            <a:avLst/>
          </a:prstGeom>
          <a:noFill/>
          <a:ln w="17640">
            <a:solidFill>
              <a:srgbClr val="F59E0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6" name="圆角矩形 18438">
            <a:extLst>
              <a:ext uri="{FF2B5EF4-FFF2-40B4-BE49-F238E27FC236}">
                <a16:creationId xmlns:a16="http://schemas.microsoft.com/office/drawing/2014/main" id="{ED91E1E0-E87D-485E-B267-1B4BA988182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17638" y="2305050"/>
            <a:ext cx="2103437" cy="1233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坐席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A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发起互联</a:t>
            </a:r>
          </a:p>
        </p:txBody>
      </p:sp>
      <p:sp>
        <p:nvSpPr>
          <p:cNvPr id="32777" name="圆角矩形 18439">
            <a:extLst>
              <a:ext uri="{FF2B5EF4-FFF2-40B4-BE49-F238E27FC236}">
                <a16:creationId xmlns:a16="http://schemas.microsoft.com/office/drawing/2014/main" id="{27C0260A-DF2D-4976-9757-E1A3249B0A7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497763" y="2305050"/>
            <a:ext cx="2103437" cy="12334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坐席 </a:t>
            </a:r>
            <a:r>
              <a:rPr lang="en-US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B</a:t>
            </a:r>
          </a:p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确认接入</a:t>
            </a:r>
          </a:p>
        </p:txBody>
      </p:sp>
      <p:sp>
        <p:nvSpPr>
          <p:cNvPr id="32778" name="圆角矩形 18440">
            <a:extLst>
              <a:ext uri="{FF2B5EF4-FFF2-40B4-BE49-F238E27FC236}">
                <a16:creationId xmlns:a16="http://schemas.microsoft.com/office/drawing/2014/main" id="{C83E23DE-885D-4984-9626-E3237C57400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4664075"/>
            <a:ext cx="4662488" cy="9604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启用场景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用于班组沟通、协助排障、交接说明；由发起方申请，接收方确认后建立。</a:t>
            </a:r>
          </a:p>
        </p:txBody>
      </p:sp>
      <p:sp>
        <p:nvSpPr>
          <p:cNvPr id="32779" name="直接连接符 18441">
            <a:extLst>
              <a:ext uri="{FF2B5EF4-FFF2-40B4-BE49-F238E27FC236}">
                <a16:creationId xmlns:a16="http://schemas.microsoft.com/office/drawing/2014/main" id="{4B1D52E7-53D0-485A-BBB7-16571C2C913B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060450" y="4103688"/>
            <a:ext cx="4370388" cy="1587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圆角矩形 18442">
            <a:extLst>
              <a:ext uri="{FF2B5EF4-FFF2-40B4-BE49-F238E27FC236}">
                <a16:creationId xmlns:a16="http://schemas.microsoft.com/office/drawing/2014/main" id="{B74C814B-669E-4EF6-A45E-8D335D3124CB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72200" y="4664075"/>
            <a:ext cx="4662488" cy="9604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状态限制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互联期间不进行新的接续或外呼；取消后恢复正常业务操作。</a:t>
            </a:r>
          </a:p>
        </p:txBody>
      </p:sp>
      <p:sp>
        <p:nvSpPr>
          <p:cNvPr id="32781" name="直接连接符 18443">
            <a:extLst>
              <a:ext uri="{FF2B5EF4-FFF2-40B4-BE49-F238E27FC236}">
                <a16:creationId xmlns:a16="http://schemas.microsoft.com/office/drawing/2014/main" id="{A2912804-BC89-4EA0-9951-BF27EE49406C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6321425" y="4100513"/>
            <a:ext cx="4370388" cy="1587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2" name="文本框 18444">
            <a:extLst>
              <a:ext uri="{FF2B5EF4-FFF2-40B4-BE49-F238E27FC236}">
                <a16:creationId xmlns:a16="http://schemas.microsoft.com/office/drawing/2014/main" id="{B6745114-0922-4444-9FDD-951EF534F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22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矩形 20480">
            <a:extLst>
              <a:ext uri="{FF2B5EF4-FFF2-40B4-BE49-F238E27FC236}">
                <a16:creationId xmlns:a16="http://schemas.microsoft.com/office/drawing/2014/main" id="{14BED070-D71C-4E0E-8E88-984C54C6F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36867" name="矩形 20481">
            <a:extLst>
              <a:ext uri="{FF2B5EF4-FFF2-40B4-BE49-F238E27FC236}">
                <a16:creationId xmlns:a16="http://schemas.microsoft.com/office/drawing/2014/main" id="{2496127D-A489-470B-B702-703C5815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2600" b="1">
                <a:solidFill>
                  <a:srgbClr val="173B63"/>
                </a:solidFill>
                <a:latin typeface="Microsoft YaHei" charset="0"/>
                <a:ea typeface="宋体" panose="02010600030101010101" pitchFamily="2" charset="-122"/>
              </a:rPr>
              <a:t>主菜单：按业务动作重新归类</a:t>
            </a:r>
          </a:p>
        </p:txBody>
      </p:sp>
      <p:sp>
        <p:nvSpPr>
          <p:cNvPr id="36868" name="直接连接符 20482">
            <a:extLst>
              <a:ext uri="{FF2B5EF4-FFF2-40B4-BE49-F238E27FC236}">
                <a16:creationId xmlns:a16="http://schemas.microsoft.com/office/drawing/2014/main" id="{8F257C98-DCB3-4AF3-B5DA-16AC1C76C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9" name="矩形 20483">
            <a:extLst>
              <a:ext uri="{FF2B5EF4-FFF2-40B4-BE49-F238E27FC236}">
                <a16:creationId xmlns:a16="http://schemas.microsoft.com/office/drawing/2014/main" id="{697AA7D1-BD42-401C-98C1-EA933A5EF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36870" name="圆角矩形 20484">
            <a:extLst>
              <a:ext uri="{FF2B5EF4-FFF2-40B4-BE49-F238E27FC236}">
                <a16:creationId xmlns:a16="http://schemas.microsoft.com/office/drawing/2014/main" id="{FF6F13A8-DCF5-46CA-AE24-16549662D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1554163"/>
            <a:ext cx="2332037" cy="365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工作区</a:t>
            </a:r>
          </a:p>
        </p:txBody>
      </p:sp>
      <p:sp>
        <p:nvSpPr>
          <p:cNvPr id="36871" name="矩形 20485">
            <a:extLst>
              <a:ext uri="{FF2B5EF4-FFF2-40B4-BE49-F238E27FC236}">
                <a16:creationId xmlns:a16="http://schemas.microsoft.com/office/drawing/2014/main" id="{F54E1AE4-EA7D-4BE1-B838-760B225AF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223996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登录设置</a:t>
            </a:r>
          </a:p>
        </p:txBody>
      </p:sp>
      <p:sp>
        <p:nvSpPr>
          <p:cNvPr id="36872" name="矩形 20486">
            <a:extLst>
              <a:ext uri="{FF2B5EF4-FFF2-40B4-BE49-F238E27FC236}">
                <a16:creationId xmlns:a16="http://schemas.microsoft.com/office/drawing/2014/main" id="{A85A26C9-A3F7-42C9-B069-322687DA8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2770188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窗口布局</a:t>
            </a:r>
          </a:p>
        </p:txBody>
      </p:sp>
      <p:sp>
        <p:nvSpPr>
          <p:cNvPr id="36873" name="矩形 20487">
            <a:extLst>
              <a:ext uri="{FF2B5EF4-FFF2-40B4-BE49-F238E27FC236}">
                <a16:creationId xmlns:a16="http://schemas.microsoft.com/office/drawing/2014/main" id="{2977A945-51D4-4907-A886-DFB220809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330041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通知面板</a:t>
            </a:r>
          </a:p>
        </p:txBody>
      </p:sp>
      <p:sp>
        <p:nvSpPr>
          <p:cNvPr id="36874" name="圆角矩形 20488">
            <a:extLst>
              <a:ext uri="{FF2B5EF4-FFF2-40B4-BE49-F238E27FC236}">
                <a16:creationId xmlns:a16="http://schemas.microsoft.com/office/drawing/2014/main" id="{E014B47E-F4A4-4562-96C4-36350A12C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0" y="1554163"/>
            <a:ext cx="2332038" cy="365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接续</a:t>
            </a:r>
          </a:p>
        </p:txBody>
      </p:sp>
      <p:sp>
        <p:nvSpPr>
          <p:cNvPr id="36875" name="矩形 20489">
            <a:extLst>
              <a:ext uri="{FF2B5EF4-FFF2-40B4-BE49-F238E27FC236}">
                <a16:creationId xmlns:a16="http://schemas.microsoft.com/office/drawing/2014/main" id="{A9B3AF39-BD00-4C43-BFE4-67AA7D9DF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2239963"/>
            <a:ext cx="19192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新建工单</a:t>
            </a:r>
          </a:p>
        </p:txBody>
      </p:sp>
      <p:sp>
        <p:nvSpPr>
          <p:cNvPr id="36876" name="矩形 20490">
            <a:extLst>
              <a:ext uri="{FF2B5EF4-FFF2-40B4-BE49-F238E27FC236}">
                <a16:creationId xmlns:a16="http://schemas.microsoft.com/office/drawing/2014/main" id="{FACE3040-2D7C-4C6D-84E6-93CF85E6C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2770188"/>
            <a:ext cx="19192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线路状态</a:t>
            </a:r>
          </a:p>
        </p:txBody>
      </p:sp>
      <p:sp>
        <p:nvSpPr>
          <p:cNvPr id="36877" name="矩形 20491">
            <a:extLst>
              <a:ext uri="{FF2B5EF4-FFF2-40B4-BE49-F238E27FC236}">
                <a16:creationId xmlns:a16="http://schemas.microsoft.com/office/drawing/2014/main" id="{6A6917E6-5E16-48C0-830C-06EB6CBC0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3300413"/>
            <a:ext cx="19192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手动选线</a:t>
            </a:r>
          </a:p>
        </p:txBody>
      </p:sp>
      <p:sp>
        <p:nvSpPr>
          <p:cNvPr id="36878" name="圆角矩形 20492">
            <a:extLst>
              <a:ext uri="{FF2B5EF4-FFF2-40B4-BE49-F238E27FC236}">
                <a16:creationId xmlns:a16="http://schemas.microsoft.com/office/drawing/2014/main" id="{8603B68D-A075-44AA-A58C-C7FB0B135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288" y="1554163"/>
            <a:ext cx="2332037" cy="365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协作</a:t>
            </a:r>
          </a:p>
        </p:txBody>
      </p:sp>
      <p:sp>
        <p:nvSpPr>
          <p:cNvPr id="36879" name="矩形 20493">
            <a:extLst>
              <a:ext uri="{FF2B5EF4-FFF2-40B4-BE49-F238E27FC236}">
                <a16:creationId xmlns:a16="http://schemas.microsoft.com/office/drawing/2014/main" id="{C3BF5E6B-F632-49C9-9546-BF12DC5DF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900" y="223996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预约会议</a:t>
            </a:r>
          </a:p>
        </p:txBody>
      </p:sp>
      <p:sp>
        <p:nvSpPr>
          <p:cNvPr id="36880" name="矩形 20494">
            <a:extLst>
              <a:ext uri="{FF2B5EF4-FFF2-40B4-BE49-F238E27FC236}">
                <a16:creationId xmlns:a16="http://schemas.microsoft.com/office/drawing/2014/main" id="{1C8D7EE0-9A29-49AE-8619-B337EEB3B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900" y="2770188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即时会议</a:t>
            </a:r>
          </a:p>
        </p:txBody>
      </p:sp>
      <p:sp>
        <p:nvSpPr>
          <p:cNvPr id="36881" name="矩形 20495">
            <a:extLst>
              <a:ext uri="{FF2B5EF4-FFF2-40B4-BE49-F238E27FC236}">
                <a16:creationId xmlns:a16="http://schemas.microsoft.com/office/drawing/2014/main" id="{9AAC2939-C510-4F01-BFAC-DFE20D26E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900" y="330041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座席互联</a:t>
            </a:r>
          </a:p>
        </p:txBody>
      </p:sp>
      <p:sp>
        <p:nvSpPr>
          <p:cNvPr id="36882" name="圆角矩形 20496">
            <a:extLst>
              <a:ext uri="{FF2B5EF4-FFF2-40B4-BE49-F238E27FC236}">
                <a16:creationId xmlns:a16="http://schemas.microsoft.com/office/drawing/2014/main" id="{29E098EC-E468-4CB7-8AEE-93FEC19AE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3525" y="1554163"/>
            <a:ext cx="2332038" cy="365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 b="1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管理</a:t>
            </a:r>
          </a:p>
        </p:txBody>
      </p:sp>
      <p:sp>
        <p:nvSpPr>
          <p:cNvPr id="36883" name="矩形 20497">
            <a:extLst>
              <a:ext uri="{FF2B5EF4-FFF2-40B4-BE49-F238E27FC236}">
                <a16:creationId xmlns:a16="http://schemas.microsoft.com/office/drawing/2014/main" id="{FD953DD4-0FFC-4ACE-8C9E-8930B02F5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0" y="223996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工单查询</a:t>
            </a:r>
          </a:p>
        </p:txBody>
      </p:sp>
      <p:sp>
        <p:nvSpPr>
          <p:cNvPr id="36884" name="矩形 20498">
            <a:extLst>
              <a:ext uri="{FF2B5EF4-FFF2-40B4-BE49-F238E27FC236}">
                <a16:creationId xmlns:a16="http://schemas.microsoft.com/office/drawing/2014/main" id="{3A021544-3A43-4843-88F9-92FB19C5B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0" y="2770188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回呼列表</a:t>
            </a:r>
          </a:p>
        </p:txBody>
      </p:sp>
      <p:sp>
        <p:nvSpPr>
          <p:cNvPr id="36885" name="矩形 20499">
            <a:extLst>
              <a:ext uri="{FF2B5EF4-FFF2-40B4-BE49-F238E27FC236}">
                <a16:creationId xmlns:a16="http://schemas.microsoft.com/office/drawing/2014/main" id="{7ED2FEAF-45FE-48BB-AFE9-CE2BF79BF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0" y="330041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l" hangingPunct="1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日志导出</a:t>
            </a:r>
          </a:p>
        </p:txBody>
      </p:sp>
      <p:sp>
        <p:nvSpPr>
          <p:cNvPr id="36886" name="圆角矩形 20500">
            <a:extLst>
              <a:ext uri="{FF2B5EF4-FFF2-40B4-BE49-F238E27FC236}">
                <a16:creationId xmlns:a16="http://schemas.microsoft.com/office/drawing/2014/main" id="{649F630E-C760-4ABF-97F9-A4EC696E8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063" y="4846638"/>
            <a:ext cx="9737725" cy="868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8CDE4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菜单重构说明</a:t>
            </a:r>
          </a:p>
          <a:p>
            <a:pPr hangingPunct="1" algn="l">
              <a:lnSpc>
                <a:spcPct val="100000"/>
              </a:lnSpc>
            </a:pPr>
            <a:r>
              <a:rPr lang="zh-CN" altLang="zh-CN" sz="1000">
                <a:solidFill>
                  <a:srgbClr val="314860"/>
                </a:solidFill>
                <a:latin typeface="Microsoft YaHei" charset="0"/>
                <a:ea typeface="宋体" panose="02010600030101010101" pitchFamily="2" charset="-122"/>
              </a:rPr>
              <a:t>原有分散入口按“工作区—接续—协作—管理”组织，便于培训时快速建立操作地图。</a:t>
            </a:r>
          </a:p>
        </p:txBody>
      </p:sp>
      <p:sp>
        <p:nvSpPr>
          <p:cNvPr id="36887" name="直接连接符 20501">
            <a:extLst>
              <a:ext uri="{FF2B5EF4-FFF2-40B4-BE49-F238E27FC236}">
                <a16:creationId xmlns:a16="http://schemas.microsoft.com/office/drawing/2014/main" id="{E110BAAD-9E16-4E82-8BC8-79257DD3F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8113" y="4283075"/>
            <a:ext cx="9445625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8" name="文本框 20502">
            <a:extLst>
              <a:ext uri="{FF2B5EF4-FFF2-40B4-BE49-F238E27FC236}">
                <a16:creationId xmlns:a16="http://schemas.microsoft.com/office/drawing/2014/main" id="{A8601889-7728-447F-A55C-417E82FEA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sz="800">
                <a:solidFill>
                  <a:srgbClr val="6E8298"/>
                </a:solidFill>
                <a:latin typeface="Microsoft YaHei"/>
              </a:rPr>
              <a:t>23</a:t>
            </a:r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49E9E"/>
                </a:solidFill>
                <a:latin typeface="Microsoft YaHei"/>
              </a:rPr>
              <a:t>运行闭环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运行流程与管理要点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972800" cy="13716"/>
          </a:xfrm>
          <a:prstGeom prst="rect">
            <a:avLst/>
          </a:prstGeom>
          <a:solidFill>
            <a:srgbClr val="B8C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让人工链路形成可追踪的闭环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应急通信保障 · 调度坐席协同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938528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73152" cy="1426464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1892808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92808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B6DEB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847088"/>
            <a:ext cx="111556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接入确认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258568"/>
            <a:ext cx="1517904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识别来话来源与联络诉求</a:t>
            </a:r>
          </a:p>
        </p:txBody>
      </p:sp>
      <p:sp>
        <p:nvSpPr>
          <p:cNvPr id="15" name="Chevron 14"/>
          <p:cNvSpPr/>
          <p:nvPr/>
        </p:nvSpPr>
        <p:spPr>
          <a:xfrm>
            <a:off x="2496312" y="2221992"/>
            <a:ext cx="201168" cy="310896"/>
          </a:xfrm>
          <a:prstGeom prst="chevron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4639" y="1691640"/>
            <a:ext cx="1938528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39" y="1691640"/>
            <a:ext cx="73152" cy="1426464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5808" y="1892808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14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1892808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7" y="1847088"/>
            <a:ext cx="111556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记录需求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2258568"/>
            <a:ext cx="1517904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填写对象、号码和处理备注</a:t>
            </a:r>
          </a:p>
        </p:txBody>
      </p:sp>
      <p:sp>
        <p:nvSpPr>
          <p:cNvPr id="22" name="Chevron 21"/>
          <p:cNvSpPr/>
          <p:nvPr/>
        </p:nvSpPr>
        <p:spPr>
          <a:xfrm>
            <a:off x="4828031" y="2221992"/>
            <a:ext cx="201168" cy="310896"/>
          </a:xfrm>
          <a:prstGeom prst="chevron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66359" y="1691640"/>
            <a:ext cx="1938528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59" y="1691640"/>
            <a:ext cx="73152" cy="1426464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67527" y="1892808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E9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7527" y="1892808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9912A"/>
                </a:solidFill>
                <a:latin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4727" y="1847088"/>
            <a:ext cx="111556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选择通道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6" y="2258568"/>
            <a:ext cx="1517904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查看线路状态并确定路由</a:t>
            </a:r>
          </a:p>
        </p:txBody>
      </p:sp>
      <p:sp>
        <p:nvSpPr>
          <p:cNvPr id="29" name="Chevron 28"/>
          <p:cNvSpPr/>
          <p:nvPr/>
        </p:nvSpPr>
        <p:spPr>
          <a:xfrm>
            <a:off x="7159752" y="2221992"/>
            <a:ext cx="201168" cy="310896"/>
          </a:xfrm>
          <a:prstGeom prst="chevron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79" y="1691640"/>
            <a:ext cx="1938528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1691640"/>
            <a:ext cx="73152" cy="1426464"/>
          </a:xfrm>
          <a:prstGeom prst="rect">
            <a:avLst/>
          </a:prstGeom>
          <a:solidFill>
            <a:srgbClr val="35A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99248" y="1892808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35A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1892808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5A779"/>
                </a:solidFill>
                <a:latin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1847088"/>
            <a:ext cx="1115567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呼出转接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7536" y="2258568"/>
            <a:ext cx="1517904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建立双方或多方通话</a:t>
            </a:r>
          </a:p>
        </p:txBody>
      </p:sp>
      <p:sp>
        <p:nvSpPr>
          <p:cNvPr id="36" name="Chevron 35"/>
          <p:cNvSpPr/>
          <p:nvPr/>
        </p:nvSpPr>
        <p:spPr>
          <a:xfrm>
            <a:off x="9491472" y="2221992"/>
            <a:ext cx="201168" cy="310896"/>
          </a:xfrm>
          <a:prstGeom prst="chevron">
            <a:avLst/>
          </a:prstGeom>
          <a:solidFill>
            <a:srgbClr val="35A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29800" y="1691640"/>
            <a:ext cx="1938528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29800" y="1691640"/>
            <a:ext cx="73152" cy="1426464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30968" y="1892808"/>
            <a:ext cx="347472" cy="347472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30968" y="1892808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B6DEB"/>
                </a:solidFill>
                <a:latin typeface="Microsoft Ya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88168" y="1847088"/>
            <a:ext cx="1115567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归档复核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9256" y="2258568"/>
            <a:ext cx="1517904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保存记录并处理回呼任务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3675887"/>
            <a:ext cx="2743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三条值守原则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133087"/>
            <a:ext cx="3438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4133087"/>
            <a:ext cx="73152" cy="1170432"/>
          </a:xfrm>
          <a:prstGeom prst="rect">
            <a:avLst/>
          </a:prstGeom>
          <a:solidFill>
            <a:srgbClr val="2B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288536"/>
            <a:ext cx="3017519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可靠接入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" y="4700016"/>
            <a:ext cx="30175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先确认通路与语音焦点，再执行后续动作。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59" y="4133087"/>
            <a:ext cx="3438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80559" y="4133087"/>
            <a:ext cx="73152" cy="1170432"/>
          </a:xfrm>
          <a:prstGeom prst="rect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36592" y="4288536"/>
            <a:ext cx="3017519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身份核对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0016" y="4700016"/>
            <a:ext cx="30175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接续前核对岗位、部门或约定口令。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02752" y="4133087"/>
            <a:ext cx="343814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02752" y="4133087"/>
            <a:ext cx="73152" cy="1170432"/>
          </a:xfrm>
          <a:prstGeom prst="rect">
            <a:avLst/>
          </a:prstGeom>
          <a:solidFill>
            <a:srgbClr val="E9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58784" y="4288536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闭环记录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22208" y="4700016"/>
            <a:ext cx="30175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每次呼入、转接、回呼和异常均形成日志。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87968" y="658368"/>
            <a:ext cx="2148840" cy="2148840"/>
          </a:xfrm>
          <a:prstGeom prst="ellipse">
            <a:avLst/>
          </a:prstGeom>
          <a:solidFill>
            <a:srgbClr val="E7F1FF"/>
          </a:solidFill>
          <a:ln w="12700">
            <a:solidFill>
              <a:srgbClr val="2B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9674352" y="1426464"/>
            <a:ext cx="530352" cy="713232"/>
          </a:xfrm>
          <a:prstGeom prst="chevron">
            <a:avLst/>
          </a:prstGeom>
          <a:solidFill>
            <a:srgbClr val="14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65836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73B63"/>
                </a:solidFill>
                <a:latin typeface="Microsoft YaHei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249424"/>
            <a:ext cx="4389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49E9E"/>
                </a:solidFill>
                <a:latin typeface="Microsoft YaHei"/>
              </a:rPr>
              <a:t>THANKS FOR LISTENING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017520"/>
            <a:ext cx="8458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273552"/>
            <a:ext cx="36576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3B63"/>
                </a:solidFill>
                <a:latin typeface="Microsoft YaHei"/>
              </a:rPr>
              <a:t>稳定 · 可控 · 可恢复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675887"/>
            <a:ext cx="72237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14860"/>
                </a:solidFill>
                <a:latin typeface="Microsoft YaHei"/>
              </a:rPr>
              <a:t>人工有线通信链路为应急联络保留可靠的组织保障。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065776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8298"/>
                </a:solidFill>
                <a:latin typeface="Microsoft YaHei"/>
              </a:rPr>
              <a:t>通信保障研究组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4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19088"/>
            <a:ext cx="4206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应急通信保障 · 完整交付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1908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E8298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