
<file path=[Content_Types].xml><?xml version="1.0" encoding="utf-8"?>
<Types xmlns="http://schemas.openxmlformats.org/package/2006/content-types"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embeddings/oleObject1.bin" ContentType="application/vnd.openxmlformats-officedocument.oleObject"/>
  <Override PartName="/ppt/embeddings/oleObject10.bin" ContentType="application/vnd.openxmlformats-officedocument.oleObject"/>
  <Override PartName="/ppt/embeddings/oleObject11.bin" ContentType="application/vnd.openxmlformats-officedocument.oleObject"/>
  <Override PartName="/ppt/embeddings/oleObject12.bin" ContentType="application/vnd.openxmlformats-officedocument.oleObject"/>
  <Override PartName="/ppt/embeddings/oleObject13.bin" ContentType="application/vnd.openxmlformats-officedocument.oleObject"/>
  <Override PartName="/ppt/embeddings/oleObject14.bin" ContentType="application/vnd.openxmlformats-officedocument.oleObject"/>
  <Override PartName="/ppt/embeddings/oleObject15.bin" ContentType="application/vnd.openxmlformats-officedocument.oleObject"/>
  <Override PartName="/ppt/embeddings/oleObject16.bin" ContentType="application/vnd.openxmlformats-officedocument.oleObject"/>
  <Override PartName="/ppt/embeddings/oleObject17.bin" ContentType="application/vnd.openxmlformats-officedocument.oleObject"/>
  <Override PartName="/ppt/embeddings/oleObject18.bin" ContentType="application/vnd.openxmlformats-officedocument.oleObject"/>
  <Override PartName="/ppt/embeddings/oleObject19.bin" ContentType="application/vnd.openxmlformats-officedocument.oleObject"/>
  <Override PartName="/ppt/embeddings/oleObject2.bin" ContentType="application/vnd.openxmlformats-officedocument.oleObject"/>
  <Override PartName="/ppt/embeddings/oleObject20.bin" ContentType="application/vnd.openxmlformats-officedocument.oleObject"/>
  <Override PartName="/ppt/embeddings/oleObject21.bin" ContentType="application/vnd.openxmlformats-officedocument.oleObject"/>
  <Override PartName="/ppt/embeddings/oleObject22.bin" ContentType="application/vnd.openxmlformats-officedocument.oleObject"/>
  <Override PartName="/ppt/embeddings/oleObject23.bin" ContentType="application/vnd.openxmlformats-officedocument.oleObject"/>
  <Override PartName="/ppt/embeddings/oleObject24.bin" ContentType="application/vnd.openxmlformats-officedocument.oleObject"/>
  <Override PartName="/ppt/embeddings/oleObject25.bin" ContentType="application/vnd.openxmlformats-officedocument.oleObject"/>
  <Override PartName="/ppt/embeddings/oleObject26.bin" ContentType="application/vnd.openxmlformats-officedocument.oleObject"/>
  <Override PartName="/ppt/embeddings/oleObject27.bin" ContentType="application/vnd.openxmlformats-officedocument.oleObject"/>
  <Override PartName="/ppt/embeddings/oleObject28.bin" ContentType="application/vnd.openxmlformats-officedocument.oleObject"/>
  <Override PartName="/ppt/embeddings/oleObject29.bin" ContentType="application/vnd.openxmlformats-officedocument.oleObject"/>
  <Override PartName="/ppt/embeddings/oleObject3.bin" ContentType="application/vnd.openxmlformats-officedocument.oleObject"/>
  <Override PartName="/ppt/embeddings/oleObject30.bin" ContentType="application/vnd.openxmlformats-officedocument.oleObject"/>
  <Override PartName="/ppt/embeddings/oleObject31.bin" ContentType="application/vnd.openxmlformats-officedocument.oleObject"/>
  <Override PartName="/ppt/embeddings/oleObject32.bin" ContentType="application/vnd.openxmlformats-officedocument.oleObject"/>
  <Override PartName="/ppt/embeddings/oleObject33.bin" ContentType="application/vnd.openxmlformats-officedocument.oleObject"/>
  <Override PartName="/ppt/embeddings/oleObject34.bin" ContentType="application/vnd.openxmlformats-officedocument.oleObject"/>
  <Override PartName="/ppt/embeddings/oleObject4.bin" ContentType="application/vnd.openxmlformats-officedocument.oleObject"/>
  <Override PartName="/ppt/embeddings/oleObject5.bin" ContentType="application/vnd.openxmlformats-officedocument.oleObject"/>
  <Override PartName="/ppt/embeddings/oleObject6.bin" ContentType="application/vnd.openxmlformats-officedocument.oleObject"/>
  <Override PartName="/ppt/embeddings/oleObject7.bin" ContentType="application/vnd.openxmlformats-officedocument.oleObject"/>
  <Override PartName="/ppt/embeddings/oleObject8.bin" ContentType="application/vnd.openxmlformats-officedocument.oleObject"/>
  <Override PartName="/ppt/embeddings/oleObject9.bin" ContentType="application/vnd.openxmlformats-officedocument.oleObject"/>
  <Override PartName="/ppt/handoutMasters/handoutMaster1.xml" ContentType="application/vnd.openxmlformats-officedocument.presentationml.handoutMaster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61"/>
  </p:notesMasterIdLst>
  <p:handoutMasterIdLst>
    <p:handoutMasterId r:id="rId62"/>
  </p:handoutMasterIdLst>
  <p:sldIdLst>
    <p:sldId id="309" r:id="rId5"/>
    <p:sldId id="310" r:id="rId6"/>
    <p:sldId id="311" r:id="rId7"/>
    <p:sldId id="312" r:id="rId8"/>
    <p:sldId id="313" r:id="rId9"/>
    <p:sldId id="314" r:id="rId10"/>
    <p:sldId id="315" r:id="rId11"/>
    <p:sldId id="316" r:id="rId12"/>
    <p:sldId id="317" r:id="rId13"/>
    <p:sldId id="318" r:id="rId14"/>
    <p:sldId id="319" r:id="rId15"/>
    <p:sldId id="320" r:id="rId16"/>
    <p:sldId id="321" r:id="rId17"/>
    <p:sldId id="322" r:id="rId18"/>
    <p:sldId id="323" r:id="rId19"/>
    <p:sldId id="326" r:id="rId20"/>
    <p:sldId id="258" r:id="rId21"/>
    <p:sldId id="259" r:id="rId22"/>
    <p:sldId id="260" r:id="rId23"/>
    <p:sldId id="261" r:id="rId24"/>
    <p:sldId id="263" r:id="rId25"/>
    <p:sldId id="265" r:id="rId26"/>
    <p:sldId id="269" r:id="rId27"/>
    <p:sldId id="266" r:id="rId28"/>
    <p:sldId id="267" r:id="rId29"/>
    <p:sldId id="268" r:id="rId30"/>
    <p:sldId id="270" r:id="rId31"/>
    <p:sldId id="271" r:id="rId32"/>
    <p:sldId id="272" r:id="rId33"/>
    <p:sldId id="273" r:id="rId34"/>
    <p:sldId id="275" r:id="rId35"/>
    <p:sldId id="279" r:id="rId36"/>
    <p:sldId id="280" r:id="rId37"/>
    <p:sldId id="281" r:id="rId38"/>
    <p:sldId id="282" r:id="rId39"/>
    <p:sldId id="283" r:id="rId40"/>
    <p:sldId id="284" r:id="rId41"/>
    <p:sldId id="285" r:id="rId42"/>
    <p:sldId id="291" r:id="rId43"/>
    <p:sldId id="286" r:id="rId44"/>
    <p:sldId id="287" r:id="rId45"/>
    <p:sldId id="288" r:id="rId46"/>
    <p:sldId id="289" r:id="rId47"/>
    <p:sldId id="292" r:id="rId48"/>
    <p:sldId id="293" r:id="rId49"/>
    <p:sldId id="294" r:id="rId50"/>
    <p:sldId id="295" r:id="rId51"/>
    <p:sldId id="297" r:id="rId52"/>
    <p:sldId id="298" r:id="rId53"/>
    <p:sldId id="296" r:id="rId54"/>
    <p:sldId id="299" r:id="rId55"/>
    <p:sldId id="300" r:id="rId56"/>
    <p:sldId id="302" r:id="rId57"/>
    <p:sldId id="303" r:id="rId58"/>
    <p:sldId id="304" r:id="rId59"/>
    <p:sldId id="307" r:id="rId60"/>
  </p:sldIdLst>
  <p:sldSz cx="12192000" cy="6858000"/>
  <p:notesSz cx="68580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74446C6-5272-489B-8223-1F0E43B0F379}" v="1" dt="2019-06-06T20:23:41.22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115" d="100"/>
          <a:sy n="115" d="100"/>
        </p:scale>
        <p:origin x="1016" y="184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slide" Target="slides/slide8.xml"/><Relationship Id="rId13" Type="http://schemas.openxmlformats.org/officeDocument/2006/relationships/slide" Target="slides/slide9.xml"/><Relationship Id="rId14" Type="http://schemas.openxmlformats.org/officeDocument/2006/relationships/slide" Target="slides/slide10.xml"/><Relationship Id="rId15" Type="http://schemas.openxmlformats.org/officeDocument/2006/relationships/slide" Target="slides/slide11.xml"/><Relationship Id="rId16" Type="http://schemas.openxmlformats.org/officeDocument/2006/relationships/slide" Target="slides/slide12.xml"/><Relationship Id="rId17" Type="http://schemas.openxmlformats.org/officeDocument/2006/relationships/slide" Target="slides/slide13.xml"/><Relationship Id="rId18" Type="http://schemas.openxmlformats.org/officeDocument/2006/relationships/slide" Target="slides/slide14.xml"/><Relationship Id="rId19" Type="http://schemas.openxmlformats.org/officeDocument/2006/relationships/slide" Target="slides/slide15.xml"/><Relationship Id="rId20" Type="http://schemas.openxmlformats.org/officeDocument/2006/relationships/slide" Target="slides/slide16.xml"/><Relationship Id="rId21" Type="http://schemas.openxmlformats.org/officeDocument/2006/relationships/slide" Target="slides/slide17.xml"/><Relationship Id="rId22" Type="http://schemas.openxmlformats.org/officeDocument/2006/relationships/slide" Target="slides/slide18.xml"/><Relationship Id="rId23" Type="http://schemas.openxmlformats.org/officeDocument/2006/relationships/slide" Target="slides/slide19.xml"/><Relationship Id="rId24" Type="http://schemas.openxmlformats.org/officeDocument/2006/relationships/slide" Target="slides/slide20.xml"/><Relationship Id="rId25" Type="http://schemas.openxmlformats.org/officeDocument/2006/relationships/slide" Target="slides/slide21.xml"/><Relationship Id="rId26" Type="http://schemas.openxmlformats.org/officeDocument/2006/relationships/slide" Target="slides/slide22.xml"/><Relationship Id="rId27" Type="http://schemas.openxmlformats.org/officeDocument/2006/relationships/slide" Target="slides/slide23.xml"/><Relationship Id="rId28" Type="http://schemas.openxmlformats.org/officeDocument/2006/relationships/slide" Target="slides/slide24.xml"/><Relationship Id="rId29" Type="http://schemas.openxmlformats.org/officeDocument/2006/relationships/slide" Target="slides/slide25.xml"/><Relationship Id="rId30" Type="http://schemas.openxmlformats.org/officeDocument/2006/relationships/slide" Target="slides/slide26.xml"/><Relationship Id="rId31" Type="http://schemas.openxmlformats.org/officeDocument/2006/relationships/slide" Target="slides/slide27.xml"/><Relationship Id="rId32" Type="http://schemas.openxmlformats.org/officeDocument/2006/relationships/slide" Target="slides/slide28.xml"/><Relationship Id="rId33" Type="http://schemas.openxmlformats.org/officeDocument/2006/relationships/slide" Target="slides/slide29.xml"/><Relationship Id="rId34" Type="http://schemas.openxmlformats.org/officeDocument/2006/relationships/slide" Target="slides/slide30.xml"/><Relationship Id="rId35" Type="http://schemas.openxmlformats.org/officeDocument/2006/relationships/slide" Target="slides/slide31.xml"/><Relationship Id="rId36" Type="http://schemas.openxmlformats.org/officeDocument/2006/relationships/slide" Target="slides/slide32.xml"/><Relationship Id="rId37" Type="http://schemas.openxmlformats.org/officeDocument/2006/relationships/slide" Target="slides/slide33.xml"/><Relationship Id="rId38" Type="http://schemas.openxmlformats.org/officeDocument/2006/relationships/slide" Target="slides/slide34.xml"/><Relationship Id="rId39" Type="http://schemas.openxmlformats.org/officeDocument/2006/relationships/slide" Target="slides/slide35.xml"/><Relationship Id="rId40" Type="http://schemas.openxmlformats.org/officeDocument/2006/relationships/slide" Target="slides/slide36.xml"/><Relationship Id="rId41" Type="http://schemas.openxmlformats.org/officeDocument/2006/relationships/slide" Target="slides/slide37.xml"/><Relationship Id="rId42" Type="http://schemas.openxmlformats.org/officeDocument/2006/relationships/slide" Target="slides/slide38.xml"/><Relationship Id="rId43" Type="http://schemas.openxmlformats.org/officeDocument/2006/relationships/slide" Target="slides/slide39.xml"/><Relationship Id="rId44" Type="http://schemas.openxmlformats.org/officeDocument/2006/relationships/slide" Target="slides/slide40.xml"/><Relationship Id="rId45" Type="http://schemas.openxmlformats.org/officeDocument/2006/relationships/slide" Target="slides/slide41.xml"/><Relationship Id="rId46" Type="http://schemas.openxmlformats.org/officeDocument/2006/relationships/slide" Target="slides/slide42.xml"/><Relationship Id="rId47" Type="http://schemas.openxmlformats.org/officeDocument/2006/relationships/slide" Target="slides/slide43.xml"/><Relationship Id="rId48" Type="http://schemas.openxmlformats.org/officeDocument/2006/relationships/slide" Target="slides/slide44.xml"/><Relationship Id="rId49" Type="http://schemas.openxmlformats.org/officeDocument/2006/relationships/slide" Target="slides/slide45.xml"/><Relationship Id="rId50" Type="http://schemas.openxmlformats.org/officeDocument/2006/relationships/slide" Target="slides/slide46.xml"/><Relationship Id="rId51" Type="http://schemas.openxmlformats.org/officeDocument/2006/relationships/slide" Target="slides/slide47.xml"/><Relationship Id="rId52" Type="http://schemas.openxmlformats.org/officeDocument/2006/relationships/slide" Target="slides/slide48.xml"/><Relationship Id="rId53" Type="http://schemas.openxmlformats.org/officeDocument/2006/relationships/slide" Target="slides/slide49.xml"/><Relationship Id="rId54" Type="http://schemas.openxmlformats.org/officeDocument/2006/relationships/slide" Target="slides/slide50.xml"/><Relationship Id="rId55" Type="http://schemas.openxmlformats.org/officeDocument/2006/relationships/slide" Target="slides/slide51.xml"/><Relationship Id="rId56" Type="http://schemas.openxmlformats.org/officeDocument/2006/relationships/slide" Target="slides/slide52.xml"/><Relationship Id="rId57" Type="http://schemas.openxmlformats.org/officeDocument/2006/relationships/slide" Target="slides/slide53.xml"/><Relationship Id="rId58" Type="http://schemas.openxmlformats.org/officeDocument/2006/relationships/slide" Target="slides/slide54.xml"/><Relationship Id="rId59" Type="http://schemas.openxmlformats.org/officeDocument/2006/relationships/slide" Target="slides/slide55.xml"/><Relationship Id="rId60" Type="http://schemas.openxmlformats.org/officeDocument/2006/relationships/slide" Target="slides/slide56.xml"/><Relationship Id="rId61" Type="http://schemas.openxmlformats.org/officeDocument/2006/relationships/notesMaster" Target="notesMasters/notesMaster1.xml"/><Relationship Id="rId62" Type="http://schemas.openxmlformats.org/officeDocument/2006/relationships/handoutMaster" Target="handoutMasters/handout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Relationship Id="rId67" Type="http://schemas.microsoft.com/office/2016/11/relationships/changesInfo" Target="changesInfos/changesInfo1.xml"/><Relationship Id="rId6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fat Mubin" userId="dc6a1e62-72c0-4c76-8ca7-61486d5983ae" providerId="ADAL" clId="{D74446C6-5272-489B-8223-1F0E43B0F379}"/>
    <pc:docChg chg="modSld">
      <pc:chgData name="Shafat Mubin" userId="dc6a1e62-72c0-4c76-8ca7-61486d5983ae" providerId="ADAL" clId="{D74446C6-5272-489B-8223-1F0E43B0F379}" dt="2019-06-06T20:23:41.166" v="0"/>
      <pc:docMkLst>
        <pc:docMk/>
      </pc:docMkLst>
      <pc:sldChg chg="modTransition">
        <pc:chgData name="Shafat Mubin" userId="dc6a1e62-72c0-4c76-8ca7-61486d5983ae" providerId="ADAL" clId="{D74446C6-5272-489B-8223-1F0E43B0F379}" dt="2019-06-06T20:23:41.166" v="0"/>
        <pc:sldMkLst>
          <pc:docMk/>
          <pc:sldMk cId="0" sldId="264"/>
        </pc:sldMkLst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DFA51F-A9A0-4739-82E7-7D3224C371E7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5B6FAA-E4AA-4956-961C-48517B3A489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731560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19T19:56:39.279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23812 8132 0,'0'-18'63,"0"0"-48,0 1 1,18 17 0,0-18-1,-1 18-15,-17-18 31,18 18-31,0 0 16,-1 0 0,1 0-16,0 0 15,-1 0-15,1 0 16,0 0-16,-1 36 16,1-19-1,-1 1 1,1 0-16,0-18 15,-1 17-15,1-17 16,0 0-16,-1 0 16,1 0-16,0-17 15,17 17-15,-35-18 16,17 18-16,1 0 16,-18-18-16,18 1 15,-1-1 1,1 18-16,0-18 15,-18 1 1,-36 17 0,19 0-1</inkml:trace>
  <inkml:trace contextRef="#ctx0" brushRef="#br0" timeOffset="1159.68">23830 8326 0,'18'0'78,"-1"0"-78,1 0 16,0 0 15,17 0-15,-17 0-16,-1 0 15,19 0-15,-19 0 16,1 0-16,-1 0 31,-17 17-31,18-17 16,0 18 0,-1-1-16,1 1 15,0-18 1,-1 18-16,1-18 15,-18 17 1,18-17-16,-1 0 16,1 0-1,-18-17 1,17 17-16,1-18 0,0 18 16,-1 0-1,-17-35 1,18 35-16,-36 0 78,1 0-62,-1 0-16</inkml:trace>
  <inkml:trace contextRef="#ctx0" brushRef="#br0" timeOffset="2232.78">24800 7973 0,'18'0'16,"0"17"46,-18 1-62,0 17 16,0-17-16,17 0 16,1 17-16,-18 18 15,0-36-15,17 19 16,-17-19 0,0 19-16,18-19 15,-18 1-15,0 0 31,0-1-15,0 1 0,0-1-16,0 1 15,18-18 1,-18 18-16,-18-18 78,0-18-62</inkml:trace>
  <inkml:trace contextRef="#ctx0" brushRef="#br0" timeOffset="3456.89">24783 8043 0,'0'18'16,"0"0"93,0-1-93,-18 1 0,18 0-1,0-1 1,0 1 15,0-1-15,-18-17-1</inkml:trace>
  <inkml:trace contextRef="#ctx0" brushRef="#br0" timeOffset="4288.84">24783 8396 0,'0'18'15,"17"-18"48,1 0-48,0 17 1,17-17-16,0 0 16,-17 0-16,-1 0 15,19 0-15,-19 0 16,1 0-16,-53 0 125,17 0-109,0 0-16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36:39.730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14676 11130 0,'0'18'172,"0"-1"-156,0 1 0,0 0-1,0-1 1,0 1-1,0 0 1,0-1-16,0 1 16,0 17-1,0-17 1,-18-1 15,18 1-15,0 0-16,0-1 15,0 1 1,-18-18 0,18 18-16,0-1 15,0 1 1,0 0 0,0-1-1,0 1-15,0-1 31,0 1-15,0 0 0,0-1-1,0 1-15,0 0 16,0 17 0,0-17-16,0 17 15,0 0 1,0 0-1,0-17-15,0 0 16,0-1 0,0 1-16,0 0 31,0-1-15,0 1-16,0 0 15,0-1 1,0 1-16,0-1 15,0 1-15,0 0 16,0-1-16,0 1 16,0 0-16,0-1 15,0 1 1,0 0-16,0-1 16,0 18-1,0-17-15,0 17 16,0-17-1,-17 0 1,17-1-16,0 1 16,0 0-1,0 17 1,0-18-16,0 1 16,0 0-16,0-1 15,-18 1-15,18 0 16,0-1-16,0 1 31,0 0-15,0-1 15,0 1-31,0 0 16,0-1-1,0 1 1,0-1-1,0 1 1,-18 0-16,18-1 16,0 1-16,0 17 15,0-17-15,0 0 16,0-1-16,0 1 16,0-1-16,0 19 15,0-19-15,0 19 16,0-19-1,0 19-15,0-19 16,0 19-16,0-1 16,0-18-16,0 1 15,0 0-15,-17 17 16,-1-17 0,18-1-16,0 19 15,0-19-15,0 1 16,0-1-16,0 1 15,-18 0-15,18 35 16,0-36-16,-17 19 16,17-19-16,0 18 15,0 18-15,0 0 16,0-17-16,-18 16 16,18-34-16,0 35 15,0-35-15,0 17 16,0 18-16,0-18 15,0 0-15,0 1 16,0-19-16,0 19 16,0-1-16,0 0 15,0-17-15,0-1 16,0 36-16,0-35 16,0 17-1,0 1-15,0-19 16,0 19-16,0-19 15,0 18 1,0-17-16,0 0 0,0-1 16,0 1-1,0 0-15,0-1 16,0 1 0,0 0-16,0-1 15,0 1 32,0-1-31,0 1-1,-17-18 1,-19 0-16</inkml:trace>
  <inkml:trace contextRef="#ctx0" brushRef="#br0" timeOffset="1135.02">14358 10495 0,'0'18'62,"0"-1"-46,18-17-16,-18 18 15,0 35-15,35-18 16,-17 1-16,-18-1 16,17 0-16,1 0 15,-18 1-15,18-1 16,-18-17-1,17-18 1,-34 0 31,-1-36-47,0 36 16</inkml:trace>
  <inkml:trace contextRef="#ctx0" brushRef="#br0" timeOffset="1799.5">14358 10478 0,'18'0'16,"-1"0"-1,1 17-15,17-17 16,18 18-16,-18 17 16,1-17-16,17 17 15,17 0-15,-35-17 16,-17 0-16,17 17 16,-17-18-1,0-17 1,-18-17 62,-18-18-78,0 17 16,1-17-16,-1-18 15,-17 17-15,17 1 16,18 0-16,0 0 15,-17-1-15,17 1 16,0 17 0,-18 18 31,0 0-16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1T19:51:17.488"/>
    </inkml:context>
    <inkml:brush xml:id="br0">
      <inkml:brushProperty name="width" value="0.05292" units="cm"/>
      <inkml:brushProperty name="height" value="0.05292" units="cm"/>
      <inkml:brushProperty name="color" value="#7030A0"/>
    </inkml:brush>
  </inkml:definitions>
  <inkml:trace contextRef="#ctx0" brushRef="#br0">8043 15381 0,'18'0'78,"-18"18"-78,18-18 31,-18 17 0,17-17-31,1 0 47,0 0-31,-1 0-1,1 0 1,-1 18 0,1-18-16,0 0 15,-1 0 1,19 0 15,-19 0-15,1 0-1,0 0 1,-1 0-16,18 0 16,-17 0-16,0 0 15,-1-18 1,1 18-16,0 0 47,-1 0-32,1 0 1,0 0 0,-1 0-16,1 0 15,-1 0 1,1 0 0,17 0-16,-17 0 15,17 0-15,-17 0 16,0 0-16,-1 0 15,1-17-15,17 17 16,-17 0-16,-1-18 16,1 18-1,0 0-15,-1 0 16,1 0 0,0 0-1,-1 0 1,1 0-1,0 0 1,-1 0 0,1 0-1,-1 0-15,1 0 32,0 0-17,-18-18-15,35 18 16,-17 0-1,-1 0 1,1 0 0,0 0-16,17 0 15,-17 0 1,-1 0-16,1 0 16,-1 0-1,1 0-15,0 0 16,-1 0-1,1 0-15,0 0 16,-1 0 0,1 0-16,0 0 15,-1 0 1,1 0 0,-1 0-1,1-17-15,0 17 16,-1 0-16,1 0 15,0 0-15,-1 0 16,1 0 15,0 0-15,-1 0 0,1 0-1,-1 0 1,1 0 15,0 0-15,-1 0-1,1 0 17,0 0-17,-1 0-15,1 0 16,0 0 15,-1 0-15,1 0-16,-1 0 15,1 0 17,0 0-17,-1 0 1,1 0-1,0 0-15,17 0 16,-17 0-16,-1 0 16,1 0-16,-18-18 15,18 18-15,-1 0 16,1 0 0,-1 0-1,1 0-15,0 0 16,-1 0-1,1 0 1,-18-17 0,18 17-1,-1 0-15,1 0 16,0 0 0,-1 0-16,1 0 15,-1 0 1,1 0-1,0 0 1,-1 0 0,1 0-16,0 0 15,-1 0-15,1 0 16,0-18 0,-1 18-16,1 0 15,0 0-15,-1 0 16,1 0-1,-1 0-15,1 0 16,0 0-16,-1 0 16,1 0-16,17 0 15,-17 0 1,17 0-16,-17 0 16,17-18-1,-17 18 1,-1 0-16,1 0 0,0 0 15,-1 0 1,1 0 0,0 0-1,-1 0-15,1 0 16,-1 0 15,-34 0 63,-36 0-78,0 0-16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36.43264" units="1/cm"/>
          <inkml:channelProperty channel="Y" name="resolution" value="36.48649" units="1/cm"/>
          <inkml:channelProperty channel="T" name="resolution" value="1" units="1/dev"/>
        </inkml:channelProperties>
      </inkml:inkSource>
      <inkml:timestamp xml:id="ts0" timeString="2021-01-26T19:09:59.018"/>
    </inkml:context>
    <inkml:brush xml:id="br0">
      <inkml:brushProperty name="width" value="0.05292" units="cm"/>
      <inkml:brushProperty name="height" value="0.05292" units="cm"/>
    </inkml:brush>
  </inkml:definitions>
  <inkml:trace contextRef="#ctx0" brushRef="#br0">10513 11289 0,'0'18'16,"17"-18"46,1 0-62,0 0 16,17 0 15,0 0-15,36 0-1,-54 0 1,19-18 0,17 18-1,-36 0 1,19 0-1,-19 0 1,1 0-16,-1 0 31,-34 0 16,-1 0-31</inkml:trace>
  <inkml:trace contextRef="#ctx0" brushRef="#br0" timeOffset="637.63">10689 11342 0,'0'17'63,"0"1"-48,0 0-15,0 17 16,0 18 0,0 0-1,0 17 1,0-52-1,0 35 1,0-35 0,0-1-1,-17-17 48,-1 0-48</inkml:trace>
  <inkml:trace contextRef="#ctx0" brushRef="#br0" timeOffset="1293.19">10548 11695 0,'0'17'16,"18"-17"-1,-1 0 1,1 0 0,0 0-1,-1 0 1,36 0 0,-35 0-16,88 0 31,-53 0 0,-36 0 0</inkml:trace>
  <inkml:trace contextRef="#ctx0" brushRef="#br0" timeOffset="2734.86">11024 11553 0,'0'18'109,"0"17"-93,18-17 0,0 17 15,-18 18 0,0-35 0,0-53 47,0-1-46,0-52-1,35 70 0,0 1 0,18 34 1,-35 36-1,-18-17 0,17-1 16,-17-17-16,-17-18 16,17-18-16,0-17 1,0 17-17,35-35 17,-17 53-17,17 0 32,-17 0-31,-1 53 15,1-18-15,17 18 15,-17-35-16</inkml:trace>
  <inkml:trace contextRef="#ctx0" brushRef="#br0" timeOffset="3778.93">11606 11536 0,'0'-18'15,"0"36"32,-17-18-16,-1 0-15,-17 17 15,17-17-15,18 36-16,-17-36 16,17 53 15,0-36-16,0 1 1,17-18 0,1 0-1,-1 0 1,1-18 0,17-17-1,-35 17 1,18 18-1,-18-17 17,18 17 15,-18 17-32,17 19 1,19-1-1,-19 18 1,-17-18 0,18 0-1,-18 18 1,0-35 0,0 17-1,-18-17 16,1 0-15,-1-18-16,0 0 16,1 0-1,-1 0 17,0 0-17,1 0 1,-36-18-1</inkml:trace>
  <inkml:trace contextRef="#ctx0" brushRef="#br0" timeOffset="4862.58">12118 11271 0,'0'18'125,"0"0"-109,0-1-1,0 1 1,0 17 0,0 0-1,18 1 1,-18 17 0,17-36-1,-17 1-15,0-1 16,0 1 78,0 0-94,0-1 31,-17-17 47,-1 0-62,-17-17-1</inkml:trace>
  <inkml:trace contextRef="#ctx0" brushRef="#br0" timeOffset="5763.13">12083 11307 0,'17'0'16,"-17"17"77,0 1-77,0-1 0,-35 19 15,17 17 0,1-53 94</inkml:trace>
  <inkml:trace contextRef="#ctx0" brushRef="#br0" timeOffset="6639.15">12030 11624 0,'17'0'78,"1"0"-62,17 0 15,18 0 0,-18 0 0,-17 0 16,0 0-15,-1 0-1,-34-18 94,17 1-110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64BA517-EEC1-4800-916A-6C11A3641E6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0200" y="696913"/>
            <a:ext cx="61976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15790"/>
            <a:ext cx="5486400" cy="4183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29967"/>
            <a:ext cx="2971800" cy="4648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26823E3-FCDA-4568-92D7-BB8B89352BD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696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799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818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2819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2820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DB0AE6A8-77A5-45BD-8BE9-1657B2A295BA}" type="slidenum">
              <a:rPr lang="en-US" smtClean="0">
                <a:latin typeface="Calibri" pitchFamily="34" charset="0"/>
              </a:rPr>
              <a:pPr eaLnBrk="1" hangingPunct="1"/>
              <a:t>15</a:t>
            </a:fld>
            <a:endParaRPr lang="en-US">
              <a:latin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66900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Ibn</a:t>
            </a:r>
            <a:r>
              <a:rPr lang="en-US" dirty="0"/>
              <a:t> </a:t>
            </a:r>
            <a:r>
              <a:rPr lang="en-US" dirty="0" err="1"/>
              <a:t>Sahl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5626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0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30200" y="696913"/>
            <a:ext cx="61976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5891" name="Notes Placeholder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>
              <a:ea typeface="ＭＳ Ｐゴシック" pitchFamily="34" charset="-128"/>
            </a:endParaRPr>
          </a:p>
        </p:txBody>
      </p:sp>
      <p:sp>
        <p:nvSpPr>
          <p:cNvPr id="165892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34852" indent="-282635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30541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582758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34974" indent="-226108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487191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39407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391624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43840" indent="-226108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fld id="{AF2EE893-7A69-4B06-81E3-FEA218165306}" type="slidenum">
              <a:rPr lang="en-US" smtClean="0">
                <a:latin typeface="Calibri" pitchFamily="34" charset="0"/>
              </a:rPr>
              <a:pPr eaLnBrk="1" hangingPunct="1"/>
              <a:t>23</a:t>
            </a:fld>
            <a:endParaRPr lang="en-US">
              <a:latin typeface="Calibri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30200" y="696913"/>
            <a:ext cx="6197600" cy="348615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EB0686E-D0C6-4576-96EC-43AB67CEECB2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F95369-DC23-4481-B9D6-E584A879EF32}" type="datetimeFigureOut">
              <a:rPr lang="en-US" smtClean="0"/>
              <a:t>7/30/25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031C1D-26FA-4620-9291-F5FB380C102D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youtu.be/EaHn3hV84FE" TargetMode="Externa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jpeg"/><Relationship Id="rId3" Type="http://schemas.openxmlformats.org/officeDocument/2006/relationships/image" Target="../media/image2.jpe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.bin"/><Relationship Id="rId3" Type="http://schemas.openxmlformats.org/officeDocument/2006/relationships/image" Target="../media/image3.wmf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.bin"/><Relationship Id="rId3" Type="http://schemas.openxmlformats.org/officeDocument/2006/relationships/image" Target="../media/image4.wmf"/><Relationship Id="rId4" Type="http://schemas.openxmlformats.org/officeDocument/2006/relationships/oleObject" Target="../embeddings/oleObject3.bin"/><Relationship Id="rId5" Type="http://schemas.openxmlformats.org/officeDocument/2006/relationships/image" Target="../media/image5.wmf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wmf"/><Relationship Id="rId3" Type="http://schemas.openxmlformats.org/officeDocument/2006/relationships/oleObject" Target="../embeddings/oleObject4.bin"/><Relationship Id="rId4" Type="http://schemas.openxmlformats.org/officeDocument/2006/relationships/image" Target="../media/image5.wmf"/><Relationship Id="rId5" Type="http://schemas.openxmlformats.org/officeDocument/2006/relationships/oleObject" Target="../embeddings/oleObject5.bin"/><Relationship Id="rId6" Type="http://schemas.openxmlformats.org/officeDocument/2006/relationships/image" Target="../media/image7.wmf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wmf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6.bin"/><Relationship Id="rId3" Type="http://schemas.openxmlformats.org/officeDocument/2006/relationships/image" Target="../media/image9.wmf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1.xml"/><Relationship Id="rId3" Type="http://schemas.openxmlformats.org/officeDocument/2006/relationships/image" Target="../media/image20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oleObject" Target="../embeddings/oleObject7.bin"/><Relationship Id="rId4" Type="http://schemas.openxmlformats.org/officeDocument/2006/relationships/image" Target="../media/image10.wmf"/><Relationship Id="rId5" Type="http://schemas.openxmlformats.org/officeDocument/2006/relationships/image" Target="../media/image1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8.bin"/><Relationship Id="rId3" Type="http://schemas.openxmlformats.org/officeDocument/2006/relationships/image" Target="../media/image12.wmf"/><Relationship Id="rId4" Type="http://schemas.openxmlformats.org/officeDocument/2006/relationships/oleObject" Target="../embeddings/oleObject9.bin"/><Relationship Id="rId5" Type="http://schemas.openxmlformats.org/officeDocument/2006/relationships/image" Target="../media/image13.wmf"/><Relationship Id="rId6" Type="http://schemas.openxmlformats.org/officeDocument/2006/relationships/oleObject" Target="../embeddings/oleObject10.bin"/><Relationship Id="rId7" Type="http://schemas.openxmlformats.org/officeDocument/2006/relationships/image" Target="../media/image14.wmf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oleObject" Target="../embeddings/oleObject11.bin"/><Relationship Id="rId4" Type="http://schemas.openxmlformats.org/officeDocument/2006/relationships/image" Target="../media/image15.wmf"/><Relationship Id="rId5" Type="http://schemas.openxmlformats.org/officeDocument/2006/relationships/oleObject" Target="../embeddings/oleObject12.bin"/><Relationship Id="rId6" Type="http://schemas.openxmlformats.org/officeDocument/2006/relationships/image" Target="../media/image16.wmf"/><Relationship Id="rId7" Type="http://schemas.openxmlformats.org/officeDocument/2006/relationships/oleObject" Target="../embeddings/oleObject13.bin"/><Relationship Id="rId8" Type="http://schemas.openxmlformats.org/officeDocument/2006/relationships/image" Target="../media/image17.wmf"/><Relationship Id="rId9" Type="http://schemas.openxmlformats.org/officeDocument/2006/relationships/oleObject" Target="../embeddings/oleObject14.bin"/><Relationship Id="rId10" Type="http://schemas.openxmlformats.org/officeDocument/2006/relationships/image" Target="../media/image18.wmf"/><Relationship Id="rId11" Type="http://schemas.openxmlformats.org/officeDocument/2006/relationships/oleObject" Target="../embeddings/oleObject15.bin"/><Relationship Id="rId12" Type="http://schemas.openxmlformats.org/officeDocument/2006/relationships/image" Target="../media/image19.wmf"/><Relationship Id="rId13" Type="http://schemas.openxmlformats.org/officeDocument/2006/relationships/oleObject" Target="../embeddings/oleObject16.bin"/><Relationship Id="rId14" Type="http://schemas.openxmlformats.org/officeDocument/2006/relationships/image" Target="../media/image20.wmf"/><Relationship Id="rId15" Type="http://schemas.openxmlformats.org/officeDocument/2006/relationships/oleObject" Target="../embeddings/oleObject17.bin"/><Relationship Id="rId16" Type="http://schemas.openxmlformats.org/officeDocument/2006/relationships/image" Target="../media/image21.wmf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0.png"/><Relationship Id="rId3" Type="http://schemas.openxmlformats.org/officeDocument/2006/relationships/image" Target="../media/image230.png"/><Relationship Id="rId4" Type="http://schemas.openxmlformats.org/officeDocument/2006/relationships/image" Target="../media/image22.gif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18.bin"/><Relationship Id="rId3" Type="http://schemas.openxmlformats.org/officeDocument/2006/relationships/image" Target="../media/image23.wmf"/><Relationship Id="rId4" Type="http://schemas.openxmlformats.org/officeDocument/2006/relationships/oleObject" Target="../embeddings/oleObject19.bin"/><Relationship Id="rId5" Type="http://schemas.openxmlformats.org/officeDocument/2006/relationships/image" Target="../media/image12.wmf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0.bin"/><Relationship Id="rId3" Type="http://schemas.openxmlformats.org/officeDocument/2006/relationships/image" Target="../media/image24.wmf"/><Relationship Id="rId4" Type="http://schemas.openxmlformats.org/officeDocument/2006/relationships/oleObject" Target="../embeddings/oleObject21.bin"/><Relationship Id="rId5" Type="http://schemas.openxmlformats.org/officeDocument/2006/relationships/image" Target="../media/image25.wmf"/><Relationship Id="rId6" Type="http://schemas.openxmlformats.org/officeDocument/2006/relationships/oleObject" Target="../embeddings/oleObject22.bin"/><Relationship Id="rId7" Type="http://schemas.openxmlformats.org/officeDocument/2006/relationships/image" Target="../media/image26.wmf"/><Relationship Id="rId8" Type="http://schemas.openxmlformats.org/officeDocument/2006/relationships/image" Target="../media/image27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3.bin"/><Relationship Id="rId3" Type="http://schemas.openxmlformats.org/officeDocument/2006/relationships/image" Target="../media/image28.wmf"/><Relationship Id="rId4" Type="http://schemas.openxmlformats.org/officeDocument/2006/relationships/customXml" Target="../ink/ink2.xml"/><Relationship Id="rId6" Type="http://schemas.openxmlformats.org/officeDocument/2006/relationships/image" Target="../media/image34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4.bin"/><Relationship Id="rId3" Type="http://schemas.openxmlformats.org/officeDocument/2006/relationships/image" Target="../media/image29.wmf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5.bin"/><Relationship Id="rId3" Type="http://schemas.openxmlformats.org/officeDocument/2006/relationships/image" Target="../media/image30.wmf"/><Relationship Id="rId4" Type="http://schemas.openxmlformats.org/officeDocument/2006/relationships/oleObject" Target="../embeddings/oleObject26.bin"/><Relationship Id="rId5" Type="http://schemas.openxmlformats.org/officeDocument/2006/relationships/image" Target="../media/image31.wmf"/><Relationship Id="rId7" Type="http://schemas.openxmlformats.org/officeDocument/2006/relationships/image" Target="../media/image340.png"/><Relationship Id="rId8" Type="http://schemas.openxmlformats.org/officeDocument/2006/relationships/image" Target="../media/image350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3.xml"/><Relationship Id="rId3" Type="http://schemas.openxmlformats.org/officeDocument/2006/relationships/image" Target="../media/image4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7.bin"/><Relationship Id="rId3" Type="http://schemas.openxmlformats.org/officeDocument/2006/relationships/image" Target="../media/image3.wmf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28.bin"/><Relationship Id="rId3" Type="http://schemas.openxmlformats.org/officeDocument/2006/relationships/image" Target="../media/image32.wmf"/><Relationship Id="rId4" Type="http://schemas.openxmlformats.org/officeDocument/2006/relationships/oleObject" Target="../embeddings/oleObject29.bin"/><Relationship Id="rId5" Type="http://schemas.openxmlformats.org/officeDocument/2006/relationships/image" Target="../media/image33.wmf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0.bin"/><Relationship Id="rId3" Type="http://schemas.openxmlformats.org/officeDocument/2006/relationships/image" Target="../media/image3.wmf"/><Relationship Id="rId4" Type="http://schemas.openxmlformats.org/officeDocument/2006/relationships/oleObject" Target="../embeddings/oleObject31.bin"/><Relationship Id="rId5" Type="http://schemas.openxmlformats.org/officeDocument/2006/relationships/image" Target="../media/image34.wmf"/><Relationship Id="rId6" Type="http://schemas.openxmlformats.org/officeDocument/2006/relationships/oleObject" Target="../embeddings/oleObject32.bin"/><Relationship Id="rId7" Type="http://schemas.openxmlformats.org/officeDocument/2006/relationships/image" Target="../media/image35.wmf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oleObject" Target="../embeddings/oleObject33.bin"/><Relationship Id="rId3" Type="http://schemas.openxmlformats.org/officeDocument/2006/relationships/image" Target="../media/image36.wmf"/><Relationship Id="rId4" Type="http://schemas.openxmlformats.org/officeDocument/2006/relationships/oleObject" Target="../embeddings/oleObject34.bin"/><Relationship Id="rId5" Type="http://schemas.openxmlformats.org/officeDocument/2006/relationships/image" Target="../media/image37.wmf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customXml" Target="../ink/ink4.xml"/><Relationship Id="rId3" Type="http://schemas.openxmlformats.org/officeDocument/2006/relationships/image" Target="../media/image46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3124200" y="1981200"/>
            <a:ext cx="62484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 err="1">
                <a:latin typeface="+mj-lt"/>
              </a:rPr>
              <a:t>Youtube</a:t>
            </a:r>
            <a:r>
              <a:rPr lang="en-US" sz="2400" b="1" dirty="0">
                <a:latin typeface="+mj-lt"/>
              </a:rPr>
              <a:t>:</a:t>
            </a:r>
          </a:p>
          <a:p>
            <a:pPr>
              <a:defRPr/>
            </a:pPr>
            <a:endParaRPr lang="en-US" sz="2400" b="1" dirty="0">
              <a:latin typeface="+mj-lt"/>
            </a:endParaRPr>
          </a:p>
          <a:p>
            <a:pPr algn="ctr">
              <a:defRPr/>
            </a:pPr>
            <a:r>
              <a:rPr lang="en-US" sz="2400" b="1" dirty="0">
                <a:latin typeface="+mj-lt"/>
                <a:hlinkClick r:id="rId2"/>
              </a:rPr>
              <a:t>https://youtu.be/EaHn3hV84FE</a:t>
            </a:r>
            <a:r>
              <a:rPr lang="en-US" sz="2400" b="1" dirty="0">
                <a:latin typeface="+mj-lt"/>
              </a:rPr>
              <a:t> 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4101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60"/>
          <p:cNvGrpSpPr>
            <a:grpSpLocks/>
          </p:cNvGrpSpPr>
          <p:nvPr/>
        </p:nvGrpSpPr>
        <p:grpSpPr bwMode="auto">
          <a:xfrm>
            <a:off x="6656389" y="2560639"/>
            <a:ext cx="860425" cy="4022725"/>
            <a:chOff x="5132387" y="2560638"/>
            <a:chExt cx="860426" cy="4022725"/>
          </a:xfrm>
        </p:grpSpPr>
        <p:cxnSp>
          <p:nvCxnSpPr>
            <p:cNvPr id="63" name="Straight Connector 62"/>
            <p:cNvCxnSpPr/>
            <p:nvPr/>
          </p:nvCxnSpPr>
          <p:spPr bwMode="auto">
            <a:xfrm rot="10800000" flipV="1">
              <a:off x="5764213" y="2560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Connector 64"/>
            <p:cNvCxnSpPr/>
            <p:nvPr/>
          </p:nvCxnSpPr>
          <p:spPr bwMode="auto">
            <a:xfrm rot="10800000" flipV="1">
              <a:off x="5507037" y="30178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Connector 65"/>
            <p:cNvCxnSpPr/>
            <p:nvPr/>
          </p:nvCxnSpPr>
          <p:spPr bwMode="auto">
            <a:xfrm rot="10800000" flipV="1">
              <a:off x="5297487" y="3511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Connector 66"/>
            <p:cNvCxnSpPr/>
            <p:nvPr/>
          </p:nvCxnSpPr>
          <p:spPr bwMode="auto">
            <a:xfrm rot="10800000" flipV="1">
              <a:off x="5178424" y="4032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9" name="Straight Connector 68"/>
            <p:cNvCxnSpPr/>
            <p:nvPr/>
          </p:nvCxnSpPr>
          <p:spPr bwMode="auto">
            <a:xfrm rot="10800000">
              <a:off x="5764213" y="65833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1" name="Straight Connector 70"/>
            <p:cNvCxnSpPr/>
            <p:nvPr/>
          </p:nvCxnSpPr>
          <p:spPr bwMode="auto">
            <a:xfrm rot="10800000">
              <a:off x="5508624" y="6126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Straight Connector 74"/>
            <p:cNvCxnSpPr/>
            <p:nvPr/>
          </p:nvCxnSpPr>
          <p:spPr bwMode="auto">
            <a:xfrm rot="10800000">
              <a:off x="5299074" y="56324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6" name="Straight Connector 75"/>
            <p:cNvCxnSpPr/>
            <p:nvPr/>
          </p:nvCxnSpPr>
          <p:spPr bwMode="auto">
            <a:xfrm rot="10800000">
              <a:off x="5180012" y="51117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Straight Connector 76"/>
            <p:cNvCxnSpPr/>
            <p:nvPr/>
          </p:nvCxnSpPr>
          <p:spPr bwMode="auto">
            <a:xfrm rot="10800000" flipV="1">
              <a:off x="5132387" y="45720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03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Convex Mirrors: Summary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28" name="Arc 27"/>
          <p:cNvSpPr/>
          <p:nvPr/>
        </p:nvSpPr>
        <p:spPr bwMode="auto">
          <a:xfrm rot="10800000">
            <a:off x="6629400" y="1143000"/>
            <a:ext cx="6858000" cy="6858000"/>
          </a:xfrm>
          <a:prstGeom prst="arc">
            <a:avLst>
              <a:gd name="adj1" fmla="val 19411142"/>
              <a:gd name="adj2" fmla="val 2189259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9" name="Oval 38"/>
          <p:cNvSpPr/>
          <p:nvPr/>
        </p:nvSpPr>
        <p:spPr>
          <a:xfrm>
            <a:off x="10012364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Oval 39"/>
          <p:cNvSpPr/>
          <p:nvPr/>
        </p:nvSpPr>
        <p:spPr>
          <a:xfrm>
            <a:off x="8302626" y="4525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1" name="Down Arrow 40"/>
          <p:cNvSpPr/>
          <p:nvPr/>
        </p:nvSpPr>
        <p:spPr>
          <a:xfrm rot="10800000">
            <a:off x="4608513" y="36576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2" name="Straight Arrow Connector 41"/>
          <p:cNvCxnSpPr/>
          <p:nvPr/>
        </p:nvCxnSpPr>
        <p:spPr>
          <a:xfrm>
            <a:off x="4799014" y="3657600"/>
            <a:ext cx="1957387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/>
          <p:nvPr/>
        </p:nvCxnSpPr>
        <p:spPr>
          <a:xfrm rot="10800000">
            <a:off x="4467226" y="2343150"/>
            <a:ext cx="2289175" cy="131603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042" name="TextBox 18"/>
          <p:cNvSpPr txBox="1">
            <a:spLocks noChangeArrowheads="1"/>
          </p:cNvSpPr>
          <p:nvPr/>
        </p:nvSpPr>
        <p:spPr bwMode="auto">
          <a:xfrm>
            <a:off x="97917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4043" name="TextBox 19"/>
          <p:cNvSpPr txBox="1">
            <a:spLocks noChangeArrowheads="1"/>
          </p:cNvSpPr>
          <p:nvPr/>
        </p:nvSpPr>
        <p:spPr bwMode="auto">
          <a:xfrm>
            <a:off x="8039100" y="4572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 rot="10800000" flipH="1" flipV="1">
            <a:off x="4799013" y="3657600"/>
            <a:ext cx="1884362" cy="4841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/>
          <p:nvPr/>
        </p:nvCxnSpPr>
        <p:spPr>
          <a:xfrm rot="10800000">
            <a:off x="4441825" y="4140200"/>
            <a:ext cx="2241550" cy="15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/>
          <p:cNvCxnSpPr/>
          <p:nvPr/>
        </p:nvCxnSpPr>
        <p:spPr>
          <a:xfrm rot="10800000" flipH="1" flipV="1">
            <a:off x="4799013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/>
          <p:cNvCxnSpPr/>
          <p:nvPr/>
        </p:nvCxnSpPr>
        <p:spPr>
          <a:xfrm flipH="1">
            <a:off x="5334001" y="4572000"/>
            <a:ext cx="1293813" cy="6096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Down Arrow 50"/>
          <p:cNvSpPr/>
          <p:nvPr/>
        </p:nvSpPr>
        <p:spPr>
          <a:xfrm rot="10800000">
            <a:off x="7442200" y="4140200"/>
            <a:ext cx="179388" cy="4318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6" name="Straight Connector 55"/>
          <p:cNvCxnSpPr/>
          <p:nvPr/>
        </p:nvCxnSpPr>
        <p:spPr>
          <a:xfrm>
            <a:off x="4152900" y="45720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Arrow Connector 56"/>
          <p:cNvCxnSpPr/>
          <p:nvPr/>
        </p:nvCxnSpPr>
        <p:spPr>
          <a:xfrm rot="10800000">
            <a:off x="6757988" y="3657601"/>
            <a:ext cx="3643312" cy="2093913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Arrow Connector 57"/>
          <p:cNvCxnSpPr/>
          <p:nvPr/>
        </p:nvCxnSpPr>
        <p:spPr>
          <a:xfrm rot="10800000" flipV="1">
            <a:off x="6629400" y="3657600"/>
            <a:ext cx="1828800" cy="9144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Arrow Connector 58"/>
          <p:cNvCxnSpPr/>
          <p:nvPr/>
        </p:nvCxnSpPr>
        <p:spPr>
          <a:xfrm>
            <a:off x="6629400" y="4140200"/>
            <a:ext cx="2857500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/>
          <p:cNvCxnSpPr/>
          <p:nvPr/>
        </p:nvCxnSpPr>
        <p:spPr>
          <a:xfrm>
            <a:off x="6629400" y="4140201"/>
            <a:ext cx="3352800" cy="862013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 bwMode="auto">
          <a:xfrm>
            <a:off x="15240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height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62" name="TextBox 20"/>
          <p:cNvSpPr txBox="1">
            <a:spLocks noChangeArrowheads="1"/>
          </p:cNvSpPr>
          <p:nvPr/>
        </p:nvSpPr>
        <p:spPr bwMode="auto">
          <a:xfrm>
            <a:off x="4343400" y="4083050"/>
            <a:ext cx="2286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h</a:t>
            </a:r>
          </a:p>
        </p:txBody>
      </p:sp>
      <p:grpSp>
        <p:nvGrpSpPr>
          <p:cNvPr id="4" name="Group 77"/>
          <p:cNvGrpSpPr>
            <a:grpSpLocks/>
          </p:cNvGrpSpPr>
          <p:nvPr/>
        </p:nvGrpSpPr>
        <p:grpSpPr bwMode="auto">
          <a:xfrm>
            <a:off x="7543800" y="2286000"/>
            <a:ext cx="2895600" cy="2274888"/>
            <a:chOff x="6019800" y="2286000"/>
            <a:chExt cx="2895600" cy="2274888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6019800" y="2286000"/>
              <a:ext cx="2895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height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sp>
          <p:nvSpPr>
            <p:cNvPr id="44072" name="TextBox 26"/>
            <p:cNvSpPr txBox="1">
              <a:spLocks noChangeArrowheads="1"/>
            </p:cNvSpPr>
            <p:nvPr/>
          </p:nvSpPr>
          <p:spPr bwMode="auto">
            <a:xfrm>
              <a:off x="6059487" y="41910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5" name="Group 76"/>
          <p:cNvGrpSpPr>
            <a:grpSpLocks/>
          </p:cNvGrpSpPr>
          <p:nvPr/>
        </p:nvGrpSpPr>
        <p:grpSpPr bwMode="auto">
          <a:xfrm>
            <a:off x="6630988" y="1752600"/>
            <a:ext cx="3884612" cy="3341688"/>
            <a:chOff x="5106987" y="1752600"/>
            <a:chExt cx="3884613" cy="3341688"/>
          </a:xfrm>
        </p:grpSpPr>
        <p:sp>
          <p:nvSpPr>
            <p:cNvPr id="52" name="TextBox 51"/>
            <p:cNvSpPr txBox="1"/>
            <p:nvPr/>
          </p:nvSpPr>
          <p:spPr bwMode="auto">
            <a:xfrm>
              <a:off x="6095999" y="1752600"/>
              <a:ext cx="28956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Image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grpSp>
          <p:nvGrpSpPr>
            <p:cNvPr id="6" name="Group 75"/>
            <p:cNvGrpSpPr>
              <a:grpSpLocks/>
            </p:cNvGrpSpPr>
            <p:nvPr/>
          </p:nvGrpSpPr>
          <p:grpSpPr bwMode="auto">
            <a:xfrm>
              <a:off x="5106987" y="4724400"/>
              <a:ext cx="876300" cy="369888"/>
              <a:chOff x="5106987" y="4724400"/>
              <a:chExt cx="876300" cy="369888"/>
            </a:xfrm>
          </p:grpSpPr>
          <p:cxnSp>
            <p:nvCxnSpPr>
              <p:cNvPr id="55" name="Straight Connector 54"/>
              <p:cNvCxnSpPr/>
              <p:nvPr/>
            </p:nvCxnSpPr>
            <p:spPr>
              <a:xfrm>
                <a:off x="5106987" y="4724400"/>
                <a:ext cx="8763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4070" name="TextBox 27"/>
              <p:cNvSpPr txBox="1">
                <a:spLocks noChangeArrowheads="1"/>
              </p:cNvSpPr>
              <p:nvPr/>
            </p:nvSpPr>
            <p:spPr bwMode="auto">
              <a:xfrm>
                <a:off x="5354637" y="4724400"/>
                <a:ext cx="381000" cy="3698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s'</a:t>
                </a:r>
              </a:p>
            </p:txBody>
          </p:sp>
        </p:grpSp>
      </p:grpSp>
      <p:grpSp>
        <p:nvGrpSpPr>
          <p:cNvPr id="7" name="Group 74"/>
          <p:cNvGrpSpPr>
            <a:grpSpLocks/>
          </p:cNvGrpSpPr>
          <p:nvPr/>
        </p:nvGrpSpPr>
        <p:grpSpPr bwMode="auto">
          <a:xfrm>
            <a:off x="1676401" y="1752600"/>
            <a:ext cx="4951413" cy="1828800"/>
            <a:chOff x="152400" y="1752600"/>
            <a:chExt cx="4951412" cy="1828800"/>
          </a:xfrm>
        </p:grpSpPr>
        <p:sp>
          <p:nvSpPr>
            <p:cNvPr id="46" name="TextBox 45"/>
            <p:cNvSpPr txBox="1"/>
            <p:nvPr/>
          </p:nvSpPr>
          <p:spPr bwMode="auto">
            <a:xfrm>
              <a:off x="152400" y="1752600"/>
              <a:ext cx="2895599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Object distance (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dirty="0">
                  <a:latin typeface="+mj-lt"/>
                </a:rPr>
                <a:t>)</a:t>
              </a:r>
            </a:p>
          </p:txBody>
        </p:sp>
        <p:cxnSp>
          <p:nvCxnSpPr>
            <p:cNvPr id="68" name="Straight Connector 67"/>
            <p:cNvCxnSpPr/>
            <p:nvPr/>
          </p:nvCxnSpPr>
          <p:spPr>
            <a:xfrm rot="16200000" flipH="1">
              <a:off x="4189412" y="2667000"/>
              <a:ext cx="0" cy="18288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4066" name="TextBox 29"/>
            <p:cNvSpPr txBox="1">
              <a:spLocks noChangeArrowheads="1"/>
            </p:cNvSpPr>
            <p:nvPr/>
          </p:nvSpPr>
          <p:spPr bwMode="auto">
            <a:xfrm>
              <a:off x="4040187" y="3200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 dirty="0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70" name="TextBox 69"/>
          <p:cNvSpPr txBox="1"/>
          <p:nvPr/>
        </p:nvSpPr>
        <p:spPr bwMode="auto">
          <a:xfrm>
            <a:off x="1644394" y="5329536"/>
            <a:ext cx="5758118" cy="461665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Convex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b="1" dirty="0">
                <a:latin typeface="+mj-lt"/>
              </a:rPr>
              <a:t>mirrors </a:t>
            </a:r>
            <a:r>
              <a:rPr lang="en-US" sz="2400" dirty="0">
                <a:latin typeface="+mj-lt"/>
              </a:rPr>
              <a:t>create images that are:</a:t>
            </a:r>
          </a:p>
        </p:txBody>
      </p:sp>
      <p:sp>
        <p:nvSpPr>
          <p:cNvPr id="72" name="TextBox 71"/>
          <p:cNvSpPr txBox="1"/>
          <p:nvPr/>
        </p:nvSpPr>
        <p:spPr bwMode="auto">
          <a:xfrm>
            <a:off x="1676400" y="5791200"/>
            <a:ext cx="26670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</a:t>
            </a:r>
            <a:r>
              <a:rPr lang="en-US" sz="2400" dirty="0">
                <a:latin typeface="+mj-lt"/>
              </a:rPr>
              <a:t> 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3" name="TextBox 72"/>
          <p:cNvSpPr txBox="1"/>
          <p:nvPr/>
        </p:nvSpPr>
        <p:spPr bwMode="auto">
          <a:xfrm>
            <a:off x="6172200" y="5780783"/>
            <a:ext cx="3636962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lines)</a:t>
            </a:r>
            <a:endParaRPr lang="en-US" sz="2000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1676400" y="3175337"/>
            <a:ext cx="2514600" cy="1261884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Focal length is called 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negative</a:t>
            </a:r>
          </a:p>
          <a:p>
            <a:pPr algn="ctr"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slide 51: mirror equation)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4" name="TextBox 73"/>
          <p:cNvSpPr txBox="1"/>
          <p:nvPr/>
        </p:nvSpPr>
        <p:spPr bwMode="auto">
          <a:xfrm>
            <a:off x="4419600" y="5791200"/>
            <a:ext cx="2382838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Reduced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(smaller than object)</a:t>
            </a:r>
            <a:endParaRPr lang="en-US" sz="24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6469566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4" grpId="0"/>
      <p:bldP spid="62" grpId="0"/>
      <p:bldP spid="70" grpId="0" animBg="1"/>
      <p:bldP spid="72" grpId="0"/>
      <p:bldP spid="73" grpId="0" animBg="1"/>
      <p:bldP spid="60" grpId="0" animBg="1"/>
      <p:bldP spid="7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Title 1"/>
          <p:cNvSpPr>
            <a:spLocks noGrp="1"/>
          </p:cNvSpPr>
          <p:nvPr>
            <p:ph type="title"/>
          </p:nvPr>
        </p:nvSpPr>
        <p:spPr>
          <a:xfrm>
            <a:off x="609600" y="7620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Tips for Ray Diagrams</a:t>
            </a:r>
          </a:p>
        </p:txBody>
      </p:sp>
      <p:sp>
        <p:nvSpPr>
          <p:cNvPr id="26627" name="Content Placeholder 2"/>
          <p:cNvSpPr>
            <a:spLocks noGrp="1"/>
          </p:cNvSpPr>
          <p:nvPr>
            <p:ph idx="1"/>
          </p:nvPr>
        </p:nvSpPr>
        <p:spPr>
          <a:xfrm>
            <a:off x="1981200" y="1219200"/>
            <a:ext cx="8229600" cy="5638800"/>
          </a:xfrm>
        </p:spPr>
        <p:txBody>
          <a:bodyPr>
            <a:normAutofit/>
          </a:bodyPr>
          <a:lstStyle/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Make sure you use a ruler or graph paper to get distances correct if you want to use diagram to find exact distances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Instead of trying to make sure mirror is actually spherical (circular on page)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Include a “</a:t>
            </a:r>
            <a:r>
              <a:rPr lang="en-US" sz="2000" b="1" dirty="0">
                <a:solidFill>
                  <a:srgbClr val="FF0000"/>
                </a:solidFill>
                <a:latin typeface="Arial" charset="0"/>
                <a:cs typeface="Arial" charset="0"/>
              </a:rPr>
              <a:t>mirror plane</a:t>
            </a:r>
            <a:r>
              <a:rPr lang="en-US" sz="2000" dirty="0">
                <a:latin typeface="Arial" charset="0"/>
                <a:cs typeface="Arial" charset="0"/>
              </a:rPr>
              <a:t>” (line perpendicular to OA and passing through mirror’s center)</a:t>
            </a:r>
          </a:p>
          <a:p>
            <a:pPr lvl="1">
              <a:spcAft>
                <a:spcPts val="1200"/>
              </a:spcAft>
              <a:defRPr/>
            </a:pPr>
            <a:r>
              <a:rPr lang="en-US" sz="2000" dirty="0">
                <a:latin typeface="Arial" charset="0"/>
                <a:cs typeface="Arial" charset="0"/>
              </a:rPr>
              <a:t>Draw rays reflecting off this plane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Draw all 3 special rays to confirm your results</a:t>
            </a:r>
          </a:p>
          <a:p>
            <a:pPr>
              <a:spcAft>
                <a:spcPts val="1200"/>
              </a:spcAft>
              <a:defRPr/>
            </a:pPr>
            <a:r>
              <a:rPr lang="en-US" sz="2400" dirty="0">
                <a:latin typeface="Arial" charset="0"/>
                <a:cs typeface="Arial" charset="0"/>
              </a:rPr>
              <a:t>Good for getting an idea of what’s going on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14120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2305050" y="12954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Use three “Special Rays” to find images</a:t>
            </a:r>
          </a:p>
        </p:txBody>
      </p:sp>
      <p:sp>
        <p:nvSpPr>
          <p:cNvPr id="60" name="TextBox 59"/>
          <p:cNvSpPr txBox="1"/>
          <p:nvPr/>
        </p:nvSpPr>
        <p:spPr bwMode="auto">
          <a:xfrm>
            <a:off x="2133600" y="2555825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1.  Ray which starts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parallel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to OA</a:t>
            </a:r>
          </a:p>
        </p:txBody>
      </p:sp>
      <p:sp>
        <p:nvSpPr>
          <p:cNvPr id="61" name="TextBox 60"/>
          <p:cNvSpPr txBox="1"/>
          <p:nvPr/>
        </p:nvSpPr>
        <p:spPr bwMode="auto">
          <a:xfrm>
            <a:off x="2305050" y="1752601"/>
            <a:ext cx="75819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Each one obeys Law of Reflection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171700" y="5715000"/>
            <a:ext cx="3543300" cy="830262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through F</a:t>
            </a:r>
          </a:p>
        </p:txBody>
      </p:sp>
      <p:sp>
        <p:nvSpPr>
          <p:cNvPr id="46087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  <p:cxnSp>
        <p:nvCxnSpPr>
          <p:cNvPr id="46" name="Straight Connector 45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6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5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2" name="Arc 51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0" name="Oval 69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1" name="Oval 70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2" name="Down Arrow 71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3" name="Straight Arrow Connector 72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/>
          <p:cNvCxnSpPr/>
          <p:nvPr/>
        </p:nvCxnSpPr>
        <p:spPr>
          <a:xfrm flipH="1">
            <a:off x="5867400" y="3352800"/>
            <a:ext cx="39147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095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6096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3" name="Straight Connector 82"/>
          <p:cNvCxnSpPr/>
          <p:nvPr/>
        </p:nvCxnSpPr>
        <p:spPr>
          <a:xfrm flipV="1">
            <a:off x="8356601" y="3352800"/>
            <a:ext cx="1420813" cy="3810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  <p:sp>
        <p:nvSpPr>
          <p:cNvPr id="30" name="TextBox 29"/>
          <p:cNvSpPr txBox="1"/>
          <p:nvPr/>
        </p:nvSpPr>
        <p:spPr>
          <a:xfrm>
            <a:off x="7429500" y="4655404"/>
            <a:ext cx="23241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i="1" dirty="0"/>
              <a:t>Note: F is located in front (i.e. on the shiny side) of the mirror</a:t>
            </a:r>
          </a:p>
        </p:txBody>
      </p:sp>
    </p:spTree>
    <p:extLst>
      <p:ext uri="{BB962C8B-B14F-4D97-AF65-F5344CB8AC3E}">
        <p14:creationId xmlns:p14="http://schemas.microsoft.com/office/powerpoint/2010/main" val="2348548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40525" y="1941565"/>
            <a:ext cx="2895600" cy="830997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</a:rPr>
              <a:t>2. Ray which starts </a:t>
            </a:r>
            <a:r>
              <a:rPr lang="en-US" sz="2400" b="1" dirty="0">
                <a:solidFill>
                  <a:srgbClr val="0070C0"/>
                </a:solidFill>
              </a:rPr>
              <a:t>aimed at F</a:t>
            </a:r>
            <a:endParaRPr lang="en-US" sz="2400" dirty="0">
              <a:solidFill>
                <a:srgbClr val="0070C0"/>
              </a:solidFill>
              <a:latin typeface="+mj-lt"/>
            </a:endParaRPr>
          </a:p>
        </p:txBody>
      </p:sp>
      <p:sp>
        <p:nvSpPr>
          <p:cNvPr id="63" name="TextBox 62"/>
          <p:cNvSpPr txBox="1"/>
          <p:nvPr/>
        </p:nvSpPr>
        <p:spPr bwMode="auto">
          <a:xfrm>
            <a:off x="1752600" y="4572001"/>
            <a:ext cx="3416030" cy="830997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parallel to the OA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5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54" name="Straight Connector 53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2" name="Straight Connector 6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3" name="Arc 52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73" name="Oval 72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4" name="Oval 73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5" name="Down Arrow 74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6" name="Straight Arrow Connector 75"/>
          <p:cNvCxnSpPr/>
          <p:nvPr/>
        </p:nvCxnSpPr>
        <p:spPr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/>
          <p:cNvCxnSpPr/>
          <p:nvPr/>
        </p:nvCxnSpPr>
        <p:spPr>
          <a:xfrm flipH="1">
            <a:off x="5715000" y="3352800"/>
            <a:ext cx="4067176" cy="2362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119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7120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5" name="Straight Connector 84"/>
          <p:cNvCxnSpPr/>
          <p:nvPr/>
        </p:nvCxnSpPr>
        <p:spPr>
          <a:xfrm>
            <a:off x="8077201" y="4537076"/>
            <a:ext cx="1782763" cy="2698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Down Arrow 33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25400"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9246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  <p:bldP spid="34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TextBox 59"/>
          <p:cNvSpPr txBox="1"/>
          <p:nvPr/>
        </p:nvSpPr>
        <p:spPr bwMode="auto">
          <a:xfrm>
            <a:off x="2286000" y="19050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3.  Ray which hits the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mirror’s center  </a:t>
            </a:r>
          </a:p>
        </p:txBody>
      </p:sp>
      <p:sp>
        <p:nvSpPr>
          <p:cNvPr id="63" name="TextBox 62"/>
          <p:cNvSpPr txBox="1"/>
          <p:nvPr/>
        </p:nvSpPr>
        <p:spPr bwMode="auto">
          <a:xfrm>
            <a:off x="2081720" y="5010557"/>
            <a:ext cx="3176081" cy="1200329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same angle with OA as the incident ray</a:t>
            </a:r>
          </a:p>
        </p:txBody>
      </p:sp>
      <p:cxnSp>
        <p:nvCxnSpPr>
          <p:cNvPr id="38" name="Straight Connector 37"/>
          <p:cNvCxnSpPr/>
          <p:nvPr/>
        </p:nvCxnSpPr>
        <p:spPr>
          <a:xfrm>
            <a:off x="4305300" y="42672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086600" cy="6858000"/>
            <a:chOff x="342900" y="304800"/>
            <a:chExt cx="7086600" cy="6858000"/>
          </a:xfrm>
        </p:grpSpPr>
        <p:grpSp>
          <p:nvGrpSpPr>
            <p:cNvPr id="4" name="Group 15"/>
            <p:cNvGrpSpPr>
              <a:grpSpLocks/>
            </p:cNvGrpSpPr>
            <p:nvPr/>
          </p:nvGrpSpPr>
          <p:grpSpPr bwMode="auto">
            <a:xfrm>
              <a:off x="6542088" y="1722438"/>
              <a:ext cx="887412" cy="4022725"/>
              <a:chOff x="6542088" y="1722438"/>
              <a:chExt cx="887412" cy="4022725"/>
            </a:xfrm>
          </p:grpSpPr>
          <p:cxnSp>
            <p:nvCxnSpPr>
              <p:cNvPr id="48" name="Straight Connector 47"/>
              <p:cNvCxnSpPr/>
              <p:nvPr/>
            </p:nvCxnSpPr>
            <p:spPr bwMode="auto">
              <a:xfrm flipV="1">
                <a:off x="6542088" y="57451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Connector 4"/>
              <p:cNvCxnSpPr/>
              <p:nvPr/>
            </p:nvCxnSpPr>
            <p:spPr bwMode="auto">
              <a:xfrm flipV="1">
                <a:off x="6826250" y="5287963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2" name="Straight Connector 51"/>
              <p:cNvCxnSpPr/>
              <p:nvPr/>
            </p:nvCxnSpPr>
            <p:spPr bwMode="auto">
              <a:xfrm flipV="1">
                <a:off x="7035800" y="47942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Connector 52"/>
              <p:cNvCxnSpPr/>
              <p:nvPr/>
            </p:nvCxnSpPr>
            <p:spPr bwMode="auto">
              <a:xfrm flipV="1">
                <a:off x="7154863" y="42735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Connector 53"/>
              <p:cNvCxnSpPr/>
              <p:nvPr/>
            </p:nvCxnSpPr>
            <p:spPr bwMode="auto">
              <a:xfrm>
                <a:off x="6542088" y="17224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Connector 54"/>
              <p:cNvCxnSpPr/>
              <p:nvPr/>
            </p:nvCxnSpPr>
            <p:spPr bwMode="auto">
              <a:xfrm>
                <a:off x="6826250" y="2179638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" name="Straight Connector 56"/>
              <p:cNvCxnSpPr/>
              <p:nvPr/>
            </p:nvCxnSpPr>
            <p:spPr bwMode="auto">
              <a:xfrm>
                <a:off x="7035800" y="26733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9" name="Straight Connector 58"/>
              <p:cNvCxnSpPr/>
              <p:nvPr/>
            </p:nvCxnSpPr>
            <p:spPr bwMode="auto">
              <a:xfrm>
                <a:off x="7154863" y="319405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/>
              <p:cNvCxnSpPr/>
              <p:nvPr/>
            </p:nvCxnSpPr>
            <p:spPr bwMode="auto">
              <a:xfrm flipV="1">
                <a:off x="7200900" y="3733800"/>
                <a:ext cx="228600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7" name="Arc 46"/>
            <p:cNvSpPr/>
            <p:nvPr/>
          </p:nvSpPr>
          <p:spPr bwMode="auto">
            <a:xfrm>
              <a:off x="342900" y="304800"/>
              <a:ext cx="6858000" cy="6858000"/>
            </a:xfrm>
            <a:prstGeom prst="arc">
              <a:avLst>
                <a:gd name="adj1" fmla="val 19412995"/>
                <a:gd name="adj2" fmla="val 2185344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65" name="Oval 64"/>
          <p:cNvSpPr/>
          <p:nvPr/>
        </p:nvSpPr>
        <p:spPr>
          <a:xfrm>
            <a:off x="6430964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8140701" y="42211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7" name="Down Arrow 66"/>
          <p:cNvSpPr/>
          <p:nvPr/>
        </p:nvSpPr>
        <p:spPr>
          <a:xfrm rot="10800000">
            <a:off x="5143500" y="33528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141" name="TextBox 41"/>
          <p:cNvSpPr txBox="1">
            <a:spLocks noChangeArrowheads="1"/>
          </p:cNvSpPr>
          <p:nvPr/>
        </p:nvSpPr>
        <p:spPr bwMode="auto">
          <a:xfrm>
            <a:off x="6248400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48142" name="TextBox 42"/>
          <p:cNvSpPr txBox="1">
            <a:spLocks noChangeArrowheads="1"/>
          </p:cNvSpPr>
          <p:nvPr/>
        </p:nvSpPr>
        <p:spPr bwMode="auto">
          <a:xfrm>
            <a:off x="7958138" y="42672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75" name="Straight Arrow Connector 74"/>
          <p:cNvCxnSpPr/>
          <p:nvPr/>
        </p:nvCxnSpPr>
        <p:spPr>
          <a:xfrm rot="10800000" flipH="1" flipV="1">
            <a:off x="5334000" y="33528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Arrow Connector 75"/>
          <p:cNvCxnSpPr/>
          <p:nvPr/>
        </p:nvCxnSpPr>
        <p:spPr>
          <a:xfrm rot="10800000" flipV="1">
            <a:off x="5334000" y="4267200"/>
            <a:ext cx="4572000" cy="9144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5334001" y="3352800"/>
            <a:ext cx="4443413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/>
          <p:nvPr/>
        </p:nvCxnSpPr>
        <p:spPr bwMode="auto">
          <a:xfrm flipH="1">
            <a:off x="5791200" y="3352800"/>
            <a:ext cx="3990976" cy="22860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 bwMode="auto">
          <a:xfrm rot="10800000" flipH="1" flipV="1">
            <a:off x="5334001" y="3352800"/>
            <a:ext cx="4525963" cy="145415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/>
          <p:nvPr/>
        </p:nvCxnSpPr>
        <p:spPr bwMode="auto">
          <a:xfrm flipH="1" flipV="1">
            <a:off x="5334001" y="4800600"/>
            <a:ext cx="4525963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Down Arrow 31"/>
          <p:cNvSpPr/>
          <p:nvPr/>
        </p:nvSpPr>
        <p:spPr>
          <a:xfrm>
            <a:off x="7131050" y="4267200"/>
            <a:ext cx="222250" cy="533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6</a:t>
            </a:fld>
            <a:endParaRPr lang="en-US"/>
          </a:p>
        </p:txBody>
      </p:sp>
      <p:sp>
        <p:nvSpPr>
          <p:cNvPr id="35" name="Title 3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Concave Mirrors: Ray Diagram</a:t>
            </a:r>
            <a:endParaRPr lang="en-US" sz="6000" dirty="0">
              <a:latin typeface="Arial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08887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3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 bwMode="auto">
          <a:xfrm>
            <a:off x="1524000" y="584187"/>
            <a:ext cx="5791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1  Ray which starts parallel to OA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866900" y="1630038"/>
            <a:ext cx="78105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Reflected ray passes ___________________________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557688" y="2675889"/>
            <a:ext cx="6900512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2  Ray which passes through the focal point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66900" y="3721740"/>
            <a:ext cx="5257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70C0"/>
                </a:solidFill>
                <a:latin typeface="+mj-lt"/>
              </a:rPr>
              <a:t>Reflected ray is _________________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16780" y="4766301"/>
            <a:ext cx="503642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3  Ray which hits the mirror’s center  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866900" y="5812152"/>
            <a:ext cx="8991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00B050"/>
                </a:solidFill>
                <a:latin typeface="+mj-lt"/>
              </a:rPr>
              <a:t>Reflected ray makes ___________________ as the incident ray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0426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7" grpId="0"/>
      <p:bldP spid="1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Mirrors: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6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outside F</a:t>
            </a:r>
            <a:r>
              <a:rPr lang="en-US" sz="36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sp>
        <p:nvSpPr>
          <p:cNvPr id="54" name="TextBox 53"/>
          <p:cNvSpPr txBox="1"/>
          <p:nvPr/>
        </p:nvSpPr>
        <p:spPr bwMode="auto">
          <a:xfrm>
            <a:off x="1600200" y="2514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500" dirty="0">
                <a:latin typeface="+mj-lt"/>
              </a:rPr>
              <a:t>Object height (</a:t>
            </a:r>
            <a:r>
              <a:rPr lang="en-US" sz="2500" b="1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500" dirty="0">
                <a:latin typeface="+mj-lt"/>
              </a:rPr>
              <a:t>)</a:t>
            </a:r>
          </a:p>
        </p:txBody>
      </p:sp>
      <p:sp>
        <p:nvSpPr>
          <p:cNvPr id="52" name="TextBox 51"/>
          <p:cNvSpPr txBox="1"/>
          <p:nvPr/>
        </p:nvSpPr>
        <p:spPr bwMode="auto">
          <a:xfrm>
            <a:off x="76200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500" dirty="0">
                <a:latin typeface="+mj-lt"/>
              </a:rPr>
              <a:t>Image distance (</a:t>
            </a:r>
            <a:r>
              <a:rPr lang="en-US" sz="2500" b="1" i="1" dirty="0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sz="2500" dirty="0">
                <a:latin typeface="+mj-lt"/>
              </a:rPr>
              <a:t>)</a:t>
            </a:r>
          </a:p>
        </p:txBody>
      </p:sp>
      <p:sp>
        <p:nvSpPr>
          <p:cNvPr id="46" name="TextBox 45"/>
          <p:cNvSpPr txBox="1"/>
          <p:nvPr/>
        </p:nvSpPr>
        <p:spPr bwMode="auto">
          <a:xfrm>
            <a:off x="1676400" y="17526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500" dirty="0">
                <a:latin typeface="+mj-lt"/>
              </a:rPr>
              <a:t>Object distance (</a:t>
            </a:r>
            <a:r>
              <a:rPr lang="en-US" sz="25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500" dirty="0">
                <a:latin typeface="+mj-lt"/>
              </a:rPr>
              <a:t>)</a:t>
            </a:r>
          </a:p>
        </p:txBody>
      </p:sp>
      <p:grpSp>
        <p:nvGrpSpPr>
          <p:cNvPr id="3" name="Group 42"/>
          <p:cNvGrpSpPr>
            <a:grpSpLocks/>
          </p:cNvGrpSpPr>
          <p:nvPr/>
        </p:nvGrpSpPr>
        <p:grpSpPr bwMode="auto">
          <a:xfrm>
            <a:off x="3048000" y="838200"/>
            <a:ext cx="7505700" cy="6858000"/>
            <a:chOff x="1524000" y="838200"/>
            <a:chExt cx="7505700" cy="6858000"/>
          </a:xfrm>
        </p:grpSpPr>
        <p:cxnSp>
          <p:nvCxnSpPr>
            <p:cNvPr id="99" name="Straight Connector 98"/>
            <p:cNvCxnSpPr/>
            <p:nvPr/>
          </p:nvCxnSpPr>
          <p:spPr>
            <a:xfrm>
              <a:off x="3276600" y="4267200"/>
              <a:ext cx="57531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Connector 99"/>
            <p:cNvCxnSpPr/>
            <p:nvPr/>
          </p:nvCxnSpPr>
          <p:spPr>
            <a:xfrm rot="16200000" flipH="1">
              <a:off x="7050088" y="3773487"/>
              <a:ext cx="0" cy="26638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100"/>
            <p:cNvGrpSpPr>
              <a:grpSpLocks/>
            </p:cNvGrpSpPr>
            <p:nvPr/>
          </p:nvGrpSpPr>
          <p:grpSpPr bwMode="auto">
            <a:xfrm>
              <a:off x="1524000" y="838200"/>
              <a:ext cx="7086600" cy="6858000"/>
              <a:chOff x="342900" y="304800"/>
              <a:chExt cx="7086600" cy="6858000"/>
            </a:xfrm>
          </p:grpSpPr>
          <p:grpSp>
            <p:nvGrpSpPr>
              <p:cNvPr id="5" name="Group 15"/>
              <p:cNvGrpSpPr>
                <a:grpSpLocks/>
              </p:cNvGrpSpPr>
              <p:nvPr/>
            </p:nvGrpSpPr>
            <p:grpSpPr bwMode="auto">
              <a:xfrm>
                <a:off x="6542088" y="1722438"/>
                <a:ext cx="887412" cy="4022725"/>
                <a:chOff x="6542088" y="1722438"/>
                <a:chExt cx="887412" cy="4022725"/>
              </a:xfrm>
            </p:grpSpPr>
            <p:cxnSp>
              <p:nvCxnSpPr>
                <p:cNvPr id="104" name="Straight Connector 103"/>
                <p:cNvCxnSpPr/>
                <p:nvPr/>
              </p:nvCxnSpPr>
              <p:spPr bwMode="auto">
                <a:xfrm flipV="1">
                  <a:off x="6542088" y="57451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5" name="Straight Connector 4"/>
                <p:cNvCxnSpPr/>
                <p:nvPr/>
              </p:nvCxnSpPr>
              <p:spPr bwMode="auto">
                <a:xfrm flipV="1">
                  <a:off x="6826250" y="5287963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6" name="Straight Connector 105"/>
                <p:cNvCxnSpPr/>
                <p:nvPr/>
              </p:nvCxnSpPr>
              <p:spPr bwMode="auto">
                <a:xfrm flipV="1">
                  <a:off x="7035800" y="47942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7" name="Straight Connector 106"/>
                <p:cNvCxnSpPr/>
                <p:nvPr/>
              </p:nvCxnSpPr>
              <p:spPr bwMode="auto">
                <a:xfrm flipV="1">
                  <a:off x="7154863" y="42735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8" name="Straight Connector 107"/>
                <p:cNvCxnSpPr/>
                <p:nvPr/>
              </p:nvCxnSpPr>
              <p:spPr bwMode="auto">
                <a:xfrm>
                  <a:off x="6542088" y="17224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09" name="Straight Connector 108"/>
                <p:cNvCxnSpPr/>
                <p:nvPr/>
              </p:nvCxnSpPr>
              <p:spPr bwMode="auto">
                <a:xfrm>
                  <a:off x="6826250" y="2179638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0" name="Straight Connector 109"/>
                <p:cNvCxnSpPr/>
                <p:nvPr/>
              </p:nvCxnSpPr>
              <p:spPr bwMode="auto">
                <a:xfrm>
                  <a:off x="7035800" y="26733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1" name="Straight Connector 110"/>
                <p:cNvCxnSpPr/>
                <p:nvPr/>
              </p:nvCxnSpPr>
              <p:spPr bwMode="auto">
                <a:xfrm>
                  <a:off x="7154863" y="319405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12" name="Straight Connector 111"/>
                <p:cNvCxnSpPr/>
                <p:nvPr/>
              </p:nvCxnSpPr>
              <p:spPr bwMode="auto">
                <a:xfrm flipV="1">
                  <a:off x="7200900" y="3733800"/>
                  <a:ext cx="228600" cy="0"/>
                </a:xfrm>
                <a:prstGeom prst="line">
                  <a:avLst/>
                </a:prstGeom>
                <a:ln w="6350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103" name="Arc 102"/>
              <p:cNvSpPr/>
              <p:nvPr/>
            </p:nvSpPr>
            <p:spPr bwMode="auto">
              <a:xfrm>
                <a:off x="342900" y="304800"/>
                <a:ext cx="6858000" cy="6858000"/>
              </a:xfrm>
              <a:prstGeom prst="arc">
                <a:avLst>
                  <a:gd name="adj1" fmla="val 19412995"/>
                  <a:gd name="adj2" fmla="val 2185344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13" name="Oval 112"/>
            <p:cNvSpPr/>
            <p:nvPr/>
          </p:nvSpPr>
          <p:spPr>
            <a:xfrm>
              <a:off x="4906963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4" name="Oval 113"/>
            <p:cNvSpPr/>
            <p:nvPr/>
          </p:nvSpPr>
          <p:spPr>
            <a:xfrm>
              <a:off x="6616700" y="4221163"/>
              <a:ext cx="92075" cy="92075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5" name="Down Arrow 114"/>
            <p:cNvSpPr/>
            <p:nvPr/>
          </p:nvSpPr>
          <p:spPr>
            <a:xfrm rot="10800000">
              <a:off x="3619500" y="3352800"/>
              <a:ext cx="381000" cy="914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116" name="Straight Arrow Connector 115"/>
            <p:cNvCxnSpPr/>
            <p:nvPr/>
          </p:nvCxnSpPr>
          <p:spPr>
            <a:xfrm>
              <a:off x="3810000" y="3352800"/>
              <a:ext cx="4443413" cy="15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7" name="Straight Arrow Connector 116"/>
            <p:cNvCxnSpPr/>
            <p:nvPr/>
          </p:nvCxnSpPr>
          <p:spPr>
            <a:xfrm flipH="1">
              <a:off x="4572000" y="3352800"/>
              <a:ext cx="3686176" cy="212248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72" name="TextBox 41"/>
            <p:cNvSpPr txBox="1">
              <a:spLocks noChangeArrowheads="1"/>
            </p:cNvSpPr>
            <p:nvPr/>
          </p:nvSpPr>
          <p:spPr bwMode="auto">
            <a:xfrm>
              <a:off x="4724400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C</a:t>
              </a:r>
            </a:p>
          </p:txBody>
        </p:sp>
        <p:sp>
          <p:nvSpPr>
            <p:cNvPr id="49173" name="TextBox 42"/>
            <p:cNvSpPr txBox="1">
              <a:spLocks noChangeArrowheads="1"/>
            </p:cNvSpPr>
            <p:nvPr/>
          </p:nvSpPr>
          <p:spPr bwMode="auto">
            <a:xfrm>
              <a:off x="6434138" y="4267200"/>
              <a:ext cx="2286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F</a:t>
              </a:r>
            </a:p>
          </p:txBody>
        </p:sp>
        <p:sp>
          <p:nvSpPr>
            <p:cNvPr id="49174" name="TextBox 43"/>
            <p:cNvSpPr txBox="1">
              <a:spLocks noChangeArrowheads="1"/>
            </p:cNvSpPr>
            <p:nvPr/>
          </p:nvSpPr>
          <p:spPr bwMode="auto">
            <a:xfrm>
              <a:off x="3390900" y="36258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cxnSp>
          <p:nvCxnSpPr>
            <p:cNvPr id="121" name="Straight Arrow Connector 120"/>
            <p:cNvCxnSpPr/>
            <p:nvPr/>
          </p:nvCxnSpPr>
          <p:spPr>
            <a:xfrm rot="10800000" flipH="1" flipV="1">
              <a:off x="3810000" y="3352800"/>
              <a:ext cx="4525963" cy="145415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2" name="Straight Arrow Connector 121"/>
            <p:cNvCxnSpPr/>
            <p:nvPr/>
          </p:nvCxnSpPr>
          <p:spPr>
            <a:xfrm flipH="1" flipV="1">
              <a:off x="3810000" y="4800600"/>
              <a:ext cx="4525963" cy="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3" name="Straight Arrow Connector 122"/>
            <p:cNvCxnSpPr/>
            <p:nvPr/>
          </p:nvCxnSpPr>
          <p:spPr>
            <a:xfrm rot="10800000" flipH="1" flipV="1">
              <a:off x="3810000" y="3352800"/>
              <a:ext cx="4572000" cy="914400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4" name="Straight Arrow Connector 123"/>
            <p:cNvCxnSpPr/>
            <p:nvPr/>
          </p:nvCxnSpPr>
          <p:spPr>
            <a:xfrm flipH="1">
              <a:off x="4343400" y="4267200"/>
              <a:ext cx="4038600" cy="838199"/>
            </a:xfrm>
            <a:prstGeom prst="straightConnector1">
              <a:avLst/>
            </a:prstGeom>
            <a:ln w="38100">
              <a:solidFill>
                <a:srgbClr val="00B05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5" name="Down Arrow 124"/>
            <p:cNvSpPr/>
            <p:nvPr/>
          </p:nvSpPr>
          <p:spPr>
            <a:xfrm>
              <a:off x="5607050" y="4267200"/>
              <a:ext cx="222250" cy="533400"/>
            </a:xfrm>
            <a:prstGeom prst="downArrow">
              <a:avLst/>
            </a:prstGeom>
            <a:noFill/>
            <a:ln w="254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49180" name="TextBox 59"/>
            <p:cNvSpPr txBox="1">
              <a:spLocks noChangeArrowheads="1"/>
            </p:cNvSpPr>
            <p:nvPr/>
          </p:nvSpPr>
          <p:spPr bwMode="auto">
            <a:xfrm>
              <a:off x="5372100" y="4343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49181" name="TextBox 64"/>
            <p:cNvSpPr txBox="1">
              <a:spLocks noChangeArrowheads="1"/>
            </p:cNvSpPr>
            <p:nvPr/>
          </p:nvSpPr>
          <p:spPr bwMode="auto">
            <a:xfrm>
              <a:off x="6859588" y="51054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cxnSp>
          <p:nvCxnSpPr>
            <p:cNvPr id="128" name="Straight Connector 127"/>
            <p:cNvCxnSpPr/>
            <p:nvPr/>
          </p:nvCxnSpPr>
          <p:spPr>
            <a:xfrm rot="16200000" flipH="1">
              <a:off x="6096000" y="838200"/>
              <a:ext cx="0" cy="457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9183" name="TextBox 66"/>
            <p:cNvSpPr txBox="1">
              <a:spLocks noChangeArrowheads="1"/>
            </p:cNvSpPr>
            <p:nvPr/>
          </p:nvSpPr>
          <p:spPr bwMode="auto">
            <a:xfrm>
              <a:off x="5905500" y="2743200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</p:grpSp>
      <p:sp>
        <p:nvSpPr>
          <p:cNvPr id="133" name="TextBox 132"/>
          <p:cNvSpPr txBox="1"/>
          <p:nvPr/>
        </p:nvSpPr>
        <p:spPr bwMode="auto">
          <a:xfrm>
            <a:off x="6248400" y="2286001"/>
            <a:ext cx="2895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500" dirty="0">
                <a:latin typeface="+mj-lt"/>
              </a:rPr>
              <a:t>Image height (</a:t>
            </a:r>
            <a:r>
              <a:rPr lang="en-US" sz="2500" b="1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500" dirty="0">
                <a:latin typeface="+mj-lt"/>
              </a:rPr>
              <a:t>)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12360" y="5007114"/>
            <a:ext cx="5169441" cy="707886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00" dirty="0">
                <a:latin typeface="+mj-lt"/>
              </a:rPr>
              <a:t>For an object </a:t>
            </a:r>
            <a:r>
              <a:rPr lang="en-US" sz="2100" b="1" dirty="0">
                <a:latin typeface="+mj-lt"/>
              </a:rPr>
              <a:t>outside</a:t>
            </a:r>
            <a:r>
              <a:rPr lang="en-US" sz="2100" dirty="0">
                <a:latin typeface="+mj-lt"/>
              </a:rPr>
              <a:t> the focal point, </a:t>
            </a:r>
            <a:r>
              <a:rPr lang="en-US" sz="2100" b="1" dirty="0">
                <a:latin typeface="+mj-lt"/>
              </a:rPr>
              <a:t>concave mirrors </a:t>
            </a:r>
            <a:r>
              <a:rPr lang="en-US" sz="2100" dirty="0">
                <a:latin typeface="+mj-lt"/>
              </a:rPr>
              <a:t>create images which are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1905001" y="5771249"/>
            <a:ext cx="2292079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500" b="1" dirty="0">
                <a:solidFill>
                  <a:srgbClr val="FF0000"/>
                </a:solidFill>
                <a:latin typeface="+mj-lt"/>
              </a:rPr>
              <a:t>Inverted </a:t>
            </a:r>
          </a:p>
          <a:p>
            <a:pPr algn="ctr">
              <a:defRPr/>
            </a:pPr>
            <a:r>
              <a:rPr lang="en-US" dirty="0" sz="1900">
                <a:solidFill>
                  <a:schemeClr val="bg1">
                    <a:lumMod val="50000"/>
                  </a:schemeClr>
                </a:solidFill>
                <a:latin typeface="+mj-lt"/>
              </a:rPr>
              <a:t>(upside down)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4275306" y="5766138"/>
            <a:ext cx="2846016" cy="1015663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500" b="1" dirty="0">
                <a:solidFill>
                  <a:srgbClr val="FF0000"/>
                </a:solidFill>
                <a:latin typeface="+mj-lt"/>
              </a:rPr>
              <a:t>Real</a:t>
            </a:r>
          </a:p>
          <a:p>
            <a:pPr algn="ctr">
              <a:defRPr/>
            </a:pPr>
            <a:r>
              <a:rPr lang="en-US" dirty="0" sz="190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actual rays)</a:t>
            </a:r>
          </a:p>
        </p:txBody>
      </p:sp>
      <p:sp>
        <p:nvSpPr>
          <p:cNvPr id="47" name="TextBox 46"/>
          <p:cNvSpPr txBox="1"/>
          <p:nvPr/>
        </p:nvSpPr>
        <p:spPr bwMode="auto">
          <a:xfrm>
            <a:off x="1828800" y="3254514"/>
            <a:ext cx="2590801" cy="707886"/>
          </a:xfrm>
          <a:prstGeom prst="rect">
            <a:avLst/>
          </a:prstGeom>
          <a:noFill/>
          <a:ln w="9525">
            <a:solidFill>
              <a:schemeClr val="accent1">
                <a:lumMod val="75000"/>
              </a:schemeClr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100" dirty="0">
                <a:latin typeface="+mj-lt"/>
              </a:rPr>
              <a:t>Focal length is called </a:t>
            </a:r>
            <a:r>
              <a:rPr lang="en-US" sz="2100" b="1" dirty="0">
                <a:solidFill>
                  <a:srgbClr val="FF0000"/>
                </a:solidFill>
                <a:latin typeface="+mj-lt"/>
              </a:rPr>
              <a:t>positive</a:t>
            </a:r>
            <a:endParaRPr lang="en-US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8</a:t>
            </a:fld>
            <a:endParaRPr lang="en-US"/>
          </a:p>
        </p:txBody>
      </p:sp>
      <p:sp>
        <p:nvSpPr>
          <p:cNvPr id="49" name="TextBox 48"/>
          <p:cNvSpPr txBox="1"/>
          <p:nvPr/>
        </p:nvSpPr>
        <p:spPr bwMode="auto">
          <a:xfrm>
            <a:off x="7288584" y="5771250"/>
            <a:ext cx="2846016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500" b="1" dirty="0">
                <a:solidFill>
                  <a:srgbClr val="FF0000"/>
                </a:solidFill>
                <a:latin typeface="+mj-lt"/>
              </a:rPr>
              <a:t>Can be reduced or enlarged</a:t>
            </a:r>
          </a:p>
        </p:txBody>
      </p:sp>
    </p:spTree>
    <p:extLst>
      <p:ext uri="{BB962C8B-B14F-4D97-AF65-F5344CB8AC3E}">
        <p14:creationId xmlns:p14="http://schemas.microsoft.com/office/powerpoint/2010/main" val="3930039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3" grpId="0" animBg="1"/>
      <p:bldP spid="44" grpId="0"/>
      <p:bldP spid="45" grpId="0" animBg="1"/>
      <p:bldP spid="47" grpId="0" animBg="1"/>
      <p:bldP spid="4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>
                <a:latin typeface="Arial" charset="0"/>
                <a:cs typeface="Arial" charset="0"/>
              </a:rPr>
              <a:t>Concave Mirrors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(for object located </a:t>
            </a:r>
            <a:r>
              <a:rPr lang="en-US" sz="3200" b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inside F</a:t>
            </a:r>
            <a:r>
              <a:rPr lang="en-US" sz="32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)</a:t>
            </a:r>
            <a:endParaRPr lang="en-US" sz="3200" dirty="0">
              <a:latin typeface="Arial" charset="0"/>
              <a:cs typeface="Arial" charset="0"/>
            </a:endParaRPr>
          </a:p>
        </p:txBody>
      </p:sp>
      <p:cxnSp>
        <p:nvCxnSpPr>
          <p:cNvPr id="99" name="Straight Connector 98"/>
          <p:cNvCxnSpPr/>
          <p:nvPr/>
        </p:nvCxnSpPr>
        <p:spPr>
          <a:xfrm>
            <a:off x="-685800" y="3429000"/>
            <a:ext cx="116586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5"/>
          <p:cNvGrpSpPr>
            <a:grpSpLocks/>
          </p:cNvGrpSpPr>
          <p:nvPr/>
        </p:nvGrpSpPr>
        <p:grpSpPr bwMode="auto">
          <a:xfrm>
            <a:off x="2770188" y="1417639"/>
            <a:ext cx="887412" cy="4022725"/>
            <a:chOff x="6542088" y="1722438"/>
            <a:chExt cx="887412" cy="4022725"/>
          </a:xfrm>
        </p:grpSpPr>
        <p:cxnSp>
          <p:nvCxnSpPr>
            <p:cNvPr id="104" name="Straight Connector 103"/>
            <p:cNvCxnSpPr/>
            <p:nvPr/>
          </p:nvCxnSpPr>
          <p:spPr bwMode="auto">
            <a:xfrm flipV="1">
              <a:off x="6542088" y="57451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5" name="Straight Connector 4"/>
            <p:cNvCxnSpPr/>
            <p:nvPr/>
          </p:nvCxnSpPr>
          <p:spPr bwMode="auto">
            <a:xfrm flipV="1">
              <a:off x="6826250" y="5287963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Straight Connector 105"/>
            <p:cNvCxnSpPr/>
            <p:nvPr/>
          </p:nvCxnSpPr>
          <p:spPr bwMode="auto">
            <a:xfrm flipV="1">
              <a:off x="7035800" y="47942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7" name="Straight Connector 106"/>
            <p:cNvCxnSpPr/>
            <p:nvPr/>
          </p:nvCxnSpPr>
          <p:spPr bwMode="auto">
            <a:xfrm flipV="1">
              <a:off x="7154863" y="42735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8" name="Straight Connector 107"/>
            <p:cNvCxnSpPr/>
            <p:nvPr/>
          </p:nvCxnSpPr>
          <p:spPr bwMode="auto">
            <a:xfrm>
              <a:off x="6542088" y="17224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9" name="Straight Connector 108"/>
            <p:cNvCxnSpPr/>
            <p:nvPr/>
          </p:nvCxnSpPr>
          <p:spPr bwMode="auto">
            <a:xfrm>
              <a:off x="6826250" y="2179638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0" name="Straight Connector 109"/>
            <p:cNvCxnSpPr/>
            <p:nvPr/>
          </p:nvCxnSpPr>
          <p:spPr bwMode="auto">
            <a:xfrm>
              <a:off x="7035800" y="26733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1" name="Straight Connector 110"/>
            <p:cNvCxnSpPr/>
            <p:nvPr/>
          </p:nvCxnSpPr>
          <p:spPr bwMode="auto">
            <a:xfrm>
              <a:off x="7154863" y="319405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2" name="Straight Connector 111"/>
            <p:cNvCxnSpPr/>
            <p:nvPr/>
          </p:nvCxnSpPr>
          <p:spPr bwMode="auto">
            <a:xfrm flipV="1">
              <a:off x="7200900" y="3733800"/>
              <a:ext cx="228600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3" name="Arc 102"/>
          <p:cNvSpPr/>
          <p:nvPr/>
        </p:nvSpPr>
        <p:spPr bwMode="auto">
          <a:xfrm>
            <a:off x="-3429000" y="0"/>
            <a:ext cx="6858000" cy="6858000"/>
          </a:xfrm>
          <a:prstGeom prst="arc">
            <a:avLst>
              <a:gd name="adj1" fmla="val 19412995"/>
              <a:gd name="adj2" fmla="val 2185344"/>
            </a:avLst>
          </a:prstGeom>
          <a:ln w="635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3" name="Oval 112"/>
          <p:cNvSpPr/>
          <p:nvPr/>
        </p:nvSpPr>
        <p:spPr>
          <a:xfrm>
            <a:off x="-1570038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4" name="Oval 113"/>
          <p:cNvSpPr/>
          <p:nvPr/>
        </p:nvSpPr>
        <p:spPr>
          <a:xfrm>
            <a:off x="1663701" y="33829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15" name="Down Arrow 114"/>
          <p:cNvSpPr/>
          <p:nvPr/>
        </p:nvSpPr>
        <p:spPr>
          <a:xfrm rot="10800000">
            <a:off x="1865313" y="2971800"/>
            <a:ext cx="381000" cy="4572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16" name="Straight Arrow Connector 115"/>
          <p:cNvCxnSpPr/>
          <p:nvPr/>
        </p:nvCxnSpPr>
        <p:spPr>
          <a:xfrm>
            <a:off x="2057400" y="2971800"/>
            <a:ext cx="13716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/>
          <p:cNvCxnSpPr/>
          <p:nvPr/>
        </p:nvCxnSpPr>
        <p:spPr>
          <a:xfrm rot="10800000" flipV="1">
            <a:off x="1709738" y="2971800"/>
            <a:ext cx="1719262" cy="45720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87" name="TextBox 41"/>
          <p:cNvSpPr txBox="1">
            <a:spLocks noChangeArrowheads="1"/>
          </p:cNvSpPr>
          <p:nvPr/>
        </p:nvSpPr>
        <p:spPr bwMode="auto">
          <a:xfrm>
            <a:off x="-1752600" y="34290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50188" name="TextBox 42"/>
          <p:cNvSpPr txBox="1">
            <a:spLocks noChangeArrowheads="1"/>
          </p:cNvSpPr>
          <p:nvPr/>
        </p:nvSpPr>
        <p:spPr bwMode="auto">
          <a:xfrm>
            <a:off x="1481138" y="3429000"/>
            <a:ext cx="228601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23" name="Straight Arrow Connector 122"/>
          <p:cNvCxnSpPr/>
          <p:nvPr/>
        </p:nvCxnSpPr>
        <p:spPr>
          <a:xfrm rot="10800000" flipH="1" flipV="1">
            <a:off x="2057400" y="29718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4" name="Straight Arrow Connector 123"/>
          <p:cNvCxnSpPr/>
          <p:nvPr/>
        </p:nvCxnSpPr>
        <p:spPr>
          <a:xfrm rot="10800000" flipV="1">
            <a:off x="2057400" y="3429000"/>
            <a:ext cx="1371600" cy="457200"/>
          </a:xfrm>
          <a:prstGeom prst="straightConnector1">
            <a:avLst/>
          </a:prstGeom>
          <a:ln w="3810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95"/>
          <p:cNvGrpSpPr>
            <a:grpSpLocks/>
          </p:cNvGrpSpPr>
          <p:nvPr/>
        </p:nvGrpSpPr>
        <p:grpSpPr bwMode="auto">
          <a:xfrm>
            <a:off x="3429000" y="3733800"/>
            <a:ext cx="6858000" cy="369888"/>
            <a:chOff x="1905000" y="3733799"/>
            <a:chExt cx="6858000" cy="369888"/>
          </a:xfrm>
        </p:grpSpPr>
        <p:cxnSp>
          <p:nvCxnSpPr>
            <p:cNvPr id="100" name="Straight Connector 99"/>
            <p:cNvCxnSpPr/>
            <p:nvPr/>
          </p:nvCxnSpPr>
          <p:spPr>
            <a:xfrm rot="16200000" flipH="1">
              <a:off x="5334000" y="304799"/>
              <a:ext cx="0" cy="6858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0209" name="TextBox 64"/>
            <p:cNvSpPr txBox="1">
              <a:spLocks noChangeArrowheads="1"/>
            </p:cNvSpPr>
            <p:nvPr/>
          </p:nvSpPr>
          <p:spPr bwMode="auto">
            <a:xfrm>
              <a:off x="5143500" y="3733799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</p:grpSp>
      <p:cxnSp>
        <p:nvCxnSpPr>
          <p:cNvPr id="128" name="Straight Connector 127"/>
          <p:cNvCxnSpPr/>
          <p:nvPr/>
        </p:nvCxnSpPr>
        <p:spPr>
          <a:xfrm rot="16200000" flipH="1">
            <a:off x="2743200" y="1600200"/>
            <a:ext cx="0" cy="137160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193" name="TextBox 66"/>
          <p:cNvSpPr txBox="1">
            <a:spLocks noChangeArrowheads="1"/>
          </p:cNvSpPr>
          <p:nvPr/>
        </p:nvSpPr>
        <p:spPr bwMode="auto">
          <a:xfrm>
            <a:off x="2552700" y="1905000"/>
            <a:ext cx="381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</a:p>
        </p:txBody>
      </p:sp>
      <p:sp>
        <p:nvSpPr>
          <p:cNvPr id="130" name="TextBox 129"/>
          <p:cNvSpPr txBox="1"/>
          <p:nvPr/>
        </p:nvSpPr>
        <p:spPr bwMode="auto">
          <a:xfrm>
            <a:off x="2286001" y="5715000"/>
            <a:ext cx="2568831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Upright </a:t>
            </a:r>
          </a:p>
          <a:p>
            <a:pPr>
              <a:defRPr/>
            </a:pP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 orientation change)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1" name="Down Arrow 70"/>
          <p:cNvSpPr>
            <a:spLocks noChangeAspect="1"/>
          </p:cNvSpPr>
          <p:nvPr/>
        </p:nvSpPr>
        <p:spPr>
          <a:xfrm rot="10800000">
            <a:off x="9332913" y="1143000"/>
            <a:ext cx="1905000" cy="22860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5" name="Straight Arrow Connector 54"/>
          <p:cNvCxnSpPr>
            <a:cxnSpLocks/>
          </p:cNvCxnSpPr>
          <p:nvPr/>
        </p:nvCxnSpPr>
        <p:spPr bwMode="auto">
          <a:xfrm flipV="1">
            <a:off x="3429000" y="914400"/>
            <a:ext cx="7543800" cy="2514600"/>
          </a:xfrm>
          <a:prstGeom prst="straightConnector1">
            <a:avLst/>
          </a:prstGeom>
          <a:ln w="38100">
            <a:solidFill>
              <a:srgbClr val="00B05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96"/>
          <p:cNvGrpSpPr>
            <a:grpSpLocks/>
          </p:cNvGrpSpPr>
          <p:nvPr/>
        </p:nvGrpSpPr>
        <p:grpSpPr bwMode="auto">
          <a:xfrm>
            <a:off x="1709738" y="1143000"/>
            <a:ext cx="1719262" cy="2286000"/>
            <a:chOff x="185737" y="1143000"/>
            <a:chExt cx="1719263" cy="2286000"/>
          </a:xfrm>
        </p:grpSpPr>
        <p:cxnSp>
          <p:nvCxnSpPr>
            <p:cNvPr id="121" name="Straight Arrow Connector 120"/>
            <p:cNvCxnSpPr>
              <a:cxnSpLocks/>
            </p:cNvCxnSpPr>
            <p:nvPr/>
          </p:nvCxnSpPr>
          <p:spPr>
            <a:xfrm flipV="1">
              <a:off x="533399" y="1143000"/>
              <a:ext cx="1371601" cy="1828800"/>
            </a:xfrm>
            <a:prstGeom prst="straightConnector1">
              <a:avLst/>
            </a:prstGeom>
            <a:ln w="3810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Straight Arrow Connector 84"/>
            <p:cNvCxnSpPr>
              <a:cxnSpLocks noChangeAspect="1"/>
            </p:cNvCxnSpPr>
            <p:nvPr/>
          </p:nvCxnSpPr>
          <p:spPr>
            <a:xfrm flipV="1">
              <a:off x="185737" y="2971800"/>
              <a:ext cx="342900" cy="457200"/>
            </a:xfrm>
            <a:prstGeom prst="straightConnector1">
              <a:avLst/>
            </a:prstGeom>
            <a:ln w="635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2" name="Straight Arrow Connector 121"/>
          <p:cNvCxnSpPr/>
          <p:nvPr/>
        </p:nvCxnSpPr>
        <p:spPr bwMode="auto">
          <a:xfrm flipH="1" flipV="1">
            <a:off x="2057400" y="1143000"/>
            <a:ext cx="13716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" name="Group 1"/>
          <p:cNvGrpSpPr/>
          <p:nvPr/>
        </p:nvGrpSpPr>
        <p:grpSpPr>
          <a:xfrm>
            <a:off x="3429000" y="990600"/>
            <a:ext cx="7448550" cy="1981200"/>
            <a:chOff x="1905000" y="990600"/>
            <a:chExt cx="7448550" cy="1981200"/>
          </a:xfrm>
        </p:grpSpPr>
        <p:cxnSp>
          <p:nvCxnSpPr>
            <p:cNvPr id="78" name="Straight Arrow Connector 77"/>
            <p:cNvCxnSpPr>
              <a:cxnSpLocks noChangeAspect="1"/>
            </p:cNvCxnSpPr>
            <p:nvPr/>
          </p:nvCxnSpPr>
          <p:spPr bwMode="auto">
            <a:xfrm rot="10800000" flipV="1">
              <a:off x="1905000" y="990600"/>
              <a:ext cx="7448550" cy="1981200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Straight Arrow Connector 86"/>
            <p:cNvCxnSpPr/>
            <p:nvPr/>
          </p:nvCxnSpPr>
          <p:spPr bwMode="auto">
            <a:xfrm rot="10800000">
              <a:off x="1905000" y="1143000"/>
              <a:ext cx="7239000" cy="1588"/>
            </a:xfrm>
            <a:prstGeom prst="straightConnector1">
              <a:avLst/>
            </a:prstGeom>
            <a:ln w="381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oup 94"/>
          <p:cNvGrpSpPr>
            <a:grpSpLocks/>
          </p:cNvGrpSpPr>
          <p:nvPr/>
        </p:nvGrpSpPr>
        <p:grpSpPr bwMode="auto">
          <a:xfrm>
            <a:off x="3429000" y="0"/>
            <a:ext cx="2362200" cy="5562600"/>
            <a:chOff x="1904999" y="0"/>
            <a:chExt cx="2362201" cy="5562600"/>
          </a:xfrm>
        </p:grpSpPr>
        <p:cxnSp>
          <p:nvCxnSpPr>
            <p:cNvPr id="93" name="Straight Connector 92"/>
            <p:cNvCxnSpPr/>
            <p:nvPr/>
          </p:nvCxnSpPr>
          <p:spPr>
            <a:xfrm rot="5400000">
              <a:off x="-876301" y="2781300"/>
              <a:ext cx="5562600" cy="0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4" name="TextBox 93"/>
            <p:cNvSpPr txBox="1"/>
            <p:nvPr/>
          </p:nvSpPr>
          <p:spPr bwMode="auto">
            <a:xfrm>
              <a:off x="1904999" y="4953000"/>
              <a:ext cx="2362201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Mirror Plane</a:t>
              </a:r>
              <a:endParaRPr lang="en-US" sz="2400" b="1" dirty="0">
                <a:latin typeface="+mj-lt"/>
              </a:endParaRPr>
            </a:p>
          </p:txBody>
        </p:sp>
      </p:grpSp>
      <p:sp>
        <p:nvSpPr>
          <p:cNvPr id="44" name="TextBox 43"/>
          <p:cNvSpPr txBox="1"/>
          <p:nvPr/>
        </p:nvSpPr>
        <p:spPr bwMode="auto">
          <a:xfrm>
            <a:off x="4894008" y="5710238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Enlarged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3200400" y="1340704"/>
            <a:ext cx="20193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070C0"/>
                </a:solidFill>
                <a:latin typeface="+mj-lt"/>
              </a:rPr>
              <a:t>Looks</a:t>
            </a:r>
            <a:r>
              <a:rPr lang="en-US" sz="2400" dirty="0">
                <a:solidFill>
                  <a:srgbClr val="0070C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like came from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F</a:t>
            </a:r>
            <a:endParaRPr lang="en-US" sz="2400" b="1" i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6934200" y="5715001"/>
            <a:ext cx="3048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(formed by intersection of projected rays)</a:t>
            </a:r>
            <a:endParaRPr lang="en-US" b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34730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0" grpId="0"/>
      <p:bldP spid="71" grpId="0" animBg="1"/>
      <p:bldP spid="44" grpId="0" animBg="1"/>
      <p:bldP spid="6" grpId="0"/>
      <p:bldP spid="4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9"/>
          <p:cNvGrpSpPr>
            <a:grpSpLocks/>
          </p:cNvGrpSpPr>
          <p:nvPr/>
        </p:nvGrpSpPr>
        <p:grpSpPr bwMode="auto">
          <a:xfrm>
            <a:off x="2276050" y="4346168"/>
            <a:ext cx="3667551" cy="1854378"/>
            <a:chOff x="446160" y="3733800"/>
            <a:chExt cx="5105400" cy="2623342"/>
          </a:xfrm>
        </p:grpSpPr>
        <p:pic>
          <p:nvPicPr>
            <p:cNvPr id="51216" name="Picture 2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93859" y="3733800"/>
              <a:ext cx="3810001" cy="2066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" name="Rectangle 7"/>
            <p:cNvSpPr/>
            <p:nvPr/>
          </p:nvSpPr>
          <p:spPr>
            <a:xfrm>
              <a:off x="446160" y="5791117"/>
              <a:ext cx="5105400" cy="566025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00" dirty="0"/>
                <a:t>http://web.mit.edu/2.009/www/experiments/deathray/10_ArchimedesResult.html</a:t>
              </a:r>
            </a:p>
          </p:txBody>
        </p:sp>
      </p:grpSp>
      <p:sp>
        <p:nvSpPr>
          <p:cNvPr id="51202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762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Which Type of Mirror?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43100" y="1595438"/>
            <a:ext cx="4724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Want to see a upright, larger </a:t>
            </a:r>
            <a:r>
              <a:rPr lang="en-US" sz="2400" i="1" dirty="0">
                <a:solidFill>
                  <a:srgbClr val="FF0000"/>
                </a:solidFill>
                <a:latin typeface="+mj-lt"/>
              </a:rPr>
              <a:t>field of view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the same as larger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image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967336"/>
            <a:ext cx="5562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Want to see a magnified, upright image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1752601" y="3884505"/>
            <a:ext cx="469673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Want to focus light on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6096000"/>
            <a:ext cx="4724400" cy="7386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Want to see object as it is </a:t>
            </a:r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(not reduced or enlarged)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53300" y="15954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A – Convex mirror</a:t>
            </a:r>
          </a:p>
        </p:txBody>
      </p:sp>
      <p:grpSp>
        <p:nvGrpSpPr>
          <p:cNvPr id="7" name="Group 14"/>
          <p:cNvGrpSpPr>
            <a:grpSpLocks/>
          </p:cNvGrpSpPr>
          <p:nvPr/>
        </p:nvGrpSpPr>
        <p:grpSpPr bwMode="auto">
          <a:xfrm>
            <a:off x="6858000" y="1976437"/>
            <a:ext cx="3810000" cy="939800"/>
            <a:chOff x="5334000" y="2057400"/>
            <a:chExt cx="3810000" cy="939716"/>
          </a:xfrm>
        </p:grpSpPr>
        <p:pic>
          <p:nvPicPr>
            <p:cNvPr id="51212" name="Picture 3"/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98367" y="2057400"/>
              <a:ext cx="881266" cy="6715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" name="Rectangle 13"/>
            <p:cNvSpPr/>
            <p:nvPr/>
          </p:nvSpPr>
          <p:spPr>
            <a:xfrm>
              <a:off x="5334000" y="2743139"/>
              <a:ext cx="3810000" cy="253977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1050" dirty="0"/>
                <a:t>http://en.wikipedia.org/wiki/File:Rear-view-mirror-caption.jpg</a:t>
              </a:r>
            </a:p>
          </p:txBody>
        </p:sp>
      </p:grpSp>
      <p:sp>
        <p:nvSpPr>
          <p:cNvPr id="16" name="TextBox 15"/>
          <p:cNvSpPr txBox="1"/>
          <p:nvPr/>
        </p:nvSpPr>
        <p:spPr bwMode="auto">
          <a:xfrm>
            <a:off x="7353300" y="2967038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008000"/>
                </a:solidFill>
                <a:latin typeface="+mj-lt"/>
              </a:rPr>
              <a:t>B – Concave mirror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7353300" y="3884505"/>
            <a:ext cx="28194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B – Concave mirror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162800" y="6096001"/>
            <a:ext cx="2819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C – Plane mirror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48650" y="3352800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&lt;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0" name="TextBox 19"/>
          <p:cNvSpPr txBox="1"/>
          <p:nvPr/>
        </p:nvSpPr>
        <p:spPr>
          <a:xfrm>
            <a:off x="8248650" y="4249782"/>
            <a:ext cx="1028700" cy="381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i="1" dirty="0">
                <a:latin typeface="Times New Roman" pitchFamily="18" charset="0"/>
                <a:cs typeface="Times New Roman" pitchFamily="18" charset="0"/>
              </a:rPr>
              <a:t>s &gt; f</a:t>
            </a:r>
            <a:r>
              <a:rPr lang="en-US" dirty="0"/>
              <a:t> </a:t>
            </a:r>
            <a:endParaRPr lang="en-US" i="1" dirty="0"/>
          </a:p>
        </p:txBody>
      </p:sp>
      <p:sp>
        <p:nvSpPr>
          <p:cNvPr id="21" name="TextBox 20"/>
          <p:cNvSpPr txBox="1"/>
          <p:nvPr/>
        </p:nvSpPr>
        <p:spPr bwMode="auto">
          <a:xfrm>
            <a:off x="7639050" y="4640759"/>
            <a:ext cx="22479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(e.g. Flashlights</a:t>
            </a:r>
          </a:p>
          <a:p>
            <a:pPr algn="ctr">
              <a:defRPr/>
            </a:pPr>
            <a:r>
              <a:rPr lang="en-US" sz="2000" dirty="0">
                <a:solidFill>
                  <a:srgbClr val="293F6F"/>
                </a:solidFill>
                <a:latin typeface="+mj-lt"/>
              </a:rPr>
              <a:t>Headlights)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05000" y="609601"/>
            <a:ext cx="838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i="1" dirty="0"/>
              <a:t>A: </a:t>
            </a:r>
            <a:r>
              <a:rPr lang="en-US" sz="2400" i="1" dirty="0"/>
              <a:t>Convex Mirror; </a:t>
            </a:r>
            <a:r>
              <a:rPr lang="en-US" sz="2400" b="1" i="1" dirty="0"/>
              <a:t>B</a:t>
            </a:r>
            <a:r>
              <a:rPr lang="en-US" sz="2400" i="1" dirty="0"/>
              <a:t>: Concave Mirror; </a:t>
            </a:r>
            <a:r>
              <a:rPr lang="en-US" sz="2400" b="1" i="1" dirty="0"/>
              <a:t>C:</a:t>
            </a:r>
            <a:r>
              <a:rPr lang="en-US" sz="2400" i="1" dirty="0"/>
              <a:t> Plane Mirror;</a:t>
            </a:r>
            <a:br>
              <a:rPr lang="en-US" sz="2400" i="1" dirty="0"/>
            </a:br>
            <a:r>
              <a:rPr lang="en-US" sz="2400" b="1" i="1" dirty="0"/>
              <a:t>D</a:t>
            </a:r>
            <a:r>
              <a:rPr lang="en-US" sz="2400" i="1" dirty="0"/>
              <a:t>: None of the above; </a:t>
            </a:r>
            <a:r>
              <a:rPr lang="en-US" sz="2400" b="1" i="1" dirty="0"/>
              <a:t>E:</a:t>
            </a:r>
            <a:r>
              <a:rPr lang="en-US" sz="2400" i="1" dirty="0"/>
              <a:t> More than one of the above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151916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6" grpId="0"/>
      <p:bldP spid="17" grpId="0"/>
      <p:bldP spid="18" grpId="0"/>
      <p:bldP spid="10" grpId="0"/>
      <p:bldP spid="20" grpId="0"/>
      <p:bldP spid="2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5222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 marL="0" indent="0">
              <a:spcAft>
                <a:spcPts val="1200"/>
              </a:spcAft>
              <a:buNone/>
            </a:pPr>
            <a:endParaRPr lang="en-US" sz="24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Mirror equation and Magnification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Use when you need exact answers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distance: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real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virtual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Magnification: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Negative if image is inverted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Positive if image is upright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971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5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Mirror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Assuming that the mirror is fairly flat then image distance, object distance, and focal length are related by the following:</a:t>
            </a:r>
          </a:p>
        </p:txBody>
      </p:sp>
      <p:graphicFrame>
        <p:nvGraphicFramePr>
          <p:cNvPr id="53252" name="Object 2"/>
          <p:cNvGraphicFramePr>
            <a:graphicFrameLocks noChangeAspect="1"/>
          </p:cNvGraphicFramePr>
          <p:nvPr/>
        </p:nvGraphicFramePr>
        <p:xfrm>
          <a:off x="5419725" y="213360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325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419725" y="213360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4457700" y="2895601"/>
            <a:ext cx="3276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Sign Conventions: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79629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991100" y="3762845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 (usually)</a:t>
            </a:r>
          </a:p>
        </p:txBody>
      </p:sp>
      <p:sp>
        <p:nvSpPr>
          <p:cNvPr id="17" name="TextBox 16"/>
          <p:cNvSpPr txBox="1"/>
          <p:nvPr/>
        </p:nvSpPr>
        <p:spPr bwMode="auto">
          <a:xfrm>
            <a:off x="48006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Concave Mirror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991100" y="32766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209800" y="3947790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2209800" y="5172310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2057400" y="6297893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7772400" y="6297893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Convex Mirror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2057399" y="4975136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>
            <a:off x="2057399" y="6199747"/>
            <a:ext cx="85313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>
            <a:off x="75438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/>
          <p:nvPr/>
        </p:nvCxnSpPr>
        <p:spPr>
          <a:xfrm>
            <a:off x="4571999" y="3750704"/>
            <a:ext cx="601675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>
            <a:off x="4572000" y="32766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 bwMode="auto">
          <a:xfrm>
            <a:off x="4991100" y="4987278"/>
            <a:ext cx="22098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intersection of actual rays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)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7543800" y="4987277"/>
            <a:ext cx="2895600" cy="107721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(intersection of projected rays)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2690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/>
      <p:bldP spid="18" grpId="0"/>
      <p:bldP spid="22" grpId="0"/>
      <p:bldP spid="25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TextBox 60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enlarged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chemeClr val="bg1"/>
                </a:solidFill>
              </a:rPr>
              <a:t>reduced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upright</a:t>
            </a:r>
            <a:r>
              <a:rPr lang="en-US" sz="2000" b="1" dirty="0">
                <a:solidFill>
                  <a:srgbClr val="00B050"/>
                </a:solidFill>
              </a:rPr>
              <a:t>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chemeClr val="bg1"/>
                </a:solidFill>
              </a:rPr>
              <a:t>inverted</a:t>
            </a:r>
            <a:r>
              <a:rPr lang="en-US" sz="2000" b="1" dirty="0">
                <a:solidFill>
                  <a:srgbClr val="7030A0"/>
                </a:solidFill>
              </a:rPr>
              <a:t>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54274" name="Title 1"/>
          <p:cNvSpPr>
            <a:spLocks noGrp="1"/>
          </p:cNvSpPr>
          <p:nvPr>
            <p:ph type="title"/>
          </p:nvPr>
        </p:nvSpPr>
        <p:spPr>
          <a:xfrm>
            <a:off x="1981200" y="0"/>
            <a:ext cx="82296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247900" y="921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for a plane mirror, the size of an image in a spherical mirror is different from the size of the object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133600" y="1828801"/>
            <a:ext cx="7772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Magnification is defined as:</a:t>
            </a:r>
          </a:p>
        </p:txBody>
      </p:sp>
      <p:graphicFrame>
        <p:nvGraphicFramePr>
          <p:cNvPr id="54277" name="Object 2"/>
          <p:cNvGraphicFramePr>
            <a:graphicFrameLocks noChangeAspect="1"/>
          </p:cNvGraphicFramePr>
          <p:nvPr/>
        </p:nvGraphicFramePr>
        <p:xfrm>
          <a:off x="5649914" y="2209801"/>
          <a:ext cx="892175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444307" imgH="393529" progId="Equation.3">
                  <p:embed/>
                </p:oleObj>
              </mc:Choice>
              <mc:Fallback>
                <p:oleObj name="Equation" r:id="rId2" imgW="444307" imgH="393529" progId="Equation.3">
                  <p:embed/>
                  <p:pic>
                    <p:nvPicPr>
                      <p:cNvPr id="5427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49914" y="2209801"/>
                        <a:ext cx="892175" cy="79216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6248400" y="2209801"/>
            <a:ext cx="4419600" cy="461963"/>
            <a:chOff x="2708442" y="2659055"/>
            <a:chExt cx="6435558" cy="462073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152275" y="2659055"/>
              <a:ext cx="5991725" cy="462073"/>
              <a:chOff x="3152275" y="2659055"/>
              <a:chExt cx="5991725" cy="462073"/>
            </a:xfrm>
          </p:grpSpPr>
          <p:cxnSp>
            <p:nvCxnSpPr>
              <p:cNvPr id="10" name="Straight Arrow Connector 9"/>
              <p:cNvCxnSpPr>
                <a:stCxn id="11" idx="1"/>
                <a:endCxn id="9" idx="3"/>
              </p:cNvCxnSpPr>
              <p:nvPr/>
            </p:nvCxnSpPr>
            <p:spPr>
              <a:xfrm rot="10800000">
                <a:off x="3152274" y="2832134"/>
                <a:ext cx="1953322" cy="58751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1" name="TextBox 10"/>
              <p:cNvSpPr txBox="1"/>
              <p:nvPr/>
            </p:nvSpPr>
            <p:spPr bwMode="auto">
              <a:xfrm>
                <a:off x="5105596" y="2659055"/>
                <a:ext cx="4038404" cy="462073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Image height</a:t>
                </a:r>
              </a:p>
            </p:txBody>
          </p:sp>
        </p:grpSp>
        <p:sp>
          <p:nvSpPr>
            <p:cNvPr id="9" name="Rounded Rectangle 8"/>
            <p:cNvSpPr/>
            <p:nvPr/>
          </p:nvSpPr>
          <p:spPr>
            <a:xfrm>
              <a:off x="2708442" y="2659055"/>
              <a:ext cx="443832" cy="346157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8" name="Group 15"/>
          <p:cNvGrpSpPr>
            <a:grpSpLocks/>
          </p:cNvGrpSpPr>
          <p:nvPr/>
        </p:nvGrpSpPr>
        <p:grpSpPr bwMode="auto">
          <a:xfrm>
            <a:off x="6267450" y="2655888"/>
            <a:ext cx="4400550" cy="577850"/>
            <a:chOff x="2736182" y="2038511"/>
            <a:chExt cx="6407818" cy="578718"/>
          </a:xfrm>
        </p:grpSpPr>
        <p:grpSp>
          <p:nvGrpSpPr>
            <p:cNvPr id="17" name="Group 12"/>
            <p:cNvGrpSpPr>
              <a:grpSpLocks/>
            </p:cNvGrpSpPr>
            <p:nvPr/>
          </p:nvGrpSpPr>
          <p:grpSpPr bwMode="auto">
            <a:xfrm>
              <a:off x="3175577" y="2155385"/>
              <a:ext cx="5968423" cy="461844"/>
              <a:chOff x="3175577" y="2155385"/>
              <a:chExt cx="5968423" cy="461844"/>
            </a:xfrm>
          </p:grpSpPr>
          <p:cxnSp>
            <p:nvCxnSpPr>
              <p:cNvPr id="15" name="Straight Arrow Connector 14"/>
              <p:cNvCxnSpPr>
                <a:stCxn id="16" idx="1"/>
                <a:endCxn id="14" idx="3"/>
              </p:cNvCxnSpPr>
              <p:nvPr/>
            </p:nvCxnSpPr>
            <p:spPr>
              <a:xfrm rot="10800000">
                <a:off x="3175391" y="2213398"/>
                <a:ext cx="1930206" cy="173297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TextBox 15"/>
              <p:cNvSpPr txBox="1"/>
              <p:nvPr/>
            </p:nvSpPr>
            <p:spPr bwMode="auto">
              <a:xfrm>
                <a:off x="5105596" y="2156162"/>
                <a:ext cx="4038404" cy="461067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Object height</a:t>
                </a:r>
              </a:p>
            </p:txBody>
          </p:sp>
        </p:grpSp>
        <p:sp>
          <p:nvSpPr>
            <p:cNvPr id="14" name="Rounded Rectangle 13"/>
            <p:cNvSpPr/>
            <p:nvPr/>
          </p:nvSpPr>
          <p:spPr>
            <a:xfrm>
              <a:off x="2736182" y="2038511"/>
              <a:ext cx="439208" cy="348184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18" name="Group 26"/>
          <p:cNvGrpSpPr>
            <a:grpSpLocks/>
          </p:cNvGrpSpPr>
          <p:nvPr/>
        </p:nvGrpSpPr>
        <p:grpSpPr bwMode="auto">
          <a:xfrm>
            <a:off x="3243264" y="6027738"/>
            <a:ext cx="5900737" cy="830262"/>
            <a:chOff x="990600" y="6027003"/>
            <a:chExt cx="5900737" cy="830997"/>
          </a:xfrm>
          <a:solidFill>
            <a:schemeClr val="bg1">
              <a:lumMod val="75000"/>
            </a:schemeClr>
          </a:solidFill>
        </p:grpSpPr>
        <p:sp>
          <p:nvSpPr>
            <p:cNvPr id="25" name="TextBox 24"/>
            <p:cNvSpPr txBox="1"/>
            <p:nvPr/>
          </p:nvSpPr>
          <p:spPr bwMode="auto">
            <a:xfrm>
              <a:off x="990600" y="6027003"/>
              <a:ext cx="4529137" cy="830997"/>
            </a:xfrm>
            <a:prstGeom prst="rect">
              <a:avLst/>
            </a:prstGeom>
            <a:noFill/>
            <a:ln w="9525">
              <a:solidFill>
                <a:schemeClr val="tx2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Using similar triangles, we can also find magnification by:</a:t>
              </a:r>
              <a:endParaRPr lang="en-US" sz="2400" b="1" dirty="0">
                <a:solidFill>
                  <a:srgbClr val="FF0000"/>
                </a:solidFill>
                <a:latin typeface="+mj-lt"/>
              </a:endParaRPr>
            </a:p>
          </p:txBody>
        </p:sp>
        <p:graphicFrame>
          <p:nvGraphicFramePr>
            <p:cNvPr id="54287" name="Object 5"/>
            <p:cNvGraphicFramePr>
              <a:graphicFrameLocks noChangeAspect="1"/>
            </p:cNvGraphicFramePr>
            <p:nvPr/>
          </p:nvGraphicFramePr>
          <p:xfrm>
            <a:off x="5667375" y="6166827"/>
            <a:ext cx="1223962" cy="61490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09480" imgH="304560" progId="Equation.3">
                    <p:embed/>
                  </p:oleObj>
                </mc:Choice>
                <mc:Fallback>
                  <p:oleObj name="Equation" r:id="rId4" imgW="609480" imgH="304560" progId="Equation.3">
                    <p:embed/>
                    <p:pic>
                      <p:nvPicPr>
                        <p:cNvPr id="54287" name="Object 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667375" y="6166827"/>
                          <a:ext cx="1223962" cy="614906"/>
                        </a:xfrm>
                        <a:prstGeom prst="rect">
                          <a:avLst/>
                        </a:prstGeom>
                        <a:solidFill>
                          <a:srgbClr val="BFBFBF"/>
                        </a:solidFill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3" name="TextBox 2"/>
          <p:cNvSpPr txBox="1"/>
          <p:nvPr/>
        </p:nvSpPr>
        <p:spPr>
          <a:xfrm>
            <a:off x="6975364" y="4191000"/>
            <a:ext cx="3692636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00B050"/>
                </a:solidFill>
              </a:rPr>
              <a:t> &gt;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00B050"/>
                </a:solidFill>
              </a:rPr>
              <a:t>enlarged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975364" y="4603935"/>
            <a:ext cx="3663580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|m|</a:t>
            </a:r>
            <a:r>
              <a:rPr lang="en-US" sz="2000" b="1" dirty="0">
                <a:solidFill>
                  <a:srgbClr val="7030A0"/>
                </a:solidFill>
              </a:rPr>
              <a:t> &lt; 1 </a:t>
            </a:r>
            <a:r>
              <a:rPr lang="en-US" sz="2000" dirty="0"/>
              <a:t>means </a:t>
            </a:r>
            <a:r>
              <a:rPr lang="en-US" sz="2000" b="1" dirty="0">
                <a:solidFill>
                  <a:srgbClr val="7030A0"/>
                </a:solidFill>
              </a:rPr>
              <a:t>reduced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75364" y="5016870"/>
            <a:ext cx="3425942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00B050"/>
                </a:solidFill>
              </a:rPr>
              <a:t> &gt; 0</a:t>
            </a:r>
            <a:r>
              <a:rPr lang="en-US" sz="2000" b="1" dirty="0"/>
              <a:t>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00B050"/>
                </a:solidFill>
              </a:rPr>
              <a:t>upright image</a:t>
            </a:r>
            <a:endParaRPr lang="en-US" sz="2000" b="1" i="1" dirty="0">
              <a:solidFill>
                <a:srgbClr val="00B050"/>
              </a:solidFill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975365" y="5429806"/>
            <a:ext cx="3529561" cy="40011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US" sz="20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b="1" dirty="0">
                <a:solidFill>
                  <a:srgbClr val="7030A0"/>
                </a:solidFill>
              </a:rPr>
              <a:t> &lt; 0 </a:t>
            </a:r>
            <a:r>
              <a:rPr lang="en-US" sz="2000" dirty="0"/>
              <a:t>means</a:t>
            </a:r>
            <a:r>
              <a:rPr lang="en-US" sz="2000" b="1" dirty="0"/>
              <a:t> </a:t>
            </a:r>
            <a:r>
              <a:rPr lang="en-US" sz="2000" b="1" dirty="0">
                <a:solidFill>
                  <a:srgbClr val="7030A0"/>
                </a:solidFill>
              </a:rPr>
              <a:t>inverted image</a:t>
            </a:r>
            <a:endParaRPr lang="en-US" sz="2000" b="1" i="1" dirty="0">
              <a:solidFill>
                <a:srgbClr val="7030A0"/>
              </a:solidFill>
            </a:endParaRPr>
          </a:p>
        </p:txBody>
      </p:sp>
      <p:sp>
        <p:nvSpPr>
          <p:cNvPr id="7" name="Right Arrow 6"/>
          <p:cNvSpPr>
            <a:spLocks noChangeAspect="1"/>
          </p:cNvSpPr>
          <p:nvPr/>
        </p:nvSpPr>
        <p:spPr>
          <a:xfrm>
            <a:off x="2072640" y="4402296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>
            <a:spLocks noChangeAspect="1"/>
          </p:cNvSpPr>
          <p:nvPr/>
        </p:nvSpPr>
        <p:spPr>
          <a:xfrm>
            <a:off x="35356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Arrow 35"/>
          <p:cNvSpPr>
            <a:spLocks noChangeAspect="1"/>
          </p:cNvSpPr>
          <p:nvPr/>
        </p:nvSpPr>
        <p:spPr>
          <a:xfrm rot="10800000">
            <a:off x="5364480" y="5170392"/>
            <a:ext cx="1463040" cy="73152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ight Arrow 37"/>
          <p:cNvSpPr>
            <a:spLocks noChangeAspect="1"/>
          </p:cNvSpPr>
          <p:nvPr/>
        </p:nvSpPr>
        <p:spPr>
          <a:xfrm>
            <a:off x="59131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ight Arrow 38"/>
          <p:cNvSpPr>
            <a:spLocks noChangeAspect="1"/>
          </p:cNvSpPr>
          <p:nvPr/>
        </p:nvSpPr>
        <p:spPr>
          <a:xfrm>
            <a:off x="2072640" y="5353272"/>
            <a:ext cx="731520" cy="36576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>
            <a:spLocks noChangeAspect="1"/>
          </p:cNvSpPr>
          <p:nvPr/>
        </p:nvSpPr>
        <p:spPr>
          <a:xfrm rot="10800000">
            <a:off x="4084320" y="4493736"/>
            <a:ext cx="365760" cy="182880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1524000" y="4109688"/>
            <a:ext cx="8839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Object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676400" y="3345360"/>
            <a:ext cx="518160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200" dirty="0"/>
              <a:t>For this object, what’s the image if </a:t>
            </a:r>
            <a:r>
              <a:rPr lang="en-US" sz="2200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00B050"/>
                </a:solidFill>
              </a:rPr>
              <a:t> = +2</a:t>
            </a:r>
            <a:r>
              <a:rPr lang="en-US" sz="2200" dirty="0"/>
              <a:t>? If </a:t>
            </a:r>
            <a:r>
              <a:rPr lang="en-US" sz="2200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200" b="1" dirty="0">
                <a:solidFill>
                  <a:srgbClr val="7030A0"/>
                </a:solidFill>
              </a:rPr>
              <a:t> = –0.5</a:t>
            </a:r>
            <a:r>
              <a:rPr lang="en-US" sz="2200" dirty="0"/>
              <a:t>?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524000" y="4109688"/>
            <a:ext cx="5486400" cy="19019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3528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A.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33528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 flipV="1">
            <a:off x="5181600" y="4109688"/>
            <a:ext cx="0" cy="190195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1524000" y="5060664"/>
            <a:ext cx="54864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/>
          <p:cNvSpPr txBox="1"/>
          <p:nvPr/>
        </p:nvSpPr>
        <p:spPr>
          <a:xfrm>
            <a:off x="5181601" y="4109688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B.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5240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528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181601" y="5060664"/>
            <a:ext cx="4905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3352800" y="5642308"/>
            <a:ext cx="1021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00B050"/>
                </a:solidFill>
              </a:rPr>
              <a:t> = +2</a:t>
            </a:r>
            <a:endParaRPr lang="en-US" b="1" i="1" dirty="0">
              <a:solidFill>
                <a:srgbClr val="00B05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3352800" y="4691332"/>
            <a:ext cx="1219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b="1" dirty="0">
                <a:solidFill>
                  <a:srgbClr val="7030A0"/>
                </a:solidFill>
              </a:rPr>
              <a:t> = –0.5</a:t>
            </a:r>
            <a:endParaRPr lang="en-US" b="1" i="1" dirty="0">
              <a:solidFill>
                <a:srgbClr val="7030A0"/>
              </a:solidFill>
            </a:endParaRPr>
          </a:p>
        </p:txBody>
      </p:sp>
      <p:sp>
        <p:nvSpPr>
          <p:cNvPr id="12" name="TextBox 11"/>
          <p:cNvSpPr txBox="1"/>
          <p:nvPr/>
        </p:nvSpPr>
        <p:spPr bwMode="auto">
          <a:xfrm>
            <a:off x="7967663" y="3345359"/>
            <a:ext cx="270033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0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9198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28" grpId="0" animBg="1"/>
      <p:bldP spid="29" grpId="0" animBg="1"/>
      <p:bldP spid="30" grpId="0" animBg="1"/>
      <p:bldP spid="42" grpId="0"/>
      <p:bldP spid="45" grpId="0"/>
      <p:bldP spid="60" grpId="0"/>
      <p:bldP spid="1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524000" y="2457841"/>
            <a:ext cx="2971800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/>
              <a:t>–2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+0.86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–1.2 cm</a:t>
            </a:r>
          </a:p>
          <a:p>
            <a:pPr marL="457200" indent="-457200">
              <a:buFontTx/>
              <a:buAutoNum type="alphaUcPeriod"/>
            </a:pPr>
            <a:r>
              <a:rPr lang="en-US" sz="2400" dirty="0"/>
              <a:t>–15 cm</a:t>
            </a:r>
          </a:p>
          <a:p>
            <a:pPr marL="457200" indent="-457200">
              <a:buAutoNum type="alphaUcPeriod"/>
            </a:pPr>
            <a:r>
              <a:rPr lang="en-US" sz="2400" dirty="0"/>
              <a:t>+2 cm</a:t>
            </a:r>
          </a:p>
        </p:txBody>
      </p:sp>
      <p:sp>
        <p:nvSpPr>
          <p:cNvPr id="552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Convex Mirror Example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2.0 cm tall eraser is 3.0 cm from a convex mirror.  If the eraser’s image is 0.8 cm tall, what is the mirror’s focal length?</a:t>
            </a:r>
          </a:p>
        </p:txBody>
      </p:sp>
      <p:cxnSp>
        <p:nvCxnSpPr>
          <p:cNvPr id="80" name="Straight Arrow Connector 79"/>
          <p:cNvCxnSpPr/>
          <p:nvPr/>
        </p:nvCxnSpPr>
        <p:spPr>
          <a:xfrm>
            <a:off x="7910514" y="4848225"/>
            <a:ext cx="1343025" cy="15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Arrow Connector 80"/>
          <p:cNvCxnSpPr/>
          <p:nvPr/>
        </p:nvCxnSpPr>
        <p:spPr>
          <a:xfrm rot="10800000">
            <a:off x="7683500" y="3946525"/>
            <a:ext cx="1570038" cy="903288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Arrow Connector 82"/>
          <p:cNvCxnSpPr/>
          <p:nvPr/>
        </p:nvCxnSpPr>
        <p:spPr>
          <a:xfrm rot="10800000" flipH="1" flipV="1">
            <a:off x="7910514" y="4848225"/>
            <a:ext cx="1292225" cy="331788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Arrow Connector 83"/>
          <p:cNvCxnSpPr/>
          <p:nvPr/>
        </p:nvCxnSpPr>
        <p:spPr>
          <a:xfrm rot="10800000">
            <a:off x="7666038" y="5180013"/>
            <a:ext cx="1536700" cy="0"/>
          </a:xfrm>
          <a:prstGeom prst="straightConnector1">
            <a:avLst/>
          </a:prstGeom>
          <a:ln w="3810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7" name="Down Arrow 86"/>
          <p:cNvSpPr/>
          <p:nvPr/>
        </p:nvSpPr>
        <p:spPr>
          <a:xfrm rot="10800000">
            <a:off x="9723439" y="5180014"/>
            <a:ext cx="122237" cy="295275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53"/>
          <p:cNvGrpSpPr>
            <a:grpSpLocks/>
          </p:cNvGrpSpPr>
          <p:nvPr/>
        </p:nvGrpSpPr>
        <p:grpSpPr bwMode="auto">
          <a:xfrm>
            <a:off x="7467600" y="3124201"/>
            <a:ext cx="6400800" cy="4702175"/>
            <a:chOff x="5943600" y="3124200"/>
            <a:chExt cx="6400800" cy="4702175"/>
          </a:xfrm>
        </p:grpSpPr>
        <p:grpSp>
          <p:nvGrpSpPr>
            <p:cNvPr id="6" name="Group 51"/>
            <p:cNvGrpSpPr>
              <a:grpSpLocks/>
            </p:cNvGrpSpPr>
            <p:nvPr/>
          </p:nvGrpSpPr>
          <p:grpSpPr bwMode="auto">
            <a:xfrm>
              <a:off x="7640638" y="3124200"/>
              <a:ext cx="4703762" cy="4702175"/>
              <a:chOff x="7640638" y="3124200"/>
              <a:chExt cx="4703762" cy="4702175"/>
            </a:xfrm>
          </p:grpSpPr>
          <p:sp>
            <p:nvSpPr>
              <p:cNvPr id="68" name="Arc 67"/>
              <p:cNvSpPr/>
              <p:nvPr/>
            </p:nvSpPr>
            <p:spPr bwMode="auto">
              <a:xfrm rot="10800000">
                <a:off x="7642225" y="3124200"/>
                <a:ext cx="4702175" cy="4702175"/>
              </a:xfrm>
              <a:prstGeom prst="arc">
                <a:avLst>
                  <a:gd name="adj1" fmla="val 19411142"/>
                  <a:gd name="adj2" fmla="val 2189259"/>
                </a:avLst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69" name="Straight Connector 68"/>
              <p:cNvCxnSpPr/>
              <p:nvPr/>
            </p:nvCxnSpPr>
            <p:spPr bwMode="auto">
              <a:xfrm rot="10800000" flipV="1">
                <a:off x="8093075" y="409575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/>
              <p:cNvCxnSpPr/>
              <p:nvPr/>
            </p:nvCxnSpPr>
            <p:spPr bwMode="auto">
              <a:xfrm rot="10800000" flipV="1">
                <a:off x="7867650" y="44100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/>
              <p:cNvCxnSpPr/>
              <p:nvPr/>
            </p:nvCxnSpPr>
            <p:spPr bwMode="auto">
              <a:xfrm rot="10800000" flipV="1">
                <a:off x="7753350" y="4748213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Connector 71"/>
              <p:cNvCxnSpPr/>
              <p:nvPr/>
            </p:nvCxnSpPr>
            <p:spPr bwMode="auto">
              <a:xfrm rot="10800000" flipV="1">
                <a:off x="7672388" y="5105400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Connector 72"/>
              <p:cNvCxnSpPr/>
              <p:nvPr/>
            </p:nvCxnSpPr>
            <p:spPr bwMode="auto">
              <a:xfrm rot="10800000">
                <a:off x="8094663" y="6854825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Connector 73"/>
              <p:cNvCxnSpPr/>
              <p:nvPr/>
            </p:nvCxnSpPr>
            <p:spPr bwMode="auto">
              <a:xfrm rot="10800000">
                <a:off x="7867650" y="6540500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/>
              <p:cNvCxnSpPr/>
              <p:nvPr/>
            </p:nvCxnSpPr>
            <p:spPr bwMode="auto">
              <a:xfrm rot="10800000">
                <a:off x="7754938" y="6202363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/>
              <p:cNvCxnSpPr/>
              <p:nvPr/>
            </p:nvCxnSpPr>
            <p:spPr bwMode="auto">
              <a:xfrm rot="10800000">
                <a:off x="7670800" y="5845175"/>
                <a:ext cx="157163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/>
              <p:cNvCxnSpPr/>
              <p:nvPr/>
            </p:nvCxnSpPr>
            <p:spPr bwMode="auto">
              <a:xfrm rot="10800000" flipV="1">
                <a:off x="7640638" y="5475288"/>
                <a:ext cx="155575" cy="0"/>
              </a:xfrm>
              <a:prstGeom prst="line">
                <a:avLst/>
              </a:prstGeom>
              <a:ln w="635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52"/>
            <p:cNvGrpSpPr>
              <a:grpSpLocks/>
            </p:cNvGrpSpPr>
            <p:nvPr/>
          </p:nvGrpSpPr>
          <p:grpSpPr bwMode="auto">
            <a:xfrm>
              <a:off x="5943600" y="4848225"/>
              <a:ext cx="4284663" cy="996395"/>
              <a:chOff x="5943600" y="4848225"/>
              <a:chExt cx="4284663" cy="996395"/>
            </a:xfrm>
          </p:grpSpPr>
          <p:sp>
            <p:nvSpPr>
              <p:cNvPr id="78" name="Oval 77"/>
              <p:cNvSpPr/>
              <p:nvPr/>
            </p:nvSpPr>
            <p:spPr bwMode="auto">
              <a:xfrm>
                <a:off x="8788400" y="5443538"/>
                <a:ext cx="63500" cy="635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79" name="Down Arrow 78"/>
              <p:cNvSpPr/>
              <p:nvPr/>
            </p:nvSpPr>
            <p:spPr bwMode="auto">
              <a:xfrm rot="10800000">
                <a:off x="6256338" y="4848225"/>
                <a:ext cx="260350" cy="627063"/>
              </a:xfrm>
              <a:prstGeom prst="downArrow">
                <a:avLst/>
              </a:prstGeom>
              <a:noFill/>
              <a:ln w="2540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55325" name="TextBox 19"/>
              <p:cNvSpPr txBox="1">
                <a:spLocks noChangeArrowheads="1"/>
              </p:cNvSpPr>
              <p:nvPr/>
            </p:nvSpPr>
            <p:spPr bwMode="auto">
              <a:xfrm>
                <a:off x="8608423" y="5475288"/>
                <a:ext cx="156754" cy="36933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i="1">
                    <a:latin typeface="Times New Roman" pitchFamily="18" charset="0"/>
                    <a:cs typeface="Times New Roman" pitchFamily="18" charset="0"/>
                  </a:rPr>
                  <a:t>F</a:t>
                </a:r>
              </a:p>
            </p:txBody>
          </p:sp>
          <p:cxnSp>
            <p:nvCxnSpPr>
              <p:cNvPr id="88" name="Straight Connector 87"/>
              <p:cNvCxnSpPr/>
              <p:nvPr/>
            </p:nvCxnSpPr>
            <p:spPr bwMode="auto">
              <a:xfrm>
                <a:off x="5943600" y="5475288"/>
                <a:ext cx="4284663" cy="0"/>
              </a:xfrm>
              <a:prstGeom prst="line">
                <a:avLst/>
              </a:prstGeom>
              <a:ln>
                <a:solidFill>
                  <a:schemeClr val="tx1"/>
                </a:solidFill>
                <a:prstDash val="sysDot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cxnSp>
        <p:nvCxnSpPr>
          <p:cNvPr id="89" name="Straight Arrow Connector 88"/>
          <p:cNvCxnSpPr/>
          <p:nvPr/>
        </p:nvCxnSpPr>
        <p:spPr>
          <a:xfrm rot="10800000">
            <a:off x="9253539" y="4848225"/>
            <a:ext cx="2498725" cy="1436688"/>
          </a:xfrm>
          <a:prstGeom prst="straightConnector1">
            <a:avLst/>
          </a:prstGeom>
          <a:ln w="3810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1" name="Straight Arrow Connector 90"/>
          <p:cNvCxnSpPr/>
          <p:nvPr/>
        </p:nvCxnSpPr>
        <p:spPr>
          <a:xfrm>
            <a:off x="9166226" y="5180013"/>
            <a:ext cx="1958975" cy="0"/>
          </a:xfrm>
          <a:prstGeom prst="straightConnector1">
            <a:avLst/>
          </a:prstGeom>
          <a:ln w="381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Arrow Connector 91"/>
          <p:cNvCxnSpPr/>
          <p:nvPr/>
        </p:nvCxnSpPr>
        <p:spPr>
          <a:xfrm>
            <a:off x="9166225" y="5180013"/>
            <a:ext cx="2298700" cy="59055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8133" name="Object 5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0200" y="2375849"/>
            <a:ext cx="1352550" cy="842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2" name="Group 51"/>
          <p:cNvGrpSpPr>
            <a:grpSpLocks/>
          </p:cNvGrpSpPr>
          <p:nvPr/>
        </p:nvGrpSpPr>
        <p:grpSpPr bwMode="auto">
          <a:xfrm>
            <a:off x="4038600" y="2438400"/>
            <a:ext cx="4419600" cy="1143000"/>
            <a:chOff x="228600" y="2438400"/>
            <a:chExt cx="4419600" cy="1143000"/>
          </a:xfrm>
        </p:grpSpPr>
        <p:sp>
          <p:nvSpPr>
            <p:cNvPr id="36" name="TextBox 35"/>
            <p:cNvSpPr txBox="1"/>
            <p:nvPr/>
          </p:nvSpPr>
          <p:spPr bwMode="auto">
            <a:xfrm>
              <a:off x="228600" y="3119438"/>
              <a:ext cx="44196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Want </a:t>
              </a:r>
              <a:r>
                <a:rPr lang="en-US" sz="2400" i="1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f</a:t>
              </a:r>
              <a:r>
                <a:rPr lang="en-US" sz="2400" dirty="0">
                  <a:latin typeface="+mj-lt"/>
                </a:rPr>
                <a:t>, will need </a:t>
              </a:r>
              <a:r>
                <a:rPr lang="en-US" sz="2400" i="1" dirty="0">
                  <a:solidFill>
                    <a:srgbClr val="008000"/>
                  </a:solidFill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>
                  <a:latin typeface="+mj-lt"/>
                </a:rPr>
                <a:t> first</a:t>
              </a:r>
            </a:p>
          </p:txBody>
        </p:sp>
        <p:sp>
          <p:nvSpPr>
            <p:cNvPr id="38" name="Rounded Rectangle 37"/>
            <p:cNvSpPr/>
            <p:nvPr/>
          </p:nvSpPr>
          <p:spPr>
            <a:xfrm>
              <a:off x="25908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39" name="Rounded Rectangle 38"/>
            <p:cNvSpPr/>
            <p:nvPr/>
          </p:nvSpPr>
          <p:spPr>
            <a:xfrm>
              <a:off x="2133600" y="2438400"/>
              <a:ext cx="304800" cy="762000"/>
            </a:xfrm>
            <a:prstGeom prst="roundRect">
              <a:avLst/>
            </a:prstGeom>
            <a:noFill/>
            <a:ln>
              <a:solidFill>
                <a:srgbClr val="008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3" name="TextBox 42"/>
          <p:cNvSpPr txBox="1"/>
          <p:nvPr/>
        </p:nvSpPr>
        <p:spPr bwMode="auto">
          <a:xfrm>
            <a:off x="1524000" y="4495801"/>
            <a:ext cx="1676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Given:</a:t>
            </a:r>
          </a:p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 2.0 cm </a:t>
            </a:r>
            <a:endParaRPr lang="en-US" sz="2400" i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1524000" y="5943601"/>
            <a:ext cx="1676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 = 3.0 cm </a:t>
            </a:r>
            <a:endParaRPr lang="en-US" sz="2400" i="1" dirty="0">
              <a:latin typeface="+mj-lt"/>
            </a:endParaRPr>
          </a:p>
        </p:txBody>
      </p:sp>
      <p:sp>
        <p:nvSpPr>
          <p:cNvPr id="45" name="TextBox 44"/>
          <p:cNvSpPr txBox="1"/>
          <p:nvPr/>
        </p:nvSpPr>
        <p:spPr bwMode="auto">
          <a:xfrm>
            <a:off x="1524000" y="5405438"/>
            <a:ext cx="1981200" cy="46166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h'</a:t>
            </a:r>
            <a:r>
              <a:rPr lang="en-US" sz="2400" dirty="0">
                <a:latin typeface="+mj-lt"/>
              </a:rPr>
              <a:t> = +0.8 cm</a:t>
            </a:r>
            <a:endParaRPr lang="en-US" sz="2400" i="1" dirty="0">
              <a:latin typeface="+mj-lt"/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1524000" y="2495550"/>
            <a:ext cx="1485900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3" name="Group 7"/>
          <p:cNvGrpSpPr/>
          <p:nvPr/>
        </p:nvGrpSpPr>
        <p:grpSpPr>
          <a:xfrm>
            <a:off x="5638800" y="4477054"/>
            <a:ext cx="3048000" cy="2380947"/>
            <a:chOff x="2276475" y="4477053"/>
            <a:chExt cx="3048000" cy="2380947"/>
          </a:xfrm>
        </p:grpSpPr>
        <p:sp>
          <p:nvSpPr>
            <p:cNvPr id="7" name="TextBox 6"/>
            <p:cNvSpPr txBox="1"/>
            <p:nvPr/>
          </p:nvSpPr>
          <p:spPr>
            <a:xfrm>
              <a:off x="2276475" y="4477053"/>
              <a:ext cx="3048000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2400" dirty="0"/>
                <a:t>What is </a:t>
              </a:r>
              <a:r>
                <a:rPr lang="en-US" sz="24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400" dirty="0"/>
                <a:t>?</a:t>
              </a:r>
            </a:p>
          </p:txBody>
        </p:sp>
        <p:sp>
          <p:nvSpPr>
            <p:cNvPr id="46" name="TextBox 45"/>
            <p:cNvSpPr txBox="1"/>
            <p:nvPr/>
          </p:nvSpPr>
          <p:spPr>
            <a:xfrm>
              <a:off x="2276475" y="4919008"/>
              <a:ext cx="2095500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–7.5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–1.2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–2 cm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+7.5 cm</a:t>
              </a:r>
            </a:p>
            <a:p>
              <a:pPr marL="457200" indent="-457200">
                <a:buAutoNum type="alphaUcPeriod"/>
              </a:pPr>
              <a:r>
                <a:rPr lang="en-US" sz="2400" dirty="0"/>
                <a:t>+1.2 cm</a:t>
              </a:r>
            </a:p>
          </p:txBody>
        </p:sp>
      </p:grpSp>
      <p:sp>
        <p:nvSpPr>
          <p:cNvPr id="47" name="Rounded Rectangle 46"/>
          <p:cNvSpPr/>
          <p:nvPr/>
        </p:nvSpPr>
        <p:spPr>
          <a:xfrm>
            <a:off x="5638800" y="5314950"/>
            <a:ext cx="1632724" cy="40005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9067800" y="4382870"/>
            <a:ext cx="16002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Virtual Image 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' </a:t>
            </a:r>
            <a:r>
              <a:rPr lang="en-US" dirty="0"/>
              <a:t>&lt; 0)</a:t>
            </a:r>
          </a:p>
        </p:txBody>
      </p:sp>
      <p:grpSp>
        <p:nvGrpSpPr>
          <p:cNvPr id="14" name="Group 12"/>
          <p:cNvGrpSpPr/>
          <p:nvPr/>
        </p:nvGrpSpPr>
        <p:grpSpPr>
          <a:xfrm>
            <a:off x="1499420" y="3040627"/>
            <a:ext cx="1919748" cy="1115961"/>
            <a:chOff x="-24580" y="3040626"/>
            <a:chExt cx="1919748" cy="1115961"/>
          </a:xfrm>
        </p:grpSpPr>
        <p:cxnSp>
          <p:nvCxnSpPr>
            <p:cNvPr id="11" name="Straight Connector 10"/>
            <p:cNvCxnSpPr/>
            <p:nvPr/>
          </p:nvCxnSpPr>
          <p:spPr>
            <a:xfrm>
              <a:off x="-9832" y="3040626"/>
              <a:ext cx="190500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2" name="Straight Connector 51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" name="Group 53"/>
          <p:cNvGrpSpPr/>
          <p:nvPr/>
        </p:nvGrpSpPr>
        <p:grpSpPr>
          <a:xfrm>
            <a:off x="5720389" y="6248400"/>
            <a:ext cx="1604336" cy="391192"/>
            <a:chOff x="-24580" y="3765395"/>
            <a:chExt cx="1604336" cy="391192"/>
          </a:xfrm>
        </p:grpSpPr>
        <p:cxnSp>
          <p:nvCxnSpPr>
            <p:cNvPr id="55" name="Straight Connector 54"/>
            <p:cNvCxnSpPr/>
            <p:nvPr/>
          </p:nvCxnSpPr>
          <p:spPr>
            <a:xfrm>
              <a:off x="-9832" y="3765395"/>
              <a:ext cx="1589588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Connector 55"/>
            <p:cNvCxnSpPr/>
            <p:nvPr/>
          </p:nvCxnSpPr>
          <p:spPr>
            <a:xfrm>
              <a:off x="-24580" y="4156587"/>
              <a:ext cx="1510480" cy="0"/>
            </a:xfrm>
            <a:prstGeom prst="line">
              <a:avLst/>
            </a:prstGeom>
            <a:ln w="19050"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14</a:t>
            </a:fld>
            <a:endParaRPr lang="en-US" dirty="0"/>
          </a:p>
        </p:txBody>
      </p:sp>
      <p:graphicFrame>
        <p:nvGraphicFramePr>
          <p:cNvPr id="51" name="Object 5"/>
          <p:cNvGraphicFramePr>
            <a:graphicFrameLocks noChangeAspect="1"/>
          </p:cNvGraphicFramePr>
          <p:nvPr/>
        </p:nvGraphicFramePr>
        <p:xfrm>
          <a:off x="5876925" y="3886200"/>
          <a:ext cx="1223962" cy="614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609480" imgH="304560" progId="Equation.3">
                  <p:embed/>
                </p:oleObj>
              </mc:Choice>
              <mc:Fallback>
                <p:oleObj name="Equation" r:id="rId3" imgW="609480" imgH="304560" progId="Equation.3">
                  <p:embed/>
                  <p:pic>
                    <p:nvPicPr>
                      <p:cNvPr id="51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76925" y="3886200"/>
                        <a:ext cx="1223962" cy="61436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1250" name="Object 2"/>
          <p:cNvGraphicFramePr>
            <a:graphicFrameLocks noChangeAspect="1"/>
          </p:cNvGraphicFramePr>
          <p:nvPr/>
        </p:nvGraphicFramePr>
        <p:xfrm>
          <a:off x="3276600" y="4724400"/>
          <a:ext cx="1549400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774360" imgH="393480" progId="Equation.3">
                  <p:embed/>
                </p:oleObj>
              </mc:Choice>
              <mc:Fallback>
                <p:oleObj name="Equation" r:id="rId5" imgW="774360" imgH="393480" progId="Equation.3">
                  <p:embed/>
                  <p:pic>
                    <p:nvPicPr>
                      <p:cNvPr id="18125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76600" y="4724400"/>
                        <a:ext cx="1549400" cy="7874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528141441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12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0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7" grpId="0" animBg="1"/>
      <p:bldP spid="43" grpId="0"/>
      <p:bldP spid="44" grpId="0"/>
      <p:bldP spid="45" grpId="0" animBg="1"/>
      <p:bldP spid="5" grpId="0" animBg="1"/>
      <p:bldP spid="47" grpId="0" animBg="1"/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/>
          <p:cNvSpPr>
            <a:spLocks noGrp="1"/>
          </p:cNvSpPr>
          <p:nvPr>
            <p:ph type="title"/>
          </p:nvPr>
        </p:nvSpPr>
        <p:spPr>
          <a:xfrm>
            <a:off x="1524000" y="274638"/>
            <a:ext cx="9144000" cy="1143000"/>
          </a:xfrm>
        </p:spPr>
        <p:txBody>
          <a:bodyPr/>
          <a:lstStyle/>
          <a:p>
            <a:r>
              <a:rPr lang="en-US" sz="4200">
                <a:latin typeface="Arial" charset="0"/>
                <a:cs typeface="Arial" charset="0"/>
              </a:rPr>
              <a:t>What to Do About Long Objects?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1920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How do we deal with objects that have an extension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parallel to the optical axis?</a:t>
            </a:r>
            <a:endParaRPr lang="en-US" sz="2400" dirty="0">
              <a:solidFill>
                <a:srgbClr val="FF0000"/>
              </a:solidFill>
              <a:latin typeface="+mj-lt"/>
              <a:cs typeface="Arial" pitchFamily="34" charset="0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981200" y="3348038"/>
            <a:ext cx="8077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  <a:cs typeface="Arial" pitchFamily="34" charset="0"/>
              </a:rPr>
              <a:t>Treat </a:t>
            </a:r>
            <a:r>
              <a:rPr lang="en-US" sz="2400" b="1" dirty="0">
                <a:solidFill>
                  <a:srgbClr val="FF0000"/>
                </a:solidFill>
                <a:latin typeface="+mj-lt"/>
                <a:cs typeface="Arial" pitchFamily="34" charset="0"/>
              </a:rPr>
              <a:t>different points</a:t>
            </a:r>
            <a:r>
              <a:rPr lang="en-US" sz="2400" dirty="0">
                <a:latin typeface="+mj-lt"/>
                <a:cs typeface="Arial" pitchFamily="34" charset="0"/>
              </a:rPr>
              <a:t> as a separate objects</a:t>
            </a:r>
          </a:p>
        </p:txBody>
      </p: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5819775" y="4308475"/>
            <a:ext cx="1905000" cy="1144588"/>
            <a:chOff x="4295078" y="4308127"/>
            <a:chExt cx="1905000" cy="1144858"/>
          </a:xfrm>
        </p:grpSpPr>
        <p:sp>
          <p:nvSpPr>
            <p:cNvPr id="6" name="Oval 5"/>
            <p:cNvSpPr/>
            <p:nvPr/>
          </p:nvSpPr>
          <p:spPr>
            <a:xfrm>
              <a:off x="43712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Oval 6"/>
            <p:cNvSpPr/>
            <p:nvPr/>
          </p:nvSpPr>
          <p:spPr>
            <a:xfrm>
              <a:off x="5742878" y="5071895"/>
              <a:ext cx="381000" cy="381090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8" name="Rectangle 7"/>
            <p:cNvSpPr/>
            <p:nvPr/>
          </p:nvSpPr>
          <p:spPr>
            <a:xfrm>
              <a:off x="4295078" y="4765435"/>
              <a:ext cx="1905000" cy="457308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rapezoid 8"/>
            <p:cNvSpPr/>
            <p:nvPr/>
          </p:nvSpPr>
          <p:spPr>
            <a:xfrm>
              <a:off x="4828478" y="4308127"/>
              <a:ext cx="1371600" cy="457308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0" name="Right Triangle 9"/>
            <p:cNvSpPr>
              <a:spLocks noChangeAspect="1"/>
            </p:cNvSpPr>
            <p:nvPr/>
          </p:nvSpPr>
          <p:spPr>
            <a:xfrm>
              <a:off x="6017516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1" name="Right Triangle 10"/>
            <p:cNvSpPr>
              <a:spLocks noChangeAspect="1"/>
            </p:cNvSpPr>
            <p:nvPr/>
          </p:nvSpPr>
          <p:spPr>
            <a:xfrm flipH="1">
              <a:off x="4864991" y="4354176"/>
              <a:ext cx="146050" cy="365211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6" name="Rectangle 15"/>
            <p:cNvSpPr>
              <a:spLocks/>
            </p:cNvSpPr>
            <p:nvPr/>
          </p:nvSpPr>
          <p:spPr>
            <a:xfrm>
              <a:off x="5072953" y="4354176"/>
              <a:ext cx="411163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ectangle 16"/>
            <p:cNvSpPr>
              <a:spLocks/>
            </p:cNvSpPr>
            <p:nvPr/>
          </p:nvSpPr>
          <p:spPr>
            <a:xfrm>
              <a:off x="5544441" y="4354176"/>
              <a:ext cx="411162" cy="365211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2" name="TextBox 21"/>
          <p:cNvSpPr txBox="1"/>
          <p:nvPr/>
        </p:nvSpPr>
        <p:spPr bwMode="auto">
          <a:xfrm>
            <a:off x="1676400" y="2057400"/>
            <a:ext cx="8763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  <a:cs typeface="Arial" pitchFamily="34" charset="0"/>
              </a:rPr>
              <a:t>A car’s front end is 5 m behind another car’s passenger side rear view mirror.  If the car is 4.5 m long and the mirror’s focal length is –90 cm, how long is the car’s image?</a:t>
            </a:r>
          </a:p>
        </p:txBody>
      </p:sp>
      <p:sp>
        <p:nvSpPr>
          <p:cNvPr id="27" name="Down Arrow 26"/>
          <p:cNvSpPr>
            <a:spLocks/>
          </p:cNvSpPr>
          <p:nvPr/>
        </p:nvSpPr>
        <p:spPr>
          <a:xfrm flipV="1">
            <a:off x="5635626" y="4767263"/>
            <a:ext cx="366713" cy="68580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7" name="Down Arrow 46"/>
          <p:cNvSpPr>
            <a:spLocks/>
          </p:cNvSpPr>
          <p:nvPr/>
        </p:nvSpPr>
        <p:spPr>
          <a:xfrm flipV="1">
            <a:off x="7413626" y="4308475"/>
            <a:ext cx="620713" cy="114300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12" name="Group 39"/>
          <p:cNvGrpSpPr>
            <a:grpSpLocks/>
          </p:cNvGrpSpPr>
          <p:nvPr/>
        </p:nvGrpSpPr>
        <p:grpSpPr bwMode="auto">
          <a:xfrm flipH="1">
            <a:off x="-969963" y="3101976"/>
            <a:ext cx="4703763" cy="4702175"/>
            <a:chOff x="1849438" y="3048000"/>
            <a:chExt cx="4703762" cy="4702175"/>
          </a:xfrm>
        </p:grpSpPr>
        <p:sp>
          <p:nvSpPr>
            <p:cNvPr id="30" name="Arc 29"/>
            <p:cNvSpPr/>
            <p:nvPr/>
          </p:nvSpPr>
          <p:spPr bwMode="auto">
            <a:xfrm rot="10800000">
              <a:off x="1851025" y="3048000"/>
              <a:ext cx="4702175" cy="4702175"/>
            </a:xfrm>
            <a:prstGeom prst="arc">
              <a:avLst>
                <a:gd name="adj1" fmla="val 19411142"/>
                <a:gd name="adj2" fmla="val 2189259"/>
              </a:avLst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cxnSp>
          <p:nvCxnSpPr>
            <p:cNvPr id="31" name="Straight Connector 30"/>
            <p:cNvCxnSpPr/>
            <p:nvPr/>
          </p:nvCxnSpPr>
          <p:spPr bwMode="auto">
            <a:xfrm rot="10800000" flipV="1">
              <a:off x="2301875" y="4019550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/>
            <p:cNvCxnSpPr/>
            <p:nvPr/>
          </p:nvCxnSpPr>
          <p:spPr bwMode="auto">
            <a:xfrm rot="10800000" flipV="1">
              <a:off x="2084388" y="4333875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 bwMode="auto">
            <a:xfrm rot="10800000" flipV="1">
              <a:off x="1962150" y="4672013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 bwMode="auto">
            <a:xfrm rot="10800000" flipV="1">
              <a:off x="1881188" y="5029200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Connector 34"/>
            <p:cNvCxnSpPr/>
            <p:nvPr/>
          </p:nvCxnSpPr>
          <p:spPr bwMode="auto">
            <a:xfrm rot="10800000">
              <a:off x="2303463" y="6778625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/>
            <p:cNvCxnSpPr/>
            <p:nvPr/>
          </p:nvCxnSpPr>
          <p:spPr bwMode="auto">
            <a:xfrm rot="10800000">
              <a:off x="2084388" y="6464300"/>
              <a:ext cx="157162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/>
            <p:cNvCxnSpPr/>
            <p:nvPr/>
          </p:nvCxnSpPr>
          <p:spPr bwMode="auto">
            <a:xfrm rot="10800000">
              <a:off x="1963738" y="6126163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/>
            <p:cNvCxnSpPr/>
            <p:nvPr/>
          </p:nvCxnSpPr>
          <p:spPr bwMode="auto">
            <a:xfrm rot="10800000">
              <a:off x="1879600" y="5768975"/>
              <a:ext cx="157163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/>
            <p:cNvCxnSpPr/>
            <p:nvPr/>
          </p:nvCxnSpPr>
          <p:spPr bwMode="auto">
            <a:xfrm rot="10800000" flipV="1">
              <a:off x="1849438" y="5399088"/>
              <a:ext cx="155575" cy="0"/>
            </a:xfrm>
            <a:prstGeom prst="line">
              <a:avLst/>
            </a:prstGeom>
            <a:ln w="635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1" name="Straight Connector 40"/>
          <p:cNvCxnSpPr/>
          <p:nvPr/>
        </p:nvCxnSpPr>
        <p:spPr bwMode="auto">
          <a:xfrm>
            <a:off x="1524001" y="5453063"/>
            <a:ext cx="620077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0"/>
          <p:cNvGrpSpPr>
            <a:grpSpLocks noChangeAspect="1"/>
          </p:cNvGrpSpPr>
          <p:nvPr/>
        </p:nvGrpSpPr>
        <p:grpSpPr bwMode="auto">
          <a:xfrm flipH="1">
            <a:off x="1695450" y="4594225"/>
            <a:ext cx="1428750" cy="858838"/>
            <a:chOff x="4295078" y="4308127"/>
            <a:chExt cx="1905000" cy="1144858"/>
          </a:xfrm>
        </p:grpSpPr>
        <p:sp>
          <p:nvSpPr>
            <p:cNvPr id="52" name="Oval 51"/>
            <p:cNvSpPr/>
            <p:nvPr/>
          </p:nvSpPr>
          <p:spPr>
            <a:xfrm>
              <a:off x="43712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3" name="Oval 52"/>
            <p:cNvSpPr/>
            <p:nvPr/>
          </p:nvSpPr>
          <p:spPr>
            <a:xfrm>
              <a:off x="5742878" y="5072071"/>
              <a:ext cx="381000" cy="380914"/>
            </a:xfrm>
            <a:prstGeom prst="ellipse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4" name="Rectangle 53"/>
            <p:cNvSpPr/>
            <p:nvPr/>
          </p:nvSpPr>
          <p:spPr>
            <a:xfrm>
              <a:off x="4295078" y="4765223"/>
              <a:ext cx="1905000" cy="457096"/>
            </a:xfrm>
            <a:prstGeom prst="rect">
              <a:avLst/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5" name="Trapezoid 54"/>
            <p:cNvSpPr/>
            <p:nvPr/>
          </p:nvSpPr>
          <p:spPr>
            <a:xfrm>
              <a:off x="4828478" y="4308127"/>
              <a:ext cx="1371600" cy="457096"/>
            </a:xfrm>
            <a:prstGeom prst="trapezoid">
              <a:avLst>
                <a:gd name="adj" fmla="val 42187"/>
              </a:avLst>
            </a:prstGeom>
            <a:solidFill>
              <a:srgbClr val="A67A00"/>
            </a:solidFill>
            <a:ln>
              <a:solidFill>
                <a:srgbClr val="A67A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6" name="Right Triangle 55"/>
            <p:cNvSpPr>
              <a:spLocks noChangeAspect="1"/>
            </p:cNvSpPr>
            <p:nvPr/>
          </p:nvSpPr>
          <p:spPr>
            <a:xfrm>
              <a:off x="6018045" y="4354683"/>
              <a:ext cx="146049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7" name="Right Triangle 56"/>
            <p:cNvSpPr>
              <a:spLocks noChangeAspect="1"/>
            </p:cNvSpPr>
            <p:nvPr/>
          </p:nvSpPr>
          <p:spPr>
            <a:xfrm flipH="1">
              <a:off x="4864461" y="4354683"/>
              <a:ext cx="146051" cy="363984"/>
            </a:xfrm>
            <a:prstGeom prst="rtTriangl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8" name="Rectangle 57"/>
            <p:cNvSpPr>
              <a:spLocks/>
            </p:cNvSpPr>
            <p:nvPr/>
          </p:nvSpPr>
          <p:spPr>
            <a:xfrm>
              <a:off x="5071894" y="4354683"/>
              <a:ext cx="412751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59" name="Rectangle 58"/>
            <p:cNvSpPr>
              <a:spLocks/>
            </p:cNvSpPr>
            <p:nvPr/>
          </p:nvSpPr>
          <p:spPr>
            <a:xfrm>
              <a:off x="5543911" y="4354683"/>
              <a:ext cx="412749" cy="363984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45" name="Down Arrow 44"/>
          <p:cNvSpPr>
            <a:spLocks noChangeAspect="1"/>
          </p:cNvSpPr>
          <p:nvPr/>
        </p:nvSpPr>
        <p:spPr>
          <a:xfrm flipV="1">
            <a:off x="2987675" y="4938713"/>
            <a:ext cx="273050" cy="514350"/>
          </a:xfrm>
          <a:prstGeom prst="down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8" name="Down Arrow 47"/>
          <p:cNvSpPr>
            <a:spLocks noChangeAspect="1"/>
          </p:cNvSpPr>
          <p:nvPr/>
        </p:nvSpPr>
        <p:spPr>
          <a:xfrm flipV="1">
            <a:off x="1457326" y="4595813"/>
            <a:ext cx="466725" cy="857250"/>
          </a:xfrm>
          <a:prstGeom prst="downArrow">
            <a:avLst/>
          </a:prstGeom>
          <a:solidFill>
            <a:schemeClr val="tx1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0" name="TextBox 39"/>
          <p:cNvSpPr txBox="1">
            <a:spLocks noChangeArrowheads="1"/>
          </p:cNvSpPr>
          <p:nvPr/>
        </p:nvSpPr>
        <p:spPr bwMode="auto">
          <a:xfrm>
            <a:off x="4038600" y="5486400"/>
            <a:ext cx="1981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front:</a:t>
            </a:r>
          </a:p>
        </p:txBody>
      </p:sp>
      <p:sp>
        <p:nvSpPr>
          <p:cNvPr id="57359" name="TextBox 41"/>
          <p:cNvSpPr txBox="1">
            <a:spLocks noChangeArrowheads="1"/>
          </p:cNvSpPr>
          <p:nvPr/>
        </p:nvSpPr>
        <p:spPr bwMode="auto">
          <a:xfrm>
            <a:off x="3505200" y="3962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–90 cm</a:t>
            </a:r>
            <a:endParaRPr lang="en-US" i="1"/>
          </a:p>
        </p:txBody>
      </p:sp>
      <p:sp>
        <p:nvSpPr>
          <p:cNvPr id="43" name="TextBox 42"/>
          <p:cNvSpPr txBox="1">
            <a:spLocks noChangeArrowheads="1"/>
          </p:cNvSpPr>
          <p:nvPr/>
        </p:nvSpPr>
        <p:spPr bwMode="auto">
          <a:xfrm>
            <a:off x="58674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500 cm</a:t>
            </a:r>
            <a:endParaRPr lang="en-US" i="1"/>
          </a:p>
        </p:txBody>
      </p: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7315200" y="5486400"/>
            <a:ext cx="1600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/>
              <a:t> = –76 cm</a:t>
            </a:r>
            <a:endParaRPr lang="en-US" i="1"/>
          </a:p>
        </p:txBody>
      </p:sp>
      <p:sp>
        <p:nvSpPr>
          <p:cNvPr id="46" name="TextBox 45"/>
          <p:cNvSpPr txBox="1">
            <a:spLocks noChangeArrowheads="1"/>
          </p:cNvSpPr>
          <p:nvPr/>
        </p:nvSpPr>
        <p:spPr bwMode="auto">
          <a:xfrm>
            <a:off x="4038600" y="5988050"/>
            <a:ext cx="1981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For car’s back:</a:t>
            </a:r>
          </a:p>
        </p:txBody>
      </p:sp>
      <p:sp>
        <p:nvSpPr>
          <p:cNvPr id="50" name="TextBox 49"/>
          <p:cNvSpPr txBox="1">
            <a:spLocks noChangeArrowheads="1"/>
          </p:cNvSpPr>
          <p:nvPr/>
        </p:nvSpPr>
        <p:spPr bwMode="auto">
          <a:xfrm>
            <a:off x="58674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950 cm</a:t>
            </a:r>
            <a:endParaRPr lang="en-US" i="1"/>
          </a:p>
        </p:txBody>
      </p:sp>
      <p:sp>
        <p:nvSpPr>
          <p:cNvPr id="60" name="TextBox 59"/>
          <p:cNvSpPr txBox="1">
            <a:spLocks noChangeArrowheads="1"/>
          </p:cNvSpPr>
          <p:nvPr/>
        </p:nvSpPr>
        <p:spPr bwMode="auto">
          <a:xfrm>
            <a:off x="7315200" y="5988050"/>
            <a:ext cx="160020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/>
              <a:t> = –82 cm</a:t>
            </a:r>
            <a:endParaRPr lang="en-US" i="1"/>
          </a:p>
        </p:txBody>
      </p:sp>
      <p:sp>
        <p:nvSpPr>
          <p:cNvPr id="61" name="TextBox 60"/>
          <p:cNvSpPr txBox="1">
            <a:spLocks noChangeArrowheads="1"/>
          </p:cNvSpPr>
          <p:nvPr/>
        </p:nvSpPr>
        <p:spPr bwMode="auto">
          <a:xfrm>
            <a:off x="4038600" y="6488114"/>
            <a:ext cx="19812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/>
              <a:t>Car’s image is:</a:t>
            </a:r>
          </a:p>
        </p:txBody>
      </p:sp>
      <p:sp>
        <p:nvSpPr>
          <p:cNvPr id="62" name="TextBox 61"/>
          <p:cNvSpPr txBox="1">
            <a:spLocks noChangeArrowheads="1"/>
          </p:cNvSpPr>
          <p:nvPr/>
        </p:nvSpPr>
        <p:spPr bwMode="auto">
          <a:xfrm>
            <a:off x="5867400" y="6488114"/>
            <a:ext cx="22098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– 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|s'</a:t>
            </a:r>
            <a:r>
              <a:rPr lang="en-US" i="1" baseline="-25000"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i="1">
                <a:latin typeface="Times New Roman" pitchFamily="18" charset="0"/>
                <a:cs typeface="Times New Roman" pitchFamily="18" charset="0"/>
              </a:rPr>
              <a:t>|</a:t>
            </a:r>
            <a:r>
              <a:rPr lang="en-US"/>
              <a:t>  = 6 cm</a:t>
            </a:r>
            <a:endParaRPr lang="en-US" i="1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939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27" grpId="0" animBg="1"/>
      <p:bldP spid="47" grpId="0" animBg="1"/>
      <p:bldP spid="48" grpId="0" animBg="1"/>
      <p:bldP spid="40" grpId="0"/>
      <p:bldP spid="43" grpId="0"/>
      <p:bldP spid="44" grpId="0"/>
      <p:bldP spid="46" grpId="0"/>
      <p:bldP spid="50" grpId="0"/>
      <p:bldP spid="60" grpId="0"/>
      <p:bldP spid="61" grpId="0"/>
      <p:bldP spid="62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Refraction</a:t>
            </a:r>
          </a:p>
        </p:txBody>
      </p:sp>
      <p:sp>
        <p:nvSpPr>
          <p:cNvPr id="61443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en-US" sz="2400" dirty="0" err="1">
                <a:latin typeface="Arial" charset="0"/>
                <a:cs typeface="Arial" charset="0"/>
              </a:rPr>
              <a:t>OpenStax</a:t>
            </a:r>
            <a:r>
              <a:rPr lang="en-US" sz="2400" dirty="0">
                <a:latin typeface="Arial" charset="0"/>
                <a:cs typeface="Arial" charset="0"/>
              </a:rPr>
              <a:t> Chapter 25.3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Refraction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Light changes direction when it changes medium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Can form image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(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>
                <a:latin typeface="Arial" charset="0"/>
                <a:cs typeface="Arial" charset="0"/>
              </a:rPr>
              <a:t> = index of medium object is in;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Arial" charset="0"/>
                <a:cs typeface="Arial" charset="0"/>
              </a:rPr>
              <a:t> = index of medium observer is in)</a:t>
            </a:r>
          </a:p>
          <a:p>
            <a:pPr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Total Internal Reflection</a:t>
            </a:r>
          </a:p>
          <a:p>
            <a:pPr lvl="1">
              <a:spcAft>
                <a:spcPts val="1200"/>
              </a:spcAft>
            </a:pPr>
            <a:r>
              <a:rPr lang="en-US" sz="2400" dirty="0">
                <a:latin typeface="Arial" charset="0"/>
                <a:cs typeface="Arial" charset="0"/>
              </a:rPr>
              <a:t>If angle of incidence is too big, no light refracts into second medium (only happens if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Arial" charset="0"/>
                <a:cs typeface="Arial" charset="0"/>
              </a:rPr>
              <a:t>&gt;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Arial" charset="0"/>
                <a:cs typeface="Arial" charset="0"/>
              </a:rPr>
              <a:t>)</a:t>
            </a:r>
          </a:p>
          <a:p>
            <a:pPr>
              <a:spcAft>
                <a:spcPts val="1200"/>
              </a:spcAft>
            </a:pPr>
            <a:endParaRPr lang="en-US" sz="24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16434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Changing Materials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1828800" y="1371601"/>
            <a:ext cx="8229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What happens when a light ray reaches a non-opaque material?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524000" y="30480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light reflects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1524000" y="3962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 enters the second medium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524000" y="48006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But changes direction</a:t>
            </a:r>
          </a:p>
        </p:txBody>
      </p:sp>
      <p:cxnSp>
        <p:nvCxnSpPr>
          <p:cNvPr id="26" name="Straight Arrow Connector 25"/>
          <p:cNvCxnSpPr/>
          <p:nvPr/>
        </p:nvCxnSpPr>
        <p:spPr>
          <a:xfrm rot="16200000" flipV="1">
            <a:off x="7859713" y="5227638"/>
            <a:ext cx="552450" cy="574675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38"/>
          <p:cNvGrpSpPr>
            <a:grpSpLocks/>
          </p:cNvGrpSpPr>
          <p:nvPr/>
        </p:nvGrpSpPr>
        <p:grpSpPr bwMode="auto">
          <a:xfrm>
            <a:off x="6019800" y="2362200"/>
            <a:ext cx="5676900" cy="4826000"/>
            <a:chOff x="4495800" y="2362200"/>
            <a:chExt cx="5676900" cy="4826387"/>
          </a:xfrm>
        </p:grpSpPr>
        <p:cxnSp>
          <p:nvCxnSpPr>
            <p:cNvPr id="20" name="Straight Arrow Connector 19"/>
            <p:cNvCxnSpPr/>
            <p:nvPr/>
          </p:nvCxnSpPr>
          <p:spPr>
            <a:xfrm rot="5400000">
              <a:off x="6935718" y="4002292"/>
              <a:ext cx="1752741" cy="1825625"/>
            </a:xfrm>
            <a:prstGeom prst="straightConnector1">
              <a:avLst/>
            </a:prstGeom>
            <a:ln w="63500">
              <a:solidFill>
                <a:srgbClr val="FFFF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" name="Group 37"/>
            <p:cNvGrpSpPr>
              <a:grpSpLocks/>
            </p:cNvGrpSpPr>
            <p:nvPr/>
          </p:nvGrpSpPr>
          <p:grpSpPr bwMode="auto">
            <a:xfrm>
              <a:off x="4495800" y="2362200"/>
              <a:ext cx="5676900" cy="4826387"/>
              <a:chOff x="4495800" y="2362200"/>
              <a:chExt cx="5676900" cy="4826387"/>
            </a:xfrm>
          </p:grpSpPr>
          <p:grpSp>
            <p:nvGrpSpPr>
              <p:cNvPr id="5" name="Group 33"/>
              <p:cNvGrpSpPr>
                <a:grpSpLocks/>
              </p:cNvGrpSpPr>
              <p:nvPr/>
            </p:nvGrpSpPr>
            <p:grpSpPr bwMode="auto">
              <a:xfrm>
                <a:off x="4495800" y="2362200"/>
                <a:ext cx="5676900" cy="4495800"/>
                <a:chOff x="4495800" y="2362200"/>
                <a:chExt cx="5676900" cy="4495800"/>
              </a:xfrm>
            </p:grpSpPr>
            <p:sp>
              <p:nvSpPr>
                <p:cNvPr id="12" name="Rectangle 11"/>
                <p:cNvSpPr/>
                <p:nvPr/>
              </p:nvSpPr>
              <p:spPr>
                <a:xfrm>
                  <a:off x="4876800" y="5791475"/>
                  <a:ext cx="4495800" cy="1066885"/>
                </a:xfrm>
                <a:prstGeom prst="rect">
                  <a:avLst/>
                </a:prstGeom>
                <a:solidFill>
                  <a:schemeClr val="accent1">
                    <a:lumMod val="60000"/>
                    <a:lumOff val="40000"/>
                  </a:schemeClr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grpSp>
              <p:nvGrpSpPr>
                <p:cNvPr id="6" name="Group 16"/>
                <p:cNvGrpSpPr>
                  <a:grpSpLocks/>
                </p:cNvGrpSpPr>
                <p:nvPr/>
              </p:nvGrpSpPr>
              <p:grpSpPr bwMode="auto">
                <a:xfrm>
                  <a:off x="4953000" y="4724400"/>
                  <a:ext cx="1676400" cy="1219200"/>
                  <a:chOff x="5410201" y="3200400"/>
                  <a:chExt cx="1676400" cy="1219200"/>
                </a:xfrm>
              </p:grpSpPr>
              <p:cxnSp>
                <p:nvCxnSpPr>
                  <p:cNvPr id="16" name="Straight Connector 15"/>
                  <p:cNvCxnSpPr/>
                  <p:nvPr/>
                </p:nvCxnSpPr>
                <p:spPr>
                  <a:xfrm rot="5400000">
                    <a:off x="6019783" y="4038856"/>
                    <a:ext cx="457237" cy="0"/>
                  </a:xfrm>
                  <a:prstGeom prst="line">
                    <a:avLst/>
                  </a:prstGeom>
                  <a:ln w="635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" name="Arc 12"/>
                  <p:cNvSpPr/>
                  <p:nvPr/>
                </p:nvSpPr>
                <p:spPr>
                  <a:xfrm rot="10800000">
                    <a:off x="5410201" y="3962650"/>
                    <a:ext cx="1676400" cy="457237"/>
                  </a:xfrm>
                  <a:prstGeom prst="arc">
                    <a:avLst>
                      <a:gd name="adj1" fmla="val 10633787"/>
                      <a:gd name="adj2" fmla="val 0"/>
                    </a:avLst>
                  </a:prstGeom>
                  <a:solidFill>
                    <a:schemeClr val="bg2">
                      <a:lumMod val="50000"/>
                    </a:schemeClr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14" name="Isosceles Triangle 13"/>
                  <p:cNvSpPr/>
                  <p:nvPr/>
                </p:nvSpPr>
                <p:spPr>
                  <a:xfrm>
                    <a:off x="5905501" y="3200589"/>
                    <a:ext cx="685800" cy="838267"/>
                  </a:xfrm>
                  <a:prstGeom prst="triangle">
                    <a:avLst/>
                  </a:prstGeom>
                  <a:solidFill>
                    <a:schemeClr val="bg1"/>
                  </a:solidFill>
                  <a:ln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sp>
              <p:nvSpPr>
                <p:cNvPr id="18" name="Oval 17"/>
                <p:cNvSpPr/>
                <p:nvPr/>
              </p:nvSpPr>
              <p:spPr>
                <a:xfrm>
                  <a:off x="8115300" y="2362200"/>
                  <a:ext cx="2057400" cy="205756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solidFill>
                    <a:srgbClr val="FFC000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anchor="ctr"/>
                <a:lstStyle/>
                <a:p>
                  <a:pPr algn="ctr">
                    <a:defRPr/>
                  </a:pPr>
                  <a:endParaRPr lang="en-US"/>
                </a:p>
              </p:txBody>
            </p:sp>
            <p:sp>
              <p:nvSpPr>
                <p:cNvPr id="8" name="TextBox 7"/>
                <p:cNvSpPr txBox="1"/>
                <p:nvPr/>
              </p:nvSpPr>
              <p:spPr bwMode="auto">
                <a:xfrm>
                  <a:off x="4495800" y="2667024"/>
                  <a:ext cx="4648200" cy="462000"/>
                </a:xfrm>
                <a:prstGeom prst="rect">
                  <a:avLst/>
                </a:prstGeom>
                <a:noFill/>
                <a:ln w="9525">
                  <a:noFill/>
                  <a:miter lim="800000"/>
                  <a:headEnd/>
                  <a:tailEnd/>
                </a:ln>
              </p:spPr>
              <p:txBody>
                <a:bodyPr>
                  <a:spAutoFit/>
                </a:bodyPr>
                <a:lstStyle/>
                <a:p>
                  <a:pPr algn="ctr">
                    <a:defRPr/>
                  </a:pPr>
                  <a:r>
                    <a:rPr lang="en-US" sz="2400" dirty="0">
                      <a:latin typeface="+mj-lt"/>
                    </a:rPr>
                    <a:t>For example light hitting water</a:t>
                  </a:r>
                </a:p>
              </p:txBody>
            </p:sp>
          </p:grpSp>
          <p:pic>
            <p:nvPicPr>
              <p:cNvPr id="62479" name="Picture 7" descr="C:\Documents and Settings\djc321\Local Settings\Temporary Internet Files\Content.IE5\0LQ30LYV\MC900311042[1].wmf"/>
              <p:cNvPicPr>
                <a:picLocks noChangeAspect="1" noChangeArrowheads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rot="19274105" flipH="1">
                <a:off x="5070508" y="5843894"/>
                <a:ext cx="1371600" cy="134469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cxnSp>
        <p:nvCxnSpPr>
          <p:cNvPr id="30" name="Straight Arrow Connector 29"/>
          <p:cNvCxnSpPr/>
          <p:nvPr/>
        </p:nvCxnSpPr>
        <p:spPr>
          <a:xfrm rot="5400000">
            <a:off x="7962900" y="5940425"/>
            <a:ext cx="609600" cy="311150"/>
          </a:xfrm>
          <a:prstGeom prst="straightConnector1">
            <a:avLst/>
          </a:prstGeom>
          <a:ln w="63500">
            <a:solidFill>
              <a:srgbClr val="FFFF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 bwMode="auto">
          <a:xfrm>
            <a:off x="1524000" y="5867401"/>
            <a:ext cx="480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Process is called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Refraction</a:t>
            </a:r>
          </a:p>
        </p:txBody>
      </p:sp>
      <p:cxnSp>
        <p:nvCxnSpPr>
          <p:cNvPr id="23" name="Straight Connector 22"/>
          <p:cNvCxnSpPr/>
          <p:nvPr/>
        </p:nvCxnSpPr>
        <p:spPr>
          <a:xfrm rot="5400000">
            <a:off x="7737475" y="5715000"/>
            <a:ext cx="13716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0" grpId="0"/>
      <p:bldP spid="11" grpId="0"/>
      <p:bldP spid="33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Index of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371601"/>
            <a:ext cx="8001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To describe refraction we will use each medium’s</a:t>
            </a:r>
          </a:p>
          <a:p>
            <a:pPr algn="ctr">
              <a:defRPr/>
            </a:pPr>
            <a:r>
              <a:rPr lang="en-US" sz="2400" b="1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= index of refraction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524000" y="2133601"/>
            <a:ext cx="350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This is defined as:</a:t>
            </a:r>
          </a:p>
        </p:txBody>
      </p:sp>
      <p:graphicFrame>
        <p:nvGraphicFramePr>
          <p:cNvPr id="63493" name="Object 4"/>
          <p:cNvGraphicFramePr>
            <a:graphicFrameLocks noChangeAspect="1"/>
          </p:cNvGraphicFramePr>
          <p:nvPr/>
        </p:nvGraphicFramePr>
        <p:xfrm>
          <a:off x="3851275" y="2667000"/>
          <a:ext cx="731838" cy="7826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368140" imgH="393529" progId="Equation.3">
                  <p:embed/>
                </p:oleObj>
              </mc:Choice>
              <mc:Fallback>
                <p:oleObj name="Equation" r:id="rId2" imgW="368140" imgH="393529" progId="Equation.3">
                  <p:embed/>
                  <p:pic>
                    <p:nvPicPr>
                      <p:cNvPr id="63493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51275" y="2667000"/>
                        <a:ext cx="731838" cy="78263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3"/>
          <p:cNvGrpSpPr>
            <a:grpSpLocks/>
          </p:cNvGrpSpPr>
          <p:nvPr/>
        </p:nvGrpSpPr>
        <p:grpSpPr bwMode="auto">
          <a:xfrm>
            <a:off x="4343400" y="2133601"/>
            <a:ext cx="6324600" cy="838197"/>
            <a:chOff x="2819400" y="2133131"/>
            <a:chExt cx="6324600" cy="838938"/>
          </a:xfrm>
        </p:grpSpPr>
        <p:grpSp>
          <p:nvGrpSpPr>
            <p:cNvPr id="6" name="Group 9"/>
            <p:cNvGrpSpPr>
              <a:grpSpLocks/>
            </p:cNvGrpSpPr>
            <p:nvPr/>
          </p:nvGrpSpPr>
          <p:grpSpPr bwMode="auto">
            <a:xfrm>
              <a:off x="3048000" y="2133131"/>
              <a:ext cx="6096000" cy="830997"/>
              <a:chOff x="3048000" y="2133131"/>
              <a:chExt cx="6096000" cy="830997"/>
            </a:xfrm>
          </p:grpSpPr>
          <p:cxnSp>
            <p:nvCxnSpPr>
              <p:cNvPr id="8" name="Straight Arrow Connector 7"/>
              <p:cNvCxnSpPr>
                <a:stCxn id="9" idx="1"/>
                <a:endCxn id="13" idx="3"/>
              </p:cNvCxnSpPr>
              <p:nvPr/>
            </p:nvCxnSpPr>
            <p:spPr>
              <a:xfrm flipH="1">
                <a:off x="3048000" y="2548630"/>
                <a:ext cx="2057400" cy="309038"/>
              </a:xfrm>
              <a:prstGeom prst="straightConnector1">
                <a:avLst/>
              </a:prstGeom>
              <a:ln w="38100">
                <a:solidFill>
                  <a:srgbClr val="FF0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" name="TextBox 8"/>
              <p:cNvSpPr txBox="1"/>
              <p:nvPr/>
            </p:nvSpPr>
            <p:spPr bwMode="auto">
              <a:xfrm>
                <a:off x="5105400" y="2133131"/>
                <a:ext cx="4038600" cy="830997"/>
              </a:xfrm>
              <a:prstGeom prst="rect">
                <a:avLst/>
              </a:prstGeom>
              <a:noFill/>
              <a:ln w="38100">
                <a:solidFill>
                  <a:srgbClr val="FF0000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vacuum</a:t>
                </a:r>
                <a:br>
                  <a:rPr lang="en-US" sz="2400" dirty="0">
                    <a:latin typeface="+mj-lt"/>
                  </a:rPr>
                </a:br>
                <a:r>
                  <a:rPr lang="en-US" sz="2400" dirty="0">
                    <a:latin typeface="+mj-lt"/>
                  </a:rPr>
                  <a:t>3.00 x 10</a:t>
                </a:r>
                <a:r>
                  <a:rPr lang="en-US" sz="2400" baseline="30000" dirty="0">
                    <a:latin typeface="+mj-lt"/>
                  </a:rPr>
                  <a:t>8</a:t>
                </a:r>
                <a:r>
                  <a:rPr lang="en-US" sz="2400" dirty="0">
                    <a:latin typeface="+mj-lt"/>
                  </a:rPr>
                  <a:t> m/s</a:t>
                </a:r>
              </a:p>
            </p:txBody>
          </p:sp>
        </p:grpSp>
        <p:sp>
          <p:nvSpPr>
            <p:cNvPr id="13" name="Rounded Rectangle 12"/>
            <p:cNvSpPr/>
            <p:nvPr/>
          </p:nvSpPr>
          <p:spPr>
            <a:xfrm>
              <a:off x="2819400" y="2743267"/>
              <a:ext cx="228600" cy="228802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grpSp>
        <p:nvGrpSpPr>
          <p:cNvPr id="7" name="Group 15"/>
          <p:cNvGrpSpPr>
            <a:grpSpLocks/>
          </p:cNvGrpSpPr>
          <p:nvPr/>
        </p:nvGrpSpPr>
        <p:grpSpPr bwMode="auto">
          <a:xfrm>
            <a:off x="4343400" y="3047999"/>
            <a:ext cx="6324600" cy="461665"/>
            <a:chOff x="2819400" y="1981337"/>
            <a:chExt cx="6324600" cy="461845"/>
          </a:xfrm>
        </p:grpSpPr>
        <p:grpSp>
          <p:nvGrpSpPr>
            <p:cNvPr id="10" name="Group 9"/>
            <p:cNvGrpSpPr>
              <a:grpSpLocks/>
            </p:cNvGrpSpPr>
            <p:nvPr/>
          </p:nvGrpSpPr>
          <p:grpSpPr bwMode="auto">
            <a:xfrm>
              <a:off x="3048000" y="1981337"/>
              <a:ext cx="6096000" cy="461845"/>
              <a:chOff x="3048000" y="1981337"/>
              <a:chExt cx="6096000" cy="461845"/>
            </a:xfrm>
          </p:grpSpPr>
          <p:cxnSp>
            <p:nvCxnSpPr>
              <p:cNvPr id="19" name="Straight Arrow Connector 18"/>
              <p:cNvCxnSpPr>
                <a:stCxn id="20" idx="1"/>
                <a:endCxn id="18" idx="3"/>
              </p:cNvCxnSpPr>
              <p:nvPr/>
            </p:nvCxnSpPr>
            <p:spPr>
              <a:xfrm flipH="1">
                <a:off x="3048000" y="2212260"/>
                <a:ext cx="2057400" cy="15241"/>
              </a:xfrm>
              <a:prstGeom prst="straightConnector1">
                <a:avLst/>
              </a:prstGeom>
              <a:ln w="3810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TextBox 19"/>
              <p:cNvSpPr txBox="1"/>
              <p:nvPr/>
            </p:nvSpPr>
            <p:spPr bwMode="auto">
              <a:xfrm>
                <a:off x="5105400" y="1981337"/>
                <a:ext cx="4038600" cy="461845"/>
              </a:xfrm>
              <a:prstGeom prst="rect">
                <a:avLst/>
              </a:prstGeom>
              <a:noFill/>
              <a:ln w="38100">
                <a:solidFill>
                  <a:srgbClr val="293F6F"/>
                </a:solidFill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dirty="0">
                    <a:latin typeface="+mj-lt"/>
                  </a:rPr>
                  <a:t>Speed of light in the medium</a:t>
                </a:r>
              </a:p>
            </p:txBody>
          </p:sp>
        </p:grpSp>
        <p:sp>
          <p:nvSpPr>
            <p:cNvPr id="18" name="Rounded Rectangle 17"/>
            <p:cNvSpPr/>
            <p:nvPr/>
          </p:nvSpPr>
          <p:spPr>
            <a:xfrm>
              <a:off x="2819400" y="2113156"/>
              <a:ext cx="228600" cy="228689"/>
            </a:xfrm>
            <a:prstGeom prst="roundRect">
              <a:avLst/>
            </a:prstGeom>
            <a:noFill/>
            <a:ln>
              <a:solidFill>
                <a:srgbClr val="293F6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27" name="TextBox 26"/>
          <p:cNvSpPr txBox="1"/>
          <p:nvPr/>
        </p:nvSpPr>
        <p:spPr bwMode="auto">
          <a:xfrm>
            <a:off x="2438400" y="4495801"/>
            <a:ext cx="7315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/>
              <a:t>Light </a:t>
            </a:r>
            <a:r>
              <a:rPr lang="en-US" sz="2400" b="1" i="1" u="sng" dirty="0">
                <a:solidFill>
                  <a:srgbClr val="FF0000"/>
                </a:solidFill>
                <a:latin typeface="+mj-lt"/>
              </a:rPr>
              <a:t>never</a:t>
            </a:r>
            <a:r>
              <a:rPr lang="en-US" sz="2400" dirty="0">
                <a:latin typeface="+mj-lt"/>
              </a:rPr>
              <a:t> travels faster than it does in a vacuum</a:t>
            </a:r>
          </a:p>
        </p:txBody>
      </p:sp>
      <p:sp>
        <p:nvSpPr>
          <p:cNvPr id="28" name="TextBox 27"/>
          <p:cNvSpPr txBox="1"/>
          <p:nvPr/>
        </p:nvSpPr>
        <p:spPr bwMode="auto">
          <a:xfrm>
            <a:off x="4305300" y="4978401"/>
            <a:ext cx="3581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other words:</a:t>
            </a:r>
          </a:p>
        </p:txBody>
      </p:sp>
      <p:sp>
        <p:nvSpPr>
          <p:cNvPr id="29" name="TextBox 28"/>
          <p:cNvSpPr txBox="1">
            <a:spLocks noChangeArrowheads="1"/>
          </p:cNvSpPr>
          <p:nvPr/>
        </p:nvSpPr>
        <p:spPr bwMode="auto">
          <a:xfrm>
            <a:off x="4305300" y="54610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</a:t>
            </a:r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v</a:t>
            </a:r>
          </a:p>
        </p:txBody>
      </p:sp>
      <p:sp>
        <p:nvSpPr>
          <p:cNvPr id="30" name="TextBox 29"/>
          <p:cNvSpPr txBox="1">
            <a:spLocks noChangeArrowheads="1"/>
          </p:cNvSpPr>
          <p:nvPr/>
        </p:nvSpPr>
        <p:spPr bwMode="auto">
          <a:xfrm>
            <a:off x="4305300" y="5943601"/>
            <a:ext cx="3581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&gt; </a:t>
            </a:r>
            <a:r>
              <a:rPr lang="en-US" sz="2400" b="1" i="1">
                <a:solidFill>
                  <a:schemeClr val="bg1"/>
                </a:solidFill>
                <a:latin typeface="Times New Roman" pitchFamily="18" charset="0"/>
                <a:cs typeface="Times New Roman" pitchFamily="18" charset="0"/>
              </a:rPr>
              <a:t>1</a:t>
            </a:r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4876800" y="5943601"/>
            <a:ext cx="2438400" cy="461963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≥ 1</a:t>
            </a:r>
          </a:p>
        </p:txBody>
      </p:sp>
      <p:sp>
        <p:nvSpPr>
          <p:cNvPr id="32" name="TextBox 31"/>
          <p:cNvSpPr txBox="1"/>
          <p:nvPr/>
        </p:nvSpPr>
        <p:spPr bwMode="auto">
          <a:xfrm>
            <a:off x="1828800" y="6400800"/>
            <a:ext cx="8610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In air,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dirty="0">
                <a:latin typeface="+mj-lt"/>
              </a:rPr>
              <a:t> is close enough to 1 that we will usually use that</a:t>
            </a:r>
          </a:p>
        </p:txBody>
      </p:sp>
      <p:sp>
        <p:nvSpPr>
          <p:cNvPr id="22" name="TextBox 21"/>
          <p:cNvSpPr txBox="1"/>
          <p:nvPr/>
        </p:nvSpPr>
        <p:spPr bwMode="auto">
          <a:xfrm>
            <a:off x="7315201" y="3962401"/>
            <a:ext cx="2700337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</a:t>
            </a:r>
            <a:r>
              <a:rPr lang="en-US" sz="2400" i="1" dirty="0" err="1">
                <a:solidFill>
                  <a:schemeClr val="bg1">
                    <a:lumMod val="50000"/>
                  </a:schemeClr>
                </a:solidFill>
                <a:latin typeface="+mj-lt"/>
              </a:rPr>
              <a:t>unitless</a:t>
            </a:r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 quantity)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18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  <p:bldP spid="28" grpId="0"/>
      <p:bldP spid="29" grpId="0"/>
      <p:bldP spid="30" grpId="0"/>
      <p:bldP spid="31" grpId="0" animBg="1"/>
      <p:bldP spid="32" grpId="0"/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Title 1"/>
          <p:cNvSpPr>
            <a:spLocks noGrp="1"/>
          </p:cNvSpPr>
          <p:nvPr>
            <p:ph type="title"/>
          </p:nvPr>
        </p:nvSpPr>
        <p:spPr>
          <a:xfrm>
            <a:off x="1524000" y="422275"/>
            <a:ext cx="9144000" cy="1143000"/>
          </a:xfrm>
        </p:spPr>
        <p:txBody>
          <a:bodyPr>
            <a:noAutofit/>
          </a:bodyPr>
          <a:lstStyle/>
          <a:p>
            <a:r>
              <a:rPr lang="en-US" sz="3600" dirty="0">
                <a:latin typeface="Arial" charset="0"/>
                <a:cs typeface="Arial" charset="0"/>
              </a:rPr>
              <a:t>Indices of Refraction</a:t>
            </a:r>
            <a:br>
              <a:rPr lang="en-US" sz="3600" dirty="0"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From </a:t>
            </a:r>
            <a:r>
              <a:rPr lang="en-US" sz="1400" i="1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College Physics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2</a:t>
            </a:r>
            <a:r>
              <a:rPr lang="en-US" sz="1400" baseline="300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nd</a:t>
            </a: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 Edition; by Knight, Jones, and Field</a:t>
            </a:r>
            <a:b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</a:br>
            <a:r>
              <a:rPr lang="en-US" sz="1400" dirty="0">
                <a:solidFill>
                  <a:schemeClr val="bg1">
                    <a:lumMod val="50000"/>
                  </a:schemeClr>
                </a:solidFill>
                <a:latin typeface="Arial" charset="0"/>
                <a:cs typeface="Arial" charset="0"/>
              </a:rPr>
              <a:t>© 2010 Pearson Education, Inc.</a:t>
            </a:r>
            <a:endParaRPr lang="en-US" sz="1600" dirty="0">
              <a:solidFill>
                <a:schemeClr val="bg1">
                  <a:lumMod val="50000"/>
                </a:schemeClr>
              </a:solidFill>
              <a:latin typeface="Arial" charset="0"/>
              <a:cs typeface="Arial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981200" y="1985963"/>
          <a:ext cx="8229600" cy="4449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14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Material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Index of Refraction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Vacuum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Air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1.0003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Water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1.33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Ethyl alcohol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1.36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Lens</a:t>
                      </a:r>
                      <a:r>
                        <a:rPr lang="en-US" sz="1800" baseline="0" dirty="0">
                          <a:solidFill>
                            <a:schemeClr val="tx1"/>
                          </a:solidFill>
                        </a:rPr>
                        <a:t> in human eye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Oil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1.46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Glass (typical)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Polystyrene plastic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1.59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Cubic </a:t>
                      </a:r>
                      <a:r>
                        <a:rPr lang="en-US" sz="1800" dirty="0" err="1">
                          <a:solidFill>
                            <a:schemeClr val="tx1"/>
                          </a:solidFill>
                        </a:rPr>
                        <a:t>zirconia</a:t>
                      </a:r>
                      <a:endParaRPr lang="en-US" sz="1800" dirty="0">
                        <a:solidFill>
                          <a:schemeClr val="tx1"/>
                        </a:solidFill>
                      </a:endParaRP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2.18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Diamond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2.42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70814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Silicon (infrared)</a:t>
                      </a:r>
                    </a:p>
                  </a:txBody>
                  <a:tcPr marT="45717" marB="45717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3.50</a:t>
                      </a:r>
                    </a:p>
                  </a:txBody>
                  <a:tcPr marT="45717" marB="45717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19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14:cNvPr>
              <p14:cNvContentPartPr/>
              <p14:nvPr/>
            </p14:nvContentPartPr>
            <p14:xfrm>
              <a:off x="8572320" y="2870280"/>
              <a:ext cx="432360" cy="165240"/>
            </p14:xfrm>
          </p:contentPart>
        </mc:Choice>
        <mc:Fallback xmlns=""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30B0A5D-CAB3-4599-BEB5-0373811C2B3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562960" y="2860920"/>
                <a:ext cx="451080" cy="1839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Rectangle 20"/>
          <p:cNvSpPr/>
          <p:nvPr/>
        </p:nvSpPr>
        <p:spPr bwMode="auto">
          <a:xfrm>
            <a:off x="3390900" y="3886200"/>
            <a:ext cx="2743200" cy="25146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 bwMode="auto">
          <a:xfrm>
            <a:off x="6134100" y="3886200"/>
            <a:ext cx="2743200" cy="2514600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 bwMode="auto">
          <a:xfrm>
            <a:off x="4533900" y="4114801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1" name="Group 43"/>
          <p:cNvGrpSpPr>
            <a:grpSpLocks/>
          </p:cNvGrpSpPr>
          <p:nvPr/>
        </p:nvGrpSpPr>
        <p:grpSpPr bwMode="auto">
          <a:xfrm>
            <a:off x="3429000" y="4724400"/>
            <a:ext cx="5257800" cy="461665"/>
            <a:chOff x="1866900" y="4724316"/>
            <a:chExt cx="5257800" cy="461619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2019300" y="5154486"/>
              <a:ext cx="5105400" cy="0"/>
            </a:xfrm>
            <a:prstGeom prst="line">
              <a:avLst/>
            </a:prstGeom>
            <a:ln w="1905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" name="TextBox 36"/>
            <p:cNvSpPr txBox="1"/>
            <p:nvPr/>
          </p:nvSpPr>
          <p:spPr bwMode="auto">
            <a:xfrm>
              <a:off x="1866900" y="4724316"/>
              <a:ext cx="1219200" cy="46161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normal </a:t>
              </a:r>
            </a:p>
          </p:txBody>
        </p:sp>
      </p:grpSp>
      <p:grpSp>
        <p:nvGrpSpPr>
          <p:cNvPr id="12" name="Group 16"/>
          <p:cNvGrpSpPr/>
          <p:nvPr/>
        </p:nvGrpSpPr>
        <p:grpSpPr>
          <a:xfrm>
            <a:off x="4533900" y="5154614"/>
            <a:ext cx="2127250" cy="1171575"/>
            <a:chOff x="3009900" y="5154613"/>
            <a:chExt cx="2127250" cy="1171575"/>
          </a:xfrm>
        </p:grpSpPr>
        <p:cxnSp>
          <p:nvCxnSpPr>
            <p:cNvPr id="28" name="Straight Arrow Connector 27"/>
            <p:cNvCxnSpPr/>
            <p:nvPr/>
          </p:nvCxnSpPr>
          <p:spPr bwMode="auto">
            <a:xfrm rot="16200000" flipH="1">
              <a:off x="4287837" y="5476876"/>
              <a:ext cx="1171575" cy="527050"/>
            </a:xfrm>
            <a:prstGeom prst="straightConnector1">
              <a:avLst/>
            </a:prstGeom>
            <a:ln w="635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 bwMode="auto">
            <a:xfrm flipH="1">
              <a:off x="3009900" y="5154613"/>
              <a:ext cx="1600200" cy="1039812"/>
            </a:xfrm>
            <a:prstGeom prst="straightConnector1">
              <a:avLst/>
            </a:prstGeom>
            <a:ln w="63500">
              <a:solidFill>
                <a:srgbClr val="FF0000"/>
              </a:solidFill>
              <a:prstDash val="solid"/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1" name="TextBox 30"/>
          <p:cNvSpPr txBox="1"/>
          <p:nvPr/>
        </p:nvSpPr>
        <p:spPr bwMode="auto">
          <a:xfrm>
            <a:off x="2590800" y="6400801"/>
            <a:ext cx="7041650" cy="461665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Note: Diagram assumes something about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dirty="0">
                <a:latin typeface="+mj-lt"/>
                <a:cs typeface="Times New Roman" pitchFamily="18" charset="0"/>
              </a:rPr>
              <a:t>vs.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</a:p>
        </p:txBody>
      </p:sp>
      <p:sp>
        <p:nvSpPr>
          <p:cNvPr id="6553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Snell’s Law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95500" y="1219201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Refraction is governed by:</a:t>
            </a:r>
          </a:p>
        </p:txBody>
      </p:sp>
      <p:graphicFrame>
        <p:nvGraphicFramePr>
          <p:cNvPr id="65541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36733093"/>
              </p:ext>
            </p:extLst>
          </p:nvPr>
        </p:nvGraphicFramePr>
        <p:xfrm>
          <a:off x="4795839" y="19050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1307880" imgH="215640" progId="Equation.3">
                  <p:embed/>
                </p:oleObj>
              </mc:Choice>
              <mc:Fallback>
                <p:oleObj name="Equation" r:id="rId3" imgW="1307880" imgH="215640" progId="Equation.3">
                  <p:embed/>
                  <p:pic>
                    <p:nvPicPr>
                      <p:cNvPr id="65541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795839" y="1905001"/>
                        <a:ext cx="2600325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" name="Group 10"/>
          <p:cNvGrpSpPr>
            <a:grpSpLocks/>
          </p:cNvGrpSpPr>
          <p:nvPr/>
        </p:nvGrpSpPr>
        <p:grpSpPr bwMode="auto">
          <a:xfrm>
            <a:off x="4602163" y="2286001"/>
            <a:ext cx="1524000" cy="1071563"/>
            <a:chOff x="3078666" y="2286000"/>
            <a:chExt cx="1524000" cy="1071265"/>
          </a:xfrm>
        </p:grpSpPr>
        <p:sp>
          <p:nvSpPr>
            <p:cNvPr id="6" name="Left Brace 5"/>
            <p:cNvSpPr/>
            <p:nvPr/>
          </p:nvSpPr>
          <p:spPr>
            <a:xfrm rot="16200000">
              <a:off x="3612130" y="2019236"/>
              <a:ext cx="457073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7" name="TextBox 6"/>
            <p:cNvSpPr txBox="1"/>
            <p:nvPr/>
          </p:nvSpPr>
          <p:spPr bwMode="auto">
            <a:xfrm>
              <a:off x="3078666" y="2895430"/>
              <a:ext cx="1524000" cy="46183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1</a:t>
              </a:r>
            </a:p>
          </p:txBody>
        </p:sp>
      </p:grpSp>
      <p:grpSp>
        <p:nvGrpSpPr>
          <p:cNvPr id="14" name="Group 11"/>
          <p:cNvGrpSpPr>
            <a:grpSpLocks/>
          </p:cNvGrpSpPr>
          <p:nvPr/>
        </p:nvGrpSpPr>
        <p:grpSpPr bwMode="auto">
          <a:xfrm>
            <a:off x="5981700" y="2286000"/>
            <a:ext cx="1524000" cy="1371600"/>
            <a:chOff x="4457700" y="2286000"/>
            <a:chExt cx="1524000" cy="1371600"/>
          </a:xfrm>
        </p:grpSpPr>
        <p:sp>
          <p:nvSpPr>
            <p:cNvPr id="8" name="Left Brace 7"/>
            <p:cNvSpPr/>
            <p:nvPr/>
          </p:nvSpPr>
          <p:spPr>
            <a:xfrm rot="16200000">
              <a:off x="4764881" y="2245519"/>
              <a:ext cx="909638" cy="990600"/>
            </a:xfrm>
            <a:prstGeom prst="leftBrac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4457700" y="3195638"/>
              <a:ext cx="1524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dirty="0">
                  <a:latin typeface="+mj-lt"/>
                </a:rPr>
                <a:t>Medium 2</a:t>
              </a:r>
            </a:p>
          </p:txBody>
        </p:sp>
      </p:grpSp>
      <p:sp>
        <p:nvSpPr>
          <p:cNvPr id="10" name="TextBox 9"/>
          <p:cNvSpPr txBox="1"/>
          <p:nvPr/>
        </p:nvSpPr>
        <p:spPr bwMode="auto">
          <a:xfrm>
            <a:off x="1766120" y="2209800"/>
            <a:ext cx="2501081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  <a:latin typeface="+mj-lt"/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</a:rPr>
              <a:t>, 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latin typeface="+mj-lt"/>
                <a:sym typeface="Symbol"/>
              </a:rPr>
              <a:t>1</a:t>
            </a:r>
            <a:r>
              <a:rPr lang="en-US" sz="2000" i="1" dirty="0">
                <a:solidFill>
                  <a:schemeClr val="tx2"/>
                </a:solidFill>
                <a:latin typeface="+mj-lt"/>
                <a:sym typeface="Symbol"/>
              </a:rPr>
              <a:t>  medium 1</a:t>
            </a:r>
          </a:p>
          <a:p>
            <a:pPr algn="ctr">
              <a:defRPr/>
            </a:pP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i="1" baseline="-25000" dirty="0">
                <a:solidFill>
                  <a:schemeClr val="tx2"/>
                </a:solidFill>
              </a:rPr>
              <a:t>2</a:t>
            </a:r>
            <a:r>
              <a:rPr lang="en-US" sz="2000" i="1" dirty="0">
                <a:solidFill>
                  <a:schemeClr val="tx2"/>
                </a:solidFill>
              </a:rPr>
              <a:t>, 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</a:t>
            </a:r>
            <a:r>
              <a:rPr lang="en-US" sz="2000" i="1" baseline="-25000" dirty="0">
                <a:solidFill>
                  <a:schemeClr val="tx2"/>
                </a:solidFill>
                <a:sym typeface="Symbol"/>
              </a:rPr>
              <a:t>2</a:t>
            </a:r>
            <a:r>
              <a:rPr lang="en-US" sz="2000" i="1" dirty="0">
                <a:solidFill>
                  <a:schemeClr val="tx2"/>
                </a:solidFill>
                <a:sym typeface="Symbol"/>
              </a:rPr>
              <a:t>  medium 2</a:t>
            </a:r>
            <a:endParaRPr lang="en-US" sz="2000" i="1" dirty="0">
              <a:solidFill>
                <a:schemeClr val="tx2"/>
              </a:solidFill>
            </a:endParaRPr>
          </a:p>
        </p:txBody>
      </p:sp>
      <p:grpSp>
        <p:nvGrpSpPr>
          <p:cNvPr id="15" name="Group 13"/>
          <p:cNvGrpSpPr/>
          <p:nvPr/>
        </p:nvGrpSpPr>
        <p:grpSpPr>
          <a:xfrm>
            <a:off x="5143500" y="3886200"/>
            <a:ext cx="5524500" cy="1285348"/>
            <a:chOff x="3619500" y="3886200"/>
            <a:chExt cx="5524500" cy="1285348"/>
          </a:xfrm>
        </p:grpSpPr>
        <p:sp>
          <p:nvSpPr>
            <p:cNvPr id="65561" name="TextBox 14"/>
            <p:cNvSpPr txBox="1">
              <a:spLocks noChangeArrowheads="1"/>
            </p:cNvSpPr>
            <p:nvPr/>
          </p:nvSpPr>
          <p:spPr bwMode="auto">
            <a:xfrm>
              <a:off x="3619500" y="4648276"/>
              <a:ext cx="533400" cy="52327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sz="2800" i="1" dirty="0">
                  <a:latin typeface="Symbol" pitchFamily="18" charset="2"/>
                </a:rPr>
                <a:t>q</a:t>
              </a:r>
              <a:r>
                <a:rPr lang="en-US" sz="28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b="1" baseline="-25000" dirty="0">
                <a:latin typeface="Times New Roman" pitchFamily="18" charset="0"/>
                <a:cs typeface="Times New Roman" pitchFamily="18" charset="0"/>
              </a:endParaRPr>
            </a:p>
          </p:txBody>
        </p:sp>
        <p:sp>
          <p:nvSpPr>
            <p:cNvPr id="45" name="TextBox 14"/>
            <p:cNvSpPr txBox="1">
              <a:spLocks noChangeArrowheads="1"/>
            </p:cNvSpPr>
            <p:nvPr/>
          </p:nvSpPr>
          <p:spPr bwMode="auto">
            <a:xfrm>
              <a:off x="5715000" y="3886200"/>
              <a:ext cx="3429000" cy="461665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square"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sz="2400" i="1" dirty="0">
                  <a:latin typeface="Symbol" pitchFamily="18" charset="2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r>
                <a:rPr lang="en-US" sz="2400" b="1" baseline="-25000" dirty="0">
                  <a:latin typeface="+mj-lt"/>
                  <a:cs typeface="Times New Roman" pitchFamily="18" charset="0"/>
                </a:rPr>
                <a:t> </a:t>
              </a:r>
              <a:r>
                <a:rPr lang="en-US" sz="2400" dirty="0">
                  <a:latin typeface="+mj-lt"/>
                  <a:cs typeface="Times New Roman" pitchFamily="18" charset="0"/>
                </a:rPr>
                <a:t>= angle of </a:t>
              </a:r>
              <a:r>
                <a:rPr lang="en-US" sz="2400" b="1" dirty="0">
                  <a:latin typeface="+mj-lt"/>
                  <a:cs typeface="Times New Roman" pitchFamily="18" charset="0"/>
                </a:rPr>
                <a:t>incidence</a:t>
              </a:r>
            </a:p>
          </p:txBody>
        </p:sp>
      </p:grpSp>
      <p:sp>
        <p:nvSpPr>
          <p:cNvPr id="53" name="TextBox 52"/>
          <p:cNvSpPr txBox="1"/>
          <p:nvPr/>
        </p:nvSpPr>
        <p:spPr bwMode="auto">
          <a:xfrm>
            <a:off x="1600200" y="4410671"/>
            <a:ext cx="16002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happens since light is a </a:t>
            </a:r>
            <a:r>
              <a:rPr lang="en-US" b="1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wave </a:t>
            </a:r>
            <a:r>
              <a:rPr lang="en-US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next week)</a:t>
            </a:r>
            <a:endParaRPr lang="en-US" b="1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grpSp>
        <p:nvGrpSpPr>
          <p:cNvPr id="16" name="Group 29"/>
          <p:cNvGrpSpPr>
            <a:grpSpLocks/>
          </p:cNvGrpSpPr>
          <p:nvPr/>
        </p:nvGrpSpPr>
        <p:grpSpPr bwMode="auto">
          <a:xfrm>
            <a:off x="7239000" y="0"/>
            <a:ext cx="3429000" cy="3225800"/>
            <a:chOff x="5715000" y="0"/>
            <a:chExt cx="3429000" cy="3225716"/>
          </a:xfrm>
        </p:grpSpPr>
        <p:pic>
          <p:nvPicPr>
            <p:cNvPr id="65549" name="Picture 28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72900" y="0"/>
              <a:ext cx="2071100" cy="2971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9" name="Rectangle 28"/>
            <p:cNvSpPr/>
            <p:nvPr/>
          </p:nvSpPr>
          <p:spPr>
            <a:xfrm>
              <a:off x="5715000" y="2971723"/>
              <a:ext cx="3429000" cy="253993"/>
            </a:xfrm>
            <a:prstGeom prst="rect">
              <a:avLst/>
            </a:prstGeom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1050" dirty="0"/>
                <a:t>http://en.wikipedia.org/wiki/File:Willebrord_Snellius.jpg</a:t>
              </a:r>
            </a:p>
          </p:txBody>
        </p:sp>
      </p:grpSp>
      <p:sp>
        <p:nvSpPr>
          <p:cNvPr id="2" name="TextBox 1"/>
          <p:cNvSpPr txBox="1"/>
          <p:nvPr/>
        </p:nvSpPr>
        <p:spPr bwMode="auto">
          <a:xfrm>
            <a:off x="3314700" y="388620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r>
              <a:rPr lang="en-US" sz="2000" dirty="0">
                <a:latin typeface="+mj-lt"/>
              </a:rPr>
              <a:t>Medium 1</a:t>
            </a:r>
          </a:p>
        </p:txBody>
      </p:sp>
      <p:cxnSp>
        <p:nvCxnSpPr>
          <p:cNvPr id="5" name="Straight Connector 4"/>
          <p:cNvCxnSpPr/>
          <p:nvPr/>
        </p:nvCxnSpPr>
        <p:spPr>
          <a:xfrm>
            <a:off x="6134100" y="3886200"/>
            <a:ext cx="0" cy="2514600"/>
          </a:xfrm>
          <a:prstGeom prst="line">
            <a:avLst/>
          </a:prstGeom>
          <a:ln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6210300" y="6000690"/>
            <a:ext cx="26670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r"/>
            <a:r>
              <a:rPr lang="en-US" sz="2000" dirty="0">
                <a:latin typeface="+mj-lt"/>
              </a:rPr>
              <a:t>Medium 2</a:t>
            </a:r>
          </a:p>
        </p:txBody>
      </p:sp>
      <p:grpSp>
        <p:nvGrpSpPr>
          <p:cNvPr id="17" name="Group 17"/>
          <p:cNvGrpSpPr/>
          <p:nvPr/>
        </p:nvGrpSpPr>
        <p:grpSpPr>
          <a:xfrm>
            <a:off x="5143500" y="4495008"/>
            <a:ext cx="5524500" cy="1133787"/>
            <a:chOff x="3619500" y="4495007"/>
            <a:chExt cx="5524500" cy="1133787"/>
          </a:xfrm>
        </p:grpSpPr>
        <p:grpSp>
          <p:nvGrpSpPr>
            <p:cNvPr id="18" name="Group 15"/>
            <p:cNvGrpSpPr/>
            <p:nvPr/>
          </p:nvGrpSpPr>
          <p:grpSpPr>
            <a:xfrm>
              <a:off x="4686300" y="4495007"/>
              <a:ext cx="4457700" cy="1133787"/>
              <a:chOff x="4686300" y="4495007"/>
              <a:chExt cx="4457700" cy="1133787"/>
            </a:xfrm>
          </p:grpSpPr>
          <p:sp>
            <p:nvSpPr>
              <p:cNvPr id="65563" name="TextBox 14"/>
              <p:cNvSpPr txBox="1">
                <a:spLocks noChangeArrowheads="1"/>
              </p:cNvSpPr>
              <p:nvPr/>
            </p:nvSpPr>
            <p:spPr bwMode="auto">
              <a:xfrm>
                <a:off x="4686300" y="5105522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>
                    <a:latin typeface="Symbol" pitchFamily="18" charset="2"/>
                  </a:rPr>
                  <a:t>q</a:t>
                </a:r>
                <a:r>
                  <a:rPr lang="en-US" sz="28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  <p:sp>
            <p:nvSpPr>
              <p:cNvPr id="46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4495007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>
                    <a:latin typeface="Symbol" pitchFamily="18" charset="2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rac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</p:grpSp>
        <p:grpSp>
          <p:nvGrpSpPr>
            <p:cNvPr id="19" name="Group 14"/>
            <p:cNvGrpSpPr/>
            <p:nvPr/>
          </p:nvGrpSpPr>
          <p:grpSpPr>
            <a:xfrm>
              <a:off x="3619500" y="5029200"/>
              <a:ext cx="5524500" cy="537865"/>
              <a:chOff x="3619500" y="5029200"/>
              <a:chExt cx="5524500" cy="537865"/>
            </a:xfrm>
          </p:grpSpPr>
          <p:sp>
            <p:nvSpPr>
              <p:cNvPr id="39" name="TextBox 14"/>
              <p:cNvSpPr txBox="1">
                <a:spLocks noChangeArrowheads="1"/>
              </p:cNvSpPr>
              <p:nvPr/>
            </p:nvSpPr>
            <p:spPr bwMode="auto">
              <a:xfrm>
                <a:off x="5715000" y="5105400"/>
                <a:ext cx="3429000" cy="461665"/>
              </a:xfrm>
              <a:prstGeom prst="rect">
                <a:avLst/>
              </a:prstGeom>
              <a:solidFill>
                <a:srgbClr val="FFFFFF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eaLnBrk="1" hangingPunct="1"/>
                <a:r>
                  <a:rPr lang="en-US" sz="2400" i="1" dirty="0" err="1">
                    <a:latin typeface="Symbol" pitchFamily="18" charset="2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r>
                  <a:rPr lang="en-US" sz="2400" b="1" baseline="-25000" dirty="0">
                    <a:cs typeface="Times New Roman" pitchFamily="18" charset="0"/>
                  </a:rPr>
                  <a:t> </a:t>
                </a:r>
                <a:r>
                  <a:rPr lang="en-US" sz="2400" dirty="0">
                    <a:cs typeface="Times New Roman" pitchFamily="18" charset="0"/>
                  </a:rPr>
                  <a:t>= angle of </a:t>
                </a:r>
                <a:r>
                  <a:rPr lang="en-US" sz="2400" b="1" dirty="0">
                    <a:cs typeface="Times New Roman" pitchFamily="18" charset="0"/>
                  </a:rPr>
                  <a:t>ref</a:t>
                </a:r>
                <a:r>
                  <a:rPr lang="en-US" sz="2400" b="1" u="sng" dirty="0">
                    <a:cs typeface="Times New Roman" pitchFamily="18" charset="0"/>
                  </a:rPr>
                  <a:t>lec</a:t>
                </a:r>
                <a:r>
                  <a:rPr lang="en-US" sz="2400" b="1" dirty="0">
                    <a:cs typeface="Times New Roman" pitchFamily="18" charset="0"/>
                  </a:rPr>
                  <a:t>tion</a:t>
                </a:r>
              </a:p>
            </p:txBody>
          </p:sp>
          <p:sp>
            <p:nvSpPr>
              <p:cNvPr id="42" name="TextBox 14"/>
              <p:cNvSpPr txBox="1">
                <a:spLocks noChangeArrowheads="1"/>
              </p:cNvSpPr>
              <p:nvPr/>
            </p:nvSpPr>
            <p:spPr bwMode="auto">
              <a:xfrm>
                <a:off x="3619500" y="5029200"/>
                <a:ext cx="533400" cy="52327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800" i="1" dirty="0" err="1">
                    <a:latin typeface="Symbol" pitchFamily="18" charset="2"/>
                  </a:rPr>
                  <a:t>q</a:t>
                </a:r>
                <a:r>
                  <a:rPr lang="en-US" sz="2800" baseline="-25000" dirty="0" err="1">
                    <a:latin typeface="Times New Roman" pitchFamily="18" charset="0"/>
                    <a:cs typeface="Times New Roman" pitchFamily="18" charset="0"/>
                  </a:rPr>
                  <a:t>r</a:t>
                </a:r>
                <a:endParaRPr lang="en-US" sz="2400" b="1" baseline="-25000" dirty="0">
                  <a:latin typeface="Times New Roman" pitchFamily="18" charset="0"/>
                  <a:cs typeface="Times New Roman" pitchFamily="18" charset="0"/>
                </a:endParaRPr>
              </a:p>
            </p:txBody>
          </p:sp>
        </p:grp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53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Title 1"/>
          <p:cNvSpPr>
            <a:spLocks noGrp="1"/>
          </p:cNvSpPr>
          <p:nvPr>
            <p:ph type="title"/>
          </p:nvPr>
        </p:nvSpPr>
        <p:spPr>
          <a:xfrm>
            <a:off x="1752600" y="0"/>
            <a:ext cx="8686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Each Case Matched with Figure:</a:t>
            </a:r>
          </a:p>
        </p:txBody>
      </p:sp>
      <p:sp>
        <p:nvSpPr>
          <p:cNvPr id="21" name="Rectangle 20"/>
          <p:cNvSpPr/>
          <p:nvPr/>
        </p:nvSpPr>
        <p:spPr>
          <a:xfrm rot="5400000">
            <a:off x="21851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3" name="Rectangle 22"/>
          <p:cNvSpPr/>
          <p:nvPr/>
        </p:nvSpPr>
        <p:spPr>
          <a:xfrm rot="5400000">
            <a:off x="21828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2" name="Straight Arrow Connector 21"/>
          <p:cNvCxnSpPr/>
          <p:nvPr/>
        </p:nvCxnSpPr>
        <p:spPr>
          <a:xfrm rot="5400000">
            <a:off x="28630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 flipH="1">
            <a:off x="1973264" y="4937125"/>
            <a:ext cx="1169987" cy="5270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25717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68" name="TextBox 14"/>
          <p:cNvSpPr txBox="1">
            <a:spLocks noChangeArrowheads="1"/>
          </p:cNvSpPr>
          <p:nvPr/>
        </p:nvSpPr>
        <p:spPr bwMode="auto">
          <a:xfrm>
            <a:off x="31210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41" name="Straight Arrow Connector 40"/>
          <p:cNvCxnSpPr/>
          <p:nvPr/>
        </p:nvCxnSpPr>
        <p:spPr>
          <a:xfrm rot="5400000" flipH="1">
            <a:off x="18232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14"/>
          <p:cNvSpPr txBox="1">
            <a:spLocks noChangeArrowheads="1"/>
          </p:cNvSpPr>
          <p:nvPr/>
        </p:nvSpPr>
        <p:spPr bwMode="auto">
          <a:xfrm>
            <a:off x="2663825" y="50196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71" name="TextBox 24"/>
          <p:cNvSpPr txBox="1">
            <a:spLocks noChangeArrowheads="1"/>
          </p:cNvSpPr>
          <p:nvPr/>
        </p:nvSpPr>
        <p:spPr bwMode="auto">
          <a:xfrm>
            <a:off x="21145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18097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&lt;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0" name="TextBox 29"/>
          <p:cNvSpPr txBox="1"/>
          <p:nvPr/>
        </p:nvSpPr>
        <p:spPr bwMode="auto">
          <a:xfrm>
            <a:off x="1962150" y="1828801"/>
            <a:ext cx="2362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away</a:t>
            </a:r>
            <a:r>
              <a:rPr lang="en-US" sz="2400" dirty="0">
                <a:latin typeface="+mj-lt"/>
              </a:rPr>
              <a:t> from normal line:</a:t>
            </a:r>
          </a:p>
        </p:txBody>
      </p:sp>
      <p:sp>
        <p:nvSpPr>
          <p:cNvPr id="48" name="Rectangle 47"/>
          <p:cNvSpPr/>
          <p:nvPr/>
        </p:nvSpPr>
        <p:spPr>
          <a:xfrm rot="5400000">
            <a:off x="513794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49" name="Rectangle 48"/>
          <p:cNvSpPr/>
          <p:nvPr/>
        </p:nvSpPr>
        <p:spPr>
          <a:xfrm rot="5400000">
            <a:off x="513556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50" name="Straight Arrow Connector 49"/>
          <p:cNvCxnSpPr/>
          <p:nvPr/>
        </p:nvCxnSpPr>
        <p:spPr>
          <a:xfrm rot="5400000">
            <a:off x="581580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 bwMode="auto">
          <a:xfrm>
            <a:off x="552450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78" name="TextBox 14"/>
          <p:cNvSpPr txBox="1">
            <a:spLocks noChangeArrowheads="1"/>
          </p:cNvSpPr>
          <p:nvPr/>
        </p:nvSpPr>
        <p:spPr bwMode="auto">
          <a:xfrm>
            <a:off x="607377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56" name="TextBox 14"/>
          <p:cNvSpPr txBox="1">
            <a:spLocks noChangeArrowheads="1"/>
          </p:cNvSpPr>
          <p:nvPr/>
        </p:nvSpPr>
        <p:spPr bwMode="auto">
          <a:xfrm>
            <a:off x="5616575" y="53340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81" name="TextBox 44"/>
          <p:cNvSpPr txBox="1">
            <a:spLocks noChangeArrowheads="1"/>
          </p:cNvSpPr>
          <p:nvPr/>
        </p:nvSpPr>
        <p:spPr bwMode="auto">
          <a:xfrm>
            <a:off x="506730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=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476250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=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4914900" y="1828801"/>
            <a:ext cx="2362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doesn’t deflect</a:t>
            </a:r>
          </a:p>
        </p:txBody>
      </p:sp>
      <p:sp>
        <p:nvSpPr>
          <p:cNvPr id="62" name="Rectangle 61"/>
          <p:cNvSpPr/>
          <p:nvPr/>
        </p:nvSpPr>
        <p:spPr>
          <a:xfrm rot="5400000">
            <a:off x="8090695" y="2710657"/>
            <a:ext cx="1916112" cy="253682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3" name="Rectangle 62"/>
          <p:cNvSpPr/>
          <p:nvPr/>
        </p:nvSpPr>
        <p:spPr>
          <a:xfrm rot="5400000">
            <a:off x="8088314" y="4629151"/>
            <a:ext cx="1920875" cy="253682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4" name="Straight Arrow Connector 63"/>
          <p:cNvCxnSpPr/>
          <p:nvPr/>
        </p:nvCxnSpPr>
        <p:spPr>
          <a:xfrm rot="5400000">
            <a:off x="8768557" y="3617119"/>
            <a:ext cx="1600200" cy="1039813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Arrow Connector 64"/>
          <p:cNvCxnSpPr/>
          <p:nvPr/>
        </p:nvCxnSpPr>
        <p:spPr bwMode="auto">
          <a:xfrm rot="5400000">
            <a:off x="7869238" y="5526088"/>
            <a:ext cx="1768475" cy="590550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 bwMode="auto">
          <a:xfrm>
            <a:off x="8477250" y="2944813"/>
            <a:ext cx="1219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Normal Line</a:t>
            </a:r>
          </a:p>
        </p:txBody>
      </p:sp>
      <p:sp>
        <p:nvSpPr>
          <p:cNvPr id="66589" name="TextBox 14"/>
          <p:cNvSpPr txBox="1">
            <a:spLocks noChangeArrowheads="1"/>
          </p:cNvSpPr>
          <p:nvPr/>
        </p:nvSpPr>
        <p:spPr bwMode="auto">
          <a:xfrm>
            <a:off x="9026525" y="3952875"/>
            <a:ext cx="533400" cy="5222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9" name="Straight Arrow Connector 68"/>
          <p:cNvCxnSpPr/>
          <p:nvPr/>
        </p:nvCxnSpPr>
        <p:spPr>
          <a:xfrm rot="5400000" flipH="1">
            <a:off x="7728744" y="3617119"/>
            <a:ext cx="1600200" cy="1039812"/>
          </a:xfrm>
          <a:prstGeom prst="straightConnector1">
            <a:avLst/>
          </a:prstGeom>
          <a:ln w="38100">
            <a:solidFill>
              <a:srgbClr val="FF0000"/>
            </a:solidFill>
            <a:prstDash val="solid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extBox 14"/>
          <p:cNvSpPr txBox="1">
            <a:spLocks noChangeArrowheads="1"/>
          </p:cNvSpPr>
          <p:nvPr/>
        </p:nvSpPr>
        <p:spPr bwMode="auto">
          <a:xfrm>
            <a:off x="8610600" y="5638801"/>
            <a:ext cx="533400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800" b="1" i="1">
                <a:latin typeface="Symbol" pitchFamily="18" charset="2"/>
              </a:rPr>
              <a:t>q</a:t>
            </a:r>
            <a:r>
              <a:rPr lang="en-US" sz="28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6592" name="TextBox 58"/>
          <p:cNvSpPr txBox="1">
            <a:spLocks noChangeArrowheads="1"/>
          </p:cNvSpPr>
          <p:nvPr/>
        </p:nvSpPr>
        <p:spPr bwMode="auto">
          <a:xfrm>
            <a:off x="8020050" y="9906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>
                <a:latin typeface="Times New Roman" pitchFamily="18" charset="0"/>
                <a:cs typeface="Times New Roman" pitchFamily="18" charset="0"/>
              </a:rPr>
              <a:t> &lt; </a:t>
            </a:r>
            <a:r>
              <a:rPr lang="en-US" sz="2400" b="1" i="1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="1" baseline="-2500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0" name="TextBox 59"/>
          <p:cNvSpPr txBox="1"/>
          <p:nvPr/>
        </p:nvSpPr>
        <p:spPr bwMode="auto">
          <a:xfrm>
            <a:off x="7715250" y="1447801"/>
            <a:ext cx="2667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dirty="0">
                <a:latin typeface="+mj-lt"/>
              </a:rPr>
              <a:t>&gt;</a:t>
            </a:r>
            <a:r>
              <a:rPr lang="en-US" sz="2400" b="1" dirty="0">
                <a:latin typeface="+mj-lt"/>
              </a:rPr>
              <a:t> </a:t>
            </a:r>
            <a:r>
              <a:rPr lang="en-US" sz="2400" b="1" i="1" dirty="0">
                <a:latin typeface="Symbol" pitchFamily="18" charset="2"/>
              </a:rPr>
              <a:t>q</a:t>
            </a:r>
            <a:r>
              <a:rPr lang="en-US" sz="2400" b="1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b="1" i="1" baseline="-25000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61" name="TextBox 60"/>
          <p:cNvSpPr txBox="1"/>
          <p:nvPr/>
        </p:nvSpPr>
        <p:spPr bwMode="auto">
          <a:xfrm>
            <a:off x="7867650" y="1828800"/>
            <a:ext cx="23622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Light bends </a:t>
            </a:r>
            <a:r>
              <a:rPr lang="en-US" sz="2400" b="1" dirty="0">
                <a:latin typeface="+mj-lt"/>
              </a:rPr>
              <a:t>towards</a:t>
            </a:r>
            <a:r>
              <a:rPr lang="en-US" sz="2400" dirty="0">
                <a:latin typeface="+mj-lt"/>
              </a:rPr>
              <a:t> normal line:</a:t>
            </a:r>
          </a:p>
        </p:txBody>
      </p:sp>
      <p:cxnSp>
        <p:nvCxnSpPr>
          <p:cNvPr id="85" name="Straight Arrow Connector 84"/>
          <p:cNvCxnSpPr/>
          <p:nvPr/>
        </p:nvCxnSpPr>
        <p:spPr>
          <a:xfrm rot="5400000">
            <a:off x="4814094" y="5217319"/>
            <a:ext cx="1600200" cy="1039812"/>
          </a:xfrm>
          <a:prstGeom prst="straightConnector1">
            <a:avLst/>
          </a:prstGeom>
          <a:ln w="635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/>
          <p:cNvCxnSpPr/>
          <p:nvPr/>
        </p:nvCxnSpPr>
        <p:spPr>
          <a:xfrm rot="5400000">
            <a:off x="16383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 rot="5400000">
            <a:off x="459105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/>
          <p:cNvCxnSpPr/>
          <p:nvPr/>
        </p:nvCxnSpPr>
        <p:spPr>
          <a:xfrm rot="5400000">
            <a:off x="7543800" y="5287963"/>
            <a:ext cx="3054350" cy="31750"/>
          </a:xfrm>
          <a:prstGeom prst="line">
            <a:avLst/>
          </a:prstGeom>
          <a:ln w="19050"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2014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27" grpId="0"/>
      <p:bldP spid="30" grpId="0"/>
      <p:bldP spid="56" grpId="0"/>
      <p:bldP spid="46" grpId="0"/>
      <p:bldP spid="47" grpId="0"/>
      <p:bldP spid="70" grpId="0"/>
      <p:bldP spid="60" grpId="0"/>
      <p:bldP spid="61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auto">
          <a:xfrm>
            <a:off x="2435225" y="4572000"/>
            <a:ext cx="4114800" cy="2286000"/>
          </a:xfrm>
          <a:prstGeom prst="rect">
            <a:avLst/>
          </a:prstGeom>
          <a:solidFill>
            <a:schemeClr val="accent3">
              <a:lumMod val="75000"/>
            </a:schemeClr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 sz="2400" dirty="0"/>
          </a:p>
        </p:txBody>
      </p:sp>
      <p:sp>
        <p:nvSpPr>
          <p:cNvPr id="12" name="TextBox 11"/>
          <p:cNvSpPr txBox="1"/>
          <p:nvPr/>
        </p:nvSpPr>
        <p:spPr bwMode="auto">
          <a:xfrm>
            <a:off x="4264025" y="56388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55°</a:t>
            </a:r>
          </a:p>
        </p:txBody>
      </p:sp>
      <p:grpSp>
        <p:nvGrpSpPr>
          <p:cNvPr id="2" name="Group 31"/>
          <p:cNvGrpSpPr>
            <a:grpSpLocks/>
          </p:cNvGrpSpPr>
          <p:nvPr/>
        </p:nvGrpSpPr>
        <p:grpSpPr bwMode="auto">
          <a:xfrm>
            <a:off x="4164013" y="4572000"/>
            <a:ext cx="1014412" cy="1500188"/>
            <a:chOff x="2640013" y="3429000"/>
            <a:chExt cx="1014412" cy="1500188"/>
          </a:xfrm>
        </p:grpSpPr>
        <p:cxnSp>
          <p:nvCxnSpPr>
            <p:cNvPr id="8" name="Straight Arrow Connector 7"/>
            <p:cNvCxnSpPr/>
            <p:nvPr/>
          </p:nvCxnSpPr>
          <p:spPr bwMode="auto">
            <a:xfrm flipV="1">
              <a:off x="2640013" y="3429000"/>
              <a:ext cx="1014412" cy="1500188"/>
            </a:xfrm>
            <a:prstGeom prst="straightConnector1">
              <a:avLst/>
            </a:prstGeom>
            <a:ln w="38100">
              <a:solidFill>
                <a:srgbClr val="008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 bwMode="auto">
            <a:xfrm>
              <a:off x="2640013" y="4929188"/>
              <a:ext cx="685800" cy="0"/>
            </a:xfrm>
            <a:prstGeom prst="line">
              <a:avLst/>
            </a:prstGeom>
            <a:ln w="25400">
              <a:solidFill>
                <a:schemeClr val="tx1"/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6861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Snell’s Law and Laser Pointer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52600" y="1219200"/>
            <a:ext cx="8839200" cy="110799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200" dirty="0">
                <a:latin typeface="+mj-lt"/>
              </a:rPr>
              <a:t>A laser pointer submerged in mineral oil (index of refraction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1.46</a:t>
            </a:r>
            <a:r>
              <a:rPr lang="en-US" sz="2200" dirty="0">
                <a:latin typeface="+mj-lt"/>
              </a:rPr>
              <a:t>) is aimed at </a:t>
            </a:r>
            <a:r>
              <a:rPr lang="en-US" sz="2200" dirty="0">
                <a:solidFill>
                  <a:schemeClr val="tx2"/>
                </a:solidFill>
                <a:latin typeface="+mj-lt"/>
              </a:rPr>
              <a:t>55° </a:t>
            </a:r>
            <a:r>
              <a:rPr lang="en-US" sz="2200" b="1" dirty="0">
                <a:latin typeface="+mj-lt"/>
              </a:rPr>
              <a:t>above the horizontal</a:t>
            </a:r>
            <a:r>
              <a:rPr lang="en-US" sz="2200" dirty="0">
                <a:latin typeface="+mj-lt"/>
              </a:rPr>
              <a:t>. What angle </a:t>
            </a:r>
            <a:r>
              <a:rPr lang="en-US" sz="2200" b="1" dirty="0">
                <a:latin typeface="+mj-lt"/>
              </a:rPr>
              <a:t>above the horizontal </a:t>
            </a:r>
            <a:r>
              <a:rPr lang="en-US" sz="2200" dirty="0">
                <a:latin typeface="+mj-lt"/>
              </a:rPr>
              <a:t>will the beam make after it passes through a horizontal interface with air? </a:t>
            </a:r>
          </a:p>
        </p:txBody>
      </p:sp>
      <p:graphicFrame>
        <p:nvGraphicFramePr>
          <p:cNvPr id="6861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06087142"/>
              </p:ext>
            </p:extLst>
          </p:nvPr>
        </p:nvGraphicFramePr>
        <p:xfrm>
          <a:off x="7229476" y="4648201"/>
          <a:ext cx="2600325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307532" imgH="215806" progId="Equation.3">
                  <p:embed/>
                </p:oleObj>
              </mc:Choice>
              <mc:Fallback>
                <p:oleObj name="Equation" r:id="rId2" imgW="1307532" imgH="215806" progId="Equation.3">
                  <p:embed/>
                  <p:pic>
                    <p:nvPicPr>
                      <p:cNvPr id="6861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29476" y="4648201"/>
                        <a:ext cx="2600325" cy="430213"/>
                      </a:xfrm>
                      <a:prstGeom prst="rect">
                        <a:avLst/>
                      </a:prstGeom>
                      <a:noFill/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TextBox 23"/>
          <p:cNvSpPr txBox="1"/>
          <p:nvPr/>
        </p:nvSpPr>
        <p:spPr bwMode="auto">
          <a:xfrm>
            <a:off x="6400800" y="3500438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2: Air</a:t>
            </a:r>
          </a:p>
        </p:txBody>
      </p:sp>
      <p:sp>
        <p:nvSpPr>
          <p:cNvPr id="25" name="TextBox 24"/>
          <p:cNvSpPr txBox="1"/>
          <p:nvPr/>
        </p:nvSpPr>
        <p:spPr bwMode="auto">
          <a:xfrm>
            <a:off x="8915400" y="35004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1</a:t>
            </a:r>
            <a:endParaRPr lang="en-US" sz="2400" i="1" dirty="0"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8866760" y="389592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pSp>
        <p:nvGrpSpPr>
          <p:cNvPr id="3" name="Group 37"/>
          <p:cNvGrpSpPr>
            <a:grpSpLocks/>
          </p:cNvGrpSpPr>
          <p:nvPr/>
        </p:nvGrpSpPr>
        <p:grpSpPr bwMode="auto">
          <a:xfrm>
            <a:off x="4645025" y="3886200"/>
            <a:ext cx="762000" cy="1371600"/>
            <a:chOff x="3121152" y="2743200"/>
            <a:chExt cx="762000" cy="1371600"/>
          </a:xfrm>
        </p:grpSpPr>
        <p:cxnSp>
          <p:nvCxnSpPr>
            <p:cNvPr id="18" name="Straight Connector 17"/>
            <p:cNvCxnSpPr/>
            <p:nvPr/>
          </p:nvCxnSpPr>
          <p:spPr>
            <a:xfrm rot="5400000" flipH="1" flipV="1">
              <a:off x="2968752" y="3429000"/>
              <a:ext cx="13716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0" name="TextBox 19"/>
            <p:cNvSpPr txBox="1"/>
            <p:nvPr/>
          </p:nvSpPr>
          <p:spPr bwMode="auto">
            <a:xfrm>
              <a:off x="3121152" y="3581400"/>
              <a:ext cx="7620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2" name="Right Triangle 21"/>
          <p:cNvSpPr/>
          <p:nvPr/>
        </p:nvSpPr>
        <p:spPr>
          <a:xfrm flipH="1">
            <a:off x="4164013" y="4572000"/>
            <a:ext cx="1014412" cy="1500188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/>
          <p:nvPr/>
        </p:nvSpPr>
        <p:spPr bwMode="auto">
          <a:xfrm>
            <a:off x="4949825" y="3962401"/>
            <a:ext cx="76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sp>
        <p:nvSpPr>
          <p:cNvPr id="14" name="TextBox 13"/>
          <p:cNvSpPr txBox="1"/>
          <p:nvPr/>
        </p:nvSpPr>
        <p:spPr bwMode="auto">
          <a:xfrm>
            <a:off x="1981200" y="4648201"/>
            <a:ext cx="3124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latin typeface="+mj-lt"/>
              </a:rPr>
              <a:t>Medium 1: Oil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514600" y="51054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1.46</a:t>
            </a:r>
            <a:endParaRPr lang="en-US" sz="2400" i="1" dirty="0">
              <a:latin typeface="+mj-lt"/>
            </a:endParaRPr>
          </a:p>
        </p:txBody>
      </p:sp>
      <p:sp>
        <p:nvSpPr>
          <p:cNvPr id="16" name="TextBox 15"/>
          <p:cNvSpPr txBox="1"/>
          <p:nvPr/>
        </p:nvSpPr>
        <p:spPr bwMode="auto">
          <a:xfrm>
            <a:off x="2438400" y="5562601"/>
            <a:ext cx="1447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?</a:t>
            </a:r>
            <a:endParaRPr lang="en-US" sz="2400" i="1" dirty="0">
              <a:latin typeface="+mj-lt"/>
            </a:endParaRPr>
          </a:p>
        </p:txBody>
      </p:sp>
      <p:graphicFrame>
        <p:nvGraphicFramePr>
          <p:cNvPr id="24583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91960040"/>
              </p:ext>
            </p:extLst>
          </p:nvPr>
        </p:nvGraphicFramePr>
        <p:xfrm>
          <a:off x="6946900" y="5727700"/>
          <a:ext cx="17399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23600" imgH="215640" progId="Equation.3">
                  <p:embed/>
                </p:oleObj>
              </mc:Choice>
              <mc:Fallback>
                <p:oleObj name="Equation" r:id="rId4" imgW="723600" imgH="215640" progId="Equation.3">
                  <p:embed/>
                  <p:pic>
                    <p:nvPicPr>
                      <p:cNvPr id="24583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946900" y="5727700"/>
                        <a:ext cx="1739900" cy="43180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8" name="Straight Arrow Connector 27"/>
          <p:cNvCxnSpPr/>
          <p:nvPr/>
        </p:nvCxnSpPr>
        <p:spPr>
          <a:xfrm flipV="1">
            <a:off x="5178426" y="3575050"/>
            <a:ext cx="1527175" cy="996950"/>
          </a:xfrm>
          <a:prstGeom prst="straightConnector1">
            <a:avLst/>
          </a:prstGeom>
          <a:ln w="38100">
            <a:solidFill>
              <a:srgbClr val="008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TextBox 35"/>
          <p:cNvSpPr txBox="1"/>
          <p:nvPr/>
        </p:nvSpPr>
        <p:spPr bwMode="auto">
          <a:xfrm>
            <a:off x="5410200" y="41148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j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= ?</a:t>
            </a:r>
            <a:endParaRPr lang="en-US" sz="2400" dirty="0">
              <a:latin typeface="+mj-lt"/>
            </a:endParaRPr>
          </a:p>
        </p:txBody>
      </p:sp>
      <p:graphicFrame>
        <p:nvGraphicFramePr>
          <p:cNvPr id="24584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7780039"/>
              </p:ext>
            </p:extLst>
          </p:nvPr>
        </p:nvGraphicFramePr>
        <p:xfrm>
          <a:off x="7412039" y="6197600"/>
          <a:ext cx="2244725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130040" imgH="215640" progId="Equation.3">
                  <p:embed/>
                </p:oleObj>
              </mc:Choice>
              <mc:Fallback>
                <p:oleObj name="Equation" r:id="rId6" imgW="1130040" imgH="215640" progId="Equation.3">
                  <p:embed/>
                  <p:pic>
                    <p:nvPicPr>
                      <p:cNvPr id="24584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12039" y="6197600"/>
                        <a:ext cx="2244725" cy="431800"/>
                      </a:xfrm>
                      <a:prstGeom prst="rect">
                        <a:avLst/>
                      </a:prstGeom>
                      <a:solidFill>
                        <a:srgbClr val="D9D9D9"/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" name="TextBox 26"/>
          <p:cNvSpPr txBox="1"/>
          <p:nvPr/>
        </p:nvSpPr>
        <p:spPr bwMode="auto">
          <a:xfrm>
            <a:off x="2438400" y="6015038"/>
            <a:ext cx="1447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400" dirty="0">
                <a:latin typeface="+mj-lt"/>
              </a:rPr>
              <a:t> = 35°</a:t>
            </a:r>
            <a:endParaRPr lang="en-US" sz="2400" i="1" dirty="0">
              <a:latin typeface="+mj-lt"/>
            </a:endParaRPr>
          </a:p>
        </p:txBody>
      </p:sp>
      <p:sp>
        <p:nvSpPr>
          <p:cNvPr id="29" name="TextBox 28"/>
          <p:cNvSpPr txBox="1"/>
          <p:nvPr/>
        </p:nvSpPr>
        <p:spPr bwMode="auto">
          <a:xfrm>
            <a:off x="6629400" y="5226051"/>
            <a:ext cx="3810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Symbol" pitchFamily="18" charset="2"/>
                <a:cs typeface="Times New Roman" pitchFamily="18" charset="0"/>
                <a:sym typeface="Symbol"/>
              </a:rPr>
              <a:t></a:t>
            </a:r>
            <a:r>
              <a:rPr lang="en-US" sz="2400" i="1" dirty="0">
                <a:latin typeface="Symbol" pitchFamily="18" charset="2"/>
                <a:cs typeface="Times New Roman" pitchFamily="18" charset="0"/>
                <a:sym typeface="Symbol"/>
              </a:rPr>
              <a:t>   </a:t>
            </a: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400" dirty="0">
                <a:latin typeface="+mj-lt"/>
              </a:rPr>
              <a:t> = </a:t>
            </a:r>
            <a:r>
              <a:rPr lang="en-US" sz="2000" dirty="0">
                <a:latin typeface="+mj-lt"/>
              </a:rPr>
              <a:t>sin</a:t>
            </a:r>
            <a:r>
              <a:rPr lang="en-US" sz="2000" baseline="30000" dirty="0">
                <a:latin typeface="+mj-lt"/>
              </a:rPr>
              <a:t>–1</a:t>
            </a:r>
            <a:r>
              <a:rPr lang="en-US" sz="2000" dirty="0">
                <a:latin typeface="+mj-lt"/>
              </a:rPr>
              <a:t>(1.46 sin(35°))</a:t>
            </a:r>
            <a:endParaRPr lang="en-US" sz="2000" i="1" dirty="0">
              <a:latin typeface="+mj-lt"/>
            </a:endParaRPr>
          </a:p>
        </p:txBody>
      </p:sp>
      <p:sp>
        <p:nvSpPr>
          <p:cNvPr id="5" name="TextBox 4"/>
          <p:cNvSpPr txBox="1"/>
          <p:nvPr/>
        </p:nvSpPr>
        <p:spPr bwMode="auto">
          <a:xfrm>
            <a:off x="1676400" y="2762072"/>
            <a:ext cx="86868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457200" indent="-457200">
              <a:buAutoNum type="alphaUcPeriod"/>
            </a:pPr>
            <a:r>
              <a:rPr lang="en-US" sz="2400" dirty="0">
                <a:latin typeface="+mj-lt"/>
              </a:rPr>
              <a:t>33°		B.  </a:t>
            </a:r>
            <a:r>
              <a:rPr lang="en-US" sz="2400" dirty="0"/>
              <a:t>45°		C. 55°		</a:t>
            </a:r>
            <a:r>
              <a:rPr lang="en-US" sz="2400" dirty="0">
                <a:latin typeface="+mj-lt"/>
              </a:rPr>
              <a:t>D. </a:t>
            </a:r>
            <a:r>
              <a:rPr lang="en-US" sz="2400" dirty="0"/>
              <a:t>35°		E. 57°</a:t>
            </a:r>
            <a:endParaRPr lang="en-US" sz="2400" dirty="0">
              <a:latin typeface="+mj-l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1676400" y="2865438"/>
            <a:ext cx="1079634" cy="27239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22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1600200" y="34290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68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24" grpId="0"/>
      <p:bldP spid="25" grpId="0"/>
      <p:bldP spid="26" grpId="0"/>
      <p:bldP spid="22" grpId="0" animBg="1"/>
      <p:bldP spid="31" grpId="0"/>
      <p:bldP spid="15" grpId="0"/>
      <p:bldP spid="16" grpId="0"/>
      <p:bldP spid="36" grpId="0"/>
      <p:bldP spid="27" grpId="0"/>
      <p:bldP spid="29" grpId="0"/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Determining Depth of a Pool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28800" y="1295401"/>
            <a:ext cx="8382000" cy="132343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/>
              <a:t>You want to find out how deep a </a:t>
            </a:r>
            <a:r>
              <a:rPr lang="en-US" sz="2000" dirty="0">
                <a:solidFill>
                  <a:schemeClr val="tx2"/>
                </a:solidFill>
              </a:rPr>
              <a:t>10.0'</a:t>
            </a:r>
            <a:r>
              <a:rPr lang="en-US" sz="2000" dirty="0"/>
              <a:t> diameter (circular) swimming pool is by shining a laser pointer from the </a:t>
            </a:r>
            <a:r>
              <a:rPr lang="en-US" sz="2000" b="1" dirty="0"/>
              <a:t>rim</a:t>
            </a:r>
            <a:r>
              <a:rPr lang="en-US" sz="2000" dirty="0"/>
              <a:t> to the base at the </a:t>
            </a:r>
            <a:r>
              <a:rPr lang="en-US" sz="2000" b="1" dirty="0"/>
              <a:t>center</a:t>
            </a:r>
            <a:r>
              <a:rPr lang="en-US" sz="2000" dirty="0"/>
              <a:t> of the pool.  If you have the laser pointer aimed (in air) at </a:t>
            </a:r>
            <a:r>
              <a:rPr lang="en-US" sz="2000" dirty="0">
                <a:solidFill>
                  <a:schemeClr val="tx2"/>
                </a:solidFill>
              </a:rPr>
              <a:t>58.0°</a:t>
            </a:r>
            <a:r>
              <a:rPr lang="en-US" sz="2000" dirty="0"/>
              <a:t> from the vertical, how deep is the pool if it is filled to the brim with water (</a:t>
            </a:r>
            <a:r>
              <a:rPr lang="en-US" sz="2000" i="1" dirty="0">
                <a:solidFill>
                  <a:schemeClr val="tx2"/>
                </a:solidFill>
              </a:rPr>
              <a:t>n</a:t>
            </a:r>
            <a:r>
              <a:rPr lang="en-US" sz="2000" dirty="0">
                <a:solidFill>
                  <a:schemeClr val="tx2"/>
                </a:solidFill>
              </a:rPr>
              <a:t> = 1.33</a:t>
            </a:r>
            <a:r>
              <a:rPr lang="en-US" sz="2000" dirty="0"/>
              <a:t>)? </a:t>
            </a:r>
          </a:p>
        </p:txBody>
      </p:sp>
      <p:sp>
        <p:nvSpPr>
          <p:cNvPr id="6" name="Rectangle 5"/>
          <p:cNvSpPr>
            <a:spLocks noChangeAspect="1"/>
          </p:cNvSpPr>
          <p:nvPr/>
        </p:nvSpPr>
        <p:spPr>
          <a:xfrm>
            <a:off x="2303208" y="4427400"/>
            <a:ext cx="3429000" cy="2071687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" name="Right Triangle 9"/>
          <p:cNvSpPr/>
          <p:nvPr/>
        </p:nvSpPr>
        <p:spPr>
          <a:xfrm flipH="1">
            <a:off x="4017709" y="4441686"/>
            <a:ext cx="1719263" cy="2076450"/>
          </a:xfrm>
          <a:prstGeom prst="rtTriangle">
            <a:avLst/>
          </a:prstGeom>
          <a:noFill/>
          <a:ln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8" name="Straight Arrow Connector 7"/>
          <p:cNvCxnSpPr/>
          <p:nvPr/>
        </p:nvCxnSpPr>
        <p:spPr>
          <a:xfrm flipH="1">
            <a:off x="4017708" y="4427399"/>
            <a:ext cx="1714500" cy="207645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 bwMode="auto">
          <a:xfrm>
            <a:off x="1524000" y="3200400"/>
            <a:ext cx="3886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Want one side of a right triangle, need an angle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5331544" y="4670287"/>
            <a:ext cx="45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endParaRPr lang="en-US" sz="2400" i="1" dirty="0">
              <a:latin typeface="+mj-lt"/>
            </a:endParaRPr>
          </a:p>
        </p:txBody>
      </p:sp>
      <p:grpSp>
        <p:nvGrpSpPr>
          <p:cNvPr id="2" name="Group 37"/>
          <p:cNvGrpSpPr>
            <a:grpSpLocks/>
          </p:cNvGrpSpPr>
          <p:nvPr/>
        </p:nvGrpSpPr>
        <p:grpSpPr bwMode="auto">
          <a:xfrm>
            <a:off x="6113209" y="3203378"/>
            <a:ext cx="4195453" cy="400113"/>
            <a:chOff x="5638801" y="3562230"/>
            <a:chExt cx="3124201" cy="399970"/>
          </a:xfrm>
        </p:grpSpPr>
        <p:sp>
          <p:nvSpPr>
            <p:cNvPr id="14" name="TextBox 13"/>
            <p:cNvSpPr txBox="1"/>
            <p:nvPr/>
          </p:nvSpPr>
          <p:spPr bwMode="auto">
            <a:xfrm>
              <a:off x="5638801" y="3562230"/>
              <a:ext cx="3124201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2:  Water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6971426" y="3562232"/>
              <a:ext cx="1447800" cy="3999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i="1" dirty="0"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baseline="-25000" dirty="0">
                  <a:latin typeface="Times New Roman" pitchFamily="18" charset="0"/>
                  <a:cs typeface="Times New Roman" pitchFamily="18" charset="0"/>
                </a:rPr>
                <a:t>2</a:t>
              </a:r>
              <a:r>
                <a:rPr lang="en-US" sz="2000" dirty="0">
                  <a:latin typeface="+mj-lt"/>
                </a:rPr>
                <a:t> = 1.33</a:t>
              </a:r>
              <a:endParaRPr lang="en-US" sz="2000" i="1" dirty="0">
                <a:latin typeface="+mj-lt"/>
              </a:endParaRPr>
            </a:p>
          </p:txBody>
        </p:sp>
      </p:grpSp>
      <p:grpSp>
        <p:nvGrpSpPr>
          <p:cNvPr id="3" name="Group 35"/>
          <p:cNvGrpSpPr>
            <a:grpSpLocks/>
          </p:cNvGrpSpPr>
          <p:nvPr/>
        </p:nvGrpSpPr>
        <p:grpSpPr bwMode="auto">
          <a:xfrm>
            <a:off x="5656009" y="3513000"/>
            <a:ext cx="1541463" cy="1690687"/>
            <a:chOff x="4114800" y="3872485"/>
            <a:chExt cx="1541584" cy="1690115"/>
          </a:xfrm>
        </p:grpSpPr>
        <p:cxnSp>
          <p:nvCxnSpPr>
            <p:cNvPr id="11" name="Straight Arrow Connector 10"/>
            <p:cNvCxnSpPr/>
            <p:nvPr/>
          </p:nvCxnSpPr>
          <p:spPr>
            <a:xfrm flipH="1">
              <a:off x="4191006" y="3872485"/>
              <a:ext cx="1465378" cy="914091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 rot="5400000">
              <a:off x="3429264" y="4800858"/>
              <a:ext cx="1523484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TextBox 21"/>
            <p:cNvSpPr txBox="1"/>
            <p:nvPr/>
          </p:nvSpPr>
          <p:spPr bwMode="auto">
            <a:xfrm>
              <a:off x="4114800" y="4115290"/>
              <a:ext cx="457236" cy="4618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i="1" dirty="0">
                  <a:latin typeface="Symbol" pitchFamily="18" charset="2"/>
                  <a:cs typeface="Times New Roman" pitchFamily="18" charset="0"/>
                </a:rPr>
                <a:t>q</a:t>
              </a:r>
              <a:r>
                <a:rPr lang="en-US" sz="2400" baseline="-25000" dirty="0">
                  <a:latin typeface="Times New Roman" pitchFamily="18" charset="0"/>
                  <a:cs typeface="Times New Roman" pitchFamily="18" charset="0"/>
                </a:rPr>
                <a:t>1</a:t>
              </a:r>
              <a:endParaRPr lang="en-US" sz="2400" i="1" dirty="0">
                <a:latin typeface="+mj-lt"/>
              </a:endParaRP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1617408" y="3908286"/>
            <a:ext cx="3886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i="1" dirty="0">
                <a:latin typeface="+mj-lt"/>
              </a:rPr>
              <a:t>Use Snell’s Law for Angle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5579808" y="5367754"/>
            <a:ext cx="838200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dirty="0">
                <a:latin typeface="+mj-lt"/>
              </a:rPr>
              <a:t> = ?</a:t>
            </a:r>
            <a:endParaRPr lang="en-US" i="1" dirty="0">
              <a:latin typeface="+mj-lt"/>
            </a:endParaRPr>
          </a:p>
        </p:txBody>
      </p:sp>
      <p:sp>
        <p:nvSpPr>
          <p:cNvPr id="27" name="TextBox 26"/>
          <p:cNvSpPr txBox="1"/>
          <p:nvPr/>
        </p:nvSpPr>
        <p:spPr bwMode="auto">
          <a:xfrm>
            <a:off x="4741608" y="6119922"/>
            <a:ext cx="781664" cy="369332"/>
          </a:xfrm>
          <a:prstGeom prst="rect">
            <a:avLst/>
          </a:prstGeom>
          <a:solidFill>
            <a:schemeClr val="bg1"/>
          </a:solidFill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r</a:t>
            </a:r>
            <a:r>
              <a:rPr lang="en-US" dirty="0">
                <a:latin typeface="+mj-lt"/>
              </a:rPr>
              <a:t> = 5'</a:t>
            </a:r>
            <a:endParaRPr lang="en-US" i="1" dirty="0">
              <a:latin typeface="+mj-lt"/>
            </a:endParaRPr>
          </a:p>
        </p:txBody>
      </p:sp>
      <p:graphicFrame>
        <p:nvGraphicFramePr>
          <p:cNvPr id="28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982967446"/>
              </p:ext>
            </p:extLst>
          </p:nvPr>
        </p:nvGraphicFramePr>
        <p:xfrm>
          <a:off x="2455608" y="4544874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" imgW="825142" imgH="215806" progId="Equation.3">
                  <p:embed/>
                </p:oleObj>
              </mc:Choice>
              <mc:Fallback>
                <p:oleObj name="Equation" r:id="rId3" imgW="825142" imgH="215806" progId="Equation.3">
                  <p:embed/>
                  <p:pic>
                    <p:nvPicPr>
                      <p:cNvPr id="28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4544874"/>
                        <a:ext cx="1644650" cy="43021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90576324"/>
              </p:ext>
            </p:extLst>
          </p:nvPr>
        </p:nvGraphicFramePr>
        <p:xfrm>
          <a:off x="2455608" y="5051287"/>
          <a:ext cx="164465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825142" imgH="215806" progId="Equation.3">
                  <p:embed/>
                </p:oleObj>
              </mc:Choice>
              <mc:Fallback>
                <p:oleObj name="Equation" r:id="rId5" imgW="825142" imgH="215806" progId="Equation.3">
                  <p:embed/>
                  <p:pic>
                    <p:nvPicPr>
                      <p:cNvPr id="25605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051287"/>
                        <a:ext cx="1644650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6" name="Object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580275085"/>
              </p:ext>
            </p:extLst>
          </p:nvPr>
        </p:nvGraphicFramePr>
        <p:xfrm>
          <a:off x="6722809" y="4365487"/>
          <a:ext cx="2579687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294838" imgH="215806" progId="Equation.3">
                  <p:embed/>
                </p:oleObj>
              </mc:Choice>
              <mc:Fallback>
                <p:oleObj name="Equation" r:id="rId7" imgW="1294838" imgH="215806" progId="Equation.3">
                  <p:embed/>
                  <p:pic>
                    <p:nvPicPr>
                      <p:cNvPr id="25606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722809" y="4365487"/>
                        <a:ext cx="2579687" cy="430213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8"/>
          <p:cNvGrpSpPr>
            <a:grpSpLocks/>
          </p:cNvGrpSpPr>
          <p:nvPr/>
        </p:nvGrpSpPr>
        <p:grpSpPr bwMode="auto">
          <a:xfrm>
            <a:off x="6113209" y="3603484"/>
            <a:ext cx="4267199" cy="449316"/>
            <a:chOff x="5638800" y="4217987"/>
            <a:chExt cx="3301040" cy="449219"/>
          </a:xfrm>
        </p:grpSpPr>
        <p:sp>
          <p:nvSpPr>
            <p:cNvPr id="23" name="TextBox 22"/>
            <p:cNvSpPr txBox="1"/>
            <p:nvPr/>
          </p:nvSpPr>
          <p:spPr bwMode="auto">
            <a:xfrm>
              <a:off x="5638800" y="4217987"/>
              <a:ext cx="3124200" cy="4000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000" dirty="0">
                  <a:latin typeface="+mj-lt"/>
                </a:rPr>
                <a:t>Medium 1:  Air</a:t>
              </a:r>
            </a:p>
          </p:txBody>
        </p:sp>
        <p:grpSp>
          <p:nvGrpSpPr>
            <p:cNvPr id="12" name="Group 36"/>
            <p:cNvGrpSpPr>
              <a:grpSpLocks/>
            </p:cNvGrpSpPr>
            <p:nvPr/>
          </p:nvGrpSpPr>
          <p:grpSpPr bwMode="auto">
            <a:xfrm>
              <a:off x="7230373" y="4248080"/>
              <a:ext cx="1709467" cy="419126"/>
              <a:chOff x="7230373" y="4248080"/>
              <a:chExt cx="1709467" cy="419126"/>
            </a:xfrm>
          </p:grpSpPr>
          <p:sp>
            <p:nvSpPr>
              <p:cNvPr id="24" name="TextBox 23"/>
              <p:cNvSpPr txBox="1"/>
              <p:nvPr/>
            </p:nvSpPr>
            <p:spPr bwMode="auto">
              <a:xfrm>
                <a:off x="7230373" y="4248080"/>
                <a:ext cx="825260" cy="40002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Times New Roman" pitchFamily="18" charset="0"/>
                    <a:cs typeface="Times New Roman" pitchFamily="18" charset="0"/>
                  </a:rPr>
                  <a:t>n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1</a:t>
                </a:r>
                <a:endParaRPr lang="en-US" sz="2000" i="1" dirty="0">
                  <a:latin typeface="+mj-lt"/>
                </a:endParaRPr>
              </a:p>
            </p:txBody>
          </p:sp>
          <p:sp>
            <p:nvSpPr>
              <p:cNvPr id="31" name="TextBox 30"/>
              <p:cNvSpPr txBox="1"/>
              <p:nvPr/>
            </p:nvSpPr>
            <p:spPr bwMode="auto">
              <a:xfrm>
                <a:off x="7939610" y="4267182"/>
                <a:ext cx="1000230" cy="40002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0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0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r>
                  <a:rPr lang="en-US" sz="2000" dirty="0">
                    <a:latin typeface="+mj-lt"/>
                  </a:rPr>
                  <a:t> = 58.0°</a:t>
                </a:r>
                <a:endParaRPr lang="en-US" sz="2000" i="1" dirty="0">
                  <a:latin typeface="+mj-lt"/>
                </a:endParaRPr>
              </a:p>
            </p:txBody>
          </p:sp>
        </p:grpSp>
      </p:grpSp>
      <p:graphicFrame>
        <p:nvGraphicFramePr>
          <p:cNvPr id="25607" name="Object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67756981"/>
              </p:ext>
            </p:extLst>
          </p:nvPr>
        </p:nvGraphicFramePr>
        <p:xfrm>
          <a:off x="6646608" y="4898886"/>
          <a:ext cx="32623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1638000" imgH="228600" progId="Equation.3">
                  <p:embed/>
                </p:oleObj>
              </mc:Choice>
              <mc:Fallback>
                <p:oleObj name="Equation" r:id="rId9" imgW="1638000" imgH="228600" progId="Equation.3">
                  <p:embed/>
                  <p:pic>
                    <p:nvPicPr>
                      <p:cNvPr id="25607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6608" y="4898886"/>
                        <a:ext cx="3262312" cy="444500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55238347"/>
              </p:ext>
            </p:extLst>
          </p:nvPr>
        </p:nvGraphicFramePr>
        <p:xfrm>
          <a:off x="7103808" y="5351070"/>
          <a:ext cx="2808288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1409400" imgH="431640" progId="Equation.3">
                  <p:embed/>
                </p:oleObj>
              </mc:Choice>
              <mc:Fallback>
                <p:oleObj name="Equation" r:id="rId11" imgW="1409400" imgH="431640" progId="Equation.3">
                  <p:embed/>
                  <p:pic>
                    <p:nvPicPr>
                      <p:cNvPr id="25608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03808" y="5351070"/>
                        <a:ext cx="2808288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17703378"/>
              </p:ext>
            </p:extLst>
          </p:nvPr>
        </p:nvGraphicFramePr>
        <p:xfrm>
          <a:off x="2455608" y="5459274"/>
          <a:ext cx="1846262" cy="4302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926698" imgH="215806" progId="Equation.3">
                  <p:embed/>
                </p:oleObj>
              </mc:Choice>
              <mc:Fallback>
                <p:oleObj name="Equation" r:id="rId13" imgW="926698" imgH="215806" progId="Equation.3">
                  <p:embed/>
                  <p:pic>
                    <p:nvPicPr>
                      <p:cNvPr id="25609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8" y="5459274"/>
                        <a:ext cx="1846262" cy="430212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10" name="Object 10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96771519"/>
              </p:ext>
            </p:extLst>
          </p:nvPr>
        </p:nvGraphicFramePr>
        <p:xfrm>
          <a:off x="2455609" y="5889486"/>
          <a:ext cx="757237" cy="3444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80670" imgH="177646" progId="Equation.3">
                  <p:embed/>
                </p:oleObj>
              </mc:Choice>
              <mc:Fallback>
                <p:oleObj name="Equation" r:id="rId15" imgW="380670" imgH="177646" progId="Equation.3">
                  <p:embed/>
                  <p:pic>
                    <p:nvPicPr>
                      <p:cNvPr id="25610" name="Object 1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5609" y="5889486"/>
                        <a:ext cx="757237" cy="344488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94408" y="5997437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23</a:t>
            </a:fld>
            <a:endParaRPr lang="en-US"/>
          </a:p>
        </p:txBody>
      </p:sp>
      <p:cxnSp>
        <p:nvCxnSpPr>
          <p:cNvPr id="32" name="Straight Connector 31"/>
          <p:cNvCxnSpPr/>
          <p:nvPr/>
        </p:nvCxnSpPr>
        <p:spPr>
          <a:xfrm>
            <a:off x="1638300" y="2819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262318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9" grpId="0"/>
      <p:bldP spid="25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Title 1"/>
          <p:cNvSpPr>
            <a:spLocks noGrp="1"/>
          </p:cNvSpPr>
          <p:nvPr>
            <p:ph type="title"/>
          </p:nvPr>
        </p:nvSpPr>
        <p:spPr>
          <a:xfrm>
            <a:off x="1981200" y="2286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  <a:br>
              <a:rPr lang="en-US" sz="3200" u="sng" dirty="0">
                <a:latin typeface="Arial" charset="0"/>
                <a:cs typeface="Arial" charset="0"/>
              </a:rPr>
            </a:br>
            <a:r>
              <a:rPr lang="en-US" sz="2400" i="1" dirty="0">
                <a:latin typeface="Arial" charset="0"/>
                <a:cs typeface="Arial" charset="0"/>
              </a:rPr>
              <a:t>(</a:t>
            </a:r>
            <a:r>
              <a:rPr lang="en-US" sz="2400" i="1" dirty="0" err="1">
                <a:latin typeface="Arial" charset="0"/>
                <a:cs typeface="Arial" charset="0"/>
              </a:rPr>
              <a:t>OpenStax</a:t>
            </a:r>
            <a:r>
              <a:rPr lang="en-US" sz="2400" i="1" dirty="0">
                <a:latin typeface="Arial" charset="0"/>
                <a:cs typeface="Arial" charset="0"/>
              </a:rPr>
              <a:t> 25.4)</a:t>
            </a:r>
            <a:endParaRPr lang="en-US" sz="3200" i="1" dirty="0">
              <a:latin typeface="Arial" charset="0"/>
              <a:cs typeface="Arial" charset="0"/>
            </a:endParaRPr>
          </a:p>
        </p:txBody>
      </p:sp>
      <p:sp>
        <p:nvSpPr>
          <p:cNvPr id="4" name="TextBox 3"/>
          <p:cNvSpPr txBox="1"/>
          <p:nvPr/>
        </p:nvSpPr>
        <p:spPr bwMode="auto">
          <a:xfrm>
            <a:off x="2133600" y="1295401"/>
            <a:ext cx="81534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Let’s look at a tank of water and shine a light in it: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TextBox 4"/>
              <p:cNvSpPr txBox="1"/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008000"/>
                    </a:solidFill>
                    <a:latin typeface="+mj-lt"/>
                  </a:rPr>
                  <a:t>air</a:t>
                </a:r>
                <a:r>
                  <a:rPr lang="en-US" sz="2400" dirty="0">
                    <a:latin typeface="+mj-lt"/>
                  </a:rPr>
                  <a:t> to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3333FF"/>
                    </a:solidFill>
                    <a:latin typeface="+mj-lt"/>
                  </a:rPr>
                  <a:t>water </a:t>
                </a:r>
              </a:p>
              <a:p>
                <a:pPr algn="ctr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(i.e. bends closer to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&gt;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5" name="TextBox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62200" y="1836739"/>
                <a:ext cx="8382000" cy="830997"/>
              </a:xfrm>
              <a:prstGeom prst="rect">
                <a:avLst/>
              </a:prstGeom>
              <a:blipFill>
                <a:blip r:embed="rId2"/>
                <a:stretch>
                  <a:fillRect t="-5839" b="-15328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marL="342900" indent="-342900" algn="ctr">
                  <a:buFont typeface="Arial" panose="020B0604020202020204" pitchFamily="34" charset="0"/>
                  <a:buChar char="•"/>
                  <a:defRPr/>
                </a:pPr>
                <a:r>
                  <a:rPr lang="en-US" sz="2400" b="1" dirty="0">
                    <a:solidFill>
                      <a:srgbClr val="3333FF"/>
                    </a:solidFill>
                  </a:rPr>
                  <a:t>water </a:t>
                </a:r>
                <a:r>
                  <a:rPr lang="en-US" sz="2400" dirty="0">
                    <a:latin typeface="+mj-lt"/>
                  </a:rPr>
                  <a:t>to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  <a:r>
                  <a:rPr lang="en-US" sz="2400" dirty="0">
                    <a:latin typeface="+mj-lt"/>
                  </a:rPr>
                  <a:t>, light gets refracted into the </a:t>
                </a:r>
                <a:r>
                  <a:rPr lang="en-US" sz="2400" b="1" dirty="0">
                    <a:solidFill>
                      <a:srgbClr val="008000"/>
                    </a:solidFill>
                  </a:rPr>
                  <a:t>air</a:t>
                </a:r>
              </a:p>
              <a:p>
                <a:pPr marL="1719263">
                  <a:defRPr/>
                </a:pP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(i.e. bends farther away from the normal: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1</m:t>
                        </m:r>
                      </m:sub>
                    </m:sSub>
                    <m:r>
                      <a:rPr lang="en-US" sz="2400" i="1">
                        <a:solidFill>
                          <a:schemeClr val="bg1">
                            <a:lumMod val="50000"/>
                          </a:schemeClr>
                        </a:solidFill>
                        <a:latin typeface="Cambria Math"/>
                      </a:rPr>
                      <m:t>&lt;</m:t>
                    </m:r>
                    <m:sSub>
                      <m:sSubPr>
                        <m:ctrlP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𝜃</m:t>
                        </m:r>
                      </m:e>
                      <m:sub>
                        <m:r>
                          <a:rPr lang="en-US" sz="2400" i="1">
                            <a:solidFill>
                              <a:schemeClr val="bg1">
                                <a:lumMod val="50000"/>
                              </a:schemeClr>
                            </a:solidFill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</a:rPr>
                  <a:t>)</a:t>
                </a:r>
                <a:endParaRPr lang="en-US" sz="2400" b="1" dirty="0">
                  <a:solidFill>
                    <a:srgbClr val="3333FF"/>
                  </a:solidFill>
                  <a:latin typeface="+mj-lt"/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168856" y="2667001"/>
                <a:ext cx="8382000" cy="830997"/>
              </a:xfrm>
              <a:prstGeom prst="rect">
                <a:avLst/>
              </a:prstGeom>
              <a:blipFill>
                <a:blip r:embed="rId3"/>
                <a:stretch>
                  <a:fillRect t="-5882" b="-15441"/>
                </a:stretch>
              </a:blipFill>
              <a:ln w="9525">
                <a:noFill/>
                <a:miter lim="800000"/>
                <a:headEnd/>
                <a:tailEnd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Box 6"/>
          <p:cNvSpPr txBox="1"/>
          <p:nvPr/>
        </p:nvSpPr>
        <p:spPr bwMode="auto">
          <a:xfrm>
            <a:off x="2057400" y="3656014"/>
            <a:ext cx="8153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i="1" dirty="0">
                <a:latin typeface="+mj-lt"/>
              </a:rPr>
              <a:t>For water to air</a:t>
            </a:r>
            <a:r>
              <a:rPr lang="en-US" sz="2400" dirty="0">
                <a:latin typeface="+mj-lt"/>
              </a:rPr>
              <a:t>, try increasing angle of incidence:</a:t>
            </a:r>
            <a:endParaRPr lang="en-US" sz="2400" b="1" dirty="0">
              <a:solidFill>
                <a:srgbClr val="3333FF"/>
              </a:solidFill>
              <a:latin typeface="+mj-lt"/>
            </a:endParaRPr>
          </a:p>
        </p:txBody>
      </p:sp>
      <p:sp>
        <p:nvSpPr>
          <p:cNvPr id="8" name="TextBox 7"/>
          <p:cNvSpPr txBox="1"/>
          <p:nvPr/>
        </p:nvSpPr>
        <p:spPr bwMode="auto">
          <a:xfrm>
            <a:off x="1981200" y="4407635"/>
            <a:ext cx="5029200" cy="224676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Light bends farther and farther away from the normal, and eventually no light is refracted into the </a:t>
            </a:r>
            <a:r>
              <a:rPr lang="en-US" sz="2000" b="1" dirty="0">
                <a:solidFill>
                  <a:srgbClr val="008000"/>
                </a:solidFill>
                <a:latin typeface="+mj-lt"/>
              </a:rPr>
              <a:t>air;</a:t>
            </a:r>
            <a:r>
              <a:rPr lang="en-US" sz="2000" dirty="0">
                <a:latin typeface="+mj-lt"/>
              </a:rPr>
              <a:t> 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It refracts completely along the </a:t>
            </a:r>
            <a:r>
              <a:rPr lang="en-US" sz="2000" b="1" dirty="0">
                <a:latin typeface="+mj-lt"/>
              </a:rPr>
              <a:t>surface</a:t>
            </a:r>
          </a:p>
          <a:p>
            <a:pPr>
              <a:defRPr/>
            </a:pPr>
            <a:endParaRPr lang="en-US" sz="2000" b="1" dirty="0">
              <a:solidFill>
                <a:srgbClr val="FF0000"/>
              </a:solidFill>
              <a:latin typeface="+mj-lt"/>
            </a:endParaRPr>
          </a:p>
          <a:p>
            <a:pPr algn="ctr">
              <a:defRPr/>
            </a:pPr>
            <a:r>
              <a:rPr lang="en-US" sz="2000" b="1" dirty="0">
                <a:latin typeface="+mj-lt"/>
              </a:rPr>
              <a:t>This angle of incidence is called the</a:t>
            </a:r>
            <a:r>
              <a:rPr lang="en-US" sz="2000" b="1" dirty="0">
                <a:solidFill>
                  <a:srgbClr val="FF0000"/>
                </a:solidFill>
                <a:latin typeface="+mj-lt"/>
              </a:rPr>
              <a:t> </a:t>
            </a:r>
          </a:p>
          <a:p>
            <a:pPr algn="ctr"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Critical Angle (</a:t>
            </a:r>
            <a:r>
              <a:rPr lang="en-US" sz="2000" i="1" dirty="0" err="1">
                <a:solidFill>
                  <a:srgbClr val="FF0000"/>
                </a:solidFill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000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000" b="1" dirty="0">
                <a:solidFill>
                  <a:srgbClr val="FF0000"/>
                </a:solidFill>
              </a:rPr>
              <a:t>)</a:t>
            </a:r>
            <a:endParaRPr lang="en-US" sz="2000" b="1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24</a:t>
            </a:fld>
            <a:endParaRPr lang="en-US" dirty="0"/>
          </a:p>
        </p:txBody>
      </p:sp>
      <p:pic>
        <p:nvPicPr>
          <p:cNvPr id="18436" name="Picture 4" descr="See the source image"/>
          <p:cNvPicPr>
            <a:picLocks noChangeAspect="1" noChangeArrowheads="1" noCrop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93818" y="3800638"/>
            <a:ext cx="2867025" cy="2743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  <p:bldP spid="7" grpId="0"/>
      <p:bldP spid="8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25</a:t>
            </a:fld>
            <a:endParaRPr lang="en-US" dirty="0"/>
          </a:p>
        </p:txBody>
      </p:sp>
      <p:sp>
        <p:nvSpPr>
          <p:cNvPr id="25" name="TextBox 24"/>
          <p:cNvSpPr txBox="1"/>
          <p:nvPr/>
        </p:nvSpPr>
        <p:spPr bwMode="auto">
          <a:xfrm>
            <a:off x="9144001" y="3124200"/>
            <a:ext cx="1855787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(sin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000" i="1" dirty="0">
                <a:solidFill>
                  <a:schemeClr val="bg1">
                    <a:lumMod val="50000"/>
                  </a:schemeClr>
                </a:solidFill>
                <a:latin typeface="Symbol" pitchFamily="18" charset="2"/>
                <a:cs typeface="Times New Roman" pitchFamily="18" charset="0"/>
              </a:rPr>
              <a:t>90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° = 1)</a:t>
            </a:r>
            <a:endParaRPr lang="en-US" sz="2000" i="1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26" name="TextBox 25"/>
          <p:cNvSpPr txBox="1"/>
          <p:nvPr/>
        </p:nvSpPr>
        <p:spPr bwMode="auto">
          <a:xfrm>
            <a:off x="2106613" y="5489138"/>
            <a:ext cx="8153400" cy="12926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If </a:t>
            </a:r>
            <a:r>
              <a:rPr lang="en-US" sz="2400" dirty="0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 </a:t>
            </a:r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 &gt; </a:t>
            </a:r>
            <a:r>
              <a:rPr lang="en-US" sz="2400" dirty="0" err="1">
                <a:latin typeface="Symbol" pitchFamily="18" charset="2"/>
                <a:cs typeface="Times New Roman" pitchFamily="18" charset="0"/>
              </a:rPr>
              <a:t>q</a:t>
            </a:r>
            <a:r>
              <a:rPr lang="en-US" sz="2400" baseline="-25000" dirty="0" err="1">
                <a:latin typeface="Times New Roman" pitchFamily="18" charset="0"/>
                <a:cs typeface="Times New Roman" pitchFamily="18" charset="0"/>
              </a:rPr>
              <a:t>C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: light gets completely reflected (zero refraction)</a:t>
            </a:r>
          </a:p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</a:rPr>
              <a:t> (light cannot escape from water to air; it stays in the water)</a:t>
            </a:r>
          </a:p>
          <a:p>
            <a:pPr>
              <a:defRPr/>
            </a:pPr>
            <a:endParaRPr lang="en-US" sz="1000" b="1" dirty="0">
              <a:solidFill>
                <a:srgbClr val="3333FF"/>
              </a:solidFill>
              <a:latin typeface="+mj-lt"/>
            </a:endParaRPr>
          </a:p>
          <a:p>
            <a:pPr algn="ctr">
              <a:defRPr/>
            </a:pPr>
            <a:r>
              <a:rPr lang="en-US" sz="2400" dirty="0">
                <a:latin typeface="+mj-lt"/>
              </a:rPr>
              <a:t>i.e. light undergoes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Total Internal Reflection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/>
          <a:lstStyle/>
          <a:p>
            <a:r>
              <a:rPr lang="en-US" sz="3200" u="sng" dirty="0">
                <a:latin typeface="Arial" charset="0"/>
                <a:cs typeface="Arial" charset="0"/>
              </a:rPr>
              <a:t>Critical Angle and Total Internal Reflection</a:t>
            </a:r>
          </a:p>
        </p:txBody>
      </p:sp>
      <p:grpSp>
        <p:nvGrpSpPr>
          <p:cNvPr id="2" name="Group 23"/>
          <p:cNvGrpSpPr/>
          <p:nvPr/>
        </p:nvGrpSpPr>
        <p:grpSpPr>
          <a:xfrm>
            <a:off x="1600200" y="990600"/>
            <a:ext cx="8991600" cy="4243864"/>
            <a:chOff x="76200" y="990600"/>
            <a:chExt cx="8991600" cy="4243864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76200" y="990600"/>
              <a:ext cx="8991600" cy="46196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400" b="1" dirty="0">
                  <a:solidFill>
                    <a:srgbClr val="FF0000"/>
                  </a:solidFill>
                  <a:latin typeface="+mj-lt"/>
                </a:rPr>
                <a:t>Critical angle </a:t>
              </a:r>
              <a:r>
                <a:rPr lang="en-US" sz="2400" dirty="0">
                  <a:latin typeface="+mj-lt"/>
                </a:rPr>
                <a:t>= </a:t>
              </a:r>
              <a:r>
                <a:rPr lang="en-US" sz="2400" b="1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incident angle </a:t>
              </a:r>
              <a:r>
                <a:rPr lang="en-US" sz="2400" dirty="0">
                  <a:latin typeface="+mj-lt"/>
                </a:rPr>
                <a:t>for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angle of refraction </a:t>
              </a:r>
              <a:r>
                <a:rPr lang="en-US" sz="2400" dirty="0">
                  <a:solidFill>
                    <a:srgbClr val="AC7F00"/>
                  </a:solidFill>
                  <a:latin typeface="+mj-lt"/>
                </a:rPr>
                <a:t>of </a:t>
              </a:r>
              <a:r>
                <a:rPr lang="en-US" sz="2400" b="1" dirty="0">
                  <a:solidFill>
                    <a:srgbClr val="AC7F00"/>
                  </a:solidFill>
                  <a:latin typeface="+mj-lt"/>
                </a:rPr>
                <a:t>90°</a:t>
              </a:r>
              <a:r>
                <a:rPr lang="en-US" sz="2400" dirty="0">
                  <a:latin typeface="+mj-lt"/>
                </a:rPr>
                <a:t> </a:t>
              </a:r>
              <a:endParaRPr lang="en-US" sz="2400" b="1" dirty="0">
                <a:solidFill>
                  <a:srgbClr val="3333FF"/>
                </a:solidFill>
                <a:latin typeface="+mj-lt"/>
              </a:endParaRPr>
            </a:p>
          </p:txBody>
        </p:sp>
        <p:grpSp>
          <p:nvGrpSpPr>
            <p:cNvPr id="3" name="Group 21"/>
            <p:cNvGrpSpPr/>
            <p:nvPr/>
          </p:nvGrpSpPr>
          <p:grpSpPr>
            <a:xfrm>
              <a:off x="533400" y="1524000"/>
              <a:ext cx="8116528" cy="3710464"/>
              <a:chOff x="533400" y="1524000"/>
              <a:chExt cx="8116528" cy="3710464"/>
            </a:xfrm>
          </p:grpSpPr>
          <p:graphicFrame>
            <p:nvGraphicFramePr>
              <p:cNvPr id="6" name="Object 4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2256293603"/>
                  </p:ext>
                </p:extLst>
              </p:nvPr>
            </p:nvGraphicFramePr>
            <p:xfrm>
              <a:off x="5157788" y="3202782"/>
              <a:ext cx="2171700" cy="962025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2" imgW="1091880" imgH="482400" progId="Equation.3">
                      <p:embed/>
                    </p:oleObj>
                  </mc:Choice>
                  <mc:Fallback>
                    <p:oleObj name="Equation" r:id="rId2" imgW="1091880" imgH="482400" progId="Equation.3">
                      <p:embed/>
                      <p:pic>
                        <p:nvPicPr>
                          <p:cNvPr id="6" name="Object 4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3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157788" y="3202782"/>
                            <a:ext cx="2171700" cy="962025"/>
                          </a:xfrm>
                          <a:prstGeom prst="rect">
                            <a:avLst/>
                          </a:prstGeom>
                          <a:solidFill>
                            <a:srgbClr val="BFBFBF"/>
                          </a:solidFill>
                        </p:spPr>
                      </p:pic>
                    </p:oleObj>
                  </mc:Fallback>
                </mc:AlternateContent>
              </a:graphicData>
            </a:graphic>
          </p:graphicFrame>
          <p:sp>
            <p:nvSpPr>
              <p:cNvPr id="7" name="TextBox 6"/>
              <p:cNvSpPr txBox="1"/>
              <p:nvPr/>
            </p:nvSpPr>
            <p:spPr bwMode="auto">
              <a:xfrm>
                <a:off x="5181600" y="4164807"/>
                <a:ext cx="3468328" cy="338554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(for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water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to </a:t>
                </a:r>
                <a:r>
                  <a:rPr lang="en-US" sz="1600" b="1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air</a:t>
                </a:r>
                <a:r>
                  <a:rPr lang="en-US" sz="1600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 this is about 49°) </a:t>
                </a:r>
                <a:endParaRPr lang="en-US" sz="1600" b="1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8" name="Rectangle 7"/>
              <p:cNvSpPr/>
              <p:nvPr/>
            </p:nvSpPr>
            <p:spPr bwMode="auto">
              <a:xfrm>
                <a:off x="582613" y="2249394"/>
                <a:ext cx="4114800" cy="2084690"/>
              </a:xfrm>
              <a:prstGeom prst="rect">
                <a:avLst/>
              </a:prstGeom>
              <a:solidFill>
                <a:schemeClr val="tx2">
                  <a:lumMod val="20000"/>
                  <a:lumOff val="80000"/>
                </a:schemeClr>
              </a:solidFill>
              <a:ln w="12700">
                <a:solidFill>
                  <a:schemeClr val="tx2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 sz="2400" dirty="0"/>
              </a:p>
            </p:txBody>
          </p:sp>
          <p:cxnSp>
            <p:nvCxnSpPr>
              <p:cNvPr id="10" name="Straight Arrow Connector 9"/>
              <p:cNvCxnSpPr/>
              <p:nvPr/>
            </p:nvCxnSpPr>
            <p:spPr>
              <a:xfrm>
                <a:off x="3325813" y="2249394"/>
                <a:ext cx="1527175" cy="0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Arrow Connector 10"/>
              <p:cNvCxnSpPr/>
              <p:nvPr/>
            </p:nvCxnSpPr>
            <p:spPr>
              <a:xfrm flipV="1">
                <a:off x="2311401" y="2255879"/>
                <a:ext cx="1014412" cy="1493703"/>
              </a:xfrm>
              <a:prstGeom prst="straightConnector1">
                <a:avLst/>
              </a:prstGeom>
              <a:ln w="38100">
                <a:solidFill>
                  <a:srgbClr val="0080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4" name="TextBox 13"/>
              <p:cNvSpPr txBox="1"/>
              <p:nvPr/>
            </p:nvSpPr>
            <p:spPr bwMode="auto">
              <a:xfrm>
                <a:off x="2743200" y="2593105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5" name="TextBox 14"/>
              <p:cNvSpPr txBox="1"/>
              <p:nvPr/>
            </p:nvSpPr>
            <p:spPr bwMode="auto">
              <a:xfrm>
                <a:off x="3124200" y="1718034"/>
                <a:ext cx="7620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</a:t>
                </a:r>
                <a:endParaRPr lang="en-US" sz="2400" i="1" dirty="0">
                  <a:latin typeface="+mj-lt"/>
                </a:endParaRPr>
              </a:p>
            </p:txBody>
          </p:sp>
          <p:sp>
            <p:nvSpPr>
              <p:cNvPr id="16" name="TextBox 15"/>
              <p:cNvSpPr txBox="1"/>
              <p:nvPr/>
            </p:nvSpPr>
            <p:spPr bwMode="auto">
              <a:xfrm>
                <a:off x="685800" y="3812305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1: Water</a:t>
                </a:r>
              </a:p>
            </p:txBody>
          </p:sp>
          <p:sp>
            <p:nvSpPr>
              <p:cNvPr id="17" name="TextBox 16"/>
              <p:cNvSpPr txBox="1"/>
              <p:nvPr/>
            </p:nvSpPr>
            <p:spPr bwMode="auto">
              <a:xfrm>
                <a:off x="533400" y="1600200"/>
                <a:ext cx="3124200" cy="461963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Medium 2: Air</a:t>
                </a:r>
              </a:p>
            </p:txBody>
          </p:sp>
          <p:sp>
            <p:nvSpPr>
              <p:cNvPr id="18" name="TextBox 17"/>
              <p:cNvSpPr txBox="1"/>
              <p:nvPr/>
            </p:nvSpPr>
            <p:spPr bwMode="auto">
              <a:xfrm>
                <a:off x="5307012" y="1524000"/>
                <a:ext cx="3227388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1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 err="1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 err="1">
                    <a:latin typeface="Times New Roman" pitchFamily="18" charset="0"/>
                    <a:cs typeface="Times New Roman" pitchFamily="18" charset="0"/>
                  </a:rPr>
                  <a:t>C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   </a:t>
                </a:r>
                <a:r>
                  <a:rPr lang="en-US" sz="2400" dirty="0">
                    <a:solidFill>
                      <a:schemeClr val="bg1">
                        <a:lumMod val="50000"/>
                      </a:schemeClr>
                    </a:solidFill>
                    <a:latin typeface="Times New Roman" pitchFamily="18" charset="0"/>
                    <a:cs typeface="Times New Roman" pitchFamily="18" charset="0"/>
                  </a:rPr>
                  <a:t>(critical angle)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  <p:sp>
            <p:nvSpPr>
              <p:cNvPr id="20" name="TextBox 19"/>
              <p:cNvSpPr txBox="1"/>
              <p:nvPr/>
            </p:nvSpPr>
            <p:spPr bwMode="auto">
              <a:xfrm>
                <a:off x="5287296" y="1983582"/>
                <a:ext cx="1855787" cy="461665"/>
              </a:xfrm>
              <a:prstGeom prst="rect">
                <a:avLst/>
              </a:prstGeom>
              <a:noFill/>
              <a:ln w="9525">
                <a:noFill/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>
                  <a:defRPr/>
                </a:pP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q</a:t>
                </a:r>
                <a:r>
                  <a:rPr lang="en-US" sz="2400" baseline="-25000" dirty="0">
                    <a:latin typeface="Times New Roman" pitchFamily="18" charset="0"/>
                    <a:cs typeface="Times New Roman" pitchFamily="18" charset="0"/>
                  </a:rPr>
                  <a:t>2 </a:t>
                </a:r>
                <a:r>
                  <a:rPr lang="en-US" sz="2400" dirty="0">
                    <a:latin typeface="Times New Roman" pitchFamily="18" charset="0"/>
                    <a:cs typeface="Times New Roman" pitchFamily="18" charset="0"/>
                  </a:rPr>
                  <a:t> = </a:t>
                </a:r>
                <a:r>
                  <a:rPr lang="en-US" sz="2400" i="1" dirty="0">
                    <a:latin typeface="Symbol" pitchFamily="18" charset="2"/>
                    <a:cs typeface="Times New Roman" pitchFamily="18" charset="0"/>
                  </a:rPr>
                  <a:t>90</a:t>
                </a:r>
                <a:r>
                  <a:rPr lang="en-US" sz="2400" dirty="0"/>
                  <a:t> °</a:t>
                </a:r>
                <a:endParaRPr lang="en-US" sz="2400" i="1" dirty="0">
                  <a:latin typeface="+mj-lt"/>
                </a:endParaRPr>
              </a:p>
            </p:txBody>
          </p:sp>
          <p:graphicFrame>
            <p:nvGraphicFramePr>
              <p:cNvPr id="21" name="Object 20"/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1363379651"/>
                  </p:ext>
                </p:extLst>
              </p:nvPr>
            </p:nvGraphicFramePr>
            <p:xfrm>
              <a:off x="5324475" y="2696369"/>
              <a:ext cx="2600325" cy="430213"/>
            </p:xfrm>
            <a:graphic>
              <a:graphicData uri="http://schemas.openxmlformats.org/presentationml/2006/ole">
                <mc:AlternateContent xmlns:mc="http://schemas.openxmlformats.org/markup-compatibility/2006">
                  <mc:Choice xmlns:v="urn:schemas-microsoft-com:vml" Requires="v">
                    <p:oleObj name="Equation" r:id="rId4" imgW="1307532" imgH="215806" progId="Equation.3">
                      <p:embed/>
                    </p:oleObj>
                  </mc:Choice>
                  <mc:Fallback>
                    <p:oleObj name="Equation" r:id="rId4" imgW="1307532" imgH="215806" progId="Equation.3">
                      <p:embed/>
                      <p:pic>
                        <p:nvPicPr>
                          <p:cNvPr id="21" name="Object 20"/>
                          <p:cNvPicPr>
                            <a:picLocks noChangeAspect="1" noChangeArrowheads="1"/>
                          </p:cNvPicPr>
                          <p:nvPr/>
                        </p:nvPicPr>
                        <p:blipFill>
                          <a:blip r:embed="rId5">
                            <a:extLst>
                              <a:ext uri="{28A0092B-C50C-407E-A947-70E740481C1C}">
                                <a14:useLocalDpi xmlns:a14="http://schemas.microsoft.com/office/drawing/2010/main" val="0"/>
                              </a:ext>
                            </a:extLst>
                          </a:blip>
                          <a:srcRect/>
                          <a:stretch>
                            <a:fillRect/>
                          </a:stretch>
                        </p:blipFill>
                        <p:spPr bwMode="auto">
                          <a:xfrm>
                            <a:off x="5324475" y="2696369"/>
                            <a:ext cx="2600325" cy="430213"/>
                          </a:xfrm>
                          <a:prstGeom prst="rect">
                            <a:avLst/>
                          </a:prstGeom>
                          <a:noFill/>
                          <a:ln w="9525">
                            <a:solidFill>
                              <a:schemeClr val="tx2"/>
                            </a:solidFill>
                            <a:miter lim="800000"/>
                            <a:headEnd/>
                            <a:tailEnd/>
                          </a:ln>
                          <a:extLst>
                            <a:ext uri="{909E8E84-426E-40DD-AFC4-6F175D3DCCD1}">
                              <a14:hiddenFill xmlns:a14="http://schemas.microsoft.com/office/drawing/2010/main">
                                <a:solidFill>
                                  <a:srgbClr val="FFFFFF"/>
                                </a:solidFill>
                              </a14:hiddenFill>
                            </a:ext>
                          </a:extLst>
                        </p:spPr>
                      </p:pic>
                    </p:oleObj>
                  </mc:Fallback>
                </mc:AlternateContent>
              </a:graphicData>
            </a:graphic>
          </p:graphicFrame>
          <p:cxnSp>
            <p:nvCxnSpPr>
              <p:cNvPr id="23" name="Straight Connector 22"/>
              <p:cNvCxnSpPr/>
              <p:nvPr/>
            </p:nvCxnSpPr>
            <p:spPr>
              <a:xfrm flipV="1">
                <a:off x="3325813" y="1600200"/>
                <a:ext cx="0" cy="2149383"/>
              </a:xfrm>
              <a:prstGeom prst="line">
                <a:avLst/>
              </a:prstGeom>
              <a:ln w="19050">
                <a:solidFill>
                  <a:schemeClr val="tx1"/>
                </a:solidFill>
                <a:prstDash val="dash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29"/>
              <p:cNvSpPr txBox="1"/>
              <p:nvPr/>
            </p:nvSpPr>
            <p:spPr bwMode="auto">
              <a:xfrm>
                <a:off x="1752601" y="4495800"/>
                <a:ext cx="5390482" cy="738664"/>
              </a:xfrm>
              <a:prstGeom prst="rect">
                <a:avLst/>
              </a:prstGeom>
              <a:noFill/>
              <a:ln w="9525">
                <a:solidFill>
                  <a:schemeClr val="tx2"/>
                </a:solidFill>
                <a:miter lim="800000"/>
                <a:headEnd/>
                <a:tailEnd/>
              </a:ln>
            </p:spPr>
            <p:txBody>
              <a:bodyPr wrap="square">
                <a:spAutoFit/>
              </a:bodyPr>
              <a:lstStyle/>
              <a:p>
                <a:pPr algn="ctr">
                  <a:defRPr/>
                </a:pPr>
                <a:r>
                  <a:rPr lang="en-US" sz="2400" b="1" dirty="0">
                    <a:latin typeface="+mj-lt"/>
                  </a:rPr>
                  <a:t>Note: only possible if n1 &gt; n2 </a:t>
                </a:r>
                <a:r>
                  <a:rPr lang="en-US" dirty="0">
                    <a:solidFill>
                      <a:schemeClr val="bg1">
                        <a:lumMod val="50000"/>
                      </a:schemeClr>
                    </a:solidFill>
                    <a:latin typeface="+mj-lt"/>
                  </a:rPr>
                  <a:t>(because light has to bend away from the normal)</a:t>
                </a:r>
                <a:endParaRPr lang="en-US" sz="2400" dirty="0">
                  <a:solidFill>
                    <a:schemeClr val="bg1">
                      <a:lumMod val="50000"/>
                    </a:schemeClr>
                  </a:solidFill>
                  <a:latin typeface="+mj-lt"/>
                </a:endParaRPr>
              </a:p>
            </p:txBody>
          </p:sp>
        </p:grpSp>
      </p:grpSp>
      <p:cxnSp>
        <p:nvCxnSpPr>
          <p:cNvPr id="31" name="Straight Connector 30"/>
          <p:cNvCxnSpPr/>
          <p:nvPr/>
        </p:nvCxnSpPr>
        <p:spPr>
          <a:xfrm>
            <a:off x="1600200" y="54864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6691219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99018478"/>
              </p:ext>
            </p:extLst>
          </p:nvPr>
        </p:nvGraphicFramePr>
        <p:xfrm>
          <a:off x="8422102" y="5291116"/>
          <a:ext cx="1407698" cy="34768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927000" imgH="228600" progId="Equation.3">
                  <p:embed/>
                </p:oleObj>
              </mc:Choice>
              <mc:Fallback>
                <p:oleObj name="Equation" r:id="rId2" imgW="927000" imgH="228600" progId="Equation.3">
                  <p:embed/>
                  <p:pic>
                    <p:nvPicPr>
                      <p:cNvPr id="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22102" y="5291116"/>
                        <a:ext cx="1407698" cy="347685"/>
                      </a:xfrm>
                      <a:prstGeom prst="rect">
                        <a:avLst/>
                      </a:prstGeom>
                      <a:solidFill>
                        <a:schemeClr val="bg1"/>
                      </a:solidFill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8" name="Group 71688"/>
          <p:cNvGrpSpPr/>
          <p:nvPr/>
        </p:nvGrpSpPr>
        <p:grpSpPr>
          <a:xfrm>
            <a:off x="6019801" y="4177516"/>
            <a:ext cx="2300809" cy="1946908"/>
            <a:chOff x="4876800" y="4177516"/>
            <a:chExt cx="2300809" cy="1946908"/>
          </a:xfrm>
        </p:grpSpPr>
        <p:grpSp>
          <p:nvGrpSpPr>
            <p:cNvPr id="9" name="Group 71686"/>
            <p:cNvGrpSpPr/>
            <p:nvPr/>
          </p:nvGrpSpPr>
          <p:grpSpPr>
            <a:xfrm>
              <a:off x="4876800" y="4177516"/>
              <a:ext cx="2300809" cy="1946908"/>
              <a:chOff x="4876800" y="4177516"/>
              <a:chExt cx="2300809" cy="1946908"/>
            </a:xfrm>
          </p:grpSpPr>
          <p:sp>
            <p:nvSpPr>
              <p:cNvPr id="19" name="Rectangle 18"/>
              <p:cNvSpPr/>
              <p:nvPr/>
            </p:nvSpPr>
            <p:spPr bwMode="auto">
              <a:xfrm rot="19800000">
                <a:off x="4876800" y="4177516"/>
                <a:ext cx="2300809" cy="1127171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21" name="Straight Arrow Connector 20"/>
              <p:cNvCxnSpPr/>
              <p:nvPr/>
            </p:nvCxnSpPr>
            <p:spPr bwMode="auto">
              <a:xfrm>
                <a:off x="5173370" y="5241920"/>
                <a:ext cx="1120515" cy="0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Straight Connector 28"/>
              <p:cNvCxnSpPr/>
              <p:nvPr/>
            </p:nvCxnSpPr>
            <p:spPr bwMode="auto">
              <a:xfrm>
                <a:off x="5312664" y="5804384"/>
                <a:ext cx="1524000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0" name="TextBox 13"/>
              <p:cNvSpPr txBox="1">
                <a:spLocks noChangeArrowheads="1"/>
              </p:cNvSpPr>
              <p:nvPr/>
            </p:nvSpPr>
            <p:spPr bwMode="auto">
              <a:xfrm>
                <a:off x="5470803" y="5334000"/>
                <a:ext cx="609506" cy="46170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 dirty="0">
                    <a:latin typeface="Symbol" pitchFamily="18" charset="2"/>
                  </a:rPr>
                  <a:t>j</a:t>
                </a:r>
              </a:p>
            </p:txBody>
          </p:sp>
          <p:grpSp>
            <p:nvGrpSpPr>
              <p:cNvPr id="10" name="Group 71685"/>
              <p:cNvGrpSpPr/>
              <p:nvPr/>
            </p:nvGrpSpPr>
            <p:grpSpPr>
              <a:xfrm>
                <a:off x="4992624" y="5484344"/>
                <a:ext cx="676656" cy="640080"/>
                <a:chOff x="4992624" y="5484344"/>
                <a:chExt cx="676656" cy="640080"/>
              </a:xfrm>
            </p:grpSpPr>
            <p:sp>
              <p:nvSpPr>
                <p:cNvPr id="26" name="Arc 25"/>
                <p:cNvSpPr>
                  <a:spLocks noChangeAspect="1"/>
                </p:cNvSpPr>
                <p:nvPr/>
              </p:nvSpPr>
              <p:spPr>
                <a:xfrm>
                  <a:off x="4992624" y="5484344"/>
                  <a:ext cx="640080" cy="640080"/>
                </a:xfrm>
                <a:prstGeom prst="arc">
                  <a:avLst>
                    <a:gd name="adj1" fmla="val 19787671"/>
                    <a:gd name="adj2" fmla="val 0"/>
                  </a:avLst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cxnSp>
              <p:nvCxnSpPr>
                <p:cNvPr id="40" name="Straight Connector 39"/>
                <p:cNvCxnSpPr>
                  <a:cxnSpLocks noChangeAspect="1"/>
                </p:cNvCxnSpPr>
                <p:nvPr/>
              </p:nvCxnSpPr>
              <p:spPr>
                <a:xfrm flipV="1">
                  <a:off x="5562295" y="5712944"/>
                  <a:ext cx="106985" cy="27432"/>
                </a:xfrm>
                <a:prstGeom prst="line">
                  <a:avLst/>
                </a:prstGeom>
                <a:ln>
                  <a:solidFill>
                    <a:schemeClr val="tx1"/>
                  </a:solidFill>
                  <a:tailEnd type="non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  <p:cxnSp>
          <p:nvCxnSpPr>
            <p:cNvPr id="7" name="Straight Connector 6"/>
            <p:cNvCxnSpPr/>
            <p:nvPr/>
          </p:nvCxnSpPr>
          <p:spPr>
            <a:xfrm>
              <a:off x="5836685" y="4446392"/>
              <a:ext cx="567051" cy="986668"/>
            </a:xfrm>
            <a:prstGeom prst="line">
              <a:avLst/>
            </a:prstGeom>
            <a:ln>
              <a:solidFill>
                <a:schemeClr val="tx1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82" name="Title 1"/>
          <p:cNvSpPr>
            <a:spLocks noGrp="1"/>
          </p:cNvSpPr>
          <p:nvPr>
            <p:ph type="title"/>
          </p:nvPr>
        </p:nvSpPr>
        <p:spPr>
          <a:xfrm>
            <a:off x="1703696" y="41998"/>
            <a:ext cx="3891048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Fiber Optics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89230" y="1000796"/>
            <a:ext cx="517398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just">
              <a:defRPr/>
            </a:pPr>
            <a:r>
              <a:rPr lang="en-US" sz="2000" dirty="0">
                <a:latin typeface="+mj-lt"/>
              </a:rPr>
              <a:t>Fiber optics cables take advantage of total internal reflection to send a light beam along a (curved) “wire” made of glass fiber</a:t>
            </a:r>
          </a:p>
        </p:txBody>
      </p:sp>
      <p:sp>
        <p:nvSpPr>
          <p:cNvPr id="18" name="TextBox 17"/>
          <p:cNvSpPr txBox="1"/>
          <p:nvPr/>
        </p:nvSpPr>
        <p:spPr bwMode="auto">
          <a:xfrm>
            <a:off x="4953000" y="5943601"/>
            <a:ext cx="4038600" cy="830997"/>
          </a:xfrm>
          <a:prstGeom prst="rect">
            <a:avLst/>
          </a:prstGeom>
          <a:noFill/>
          <a:ln w="9525">
            <a:solidFill>
              <a:schemeClr val="tx2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The angle we want, </a:t>
            </a:r>
            <a:r>
              <a:rPr lang="en-US" sz="2400" i="1" dirty="0">
                <a:latin typeface="Symbol" pitchFamily="18" charset="2"/>
              </a:rPr>
              <a:t>j</a:t>
            </a:r>
            <a:r>
              <a:rPr lang="en-US" sz="2400" dirty="0">
                <a:latin typeface="+mj-lt"/>
              </a:rPr>
              <a:t>, is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complement </a:t>
            </a:r>
            <a:r>
              <a:rPr lang="en-US" sz="2400" dirty="0">
                <a:latin typeface="+mj-lt"/>
              </a:rPr>
              <a:t>of </a:t>
            </a:r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+mj-lt"/>
              </a:rPr>
              <a:t>1</a:t>
            </a:r>
          </a:p>
        </p:txBody>
      </p:sp>
      <p:graphicFrame>
        <p:nvGraphicFramePr>
          <p:cNvPr id="2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72861651"/>
              </p:ext>
            </p:extLst>
          </p:nvPr>
        </p:nvGraphicFramePr>
        <p:xfrm>
          <a:off x="8806193" y="6334254"/>
          <a:ext cx="146526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736280" imgH="215806" progId="Equation.3">
                  <p:embed/>
                </p:oleObj>
              </mc:Choice>
              <mc:Fallback>
                <p:oleObj name="Equation" r:id="rId4" imgW="736280" imgH="215806" progId="Equation.3">
                  <p:embed/>
                  <p:pic>
                    <p:nvPicPr>
                      <p:cNvPr id="22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06193" y="6334254"/>
                        <a:ext cx="1465263" cy="430213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  <a:ln w="9525">
                        <a:solidFill>
                          <a:schemeClr val="tx2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23" name="Straight Arrow Connector 22"/>
          <p:cNvCxnSpPr/>
          <p:nvPr/>
        </p:nvCxnSpPr>
        <p:spPr bwMode="auto">
          <a:xfrm flipV="1">
            <a:off x="7436885" y="4784720"/>
            <a:ext cx="795528" cy="457200"/>
          </a:xfrm>
          <a:prstGeom prst="straightConnector1">
            <a:avLst/>
          </a:prstGeom>
          <a:ln w="2540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TextBox 13"/>
          <p:cNvSpPr txBox="1">
            <a:spLocks noChangeArrowheads="1"/>
          </p:cNvSpPr>
          <p:nvPr/>
        </p:nvSpPr>
        <p:spPr bwMode="auto">
          <a:xfrm>
            <a:off x="6693091" y="4775392"/>
            <a:ext cx="609506" cy="46170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/>
            <a:r>
              <a:rPr lang="en-US" sz="2400" i="1" dirty="0">
                <a:latin typeface="Symbol" pitchFamily="18" charset="2"/>
              </a:rPr>
              <a:t>q</a:t>
            </a:r>
            <a:r>
              <a:rPr lang="en-US" sz="24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endParaRPr lang="en-US" sz="2400" baseline="-25000" dirty="0">
              <a:latin typeface="Symbol" pitchFamily="18" charset="2"/>
            </a:endParaRPr>
          </a:p>
        </p:txBody>
      </p:sp>
      <p:grpSp>
        <p:nvGrpSpPr>
          <p:cNvPr id="20" name="Group 19"/>
          <p:cNvGrpSpPr/>
          <p:nvPr/>
        </p:nvGrpSpPr>
        <p:grpSpPr>
          <a:xfrm>
            <a:off x="1638301" y="2260938"/>
            <a:ext cx="8936340" cy="4402455"/>
            <a:chOff x="114301" y="2260937"/>
            <a:chExt cx="8936340" cy="4402455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28600" y="3678019"/>
              <a:ext cx="4191476" cy="841596"/>
              <a:chOff x="381000" y="4344539"/>
              <a:chExt cx="4192121" cy="841526"/>
            </a:xfrm>
          </p:grpSpPr>
          <p:sp>
            <p:nvSpPr>
              <p:cNvPr id="16" name="Rectangle 15"/>
              <p:cNvSpPr/>
              <p:nvPr/>
            </p:nvSpPr>
            <p:spPr>
              <a:xfrm>
                <a:off x="381000" y="4876528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cxnSp>
            <p:nvCxnSpPr>
              <p:cNvPr id="11" name="Straight Arrow Connector 10"/>
              <p:cNvCxnSpPr/>
              <p:nvPr/>
            </p:nvCxnSpPr>
            <p:spPr>
              <a:xfrm>
                <a:off x="609635" y="5028915"/>
                <a:ext cx="914541" cy="1588"/>
              </a:xfrm>
              <a:prstGeom prst="straightConnector1">
                <a:avLst/>
              </a:prstGeom>
              <a:ln w="25400">
                <a:solidFill>
                  <a:schemeClr val="tx1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Straight Connector 12"/>
              <p:cNvCxnSpPr/>
              <p:nvPr/>
            </p:nvCxnSpPr>
            <p:spPr>
              <a:xfrm>
                <a:off x="2591140" y="5181302"/>
                <a:ext cx="1524235" cy="0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1693" name="TextBox 13"/>
              <p:cNvSpPr txBox="1">
                <a:spLocks noChangeArrowheads="1"/>
              </p:cNvSpPr>
              <p:nvPr/>
            </p:nvSpPr>
            <p:spPr bwMode="auto">
              <a:xfrm>
                <a:off x="2819400" y="4724400"/>
                <a:ext cx="609600" cy="4616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1pPr>
                <a:lvl2pPr marL="742950" indent="-28575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2pPr>
                <a:lvl3pPr marL="11430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3pPr>
                <a:lvl4pPr marL="16002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4pPr>
                <a:lvl5pPr marL="2057400" indent="-228600" eaLnBrk="0" hangingPunct="0"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charset="0"/>
                    <a:cs typeface="Arial" charset="0"/>
                  </a:defRPr>
                </a:lvl9pPr>
              </a:lstStyle>
              <a:p>
                <a:pPr algn="ctr" eaLnBrk="1" hangingPunct="1"/>
                <a:r>
                  <a:rPr lang="en-US" sz="2400" i="1">
                    <a:latin typeface="Symbol" pitchFamily="18" charset="2"/>
                  </a:rPr>
                  <a:t>j</a:t>
                </a:r>
              </a:p>
            </p:txBody>
          </p:sp>
          <p:sp>
            <p:nvSpPr>
              <p:cNvPr id="17" name="Rectangle 16"/>
              <p:cNvSpPr/>
              <p:nvPr/>
            </p:nvSpPr>
            <p:spPr>
              <a:xfrm rot="19800000">
                <a:off x="2362981" y="4344539"/>
                <a:ext cx="2210140" cy="304775"/>
              </a:xfrm>
              <a:prstGeom prst="rect">
                <a:avLst/>
              </a:prstGeom>
              <a:solidFill>
                <a:srgbClr val="92D05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5" name="TextBox 4"/>
            <p:cNvSpPr txBox="1"/>
            <p:nvPr/>
          </p:nvSpPr>
          <p:spPr bwMode="auto">
            <a:xfrm>
              <a:off x="304800" y="2260937"/>
              <a:ext cx="8745841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just">
                <a:defRPr/>
              </a:pPr>
              <a:r>
                <a:rPr lang="en-US" sz="2000" dirty="0">
                  <a:latin typeface="+mj-lt"/>
                </a:rPr>
                <a:t>Consider two straight lengths of glass (</a:t>
              </a:r>
              <a:r>
                <a:rPr lang="en-US" sz="2000" i="1" dirty="0">
                  <a:solidFill>
                    <a:schemeClr val="tx2"/>
                  </a:solidFill>
                  <a:latin typeface="Times New Roman" pitchFamily="18" charset="0"/>
                  <a:cs typeface="Times New Roman" pitchFamily="18" charset="0"/>
                </a:rPr>
                <a:t>n</a:t>
              </a:r>
              <a:r>
                <a:rPr lang="en-US" sz="2000" dirty="0">
                  <a:solidFill>
                    <a:schemeClr val="tx2"/>
                  </a:solidFill>
                  <a:latin typeface="+mj-lt"/>
                </a:rPr>
                <a:t> = 1.50</a:t>
              </a:r>
              <a:r>
                <a:rPr lang="en-US" sz="2000" dirty="0">
                  <a:latin typeface="+mj-lt"/>
                </a:rPr>
                <a:t>) with a beam of light traveling down one.  What is the biggest angle </a:t>
              </a:r>
              <a:r>
                <a:rPr lang="en-US" sz="2000" i="1" dirty="0">
                  <a:latin typeface="Symbol" pitchFamily="18" charset="2"/>
                </a:rPr>
                <a:t>j</a:t>
              </a:r>
              <a:r>
                <a:rPr lang="en-US" sz="2000" dirty="0">
                  <a:latin typeface="+mj-lt"/>
                </a:rPr>
                <a:t> can be for the light to not reach the air surrounding the glass?</a:t>
              </a:r>
            </a:p>
          </p:txBody>
        </p:sp>
        <p:sp>
          <p:nvSpPr>
            <p:cNvPr id="15" name="TextBox 14"/>
            <p:cNvSpPr txBox="1"/>
            <p:nvPr/>
          </p:nvSpPr>
          <p:spPr bwMode="auto">
            <a:xfrm>
              <a:off x="114301" y="4724400"/>
              <a:ext cx="1899908" cy="193899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457200" indent="-457200">
                <a:buFontTx/>
                <a:buAutoNum type="alphaUcPeriod"/>
              </a:pPr>
              <a:r>
                <a:rPr lang="en-US" sz="2400" dirty="0"/>
                <a:t>90°</a:t>
              </a:r>
            </a:p>
            <a:p>
              <a:pPr marL="457200" indent="-457200">
                <a:buFontTx/>
                <a:buAutoNum type="alphaUcPeriod"/>
              </a:pPr>
              <a:r>
                <a:rPr lang="en-US" sz="2400" dirty="0"/>
                <a:t>27.5°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41.8°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48.2°</a:t>
              </a:r>
            </a:p>
            <a:p>
              <a:pPr marL="457200" indent="-457200">
                <a:buAutoNum type="alphaUcPeriod"/>
              </a:pPr>
              <a:r>
                <a:rPr lang="en-US" sz="2400" dirty="0">
                  <a:latin typeface="+mj-lt"/>
                </a:rPr>
                <a:t>62.5°</a:t>
              </a:r>
            </a:p>
          </p:txBody>
        </p:sp>
      </p:grpSp>
      <p:sp>
        <p:nvSpPr>
          <p:cNvPr id="25" name="TextBox 24"/>
          <p:cNvSpPr txBox="1"/>
          <p:nvPr/>
        </p:nvSpPr>
        <p:spPr bwMode="auto">
          <a:xfrm>
            <a:off x="6350217" y="3319225"/>
            <a:ext cx="3730864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i="1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zoom in on tilted surface:</a:t>
            </a:r>
          </a:p>
        </p:txBody>
      </p:sp>
      <p:grpSp>
        <p:nvGrpSpPr>
          <p:cNvPr id="14" name="Group 41"/>
          <p:cNvGrpSpPr/>
          <p:nvPr/>
        </p:nvGrpSpPr>
        <p:grpSpPr>
          <a:xfrm flipH="1" flipV="1">
            <a:off x="7116845" y="4921880"/>
            <a:ext cx="676656" cy="640080"/>
            <a:chOff x="4992624" y="5484344"/>
            <a:chExt cx="676656" cy="640080"/>
          </a:xfrm>
        </p:grpSpPr>
        <p:sp>
          <p:nvSpPr>
            <p:cNvPr id="43" name="Arc 42"/>
            <p:cNvSpPr>
              <a:spLocks noChangeAspect="1"/>
            </p:cNvSpPr>
            <p:nvPr/>
          </p:nvSpPr>
          <p:spPr>
            <a:xfrm>
              <a:off x="4992624" y="5484344"/>
              <a:ext cx="640080" cy="640080"/>
            </a:xfrm>
            <a:prstGeom prst="arc">
              <a:avLst>
                <a:gd name="adj1" fmla="val 20073930"/>
                <a:gd name="adj2" fmla="val 0"/>
              </a:avLst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cxnSp>
          <p:nvCxnSpPr>
            <p:cNvPr id="44" name="Straight Connector 43"/>
            <p:cNvCxnSpPr>
              <a:cxnSpLocks noChangeAspect="1"/>
            </p:cNvCxnSpPr>
            <p:nvPr/>
          </p:nvCxnSpPr>
          <p:spPr>
            <a:xfrm flipV="1">
              <a:off x="5562295" y="5712944"/>
              <a:ext cx="106985" cy="27432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1690" name="Rounded Rectangle 71689"/>
          <p:cNvSpPr/>
          <p:nvPr/>
        </p:nvSpPr>
        <p:spPr>
          <a:xfrm>
            <a:off x="1638302" y="5867400"/>
            <a:ext cx="1333499" cy="3810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26</a:t>
            </a:fld>
            <a:endParaRPr lang="en-US"/>
          </a:p>
        </p:txBody>
      </p:sp>
      <p:graphicFrame>
        <p:nvGraphicFramePr>
          <p:cNvPr id="6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695812748"/>
              </p:ext>
            </p:extLst>
          </p:nvPr>
        </p:nvGraphicFramePr>
        <p:xfrm>
          <a:off x="8448676" y="4514850"/>
          <a:ext cx="2143125" cy="7429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396800" imgH="482400" progId="Equation.3">
                  <p:embed/>
                </p:oleObj>
              </mc:Choice>
              <mc:Fallback>
                <p:oleObj name="Equation" r:id="rId6" imgW="1396800" imgH="482400" progId="Equation.3">
                  <p:embed/>
                  <p:pic>
                    <p:nvPicPr>
                      <p:cNvPr id="6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8676" y="4514850"/>
                        <a:ext cx="2143125" cy="7429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TextBox 33"/>
          <p:cNvSpPr txBox="1"/>
          <p:nvPr/>
        </p:nvSpPr>
        <p:spPr bwMode="auto">
          <a:xfrm>
            <a:off x="8448277" y="4038600"/>
            <a:ext cx="176252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dirty="0">
                <a:latin typeface="+mj-lt"/>
              </a:rPr>
              <a:t> = 1, </a:t>
            </a:r>
            <a:r>
              <a:rPr lang="en-US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dirty="0"/>
              <a:t> = 1.5</a:t>
            </a:r>
            <a:endParaRPr lang="en-US" i="1" dirty="0">
              <a:latin typeface="+mj-lt"/>
            </a:endParaRPr>
          </a:p>
        </p:txBody>
      </p:sp>
      <p:pic>
        <p:nvPicPr>
          <p:cNvPr id="5165" name="Picture 45" descr="See the source image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1" t="19792" r="3158" b="22917"/>
          <a:stretch/>
        </p:blipFill>
        <p:spPr bwMode="auto">
          <a:xfrm>
            <a:off x="7470776" y="697838"/>
            <a:ext cx="2892425" cy="12833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7" name="Straight Connector 36"/>
          <p:cNvCxnSpPr/>
          <p:nvPr/>
        </p:nvCxnSpPr>
        <p:spPr>
          <a:xfrm>
            <a:off x="1638301" y="2209800"/>
            <a:ext cx="8915400" cy="0"/>
          </a:xfrm>
          <a:prstGeom prst="line">
            <a:avLst/>
          </a:prstGeom>
          <a:ln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24" grpId="0"/>
      <p:bldP spid="25" grpId="0"/>
      <p:bldP spid="71690" grpId="0" animBg="1"/>
      <p:bldP spid="34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Images formed by Refraction</a:t>
            </a:r>
          </a:p>
        </p:txBody>
      </p:sp>
      <p:sp>
        <p:nvSpPr>
          <p:cNvPr id="72707" name="Content Placeholder 7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>
              <a:spcAft>
                <a:spcPts val="1200"/>
              </a:spcAft>
            </a:pPr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flat surface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Image is closer to (object in higher index material) or farther from surface (object in lower index material)</a:t>
            </a:r>
          </a:p>
          <a:p>
            <a:pPr lvl="1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Images and Refraction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524001"/>
            <a:ext cx="8382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Ray diagrams can be used to find images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905000" y="2025651"/>
            <a:ext cx="83820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Why does depth appears different when looked at from outside of water?</a:t>
            </a:r>
          </a:p>
        </p:txBody>
      </p:sp>
      <p:sp>
        <p:nvSpPr>
          <p:cNvPr id="6" name="Rectangle 5"/>
          <p:cNvSpPr/>
          <p:nvPr/>
        </p:nvSpPr>
        <p:spPr>
          <a:xfrm>
            <a:off x="3314700" y="4648200"/>
            <a:ext cx="5143500" cy="220980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TextBox 6"/>
          <p:cNvSpPr txBox="1"/>
          <p:nvPr/>
        </p:nvSpPr>
        <p:spPr bwMode="auto">
          <a:xfrm>
            <a:off x="2133600" y="4648200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Water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209800" y="4186238"/>
            <a:ext cx="14478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+mj-lt"/>
              </a:rPr>
              <a:t>Air</a:t>
            </a:r>
          </a:p>
        </p:txBody>
      </p:sp>
      <p:grpSp>
        <p:nvGrpSpPr>
          <p:cNvPr id="3" name="Group 15"/>
          <p:cNvGrpSpPr>
            <a:grpSpLocks noChangeAspect="1"/>
          </p:cNvGrpSpPr>
          <p:nvPr/>
        </p:nvGrpSpPr>
        <p:grpSpPr bwMode="auto">
          <a:xfrm>
            <a:off x="5181600" y="6057900"/>
            <a:ext cx="1568450" cy="800100"/>
            <a:chOff x="2784988" y="5257800"/>
            <a:chExt cx="2091812" cy="1066800"/>
          </a:xfrm>
        </p:grpSpPr>
        <p:grpSp>
          <p:nvGrpSpPr>
            <p:cNvPr id="13" name="Group 12"/>
            <p:cNvGrpSpPr>
              <a:grpSpLocks/>
            </p:cNvGrpSpPr>
            <p:nvPr/>
          </p:nvGrpSpPr>
          <p:grpSpPr bwMode="auto">
            <a:xfrm>
              <a:off x="2784988" y="5444612"/>
              <a:ext cx="2091812" cy="727588"/>
              <a:chOff x="2784988" y="5444612"/>
              <a:chExt cx="2091812" cy="727588"/>
            </a:xfrm>
          </p:grpSpPr>
          <p:sp>
            <p:nvSpPr>
              <p:cNvPr id="10" name="Isosceles Triangle 9"/>
              <p:cNvSpPr/>
              <p:nvPr/>
            </p:nvSpPr>
            <p:spPr>
              <a:xfrm rot="16200000">
                <a:off x="4229011" y="5524411"/>
                <a:ext cx="609600" cy="685979"/>
              </a:xfrm>
              <a:prstGeom prst="triangl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9" name="Oval 8"/>
              <p:cNvSpPr/>
              <p:nvPr/>
            </p:nvSpPr>
            <p:spPr>
              <a:xfrm>
                <a:off x="2971303" y="5562600"/>
                <a:ext cx="1676837" cy="609600"/>
              </a:xfrm>
              <a:prstGeom prst="ellipse">
                <a:avLst/>
              </a:prstGeom>
              <a:solidFill>
                <a:srgbClr val="A67A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1" name="Arc 10"/>
              <p:cNvSpPr/>
              <p:nvPr/>
            </p:nvSpPr>
            <p:spPr>
              <a:xfrm rot="5911112">
                <a:off x="2785067" y="5443987"/>
                <a:ext cx="609600" cy="609759"/>
              </a:xfrm>
              <a:prstGeom prst="arc">
                <a:avLst>
                  <a:gd name="adj1" fmla="val 18580867"/>
                  <a:gd name="adj2" fmla="val 20191848"/>
                </a:avLst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2" name="Oval 11"/>
              <p:cNvSpPr/>
              <p:nvPr/>
            </p:nvSpPr>
            <p:spPr>
              <a:xfrm>
                <a:off x="3123743" y="5791200"/>
                <a:ext cx="91041" cy="76200"/>
              </a:xfrm>
              <a:prstGeom prst="ellipse">
                <a:avLst/>
              </a:prstGeom>
              <a:solidFill>
                <a:schemeClr val="tx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sp>
          <p:nvSpPr>
            <p:cNvPr id="14" name="Parallelogram 13"/>
            <p:cNvSpPr/>
            <p:nvPr/>
          </p:nvSpPr>
          <p:spPr>
            <a:xfrm flipV="1">
              <a:off x="3428622" y="6019800"/>
              <a:ext cx="457319" cy="304800"/>
            </a:xfrm>
            <a:prstGeom prst="parallelogram">
              <a:avLst>
                <a:gd name="adj" fmla="val 72561"/>
              </a:avLst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5" name="Right Triangle 14"/>
            <p:cNvSpPr/>
            <p:nvPr/>
          </p:nvSpPr>
          <p:spPr>
            <a:xfrm flipH="1">
              <a:off x="3581062" y="5257800"/>
              <a:ext cx="457319" cy="304800"/>
            </a:xfrm>
            <a:prstGeom prst="rtTriangle">
              <a:avLst/>
            </a:prstGeom>
            <a:solidFill>
              <a:srgbClr val="A67A0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7" name="TextBox 16"/>
          <p:cNvSpPr txBox="1"/>
          <p:nvPr/>
        </p:nvSpPr>
        <p:spPr bwMode="auto">
          <a:xfrm>
            <a:off x="7010400" y="6096001"/>
            <a:ext cx="990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Fish</a:t>
            </a:r>
          </a:p>
        </p:txBody>
      </p:sp>
      <p:cxnSp>
        <p:nvCxnSpPr>
          <p:cNvPr id="19" name="Straight Connector 18"/>
          <p:cNvCxnSpPr/>
          <p:nvPr/>
        </p:nvCxnSpPr>
        <p:spPr>
          <a:xfrm rot="5400000" flipH="1" flipV="1">
            <a:off x="5471319" y="5126832"/>
            <a:ext cx="1636713" cy="67945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/>
          <p:cNvCxnSpPr/>
          <p:nvPr/>
        </p:nvCxnSpPr>
        <p:spPr>
          <a:xfrm flipV="1">
            <a:off x="6629400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 rot="16200000" flipV="1">
            <a:off x="4792663" y="5127626"/>
            <a:ext cx="1636713" cy="677862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 flipH="1" flipV="1">
            <a:off x="4052888" y="4114800"/>
            <a:ext cx="1219200" cy="533400"/>
          </a:xfrm>
          <a:prstGeom prst="line">
            <a:avLst/>
          </a:prstGeom>
          <a:ln w="254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63"/>
          <p:cNvGrpSpPr>
            <a:grpSpLocks/>
          </p:cNvGrpSpPr>
          <p:nvPr/>
        </p:nvGrpSpPr>
        <p:grpSpPr bwMode="auto">
          <a:xfrm>
            <a:off x="5181600" y="4800601"/>
            <a:ext cx="3505200" cy="538163"/>
            <a:chOff x="3657600" y="4800600"/>
            <a:chExt cx="3505200" cy="537865"/>
          </a:xfrm>
        </p:grpSpPr>
        <p:grpSp>
          <p:nvGrpSpPr>
            <p:cNvPr id="18" name="Group 51"/>
            <p:cNvGrpSpPr>
              <a:grpSpLocks/>
            </p:cNvGrpSpPr>
            <p:nvPr/>
          </p:nvGrpSpPr>
          <p:grpSpPr bwMode="auto">
            <a:xfrm>
              <a:off x="3657600" y="4800600"/>
              <a:ext cx="1568859" cy="533400"/>
              <a:chOff x="3657600" y="4715637"/>
              <a:chExt cx="1568859" cy="800100"/>
            </a:xfrm>
          </p:grpSpPr>
          <p:grpSp>
            <p:nvGrpSpPr>
              <p:cNvPr id="20" name="Group 44"/>
              <p:cNvGrpSpPr>
                <a:grpSpLocks/>
              </p:cNvGrpSpPr>
              <p:nvPr/>
            </p:nvGrpSpPr>
            <p:grpSpPr bwMode="auto">
              <a:xfrm>
                <a:off x="3657600" y="4715637"/>
                <a:ext cx="1568859" cy="800100"/>
                <a:chOff x="3657600" y="4715637"/>
                <a:chExt cx="1568859" cy="800100"/>
              </a:xfrm>
            </p:grpSpPr>
            <p:grpSp>
              <p:nvGrpSpPr>
                <p:cNvPr id="21" name="Group 31"/>
                <p:cNvGrpSpPr>
                  <a:grpSpLocks noChangeAspect="1"/>
                </p:cNvGrpSpPr>
                <p:nvPr/>
              </p:nvGrpSpPr>
              <p:grpSpPr bwMode="auto">
                <a:xfrm>
                  <a:off x="3657600" y="4715637"/>
                  <a:ext cx="1568859" cy="800100"/>
                  <a:chOff x="2784988" y="5257800"/>
                  <a:chExt cx="2091812" cy="1066800"/>
                </a:xfrm>
              </p:grpSpPr>
              <p:grpSp>
                <p:nvGrpSpPr>
                  <p:cNvPr id="22" name="Group 12"/>
                  <p:cNvGrpSpPr>
                    <a:grpSpLocks/>
                  </p:cNvGrpSpPr>
                  <p:nvPr/>
                </p:nvGrpSpPr>
                <p:grpSpPr bwMode="auto">
                  <a:xfrm>
                    <a:off x="2784988" y="5444612"/>
                    <a:ext cx="2091812" cy="727588"/>
                    <a:chOff x="2784988" y="5444612"/>
                    <a:chExt cx="2091812" cy="727588"/>
                  </a:xfrm>
                </p:grpSpPr>
                <p:sp>
                  <p:nvSpPr>
                    <p:cNvPr id="36" name="Isosceles Triangle 35"/>
                    <p:cNvSpPr/>
                    <p:nvPr/>
                  </p:nvSpPr>
                  <p:spPr>
                    <a:xfrm rot="16200000">
                      <a:off x="4228724" y="5524161"/>
                      <a:ext cx="609262" cy="685800"/>
                    </a:xfrm>
                    <a:prstGeom prst="triangl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7" name="Oval 36"/>
                    <p:cNvSpPr/>
                    <p:nvPr/>
                  </p:nvSpPr>
                  <p:spPr>
                    <a:xfrm>
                      <a:off x="2971255" y="5562431"/>
                      <a:ext cx="1676400" cy="609262"/>
                    </a:xfrm>
                    <a:prstGeom prst="ellipse">
                      <a:avLst/>
                    </a:prstGeom>
                    <a:solidFill>
                      <a:srgbClr val="A67A00">
                        <a:alpha val="90000"/>
                      </a:srgbClr>
                    </a:solidFill>
                    <a:ln>
                      <a:solidFill>
                        <a:schemeClr val="tx1"/>
                      </a:solidFill>
                      <a:prstDash val="sysDot"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8" name="Arc 37"/>
                    <p:cNvSpPr/>
                    <p:nvPr/>
                  </p:nvSpPr>
                  <p:spPr>
                    <a:xfrm rot="5911112">
                      <a:off x="2785157" y="5444853"/>
                      <a:ext cx="609262" cy="609600"/>
                    </a:xfrm>
                    <a:prstGeom prst="arc">
                      <a:avLst>
                        <a:gd name="adj1" fmla="val 18580867"/>
                        <a:gd name="adj2" fmla="val 20191848"/>
                      </a:avLst>
                    </a:prstGeom>
                    <a:ln>
                      <a:solidFill>
                        <a:schemeClr val="tx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  <p:sp>
                  <p:nvSpPr>
                    <p:cNvPr id="39" name="Oval 38"/>
                    <p:cNvSpPr/>
                    <p:nvPr/>
                  </p:nvSpPr>
                  <p:spPr>
                    <a:xfrm>
                      <a:off x="3123655" y="5790904"/>
                      <a:ext cx="91017" cy="76158"/>
                    </a:xfrm>
                    <a:prstGeom prst="ellipse">
                      <a:avLst/>
                    </a:prstGeom>
                    <a:solidFill>
                      <a:schemeClr val="tx1"/>
                    </a:solidFill>
                    <a:ln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anchor="ctr"/>
                    <a:lstStyle/>
                    <a:p>
                      <a:pPr algn="ctr">
                        <a:defRPr/>
                      </a:pPr>
                      <a:endParaRPr lang="en-US"/>
                    </a:p>
                  </p:txBody>
                </p:sp>
              </p:grpSp>
              <p:sp>
                <p:nvSpPr>
                  <p:cNvPr id="34" name="Parallelogram 33"/>
                  <p:cNvSpPr/>
                  <p:nvPr/>
                </p:nvSpPr>
                <p:spPr>
                  <a:xfrm flipV="1">
                    <a:off x="3428455" y="6019377"/>
                    <a:ext cx="457200" cy="304631"/>
                  </a:xfrm>
                  <a:prstGeom prst="parallelogram">
                    <a:avLst>
                      <a:gd name="adj" fmla="val 72561"/>
                    </a:avLst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  <p:sp>
                <p:nvSpPr>
                  <p:cNvPr id="35" name="Right Triangle 34"/>
                  <p:cNvSpPr/>
                  <p:nvPr/>
                </p:nvSpPr>
                <p:spPr>
                  <a:xfrm flipH="1">
                    <a:off x="3580855" y="5257800"/>
                    <a:ext cx="457200" cy="304631"/>
                  </a:xfrm>
                  <a:prstGeom prst="rtTriangle">
                    <a:avLst/>
                  </a:prstGeom>
                  <a:solidFill>
                    <a:srgbClr val="A67A00">
                      <a:alpha val="90000"/>
                    </a:srgbClr>
                  </a:solidFill>
                  <a:ln>
                    <a:solidFill>
                      <a:schemeClr val="tx1"/>
                    </a:solidFill>
                    <a:prstDash val="sysDot"/>
                  </a:ln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anchor="ctr"/>
                  <a:lstStyle/>
                  <a:p>
                    <a:pPr algn="ctr">
                      <a:defRPr/>
                    </a:pPr>
                    <a:endParaRPr lang="en-US"/>
                  </a:p>
                </p:txBody>
              </p:sp>
            </p:grpSp>
            <p:cxnSp>
              <p:nvCxnSpPr>
                <p:cNvPr id="43" name="Straight Connector 42"/>
                <p:cNvCxnSpPr>
                  <a:cxnSpLocks noChangeAspect="1"/>
                </p:cNvCxnSpPr>
                <p:nvPr/>
              </p:nvCxnSpPr>
              <p:spPr>
                <a:xfrm flipV="1">
                  <a:off x="4711700" y="5058347"/>
                  <a:ext cx="255588" cy="114237"/>
                </a:xfrm>
                <a:prstGeom prst="line">
                  <a:avLst/>
                </a:prstGeom>
                <a:ln w="25400">
                  <a:solidFill>
                    <a:srgbClr val="A67A00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51" name="Straight Connector 50"/>
              <p:cNvCxnSpPr>
                <a:cxnSpLocks noChangeAspect="1"/>
              </p:cNvCxnSpPr>
              <p:nvPr/>
            </p:nvCxnSpPr>
            <p:spPr>
              <a:xfrm>
                <a:off x="4711700" y="5172583"/>
                <a:ext cx="255588" cy="114237"/>
              </a:xfrm>
              <a:prstGeom prst="line">
                <a:avLst/>
              </a:prstGeom>
              <a:ln w="25400">
                <a:solidFill>
                  <a:srgbClr val="A67A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59" name="TextBox 58"/>
            <p:cNvSpPr txBox="1"/>
            <p:nvPr/>
          </p:nvSpPr>
          <p:spPr bwMode="auto">
            <a:xfrm>
              <a:off x="5257800" y="4876758"/>
              <a:ext cx="1905000" cy="46170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dirty="0">
                  <a:latin typeface="+mj-lt"/>
                </a:rPr>
                <a:t>Fish Image</a:t>
              </a:r>
            </a:p>
          </p:txBody>
        </p:sp>
      </p:grpSp>
      <p:sp>
        <p:nvSpPr>
          <p:cNvPr id="60" name="TextBox 59"/>
          <p:cNvSpPr txBox="1"/>
          <p:nvPr/>
        </p:nvSpPr>
        <p:spPr bwMode="auto">
          <a:xfrm>
            <a:off x="1600200" y="2895601"/>
            <a:ext cx="8991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Image is formed at the point refracted rays seem to diverge from</a:t>
            </a:r>
          </a:p>
        </p:txBody>
      </p:sp>
      <p:cxnSp>
        <p:nvCxnSpPr>
          <p:cNvPr id="30" name="Straight Connector 29"/>
          <p:cNvCxnSpPr>
            <a:cxnSpLocks noChangeAspect="1"/>
          </p:cNvCxnSpPr>
          <p:nvPr/>
        </p:nvCxnSpPr>
        <p:spPr>
          <a:xfrm flipV="1">
            <a:off x="5949951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/>
          <p:cNvCxnSpPr>
            <a:cxnSpLocks noChangeAspect="1"/>
          </p:cNvCxnSpPr>
          <p:nvPr/>
        </p:nvCxnSpPr>
        <p:spPr>
          <a:xfrm flipH="1" flipV="1">
            <a:off x="5272089" y="4648201"/>
            <a:ext cx="676275" cy="295275"/>
          </a:xfrm>
          <a:prstGeom prst="line">
            <a:avLst/>
          </a:prstGeom>
          <a:ln w="25400">
            <a:solidFill>
              <a:srgbClr val="FF00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TextBox 60"/>
          <p:cNvSpPr txBox="1"/>
          <p:nvPr/>
        </p:nvSpPr>
        <p:spPr bwMode="auto">
          <a:xfrm>
            <a:off x="5161547" y="3357564"/>
            <a:ext cx="291882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1600" dirty="0">
                <a:solidFill>
                  <a:schemeClr val="bg1">
                    <a:lumMod val="65000"/>
                  </a:schemeClr>
                </a:solidFill>
                <a:latin typeface="+mj-lt"/>
              </a:rPr>
              <a:t>(Image distance can be found with trig and “small angle approximation”)</a:t>
            </a:r>
          </a:p>
        </p:txBody>
      </p:sp>
      <p:graphicFrame>
        <p:nvGraphicFramePr>
          <p:cNvPr id="5122" name="Object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04272678"/>
              </p:ext>
            </p:extLst>
          </p:nvPr>
        </p:nvGraphicFramePr>
        <p:xfrm>
          <a:off x="8153400" y="3429001"/>
          <a:ext cx="1371600" cy="860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20474" imgH="431613" progId="Equation.3">
                  <p:embed/>
                </p:oleObj>
              </mc:Choice>
              <mc:Fallback>
                <p:oleObj name="Equation" r:id="rId2" imgW="520474" imgH="431613" progId="Equation.3">
                  <p:embed/>
                  <p:pic>
                    <p:nvPicPr>
                      <p:cNvPr id="5122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53400" y="3429001"/>
                        <a:ext cx="1371600" cy="860425"/>
                      </a:xfrm>
                      <a:prstGeom prst="rect">
                        <a:avLst/>
                      </a:prstGeom>
                      <a:solidFill>
                        <a:srgbClr val="BFBFB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3" name="TextBox 62"/>
          <p:cNvSpPr txBox="1"/>
          <p:nvPr/>
        </p:nvSpPr>
        <p:spPr bwMode="auto">
          <a:xfrm>
            <a:off x="8382000" y="4648200"/>
            <a:ext cx="22860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en-US" sz="2000" dirty="0">
                <a:latin typeface="+mj-lt"/>
              </a:rPr>
              <a:t> = index for medium object is in</a:t>
            </a:r>
          </a:p>
        </p:txBody>
      </p:sp>
      <p:sp>
        <p:nvSpPr>
          <p:cNvPr id="41" name="TextBox 40"/>
          <p:cNvSpPr txBox="1"/>
          <p:nvPr/>
        </p:nvSpPr>
        <p:spPr bwMode="auto">
          <a:xfrm>
            <a:off x="8382000" y="5766138"/>
            <a:ext cx="2286000" cy="10156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i="1" dirty="0">
                <a:latin typeface="Times New Roman" pitchFamily="18" charset="0"/>
                <a:cs typeface="Times New Roman" pitchFamily="18" charset="0"/>
              </a:rPr>
              <a:t>n</a:t>
            </a:r>
            <a:r>
              <a:rPr lang="en-US" sz="2000" baseline="-25000" dirty="0">
                <a:latin typeface="Times New Roman" pitchFamily="18" charset="0"/>
                <a:cs typeface="Times New Roman" pitchFamily="18" charset="0"/>
              </a:rPr>
              <a:t>2</a:t>
            </a:r>
            <a:r>
              <a:rPr lang="en-US" sz="2000" dirty="0">
                <a:latin typeface="+mj-lt"/>
              </a:rPr>
              <a:t> = index for medium observer is in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28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14:cNvPr>
              <p14:cNvContentPartPr/>
              <p14:nvPr/>
            </p14:nvContentPartPr>
            <p14:xfrm>
              <a:off x="5168880" y="3720960"/>
              <a:ext cx="165600" cy="151812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D8375B63-8DCC-421B-9D55-E9882254701C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159520" y="3711600"/>
                <a:ext cx="184320" cy="1536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0" grpId="0"/>
      <p:bldP spid="61" grpId="0"/>
      <p:bldP spid="63" grpId="0"/>
      <p:bldP spid="41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(1)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193112" y="1129283"/>
            <a:ext cx="8796377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grpSp>
        <p:nvGrpSpPr>
          <p:cNvPr id="2" name="Group 56"/>
          <p:cNvGrpSpPr/>
          <p:nvPr/>
        </p:nvGrpSpPr>
        <p:grpSpPr>
          <a:xfrm>
            <a:off x="4267201" y="3729037"/>
            <a:ext cx="4724399" cy="1237266"/>
            <a:chOff x="2199373" y="1797216"/>
            <a:chExt cx="5034196" cy="1237266"/>
          </a:xfrm>
        </p:grpSpPr>
        <p:sp>
          <p:nvSpPr>
            <p:cNvPr id="8" name="TextBox 7"/>
            <p:cNvSpPr txBox="1"/>
            <p:nvPr/>
          </p:nvSpPr>
          <p:spPr bwMode="auto">
            <a:xfrm>
              <a:off x="2199373" y="2572520"/>
              <a:ext cx="49530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bottom</a:t>
              </a:r>
            </a:p>
          </p:txBody>
        </p:sp>
        <p:sp>
          <p:nvSpPr>
            <p:cNvPr id="9" name="TextBox 8"/>
            <p:cNvSpPr txBox="1"/>
            <p:nvPr/>
          </p:nvSpPr>
          <p:spPr bwMode="auto">
            <a:xfrm>
              <a:off x="2813969" y="1797216"/>
              <a:ext cx="4419600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rock’s</a:t>
              </a:r>
              <a:r>
                <a:rPr lang="en-US" sz="2400" dirty="0">
                  <a:latin typeface="+mj-lt"/>
                </a:rPr>
                <a:t>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top</a:t>
              </a:r>
            </a:p>
          </p:txBody>
        </p:sp>
      </p:grpSp>
      <p:grpSp>
        <p:nvGrpSpPr>
          <p:cNvPr id="6" name="Group 57"/>
          <p:cNvGrpSpPr/>
          <p:nvPr/>
        </p:nvGrpSpPr>
        <p:grpSpPr>
          <a:xfrm>
            <a:off x="4038599" y="2622590"/>
            <a:ext cx="5341220" cy="835732"/>
            <a:chOff x="3049858" y="3550118"/>
            <a:chExt cx="5720411" cy="835732"/>
          </a:xfrm>
        </p:grpSpPr>
        <p:sp>
          <p:nvSpPr>
            <p:cNvPr id="15" name="TextBox 14"/>
            <p:cNvSpPr txBox="1"/>
            <p:nvPr/>
          </p:nvSpPr>
          <p:spPr bwMode="auto">
            <a:xfrm>
              <a:off x="3049858" y="3923888"/>
              <a:ext cx="5638800" cy="46196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b</a:t>
              </a:r>
              <a:r>
                <a:rPr lang="en-US" sz="2400" dirty="0">
                  <a:solidFill>
                    <a:srgbClr val="FF0000"/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rgbClr val="FF0000"/>
                  </a:solidFill>
                  <a:latin typeface="+mj-lt"/>
                </a:rPr>
                <a:t>image’s bottom</a:t>
              </a:r>
            </a:p>
          </p:txBody>
        </p:sp>
        <p:sp>
          <p:nvSpPr>
            <p:cNvPr id="16" name="TextBox 15"/>
            <p:cNvSpPr txBox="1"/>
            <p:nvPr/>
          </p:nvSpPr>
          <p:spPr bwMode="auto">
            <a:xfrm>
              <a:off x="3621127" y="3550118"/>
              <a:ext cx="5149142" cy="4619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>
                <a:defRPr/>
              </a:pPr>
              <a:r>
                <a:rPr lang="en-US" sz="2400" i="1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400" i="1" baseline="-25000" dirty="0" err="1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t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Times New Roman" pitchFamily="18" charset="0"/>
                  <a:cs typeface="Times New Roman" pitchFamily="18" charset="0"/>
                </a:rPr>
                <a:t>'</a:t>
              </a:r>
              <a:r>
                <a:rPr lang="en-US" sz="2400" dirty="0">
                  <a:latin typeface="+mj-lt"/>
                </a:rPr>
                <a:t> = the depth of the </a:t>
              </a:r>
              <a:r>
                <a:rPr lang="en-US" sz="2400" dirty="0">
                  <a:solidFill>
                    <a:schemeClr val="accent6">
                      <a:lumMod val="75000"/>
                    </a:schemeClr>
                  </a:solidFill>
                  <a:latin typeface="+mj-lt"/>
                </a:rPr>
                <a:t>image’s top</a:t>
              </a:r>
            </a:p>
          </p:txBody>
        </p:sp>
      </p:grpSp>
      <p:grpSp>
        <p:nvGrpSpPr>
          <p:cNvPr id="7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52"/>
          <p:cNvGrpSpPr/>
          <p:nvPr/>
        </p:nvGrpSpPr>
        <p:grpSpPr>
          <a:xfrm>
            <a:off x="8763000" y="2590800"/>
            <a:ext cx="1371600" cy="2209800"/>
            <a:chOff x="7239000" y="2590800"/>
            <a:chExt cx="1371600" cy="2209800"/>
          </a:xfrm>
        </p:grpSpPr>
        <p:grpSp>
          <p:nvGrpSpPr>
            <p:cNvPr id="13" name="Group 51"/>
            <p:cNvGrpSpPr/>
            <p:nvPr/>
          </p:nvGrpSpPr>
          <p:grpSpPr>
            <a:xfrm>
              <a:off x="7239000" y="2590800"/>
              <a:ext cx="1371600" cy="2209800"/>
              <a:chOff x="7239000" y="2590800"/>
              <a:chExt cx="1371600" cy="2209800"/>
            </a:xfrm>
          </p:grpSpPr>
          <p:sp>
            <p:nvSpPr>
              <p:cNvPr id="21" name="Rectangle 20"/>
              <p:cNvSpPr/>
              <p:nvPr/>
            </p:nvSpPr>
            <p:spPr>
              <a:xfrm>
                <a:off x="7239000" y="2590800"/>
                <a:ext cx="1371600" cy="2209800"/>
              </a:xfrm>
              <a:prstGeom prst="rect">
                <a:avLst/>
              </a:prstGeom>
              <a:solidFill>
                <a:schemeClr val="accent1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cxnSp>
            <p:nvCxnSpPr>
              <p:cNvPr id="26" name="Straight Connector 25"/>
              <p:cNvCxnSpPr/>
              <p:nvPr/>
            </p:nvCxnSpPr>
            <p:spPr>
              <a:xfrm>
                <a:off x="7239000" y="4800600"/>
                <a:ext cx="1371600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/>
              <p:cNvCxnSpPr/>
              <p:nvPr/>
            </p:nvCxnSpPr>
            <p:spPr>
              <a:xfrm>
                <a:off x="7239000" y="2590800"/>
                <a:ext cx="1371600" cy="0"/>
              </a:xfrm>
              <a:prstGeom prst="line">
                <a:avLst/>
              </a:prstGeom>
              <a:ln w="25400">
                <a:solidFill>
                  <a:schemeClr val="tx2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31" name="Rounded Rectangle 30"/>
            <p:cNvSpPr/>
            <p:nvPr/>
          </p:nvSpPr>
          <p:spPr>
            <a:xfrm>
              <a:off x="7315200" y="3962400"/>
              <a:ext cx="228600" cy="838200"/>
            </a:xfrm>
            <a:prstGeom prst="roundRect">
              <a:avLst/>
            </a:prstGeom>
            <a:solidFill>
              <a:schemeClr val="bg2">
                <a:lumMod val="25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53"/>
          <p:cNvGrpSpPr/>
          <p:nvPr/>
        </p:nvGrpSpPr>
        <p:grpSpPr>
          <a:xfrm>
            <a:off x="9067800" y="2590800"/>
            <a:ext cx="914400" cy="2212848"/>
            <a:chOff x="7543800" y="2590800"/>
            <a:chExt cx="914400" cy="2212848"/>
          </a:xfrm>
        </p:grpSpPr>
        <p:cxnSp>
          <p:nvCxnSpPr>
            <p:cNvPr id="34" name="Straight Arrow Connector 33"/>
            <p:cNvCxnSpPr/>
            <p:nvPr/>
          </p:nvCxnSpPr>
          <p:spPr>
            <a:xfrm flipV="1">
              <a:off x="7543800" y="2590800"/>
              <a:ext cx="91440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>
              <a:cxnSpLocks noChangeAspect="1"/>
            </p:cNvCxnSpPr>
            <p:nvPr/>
          </p:nvCxnSpPr>
          <p:spPr>
            <a:xfrm flipV="1">
              <a:off x="7543800" y="2590800"/>
              <a:ext cx="566777" cy="13716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 flipV="1">
              <a:off x="7543800" y="2590800"/>
              <a:ext cx="0" cy="22128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54"/>
          <p:cNvGrpSpPr/>
          <p:nvPr/>
        </p:nvGrpSpPr>
        <p:grpSpPr>
          <a:xfrm>
            <a:off x="9067650" y="1905000"/>
            <a:ext cx="1600351" cy="1299464"/>
            <a:chOff x="7543649" y="1905000"/>
            <a:chExt cx="1600351" cy="1299464"/>
          </a:xfrm>
        </p:grpSpPr>
        <p:cxnSp>
          <p:nvCxnSpPr>
            <p:cNvPr id="39" name="Straight Arrow Connector 38"/>
            <p:cNvCxnSpPr/>
            <p:nvPr/>
          </p:nvCxnSpPr>
          <p:spPr>
            <a:xfrm flipV="1">
              <a:off x="7543800" y="1905000"/>
              <a:ext cx="0" cy="685800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/>
            <p:nvPr/>
          </p:nvCxnSpPr>
          <p:spPr>
            <a:xfrm flipV="1">
              <a:off x="8458200" y="2133600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/>
            <p:nvPr/>
          </p:nvCxnSpPr>
          <p:spPr>
            <a:xfrm flipV="1">
              <a:off x="8110577" y="2130552"/>
              <a:ext cx="685800" cy="460248"/>
            </a:xfrm>
            <a:prstGeom prst="straightConnector1">
              <a:avLst/>
            </a:prstGeom>
            <a:ln w="3810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Arrow Connector 43"/>
            <p:cNvCxnSpPr>
              <a:cxnSpLocks noChangeAspect="1"/>
            </p:cNvCxnSpPr>
            <p:nvPr/>
          </p:nvCxnSpPr>
          <p:spPr>
            <a:xfrm flipV="1">
              <a:off x="7543800" y="2590800"/>
              <a:ext cx="914400" cy="613664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 noChangeAspect="1"/>
            </p:cNvCxnSpPr>
            <p:nvPr/>
          </p:nvCxnSpPr>
          <p:spPr>
            <a:xfrm flipV="1">
              <a:off x="7543649" y="2590800"/>
              <a:ext cx="566928" cy="380472"/>
            </a:xfrm>
            <a:prstGeom prst="straightConnector1">
              <a:avLst/>
            </a:prstGeom>
            <a:ln w="38100">
              <a:solidFill>
                <a:srgbClr val="FF0000"/>
              </a:solidFill>
              <a:prstDash val="dash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Rounded Rectangle 47"/>
          <p:cNvSpPr/>
          <p:nvPr/>
        </p:nvSpPr>
        <p:spPr>
          <a:xfrm>
            <a:off x="8839200" y="2975864"/>
            <a:ext cx="228600" cy="228600"/>
          </a:xfrm>
          <a:prstGeom prst="roundRect">
            <a:avLst/>
          </a:prstGeom>
          <a:solidFill>
            <a:schemeClr val="bg2">
              <a:lumMod val="25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88664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(2)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2362200"/>
            <a:ext cx="1981200" cy="1938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3.00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2.26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/>
              <a:t>4.51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3.99 cm</a:t>
            </a:r>
          </a:p>
          <a:p>
            <a:pPr marL="457200" indent="-457200">
              <a:buFontTx/>
              <a:buAutoNum type="alphaLcPeriod"/>
              <a:defRPr/>
            </a:pPr>
            <a:r>
              <a:rPr lang="en-US" sz="2400" dirty="0">
                <a:latin typeface="+mj-lt"/>
              </a:rPr>
              <a:t>1.01 cm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114800" y="2084388"/>
            <a:ext cx="4953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bottom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4114800" y="2552701"/>
            <a:ext cx="44196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rock’s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top</a:t>
            </a:r>
          </a:p>
        </p:txBody>
      </p:sp>
      <p:sp>
        <p:nvSpPr>
          <p:cNvPr id="10" name="TextBox 9"/>
          <p:cNvSpPr txBox="1"/>
          <p:nvPr/>
        </p:nvSpPr>
        <p:spPr bwMode="auto">
          <a:xfrm>
            <a:off x="4114800" y="3021013"/>
            <a:ext cx="5181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latin typeface="+mj-lt"/>
              </a:rPr>
              <a:t> 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dirty="0">
                <a:latin typeface="+mj-lt"/>
              </a:rPr>
              <a:t>= 3.00 cm =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rock’s height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4191000" y="3495676"/>
            <a:ext cx="5105400" cy="460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u="sng" dirty="0">
                <a:latin typeface="+mj-lt"/>
              </a:rPr>
              <a:t>Want: </a:t>
            </a:r>
            <a:r>
              <a:rPr lang="en-US" sz="2400" b="1" i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b="1" u="sng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b="1" u="sng" dirty="0">
                <a:latin typeface="+mj-lt"/>
              </a:rPr>
              <a:t> = </a:t>
            </a:r>
            <a:r>
              <a:rPr lang="en-US" sz="2400" b="1" u="sng" dirty="0">
                <a:solidFill>
                  <a:srgbClr val="00B050"/>
                </a:solidFill>
                <a:latin typeface="+mj-lt"/>
              </a:rPr>
              <a:t>image’s height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962400" y="3489325"/>
            <a:ext cx="563880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 bwMode="auto">
          <a:xfrm>
            <a:off x="4146082" y="4902368"/>
            <a:ext cx="2971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4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</a:t>
            </a:r>
            <a:r>
              <a:rPr lang="en-US" sz="2400" dirty="0"/>
              <a:t>=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–</a:t>
            </a:r>
            <a:r>
              <a:rPr lang="en-US" sz="24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endParaRPr lang="en-US" sz="2400" dirty="0">
              <a:solidFill>
                <a:schemeClr val="accent6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15" name="TextBox 14"/>
          <p:cNvSpPr txBox="1"/>
          <p:nvPr/>
        </p:nvSpPr>
        <p:spPr bwMode="auto">
          <a:xfrm>
            <a:off x="4114800" y="3962400"/>
            <a:ext cx="5638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b</a:t>
            </a:r>
            <a:r>
              <a:rPr lang="en-US" sz="24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image’s bottom</a:t>
            </a:r>
          </a:p>
        </p:txBody>
      </p:sp>
      <p:sp>
        <p:nvSpPr>
          <p:cNvPr id="16" name="TextBox 15"/>
          <p:cNvSpPr txBox="1"/>
          <p:nvPr/>
        </p:nvSpPr>
        <p:spPr bwMode="auto">
          <a:xfrm>
            <a:off x="4114800" y="4430713"/>
            <a:ext cx="5334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i="1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i="1" baseline="-25000" dirty="0" err="1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t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 = the depth of the </a:t>
            </a:r>
            <a:r>
              <a:rPr lang="en-US" sz="2400" dirty="0">
                <a:solidFill>
                  <a:schemeClr val="accent6">
                    <a:lumMod val="75000"/>
                  </a:schemeClr>
                </a:solidFill>
                <a:latin typeface="+mj-lt"/>
              </a:rPr>
              <a:t>image’s top</a:t>
            </a:r>
          </a:p>
        </p:txBody>
      </p:sp>
      <p:grpSp>
        <p:nvGrpSpPr>
          <p:cNvPr id="2" name="Group 30"/>
          <p:cNvGrpSpPr>
            <a:grpSpLocks/>
          </p:cNvGrpSpPr>
          <p:nvPr/>
        </p:nvGrpSpPr>
        <p:grpSpPr bwMode="auto">
          <a:xfrm>
            <a:off x="1752600" y="2590800"/>
            <a:ext cx="1676400" cy="1143000"/>
            <a:chOff x="228600" y="2590800"/>
            <a:chExt cx="1676400" cy="1143000"/>
          </a:xfrm>
        </p:grpSpPr>
        <p:cxnSp>
          <p:nvCxnSpPr>
            <p:cNvPr id="28" name="Straight Connector 27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16"/>
          <p:cNvGrpSpPr/>
          <p:nvPr/>
        </p:nvGrpSpPr>
        <p:grpSpPr>
          <a:xfrm>
            <a:off x="1524000" y="5512713"/>
            <a:ext cx="9220200" cy="1221462"/>
            <a:chOff x="0" y="5512713"/>
            <a:chExt cx="9220200" cy="1221462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45720" y="551271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Which of the following gives the depth of the </a:t>
              </a:r>
              <a:r>
                <a:rPr lang="en-US" sz="2200" dirty="0">
                  <a:solidFill>
                    <a:srgbClr val="FF0000"/>
                  </a:solidFill>
                  <a:latin typeface="+mj-lt"/>
                </a:rPr>
                <a:t>bottom of the image? </a:t>
              </a:r>
              <a:r>
                <a:rPr lang="en-US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[see slide 14]</a:t>
              </a:r>
              <a:endParaRPr lang="en-US" sz="2200" dirty="0">
                <a:latin typeface="+mj-lt"/>
              </a:endParaRP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3788943218"/>
                </p:ext>
              </p:extLst>
            </p:nvPr>
          </p:nvGraphicFramePr>
          <p:xfrm>
            <a:off x="0" y="6019800"/>
            <a:ext cx="9144000" cy="71437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5689600" imgH="444500" progId="Equation.3">
                    <p:embed/>
                  </p:oleObj>
                </mc:Choice>
                <mc:Fallback>
                  <p:oleObj name="Equation" r:id="rId2" imgW="5689600" imgH="44450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0" y="6019800"/>
                          <a:ext cx="9144000" cy="714375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2" name="Rounded Rectangle 11"/>
          <p:cNvSpPr/>
          <p:nvPr/>
        </p:nvSpPr>
        <p:spPr>
          <a:xfrm>
            <a:off x="1676400" y="6096000"/>
            <a:ext cx="1295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/>
      <p:bldP spid="10" grpId="0"/>
      <p:bldP spid="11" grpId="0"/>
      <p:bldP spid="14" grpId="0"/>
      <p:bldP spid="15" grpId="0"/>
      <p:bldP spid="16" grpId="0"/>
      <p:bldP spid="1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Height of Rock (3)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57400" y="1143001"/>
            <a:ext cx="81534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latin typeface="+mj-lt"/>
              </a:rPr>
              <a:t>A 3.00 cm tall rock sits at the bottom of pool of water (n = 1.33).  When you look at it from above, how tall do you think it is?  </a:t>
            </a:r>
          </a:p>
        </p:txBody>
      </p:sp>
      <p:grpSp>
        <p:nvGrpSpPr>
          <p:cNvPr id="8" name="Group 16"/>
          <p:cNvGrpSpPr/>
          <p:nvPr/>
        </p:nvGrpSpPr>
        <p:grpSpPr>
          <a:xfrm>
            <a:off x="2362200" y="2286000"/>
            <a:ext cx="8336280" cy="693738"/>
            <a:chOff x="-30480" y="5350509"/>
            <a:chExt cx="9174480" cy="693738"/>
          </a:xfrm>
        </p:grpSpPr>
        <p:sp>
          <p:nvSpPr>
            <p:cNvPr id="3" name="TextBox 2"/>
            <p:cNvSpPr txBox="1"/>
            <p:nvPr/>
          </p:nvSpPr>
          <p:spPr bwMode="auto">
            <a:xfrm>
              <a:off x="-30480" y="5481935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r>
                <a:rPr lang="en-US" sz="2200" dirty="0">
                  <a:latin typeface="+mj-lt"/>
                </a:rPr>
                <a:t>Bottom of the image :</a:t>
              </a:r>
            </a:p>
          </p:txBody>
        </p:sp>
        <p:graphicFrame>
          <p:nvGraphicFramePr>
            <p:cNvPr id="7" name="Object 6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1298732683"/>
                </p:ext>
              </p:extLst>
            </p:nvPr>
          </p:nvGraphicFramePr>
          <p:xfrm>
            <a:off x="2801150" y="5350509"/>
            <a:ext cx="3777191" cy="69373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2349360" imgH="431640" progId="Equation.3">
                    <p:embed/>
                  </p:oleObj>
                </mc:Choice>
                <mc:Fallback>
                  <p:oleObj name="Equation" r:id="rId2" imgW="2349360" imgH="431640" progId="Equation.3">
                    <p:embed/>
                    <p:pic>
                      <p:nvPicPr>
                        <p:cNvPr id="7" name="Object 6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3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01150" y="5350509"/>
                          <a:ext cx="3777191" cy="693738"/>
                        </a:xfrm>
                        <a:prstGeom prst="rect">
                          <a:avLst/>
                        </a:prstGeom>
                        <a:noFill/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11" name="Group 10"/>
          <p:cNvGrpSpPr/>
          <p:nvPr/>
        </p:nvGrpSpPr>
        <p:grpSpPr>
          <a:xfrm>
            <a:off x="7467600" y="4934823"/>
            <a:ext cx="1981200" cy="1354217"/>
            <a:chOff x="6858000" y="2054994"/>
            <a:chExt cx="1981200" cy="1354217"/>
          </a:xfrm>
        </p:grpSpPr>
        <p:sp>
          <p:nvSpPr>
            <p:cNvPr id="5" name="TextBox 4"/>
            <p:cNvSpPr txBox="1"/>
            <p:nvPr/>
          </p:nvSpPr>
          <p:spPr bwMode="auto">
            <a:xfrm>
              <a:off x="6858000" y="2054994"/>
              <a:ext cx="1981200" cy="135421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3.00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2.26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/>
                <a:t>4.51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3.99 cm</a:t>
              </a:r>
            </a:p>
            <a:p>
              <a:pPr marL="457200" indent="-457200">
                <a:buFontTx/>
                <a:buAutoNum type="alphaLcPeriod"/>
                <a:defRPr/>
              </a:pPr>
              <a:r>
                <a:rPr lang="en-US" sz="1600" dirty="0">
                  <a:latin typeface="+mj-lt"/>
                </a:rPr>
                <a:t>1.01 cm</a:t>
              </a:r>
            </a:p>
          </p:txBody>
        </p:sp>
        <p:sp>
          <p:nvSpPr>
            <p:cNvPr id="12" name="Rounded Rectangle 11"/>
            <p:cNvSpPr/>
            <p:nvPr/>
          </p:nvSpPr>
          <p:spPr>
            <a:xfrm>
              <a:off x="6858000" y="2324235"/>
              <a:ext cx="1285775" cy="247385"/>
            </a:xfrm>
            <a:prstGeom prst="round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400"/>
            </a:p>
          </p:txBody>
        </p:sp>
      </p:grpSp>
      <p:grpSp>
        <p:nvGrpSpPr>
          <p:cNvPr id="9" name="Group 22"/>
          <p:cNvGrpSpPr/>
          <p:nvPr/>
        </p:nvGrpSpPr>
        <p:grpSpPr>
          <a:xfrm>
            <a:off x="1501140" y="3258764"/>
            <a:ext cx="9174480" cy="1110037"/>
            <a:chOff x="-30480" y="5541883"/>
            <a:chExt cx="9174480" cy="1110037"/>
          </a:xfrm>
        </p:grpSpPr>
        <p:sp>
          <p:nvSpPr>
            <p:cNvPr id="24" name="TextBox 23"/>
            <p:cNvSpPr txBox="1"/>
            <p:nvPr/>
          </p:nvSpPr>
          <p:spPr bwMode="auto">
            <a:xfrm>
              <a:off x="-30480" y="5541883"/>
              <a:ext cx="9174480" cy="43088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200" dirty="0">
                  <a:latin typeface="+mj-lt"/>
                </a:rPr>
                <a:t>Which of the following gives how tall the image (h’) is?</a:t>
              </a:r>
            </a:p>
          </p:txBody>
        </p:sp>
        <p:graphicFrame>
          <p:nvGraphicFramePr>
            <p:cNvPr id="25" name="Object 24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754849450"/>
                </p:ext>
              </p:extLst>
            </p:nvPr>
          </p:nvGraphicFramePr>
          <p:xfrm>
            <a:off x="-7620" y="6016920"/>
            <a:ext cx="9144000" cy="6350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400800" imgH="444500" progId="Equation.3">
                    <p:embed/>
                  </p:oleObj>
                </mc:Choice>
                <mc:Fallback>
                  <p:oleObj name="Equation" r:id="rId4" imgW="6400800" imgH="444500" progId="Equation.3">
                    <p:embed/>
                    <p:pic>
                      <p:nvPicPr>
                        <p:cNvPr id="25" name="Object 24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-7620" y="6016920"/>
                          <a:ext cx="9144000" cy="635000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6" name="Rounded Rectangle 25"/>
          <p:cNvSpPr/>
          <p:nvPr/>
        </p:nvSpPr>
        <p:spPr>
          <a:xfrm>
            <a:off x="7239000" y="3733800"/>
            <a:ext cx="1676400" cy="685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31</a:t>
            </a:fld>
            <a:endParaRPr 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noFill/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/>
                        </a:rPr>
                        <m:t>𝑇𝑜𝑝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𝑜𝑓</m:t>
                      </m:r>
                      <m:r>
                        <a:rPr lang="en-US" i="1">
                          <a:latin typeface="Cambria Math"/>
                        </a:rPr>
                        <m:t> </m:t>
                      </m:r>
                      <m:r>
                        <a:rPr lang="en-US" i="1">
                          <a:latin typeface="Cambria Math"/>
                        </a:rPr>
                        <m:t>𝑖𝑚𝑎𝑔𝑒</m:t>
                      </m:r>
                      <m:r>
                        <a:rPr lang="en-US" i="1">
                          <a:latin typeface="Cambria Math"/>
                        </a:rPr>
                        <m:t>:     </m:t>
                      </m:r>
                      <m:f>
                        <m:f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r>
                                <a:rPr lang="en-US" i="1">
                                  <a:latin typeface="Cambria Math"/>
                                </a:rPr>
                                <m:t>𝑎𝑖𝑟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/>
                                </a:rPr>
                                <m:t>𝑛</m:t>
                              </m:r>
                            </m:e>
                            <m:sub>
                              <m:sSub>
                                <m:sSubPr>
                                  <m:ctrlPr>
                                    <a:rPr lang="en-US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US" i="1">
                                      <a:latin typeface="Cambria Math"/>
                                    </a:rPr>
                                    <m:t>𝐻</m:t>
                                  </m:r>
                                </m:e>
                                <m:sub>
                                  <m:r>
                                    <a:rPr lang="en-US" i="1">
                                      <a:latin typeface="Cambria Math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i="1">
                                  <a:latin typeface="Cambria Math"/>
                                </a:rPr>
                                <m:t>𝑂</m:t>
                              </m:r>
                            </m:sub>
                          </m:sSub>
                        </m:den>
                      </m:f>
                      <m:sSub>
                        <m:sSub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i="1">
                              <a:latin typeface="Cambria Math"/>
                            </a:rPr>
                            <m:t>𝑠</m:t>
                          </m:r>
                        </m:e>
                        <m:sub>
                          <m:r>
                            <a:rPr lang="en-US" i="1">
                              <a:latin typeface="Cambria Math"/>
                            </a:rPr>
                            <m:t>𝑡</m:t>
                          </m:r>
                        </m:sub>
                      </m:sSub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064" y="2325470"/>
                <a:ext cx="2699136" cy="646331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TextBox 17"/>
              <p:cNvSpPr txBox="1"/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i.e. 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𝑎𝑖𝑟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𝑛</m:t>
                            </m:r>
                          </m:e>
                          <m:sub>
                            <m:sSub>
                              <m:sSub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i="1">
                                    <a:latin typeface="Cambria Math"/>
                                  </a:rPr>
                                  <m:t>𝐻</m:t>
                                </m:r>
                              </m:e>
                              <m:sub>
                                <m:r>
                                  <a:rPr lang="en-US" i="1">
                                    <a:latin typeface="Cambria Math"/>
                                  </a:rPr>
                                  <m:t>2</m:t>
                                </m:r>
                              </m:sub>
                            </m:sSub>
                            <m:r>
                              <a:rPr lang="en-US" i="1">
                                <a:latin typeface="Cambria Math"/>
                              </a:rPr>
                              <m:t>𝑂</m:t>
                            </m:r>
                          </m:sub>
                        </m:sSub>
                      </m:den>
                    </m:f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𝑏</m:t>
                            </m:r>
                          </m:sub>
                        </m:sSub>
                        <m:r>
                          <a:rPr lang="en-US" i="1">
                            <a:latin typeface="Cambria Math"/>
                          </a:rPr>
                          <m:t>−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/>
                              </a:rPr>
                              <m:t>𝑠</m:t>
                            </m:r>
                          </m:e>
                          <m:sub>
                            <m:r>
                              <a:rPr lang="en-US" i="1">
                                <a:latin typeface="Cambria Math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 </a:t>
                </a:r>
              </a:p>
              <a:p>
                <a:r>
                  <a:rPr lang="en-US" dirty="0"/>
                  <a:t>	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𝑏</m:t>
                        </m:r>
                      </m:sub>
                    </m:sSub>
                    <m:r>
                      <a:rPr lang="en-US" i="1">
                        <a:latin typeface="Cambria Math"/>
                      </a:rPr>
                      <m:t>−</m:t>
                    </m:r>
                    <m:sSub>
                      <m:sSub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>
                            <a:latin typeface="Cambria Math"/>
                          </a:rPr>
                          <m:t>𝑠</m:t>
                        </m:r>
                      </m:e>
                      <m:sub>
                        <m:r>
                          <a:rPr lang="en-US" i="1">
                            <a:latin typeface="Cambria Math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dirty="0"/>
                  <a:t> = 3 cm</a:t>
                </a:r>
              </a:p>
              <a:p>
                <a:endParaRPr lang="en-US" dirty="0"/>
              </a:p>
              <a:p>
                <a:pPr algn="ctr"/>
                <a14:m>
                  <m:oMath xmlns:m="http://schemas.openxmlformats.org/officeDocument/2006/math">
                    <m:r>
                      <a:rPr lang="en-US" i="1">
                        <a:latin typeface="Cambria Math"/>
                      </a:rPr>
                      <m:t>⇒ 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/>
                          </a:rPr>
                          <m:t>h</m:t>
                        </m:r>
                      </m:e>
                      <m:sup>
                        <m:r>
                          <a:rPr lang="en-US" i="1">
                            <a:latin typeface="Cambria Math"/>
                          </a:rPr>
                          <m:t>′</m:t>
                        </m:r>
                      </m:sup>
                    </m:sSup>
                    <m:r>
                      <a:rPr lang="en-US" i="1">
                        <a:latin typeface="Cambria Math"/>
                      </a:rPr>
                      <m:t>=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i="1">
                            <a:latin typeface="Cambria Math"/>
                          </a:rPr>
                          <m:t>1.0</m:t>
                        </m:r>
                      </m:num>
                      <m:den>
                        <m:r>
                          <a:rPr lang="en-US" i="1">
                            <a:latin typeface="Cambria Math"/>
                          </a:rPr>
                          <m:t>1.33</m:t>
                        </m:r>
                      </m:den>
                    </m:f>
                    <m:r>
                      <a:rPr lang="en-US" i="1">
                        <a:latin typeface="Cambria Math"/>
                      </a:rPr>
                      <m:t> (3)</m:t>
                    </m:r>
                  </m:oMath>
                </a14:m>
                <a:r>
                  <a:rPr lang="en-US" dirty="0"/>
                  <a:t> = </a:t>
                </a:r>
                <a:r>
                  <a:rPr lang="en-US" b="1" dirty="0"/>
                  <a:t>2.26 cm </a:t>
                </a:r>
              </a:p>
            </p:txBody>
          </p:sp>
        </mc:Choice>
        <mc:Fallback xmlns="">
          <p:sp>
            <p:nvSpPr>
              <p:cNvPr id="18" name="TextBox 1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00400" y="4773188"/>
                <a:ext cx="3164008" cy="1475212"/>
              </a:xfrm>
              <a:prstGeom prst="rect">
                <a:avLst/>
              </a:prstGeom>
              <a:blipFill>
                <a:blip r:embed="rId8"/>
                <a:stretch>
                  <a:fillRect l="-1344" r="-384" b="-1639"/>
                </a:stretch>
              </a:blipFill>
              <a:ln>
                <a:solidFill>
                  <a:schemeClr val="accent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39571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10" grpId="0" animBg="1"/>
      <p:bldP spid="1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Lenses</a:t>
            </a:r>
          </a:p>
        </p:txBody>
      </p:sp>
      <p:sp>
        <p:nvSpPr>
          <p:cNvPr id="78851" name="Content Placeholder 7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Aft>
                <a:spcPts val="1200"/>
              </a:spcAft>
            </a:pPr>
            <a:r>
              <a:rPr lang="en-US" sz="2000" dirty="0" err="1">
                <a:latin typeface="Arial" charset="0"/>
                <a:cs typeface="Arial" charset="0"/>
              </a:rPr>
              <a:t>OpenStax</a:t>
            </a:r>
            <a:r>
              <a:rPr lang="en-US" sz="2000" dirty="0">
                <a:latin typeface="Arial" charset="0"/>
                <a:cs typeface="Arial" charset="0"/>
              </a:rPr>
              <a:t> Chapter 25.6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Images formed by refracted rays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From thin lens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Converging Lens:  takes rays parallel to OA and puts them through focal point</a:t>
            </a:r>
          </a:p>
          <a:p>
            <a:pPr lvl="2">
              <a:spcAft>
                <a:spcPts val="1200"/>
              </a:spcAft>
            </a:pPr>
            <a:r>
              <a:rPr lang="en-US" sz="1400" dirty="0">
                <a:latin typeface="Arial" charset="0"/>
                <a:cs typeface="Arial" charset="0"/>
              </a:rPr>
              <a:t>Diverging Lens:  takes rays parallel to OA and makes them look like they came from focal point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Can use ray diagram (3 special rays for each type of lens)</a:t>
            </a:r>
          </a:p>
          <a:p>
            <a:pPr lvl="3">
              <a:spcAft>
                <a:spcPts val="1200"/>
              </a:spcAft>
            </a:pPr>
            <a:r>
              <a:rPr lang="en-US" sz="1200" dirty="0">
                <a:latin typeface="Arial" charset="0"/>
                <a:cs typeface="Arial" charset="0"/>
              </a:rPr>
              <a:t>Thin Lens Equation</a:t>
            </a:r>
          </a:p>
          <a:p>
            <a:pPr>
              <a:spcAft>
                <a:spcPts val="1200"/>
              </a:spcAft>
            </a:pPr>
            <a:r>
              <a:rPr lang="en-US" sz="2000" dirty="0">
                <a:latin typeface="Arial" charset="0"/>
                <a:cs typeface="Arial" charset="0"/>
              </a:rPr>
              <a:t>Multiple Lenses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Ray diagram approach:  special rays look like they came from previous lens’ image</a:t>
            </a:r>
          </a:p>
          <a:p>
            <a:pPr lvl="1">
              <a:spcAft>
                <a:spcPts val="1200"/>
              </a:spcAft>
            </a:pPr>
            <a:r>
              <a:rPr lang="en-US" sz="1600" dirty="0">
                <a:latin typeface="Arial" charset="0"/>
                <a:cs typeface="Arial" charset="0"/>
              </a:rPr>
              <a:t>Thin Lens approach:  each image acts as next lens’ object</a:t>
            </a: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  <a:buFont typeface="Arial" charset="0"/>
              <a:buChar char="–"/>
            </a:pPr>
            <a:endParaRPr lang="en-US" sz="2000" dirty="0">
              <a:latin typeface="Arial" charset="0"/>
              <a:cs typeface="Arial" charset="0"/>
            </a:endParaRPr>
          </a:p>
          <a:p>
            <a:pPr>
              <a:spcAft>
                <a:spcPts val="1200"/>
              </a:spcAft>
            </a:pPr>
            <a:endParaRPr lang="en-US" sz="2000" dirty="0">
              <a:latin typeface="Arial" charset="0"/>
              <a:cs typeface="Arial" charset="0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>
                <a:latin typeface="Arial" charset="0"/>
                <a:cs typeface="Arial" charset="0"/>
              </a:rPr>
              <a:t>Refraction from a Curved Surface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676400" y="1295401"/>
            <a:ext cx="88392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i="1" dirty="0">
                <a:latin typeface="+mj-lt"/>
              </a:rPr>
              <a:t>Just as with reflection, the normal line for refraction gets defined at the point where a ray touches the surface</a:t>
            </a:r>
          </a:p>
        </p:txBody>
      </p: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1524001" y="2281238"/>
            <a:ext cx="5032375" cy="64817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9" name="Arc 8"/>
              <p:cNvSpPr/>
              <p:nvPr/>
            </p:nvSpPr>
            <p:spPr>
              <a:xfrm>
                <a:off x="7162799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10" name="Arc 9"/>
              <p:cNvSpPr/>
              <p:nvPr/>
            </p:nvSpPr>
            <p:spPr>
              <a:xfrm flipH="1">
                <a:off x="7349920" y="990600"/>
                <a:ext cx="123767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7" name="Straight Connector 6"/>
            <p:cNvCxnSpPr/>
            <p:nvPr/>
          </p:nvCxnSpPr>
          <p:spPr>
            <a:xfrm>
              <a:off x="7218308" y="4346448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Straight Connector 7"/>
            <p:cNvCxnSpPr/>
            <p:nvPr/>
          </p:nvCxnSpPr>
          <p:spPr>
            <a:xfrm>
              <a:off x="7218308" y="990600"/>
              <a:ext cx="199871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Arrow Connector 11"/>
          <p:cNvCxnSpPr/>
          <p:nvPr/>
        </p:nvCxnSpPr>
        <p:spPr>
          <a:xfrm>
            <a:off x="1655763" y="3276600"/>
            <a:ext cx="1600200" cy="15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 bwMode="auto">
          <a:xfrm>
            <a:off x="3276600" y="24384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Glass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438400" y="41910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4038600" y="4114801"/>
            <a:ext cx="1600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Air</a:t>
            </a:r>
          </a:p>
        </p:txBody>
      </p:sp>
      <p:cxnSp>
        <p:nvCxnSpPr>
          <p:cNvPr id="17" name="Straight Connector 16"/>
          <p:cNvCxnSpPr/>
          <p:nvPr/>
        </p:nvCxnSpPr>
        <p:spPr>
          <a:xfrm rot="10800000" flipV="1">
            <a:off x="2590800" y="3138489"/>
            <a:ext cx="1219200" cy="32543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V="1">
            <a:off x="3252789" y="3125788"/>
            <a:ext cx="1635125" cy="165100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/>
          <p:nvPr/>
        </p:nvCxnSpPr>
        <p:spPr>
          <a:xfrm>
            <a:off x="4598989" y="3000375"/>
            <a:ext cx="536575" cy="22383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/>
          <p:cNvCxnSpPr/>
          <p:nvPr/>
        </p:nvCxnSpPr>
        <p:spPr>
          <a:xfrm flipV="1">
            <a:off x="4886326" y="2686050"/>
            <a:ext cx="1096963" cy="433388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 bwMode="auto">
          <a:xfrm>
            <a:off x="6381746" y="3380801"/>
            <a:ext cx="4114800" cy="10156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000" dirty="0">
                <a:latin typeface="+mj-lt"/>
              </a:rPr>
              <a:t>Each incident ray will be refracted (using Snell’s Law to find the angle of refraction)</a:t>
            </a:r>
          </a:p>
        </p:txBody>
      </p:sp>
      <p:cxnSp>
        <p:nvCxnSpPr>
          <p:cNvPr id="36" name="Straight Arrow Connector 35"/>
          <p:cNvCxnSpPr/>
          <p:nvPr/>
        </p:nvCxnSpPr>
        <p:spPr>
          <a:xfrm>
            <a:off x="1928813" y="5522914"/>
            <a:ext cx="1600200" cy="3175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/>
          <p:nvPr/>
        </p:nvCxnSpPr>
        <p:spPr>
          <a:xfrm flipV="1">
            <a:off x="2382838" y="6408738"/>
            <a:ext cx="1098550" cy="0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3529013" y="5526088"/>
            <a:ext cx="1016000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/>
          <p:nvPr/>
        </p:nvCxnSpPr>
        <p:spPr>
          <a:xfrm>
            <a:off x="4545014" y="5526088"/>
            <a:ext cx="1017587" cy="0"/>
          </a:xfrm>
          <a:prstGeom prst="straightConnector1">
            <a:avLst/>
          </a:prstGeom>
          <a:ln w="3810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Connector 47"/>
          <p:cNvCxnSpPr/>
          <p:nvPr/>
        </p:nvCxnSpPr>
        <p:spPr>
          <a:xfrm>
            <a:off x="2971800" y="6332538"/>
            <a:ext cx="838200" cy="11906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/>
          <p:cNvCxnSpPr/>
          <p:nvPr/>
        </p:nvCxnSpPr>
        <p:spPr>
          <a:xfrm>
            <a:off x="3487739" y="6400801"/>
            <a:ext cx="1114425" cy="74613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 flipV="1">
            <a:off x="4292601" y="6448426"/>
            <a:ext cx="531813" cy="666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/>
          <p:cNvCxnSpPr/>
          <p:nvPr/>
        </p:nvCxnSpPr>
        <p:spPr>
          <a:xfrm>
            <a:off x="4594226" y="6481764"/>
            <a:ext cx="815975" cy="300037"/>
          </a:xfrm>
          <a:prstGeom prst="straightConnector1">
            <a:avLst/>
          </a:prstGeom>
          <a:ln w="3810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14:cNvPr>
              <p14:cNvContentPartPr/>
              <p14:nvPr/>
            </p14:nvContentPartPr>
            <p14:xfrm>
              <a:off x="2895480" y="5499000"/>
              <a:ext cx="1035360" cy="5760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40C3BBB-EA1D-4B69-AA70-57FFE05A20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886120" y="5489640"/>
                <a:ext cx="1054080" cy="76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Arial" charset="0"/>
                <a:cs typeface="Arial" charset="0"/>
              </a:rPr>
              <a:t>Thin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6248400" y="2362201"/>
            <a:ext cx="3810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Converging (convex) Lens</a:t>
            </a:r>
          </a:p>
        </p:txBody>
      </p:sp>
      <p:sp>
        <p:nvSpPr>
          <p:cNvPr id="6" name="Oval 5"/>
          <p:cNvSpPr/>
          <p:nvPr/>
        </p:nvSpPr>
        <p:spPr>
          <a:xfrm>
            <a:off x="8034339" y="3962400"/>
            <a:ext cx="85725" cy="188118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7281864" y="4876800"/>
            <a:ext cx="52387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3" name="TextBox 4"/>
          <p:cNvSpPr txBox="1">
            <a:spLocks noChangeArrowheads="1"/>
          </p:cNvSpPr>
          <p:nvPr/>
        </p:nvSpPr>
        <p:spPr bwMode="auto">
          <a:xfrm>
            <a:off x="8718550" y="4945064"/>
            <a:ext cx="128588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9" name="Oval 8"/>
          <p:cNvSpPr/>
          <p:nvPr/>
        </p:nvSpPr>
        <p:spPr>
          <a:xfrm>
            <a:off x="8820150" y="4876800"/>
            <a:ext cx="52388" cy="523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05" name="TextBox 7"/>
          <p:cNvSpPr txBox="1">
            <a:spLocks noChangeArrowheads="1"/>
          </p:cNvSpPr>
          <p:nvPr/>
        </p:nvSpPr>
        <p:spPr bwMode="auto">
          <a:xfrm>
            <a:off x="7180263" y="4945064"/>
            <a:ext cx="1270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11" name="Straight Connector 10"/>
          <p:cNvCxnSpPr/>
          <p:nvPr/>
        </p:nvCxnSpPr>
        <p:spPr>
          <a:xfrm>
            <a:off x="6324600" y="4902200"/>
            <a:ext cx="35052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6794500" y="4235450"/>
            <a:ext cx="1282700" cy="1335088"/>
            <a:chOff x="5270810" y="4235799"/>
            <a:chExt cx="1282390" cy="1334042"/>
          </a:xfrm>
        </p:grpSpPr>
        <p:cxnSp>
          <p:nvCxnSpPr>
            <p:cNvPr id="12" name="Straight Arrow Connector 11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Arrow Connector 12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Arrow Connector 13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Arrow Connector 14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Arrow Connector 15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TextBox 23"/>
          <p:cNvSpPr txBox="1"/>
          <p:nvPr/>
        </p:nvSpPr>
        <p:spPr bwMode="auto">
          <a:xfrm>
            <a:off x="6781800" y="2771336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middle than edge</a:t>
            </a:r>
          </a:p>
        </p:txBody>
      </p:sp>
      <p:grpSp>
        <p:nvGrpSpPr>
          <p:cNvPr id="5" name="Group 26"/>
          <p:cNvGrpSpPr>
            <a:grpSpLocks/>
          </p:cNvGrpSpPr>
          <p:nvPr/>
        </p:nvGrpSpPr>
        <p:grpSpPr bwMode="auto">
          <a:xfrm>
            <a:off x="8077200" y="4235450"/>
            <a:ext cx="1282390" cy="1334220"/>
            <a:chOff x="6553200" y="4235799"/>
            <a:chExt cx="1282390" cy="1334042"/>
          </a:xfrm>
        </p:grpSpPr>
        <p:cxnSp>
          <p:nvCxnSpPr>
            <p:cNvPr id="17" name="Straight Arrow Connector 16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Arrow Connector 17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Arrow Connector 18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Arrow Connector 19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Arrow Connector 20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5" name="TextBox 24"/>
          <p:cNvSpPr txBox="1"/>
          <p:nvPr/>
        </p:nvSpPr>
        <p:spPr bwMode="auto">
          <a:xfrm>
            <a:off x="6400800" y="6073914"/>
            <a:ext cx="35052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</a:t>
            </a:r>
            <a:r>
              <a:rPr lang="en-US" sz="2000" b="1" dirty="0">
                <a:latin typeface="+mj-lt"/>
              </a:rPr>
              <a:t>converge</a:t>
            </a:r>
            <a:r>
              <a:rPr lang="en-US" sz="2000" dirty="0">
                <a:latin typeface="+mj-lt"/>
              </a:rPr>
              <a:t> on focal point</a:t>
            </a:r>
          </a:p>
        </p:txBody>
      </p:sp>
      <p:sp>
        <p:nvSpPr>
          <p:cNvPr id="28" name="Oval 27"/>
          <p:cNvSpPr/>
          <p:nvPr/>
        </p:nvSpPr>
        <p:spPr>
          <a:xfrm>
            <a:off x="33178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1" name="TextBox 4"/>
          <p:cNvSpPr txBox="1">
            <a:spLocks noChangeArrowheads="1"/>
          </p:cNvSpPr>
          <p:nvPr/>
        </p:nvSpPr>
        <p:spPr bwMode="auto">
          <a:xfrm>
            <a:off x="4751389" y="4937125"/>
            <a:ext cx="128587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30" name="Oval 29"/>
          <p:cNvSpPr/>
          <p:nvPr/>
        </p:nvSpPr>
        <p:spPr>
          <a:xfrm>
            <a:off x="4854575" y="4868864"/>
            <a:ext cx="50800" cy="52387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0913" name="TextBox 7"/>
          <p:cNvSpPr txBox="1">
            <a:spLocks noChangeArrowheads="1"/>
          </p:cNvSpPr>
          <p:nvPr/>
        </p:nvSpPr>
        <p:spPr bwMode="auto">
          <a:xfrm>
            <a:off x="3216275" y="4937125"/>
            <a:ext cx="1270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2362200" y="4895850"/>
            <a:ext cx="349885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32"/>
          <p:cNvGrpSpPr>
            <a:grpSpLocks/>
          </p:cNvGrpSpPr>
          <p:nvPr/>
        </p:nvGrpSpPr>
        <p:grpSpPr bwMode="auto">
          <a:xfrm>
            <a:off x="2832101" y="4229101"/>
            <a:ext cx="1279525" cy="1331913"/>
            <a:chOff x="1752600" y="2087563"/>
            <a:chExt cx="2286000" cy="2378075"/>
          </a:xfrm>
        </p:grpSpPr>
        <p:cxnSp>
          <p:nvCxnSpPr>
            <p:cNvPr id="34" name="Straight Arrow Connector 33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Straight Arrow Connector 34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0" name="Group 35"/>
          <p:cNvGrpSpPr>
            <a:grpSpLocks/>
          </p:cNvGrpSpPr>
          <p:nvPr/>
        </p:nvGrpSpPr>
        <p:grpSpPr bwMode="auto">
          <a:xfrm>
            <a:off x="4024314" y="3954463"/>
            <a:ext cx="174625" cy="1879600"/>
            <a:chOff x="7162799" y="990600"/>
            <a:chExt cx="310888" cy="3355848"/>
          </a:xfrm>
        </p:grpSpPr>
        <p:grpSp>
          <p:nvGrpSpPr>
            <p:cNvPr id="2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43" name="Arc 42"/>
              <p:cNvSpPr/>
              <p:nvPr/>
            </p:nvSpPr>
            <p:spPr>
              <a:xfrm>
                <a:off x="7162799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44" name="Arc 43"/>
              <p:cNvSpPr/>
              <p:nvPr/>
            </p:nvSpPr>
            <p:spPr>
              <a:xfrm flipH="1">
                <a:off x="7349332" y="990600"/>
                <a:ext cx="124355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41" name="Straight Connector 40"/>
            <p:cNvCxnSpPr/>
            <p:nvPr/>
          </p:nvCxnSpPr>
          <p:spPr>
            <a:xfrm>
              <a:off x="7219324" y="4346448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/>
            <p:cNvCxnSpPr/>
            <p:nvPr/>
          </p:nvCxnSpPr>
          <p:spPr>
            <a:xfrm>
              <a:off x="7219324" y="990600"/>
              <a:ext cx="197838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8" name="TextBox 57"/>
          <p:cNvSpPr txBox="1"/>
          <p:nvPr/>
        </p:nvSpPr>
        <p:spPr bwMode="auto">
          <a:xfrm>
            <a:off x="1676400" y="2362201"/>
            <a:ext cx="40386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Diverging (concave) Lens</a:t>
            </a:r>
          </a:p>
        </p:txBody>
      </p:sp>
      <p:sp>
        <p:nvSpPr>
          <p:cNvPr id="59" name="TextBox 58"/>
          <p:cNvSpPr txBox="1"/>
          <p:nvPr/>
        </p:nvSpPr>
        <p:spPr bwMode="auto">
          <a:xfrm>
            <a:off x="2438400" y="2800290"/>
            <a:ext cx="3505200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Thicker at edge than middle</a:t>
            </a:r>
          </a:p>
        </p:txBody>
      </p:sp>
      <p:grpSp>
        <p:nvGrpSpPr>
          <p:cNvPr id="23" name="Group 44"/>
          <p:cNvGrpSpPr>
            <a:grpSpLocks/>
          </p:cNvGrpSpPr>
          <p:nvPr/>
        </p:nvGrpSpPr>
        <p:grpSpPr bwMode="auto">
          <a:xfrm>
            <a:off x="2831334" y="3124200"/>
            <a:ext cx="2559816" cy="3541776"/>
            <a:chOff x="1752600" y="114300"/>
            <a:chExt cx="4572000" cy="6324600"/>
          </a:xfrm>
        </p:grpSpPr>
        <p:grpSp>
          <p:nvGrpSpPr>
            <p:cNvPr id="2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52" name="Straight Arrow Connector 51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3" name="Straight Arrow Connector 52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4" name="Straight Arrow Connector 53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Straight Arrow Connector 54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Straight Arrow Connector 55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48" name="Straight Arrow Connector 47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9" name="Straight Arrow Connector 48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Straight Arrow Connector 49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Straight Arrow Connector 50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1" name="TextBox 60"/>
          <p:cNvSpPr txBox="1"/>
          <p:nvPr/>
        </p:nvSpPr>
        <p:spPr bwMode="auto">
          <a:xfrm>
            <a:off x="1524000" y="1295401"/>
            <a:ext cx="91440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Unlike mirrors, a thin lens has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2 focal points (one on each side)</a:t>
            </a:r>
          </a:p>
        </p:txBody>
      </p:sp>
      <p:grpSp>
        <p:nvGrpSpPr>
          <p:cNvPr id="29" name="Group 32"/>
          <p:cNvGrpSpPr>
            <a:grpSpLocks/>
          </p:cNvGrpSpPr>
          <p:nvPr/>
        </p:nvGrpSpPr>
        <p:grpSpPr bwMode="auto">
          <a:xfrm flipH="1">
            <a:off x="4111626" y="4229101"/>
            <a:ext cx="1279525" cy="1331913"/>
            <a:chOff x="1752600" y="2087563"/>
            <a:chExt cx="2286000" cy="2378075"/>
          </a:xfrm>
        </p:grpSpPr>
        <p:cxnSp>
          <p:nvCxnSpPr>
            <p:cNvPr id="63" name="Straight Arrow Connector 62"/>
            <p:cNvCxnSpPr/>
            <p:nvPr/>
          </p:nvCxnSpPr>
          <p:spPr>
            <a:xfrm>
              <a:off x="1752600" y="2679957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/>
            <p:cNvCxnSpPr/>
            <p:nvPr/>
          </p:nvCxnSpPr>
          <p:spPr>
            <a:xfrm>
              <a:off x="1752600" y="446280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/>
            <p:cNvCxnSpPr/>
            <p:nvPr/>
          </p:nvCxnSpPr>
          <p:spPr>
            <a:xfrm>
              <a:off x="1752600" y="2087563"/>
              <a:ext cx="2286000" cy="283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/>
            <p:cNvCxnSpPr/>
            <p:nvPr/>
          </p:nvCxnSpPr>
          <p:spPr>
            <a:xfrm>
              <a:off x="1752600" y="3275184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7" name="Straight Arrow Connector 66"/>
            <p:cNvCxnSpPr/>
            <p:nvPr/>
          </p:nvCxnSpPr>
          <p:spPr>
            <a:xfrm>
              <a:off x="1752600" y="3870411"/>
              <a:ext cx="2286000" cy="2834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1" name="Group 44"/>
          <p:cNvGrpSpPr>
            <a:grpSpLocks/>
          </p:cNvGrpSpPr>
          <p:nvPr/>
        </p:nvGrpSpPr>
        <p:grpSpPr bwMode="auto">
          <a:xfrm flipH="1">
            <a:off x="2819400" y="3124200"/>
            <a:ext cx="2559816" cy="3541776"/>
            <a:chOff x="1752600" y="114300"/>
            <a:chExt cx="4572000" cy="6324600"/>
          </a:xfrm>
        </p:grpSpPr>
        <p:grpSp>
          <p:nvGrpSpPr>
            <p:cNvPr id="80896" name="Group 26"/>
            <p:cNvGrpSpPr>
              <a:grpSpLocks/>
            </p:cNvGrpSpPr>
            <p:nvPr/>
          </p:nvGrpSpPr>
          <p:grpSpPr bwMode="auto">
            <a:xfrm>
              <a:off x="4038600" y="114300"/>
              <a:ext cx="2286000" cy="6324600"/>
              <a:chOff x="4038600" y="114300"/>
              <a:chExt cx="2286000" cy="6324600"/>
            </a:xfrm>
          </p:grpSpPr>
          <p:cxnSp>
            <p:nvCxnSpPr>
              <p:cNvPr id="75" name="Straight Arrow Connector 74"/>
              <p:cNvCxnSpPr>
                <a:cxnSpLocks noChangeAspect="1"/>
              </p:cNvCxnSpPr>
              <p:nvPr/>
            </p:nvCxnSpPr>
            <p:spPr>
              <a:xfrm>
                <a:off x="4039284" y="446291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Arrow Connector 75"/>
              <p:cNvCxnSpPr>
                <a:cxnSpLocks noChangeAspect="1"/>
              </p:cNvCxnSpPr>
              <p:nvPr/>
            </p:nvCxnSpPr>
            <p:spPr>
              <a:xfrm flipV="1">
                <a:off x="4039284" y="114300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Arrow Connector 76"/>
              <p:cNvCxnSpPr>
                <a:cxnSpLocks/>
              </p:cNvCxnSpPr>
              <p:nvPr/>
            </p:nvCxnSpPr>
            <p:spPr>
              <a:xfrm flipV="1">
                <a:off x="4039284" y="1696130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Arrow Connector 77"/>
              <p:cNvCxnSpPr>
                <a:cxnSpLocks/>
              </p:cNvCxnSpPr>
              <p:nvPr/>
            </p:nvCxnSpPr>
            <p:spPr>
              <a:xfrm>
                <a:off x="4039284" y="3870439"/>
                <a:ext cx="2285316" cy="986518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Arrow Connector 78"/>
              <p:cNvCxnSpPr>
                <a:cxnSpLocks/>
              </p:cNvCxnSpPr>
              <p:nvPr/>
            </p:nvCxnSpPr>
            <p:spPr>
              <a:xfrm flipV="1">
                <a:off x="4039284" y="3277961"/>
                <a:ext cx="2285316" cy="0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0897" name="Group 27"/>
            <p:cNvGrpSpPr>
              <a:grpSpLocks/>
            </p:cNvGrpSpPr>
            <p:nvPr/>
          </p:nvGrpSpPr>
          <p:grpSpPr bwMode="auto">
            <a:xfrm>
              <a:off x="1752600" y="2087563"/>
              <a:ext cx="2286000" cy="2378075"/>
              <a:chOff x="1752600" y="2087563"/>
              <a:chExt cx="2286000" cy="2378075"/>
            </a:xfrm>
          </p:grpSpPr>
          <p:cxnSp>
            <p:nvCxnSpPr>
              <p:cNvPr id="71" name="Straight Arrow Connector 70"/>
              <p:cNvCxnSpPr>
                <a:cxnSpLocks noChangeAspect="1"/>
              </p:cNvCxnSpPr>
              <p:nvPr/>
            </p:nvCxnSpPr>
            <p:spPr>
              <a:xfrm>
                <a:off x="1753968" y="2489881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2" name="Straight Arrow Connector 71"/>
              <p:cNvCxnSpPr>
                <a:cxnSpLocks noChangeAspect="1"/>
              </p:cNvCxnSpPr>
              <p:nvPr/>
            </p:nvCxnSpPr>
            <p:spPr>
              <a:xfrm flipV="1">
                <a:off x="1753968" y="2087336"/>
                <a:ext cx="2285316" cy="1975871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3" name="Straight Arrow Connector 72"/>
              <p:cNvCxnSpPr>
                <a:cxnSpLocks/>
              </p:cNvCxnSpPr>
              <p:nvPr/>
            </p:nvCxnSpPr>
            <p:spPr>
              <a:xfrm flipV="1">
                <a:off x="1753968" y="2679815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4" name="Straight Arrow Connector 73"/>
              <p:cNvCxnSpPr>
                <a:cxnSpLocks/>
              </p:cNvCxnSpPr>
              <p:nvPr/>
            </p:nvCxnSpPr>
            <p:spPr>
              <a:xfrm>
                <a:off x="1753968" y="2883922"/>
                <a:ext cx="2285316" cy="989352"/>
              </a:xfrm>
              <a:prstGeom prst="straightConnector1">
                <a:avLst/>
              </a:prstGeom>
              <a:ln w="31750">
                <a:solidFill>
                  <a:srgbClr val="293F6F"/>
                </a:solidFill>
                <a:prstDash val="sysDot"/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80899" name="Group 25"/>
          <p:cNvGrpSpPr>
            <a:grpSpLocks/>
          </p:cNvGrpSpPr>
          <p:nvPr/>
        </p:nvGrpSpPr>
        <p:grpSpPr bwMode="auto">
          <a:xfrm flipH="1">
            <a:off x="8077200" y="4235450"/>
            <a:ext cx="1282700" cy="1335088"/>
            <a:chOff x="5270810" y="4235799"/>
            <a:chExt cx="1282390" cy="1334042"/>
          </a:xfrm>
        </p:grpSpPr>
        <p:cxnSp>
          <p:nvCxnSpPr>
            <p:cNvPr id="93" name="Straight Arrow Connector 92"/>
            <p:cNvCxnSpPr/>
            <p:nvPr/>
          </p:nvCxnSpPr>
          <p:spPr>
            <a:xfrm>
              <a:off x="5270810" y="4568913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Straight Arrow Connector 93"/>
            <p:cNvCxnSpPr/>
            <p:nvPr/>
          </p:nvCxnSpPr>
          <p:spPr>
            <a:xfrm>
              <a:off x="5270810" y="5568254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5" name="Straight Arrow Connector 94"/>
            <p:cNvCxnSpPr/>
            <p:nvPr/>
          </p:nvCxnSpPr>
          <p:spPr>
            <a:xfrm>
              <a:off x="5270810" y="4235799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6" name="Straight Arrow Connector 95"/>
            <p:cNvCxnSpPr/>
            <p:nvPr/>
          </p:nvCxnSpPr>
          <p:spPr>
            <a:xfrm>
              <a:off x="5270810" y="4902027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7" name="Straight Arrow Connector 96"/>
            <p:cNvCxnSpPr/>
            <p:nvPr/>
          </p:nvCxnSpPr>
          <p:spPr>
            <a:xfrm>
              <a:off x="5270810" y="5235140"/>
              <a:ext cx="1282390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0900" name="Group 26"/>
          <p:cNvGrpSpPr>
            <a:grpSpLocks/>
          </p:cNvGrpSpPr>
          <p:nvPr/>
        </p:nvGrpSpPr>
        <p:grpSpPr bwMode="auto">
          <a:xfrm flipH="1">
            <a:off x="6794810" y="4236318"/>
            <a:ext cx="1282390" cy="1334220"/>
            <a:chOff x="6553200" y="4235799"/>
            <a:chExt cx="1282390" cy="1334042"/>
          </a:xfrm>
        </p:grpSpPr>
        <p:cxnSp>
          <p:nvCxnSpPr>
            <p:cNvPr id="99" name="Straight Arrow Connector 98"/>
            <p:cNvCxnSpPr>
              <a:cxnSpLocks noChangeAspect="1"/>
            </p:cNvCxnSpPr>
            <p:nvPr/>
          </p:nvCxnSpPr>
          <p:spPr>
            <a:xfrm>
              <a:off x="6553200" y="4235799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0" name="Straight Arrow Connector 99"/>
            <p:cNvCxnSpPr>
              <a:cxnSpLocks noChangeAspect="1"/>
            </p:cNvCxnSpPr>
            <p:nvPr/>
          </p:nvCxnSpPr>
          <p:spPr>
            <a:xfrm flipV="1">
              <a:off x="6553200" y="4461194"/>
              <a:ext cx="1282700" cy="1107927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1" name="Straight Arrow Connector 100"/>
            <p:cNvCxnSpPr>
              <a:cxnSpLocks/>
            </p:cNvCxnSpPr>
            <p:nvPr/>
          </p:nvCxnSpPr>
          <p:spPr>
            <a:xfrm flipV="1">
              <a:off x="6553200" y="4681827"/>
              <a:ext cx="1282700" cy="553963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2" name="Straight Arrow Connector 101"/>
            <p:cNvCxnSpPr>
              <a:cxnSpLocks/>
            </p:cNvCxnSpPr>
            <p:nvPr/>
          </p:nvCxnSpPr>
          <p:spPr>
            <a:xfrm>
              <a:off x="6553200" y="4569130"/>
              <a:ext cx="1282700" cy="553964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3" name="Straight Arrow Connector 102"/>
            <p:cNvCxnSpPr>
              <a:cxnSpLocks/>
            </p:cNvCxnSpPr>
            <p:nvPr/>
          </p:nvCxnSpPr>
          <p:spPr>
            <a:xfrm flipV="1">
              <a:off x="6553200" y="4904048"/>
              <a:ext cx="1282700" cy="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34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 bwMode="auto">
          <a:xfrm>
            <a:off x="2209800" y="6150114"/>
            <a:ext cx="3505200" cy="707886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000" dirty="0">
                <a:latin typeface="+mj-lt"/>
              </a:rPr>
              <a:t>Parallel rays appear to </a:t>
            </a:r>
            <a:r>
              <a:rPr lang="en-US" sz="2000" b="1" dirty="0">
                <a:latin typeface="+mj-lt"/>
              </a:rPr>
              <a:t>diverge</a:t>
            </a:r>
            <a:r>
              <a:rPr lang="en-US" sz="2000" dirty="0">
                <a:latin typeface="+mj-lt"/>
              </a:rPr>
              <a:t> from focal point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8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9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6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7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1929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2133600" y="1905001"/>
            <a:ext cx="3124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26" name="TextBox 25"/>
          <p:cNvSpPr txBox="1"/>
          <p:nvPr/>
        </p:nvSpPr>
        <p:spPr bwMode="auto">
          <a:xfrm>
            <a:off x="2209800" y="4419600"/>
            <a:ext cx="4572000" cy="2308324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passes through the focal point (on the opposite side from the object)</a:t>
            </a:r>
          </a:p>
          <a:p>
            <a:pPr>
              <a:defRPr/>
            </a:pP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i.e. object is located on left side, and ray passes through F on right side</a:t>
            </a:r>
            <a:endParaRPr lang="en-US" sz="2400" dirty="0">
              <a:solidFill>
                <a:srgbClr val="293F6F"/>
              </a:solidFill>
              <a:latin typeface="+mj-lt"/>
            </a:endParaRPr>
          </a:p>
        </p:txBody>
      </p:sp>
      <p:cxnSp>
        <p:nvCxnSpPr>
          <p:cNvPr id="28" name="Straight Connector 27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3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2955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00925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TextBox 24"/>
          <p:cNvSpPr txBox="1"/>
          <p:nvPr/>
        </p:nvSpPr>
        <p:spPr bwMode="auto">
          <a:xfrm>
            <a:off x="1676400" y="1905001"/>
            <a:ext cx="54102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 Ray which passes through focal point on the same side as the object</a:t>
            </a: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1201"/>
            <a:ext cx="5029200" cy="460375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A67A00"/>
                </a:solidFill>
              </a:rPr>
              <a:t>Refracted Ray is parallel to the OA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36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6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Converging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6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3978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753600" y="3962400"/>
            <a:ext cx="381000" cy="914400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 bwMode="auto">
          <a:xfrm>
            <a:off x="1828800" y="1905001"/>
            <a:ext cx="4191000" cy="830263"/>
          </a:xfrm>
          <a:prstGeom prst="rect">
            <a:avLst/>
          </a:prstGeom>
          <a:solidFill>
            <a:schemeClr val="bg1">
              <a:lumMod val="8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 Ray which </a:t>
            </a:r>
            <a:r>
              <a:rPr lang="en-US" sz="2400" dirty="0">
                <a:solidFill>
                  <a:srgbClr val="FF0000"/>
                </a:solidFill>
              </a:rPr>
              <a:t>passes through the center of the lens 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828800" y="5799138"/>
            <a:ext cx="6096000" cy="830262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</a:rPr>
              <a:t>undeflected</a:t>
            </a:r>
            <a:r>
              <a:rPr lang="en-US" sz="2400" dirty="0">
                <a:solidFill>
                  <a:srgbClr val="FF0000"/>
                </a:solidFill>
              </a:rPr>
              <a:t>  </a:t>
            </a:r>
          </a:p>
          <a:p>
            <a:pPr eaLnBrk="1" hangingPunct="1"/>
            <a:r>
              <a:rPr lang="en-US" sz="2400" dirty="0">
                <a:solidFill>
                  <a:srgbClr val="FF0000"/>
                </a:solidFill>
              </a:rPr>
              <a:t>(because it is a </a:t>
            </a:r>
            <a:r>
              <a:rPr lang="en-US" sz="2400" b="1" dirty="0">
                <a:solidFill>
                  <a:srgbClr val="FF0000"/>
                </a:solidFill>
              </a:rPr>
              <a:t>thin</a:t>
            </a:r>
            <a:r>
              <a:rPr lang="en-US" sz="2400" dirty="0">
                <a:solidFill>
                  <a:srgbClr val="FF0000"/>
                </a:solidFill>
              </a:rPr>
              <a:t> lens)</a:t>
            </a:r>
          </a:p>
        </p:txBody>
      </p: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Converging Lens – Summary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(for object located </a:t>
            </a:r>
            <a:r>
              <a:rPr lang="en-US" sz="3600" b="1" i="1" dirty="0">
                <a:latin typeface="Arial" charset="0"/>
                <a:cs typeface="Arial" charset="0"/>
              </a:rPr>
              <a:t>outside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/>
          <p:nvPr/>
        </p:nvSpPr>
        <p:spPr>
          <a:xfrm rot="10800000">
            <a:off x="4303713" y="30480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>
            <a:off x="4487863" y="3048000"/>
            <a:ext cx="2743200" cy="1588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/>
          <p:cNvCxnSpPr/>
          <p:nvPr/>
        </p:nvCxnSpPr>
        <p:spPr>
          <a:xfrm>
            <a:off x="7239000" y="3049588"/>
            <a:ext cx="3124200" cy="2082800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cxnSpLocks noChangeAspect="1"/>
          </p:cNvCxnSpPr>
          <p:nvPr/>
        </p:nvCxnSpPr>
        <p:spPr>
          <a:xfrm rot="10800000" flipH="1" flipV="1">
            <a:off x="4487863" y="3048000"/>
            <a:ext cx="2743200" cy="18288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/>
          <p:nvPr/>
        </p:nvCxnSpPr>
        <p:spPr>
          <a:xfrm rot="10800000">
            <a:off x="7239000" y="4875214"/>
            <a:ext cx="3200400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>
            <a:cxnSpLocks noChangeAspect="1"/>
          </p:cNvCxnSpPr>
          <p:nvPr/>
        </p:nvCxnSpPr>
        <p:spPr>
          <a:xfrm>
            <a:off x="4494213" y="3048000"/>
            <a:ext cx="27432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Oval 15"/>
          <p:cNvSpPr/>
          <p:nvPr/>
        </p:nvSpPr>
        <p:spPr>
          <a:xfrm>
            <a:off x="58213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2" name="TextBox 16"/>
          <p:cNvSpPr txBox="1">
            <a:spLocks noChangeArrowheads="1"/>
          </p:cNvSpPr>
          <p:nvPr/>
        </p:nvSpPr>
        <p:spPr bwMode="auto">
          <a:xfrm>
            <a:off x="83820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8" name="Oval 17"/>
          <p:cNvSpPr/>
          <p:nvPr/>
        </p:nvSpPr>
        <p:spPr>
          <a:xfrm>
            <a:off x="8564564" y="3916364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5004" name="TextBox 18"/>
          <p:cNvSpPr txBox="1">
            <a:spLocks noChangeArrowheads="1"/>
          </p:cNvSpPr>
          <p:nvPr/>
        </p:nvSpPr>
        <p:spPr bwMode="auto">
          <a:xfrm>
            <a:off x="5638800" y="4038600"/>
            <a:ext cx="228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0" name="Straight Connector 19"/>
          <p:cNvCxnSpPr/>
          <p:nvPr/>
        </p:nvCxnSpPr>
        <p:spPr>
          <a:xfrm>
            <a:off x="4114800" y="3962400"/>
            <a:ext cx="6248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Oval 20"/>
          <p:cNvSpPr/>
          <p:nvPr/>
        </p:nvSpPr>
        <p:spPr>
          <a:xfrm>
            <a:off x="7162800" y="2286000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2" name="Down Arrow 21"/>
          <p:cNvSpPr/>
          <p:nvPr/>
        </p:nvSpPr>
        <p:spPr>
          <a:xfrm>
            <a:off x="9829800" y="3962400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7239000" y="3962400"/>
            <a:ext cx="3200400" cy="10668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rot="5400000">
            <a:off x="5227638" y="3962401"/>
            <a:ext cx="40227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46"/>
          <p:cNvGrpSpPr>
            <a:grpSpLocks/>
          </p:cNvGrpSpPr>
          <p:nvPr/>
        </p:nvGrpSpPr>
        <p:grpSpPr bwMode="auto">
          <a:xfrm>
            <a:off x="1600200" y="3276600"/>
            <a:ext cx="2895600" cy="412750"/>
            <a:chOff x="76200" y="3276600"/>
            <a:chExt cx="2895600" cy="412750"/>
          </a:xfrm>
        </p:grpSpPr>
        <p:sp>
          <p:nvSpPr>
            <p:cNvPr id="85026" name="TextBox 7"/>
            <p:cNvSpPr txBox="1">
              <a:spLocks noChangeArrowheads="1"/>
            </p:cNvSpPr>
            <p:nvPr/>
          </p:nvSpPr>
          <p:spPr bwMode="auto">
            <a:xfrm>
              <a:off x="2620963" y="3321050"/>
              <a:ext cx="2286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0" name="TextBox 29"/>
            <p:cNvSpPr txBox="1"/>
            <p:nvPr/>
          </p:nvSpPr>
          <p:spPr bwMode="auto">
            <a:xfrm>
              <a:off x="76200" y="32766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3" name="Group 48"/>
          <p:cNvGrpSpPr>
            <a:grpSpLocks/>
          </p:cNvGrpSpPr>
          <p:nvPr/>
        </p:nvGrpSpPr>
        <p:grpSpPr bwMode="auto">
          <a:xfrm>
            <a:off x="7772400" y="3352800"/>
            <a:ext cx="2895600" cy="1250950"/>
            <a:chOff x="6248400" y="3352800"/>
            <a:chExt cx="2895600" cy="1250950"/>
          </a:xfrm>
        </p:grpSpPr>
        <p:sp>
          <p:nvSpPr>
            <p:cNvPr id="85024" name="TextBox 11"/>
            <p:cNvSpPr txBox="1">
              <a:spLocks noChangeArrowheads="1"/>
            </p:cNvSpPr>
            <p:nvPr/>
          </p:nvSpPr>
          <p:spPr bwMode="auto">
            <a:xfrm>
              <a:off x="8610600" y="4235450"/>
              <a:ext cx="38100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6248400" y="335280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8" name="Group 47"/>
          <p:cNvGrpSpPr>
            <a:grpSpLocks/>
          </p:cNvGrpSpPr>
          <p:nvPr/>
        </p:nvGrpSpPr>
        <p:grpSpPr bwMode="auto">
          <a:xfrm>
            <a:off x="7239000" y="5030786"/>
            <a:ext cx="2971800" cy="627122"/>
            <a:chOff x="5715000" y="5030787"/>
            <a:chExt cx="2971800" cy="627123"/>
          </a:xfrm>
        </p:grpSpPr>
        <p:cxnSp>
          <p:nvCxnSpPr>
            <p:cNvPr id="4" name="Straight Connector 3"/>
            <p:cNvCxnSpPr/>
            <p:nvPr/>
          </p:nvCxnSpPr>
          <p:spPr>
            <a:xfrm flipH="1">
              <a:off x="5715000" y="5030787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22" name="TextBox 12"/>
            <p:cNvSpPr txBox="1">
              <a:spLocks noChangeArrowheads="1"/>
            </p:cNvSpPr>
            <p:nvPr/>
          </p:nvSpPr>
          <p:spPr bwMode="auto">
            <a:xfrm>
              <a:off x="6896100" y="503078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37" name="TextBox 36"/>
            <p:cNvSpPr txBox="1"/>
            <p:nvPr/>
          </p:nvSpPr>
          <p:spPr bwMode="auto">
            <a:xfrm>
              <a:off x="5791200" y="5257799"/>
              <a:ext cx="2895600" cy="400111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2" name="Group 45"/>
          <p:cNvGrpSpPr>
            <a:grpSpLocks/>
          </p:cNvGrpSpPr>
          <p:nvPr/>
        </p:nvGrpSpPr>
        <p:grpSpPr bwMode="auto">
          <a:xfrm>
            <a:off x="4191001" y="2190691"/>
            <a:ext cx="3040063" cy="701735"/>
            <a:chOff x="2667000" y="2190690"/>
            <a:chExt cx="3040063" cy="701735"/>
          </a:xfrm>
        </p:grpSpPr>
        <p:cxnSp>
          <p:nvCxnSpPr>
            <p:cNvPr id="14" name="Straight Connector 13"/>
            <p:cNvCxnSpPr/>
            <p:nvPr/>
          </p:nvCxnSpPr>
          <p:spPr>
            <a:xfrm flipH="1">
              <a:off x="2963863" y="2892425"/>
              <a:ext cx="2743200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5019" name="TextBox 14"/>
            <p:cNvSpPr txBox="1">
              <a:spLocks noChangeArrowheads="1"/>
            </p:cNvSpPr>
            <p:nvPr/>
          </p:nvSpPr>
          <p:spPr bwMode="auto">
            <a:xfrm>
              <a:off x="4144963" y="2522537"/>
              <a:ext cx="381000" cy="3698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1" name="TextBox 40"/>
            <p:cNvSpPr txBox="1"/>
            <p:nvPr/>
          </p:nvSpPr>
          <p:spPr bwMode="auto">
            <a:xfrm>
              <a:off x="2667000" y="2190690"/>
              <a:ext cx="2895600" cy="40011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2" name="TextBox 41"/>
          <p:cNvSpPr txBox="1"/>
          <p:nvPr/>
        </p:nvSpPr>
        <p:spPr bwMode="auto">
          <a:xfrm>
            <a:off x="1866900" y="4958102"/>
            <a:ext cx="3992562" cy="1015663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which are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outside</a:t>
            </a:r>
            <a:r>
              <a:rPr lang="en-US" sz="2000" dirty="0">
                <a:latin typeface="+mj-lt"/>
              </a:rPr>
              <a:t> the focal length) create images which are: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1600200" y="5951539"/>
            <a:ext cx="2971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Inverted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(upside down)</a:t>
            </a:r>
            <a:endParaRPr lang="en-US" sz="2000" b="1" dirty="0">
              <a:latin typeface="+mj-lt"/>
            </a:endParaRPr>
          </a:p>
        </p:txBody>
      </p:sp>
      <p:sp>
        <p:nvSpPr>
          <p:cNvPr id="44" name="TextBox 43"/>
          <p:cNvSpPr txBox="1"/>
          <p:nvPr/>
        </p:nvSpPr>
        <p:spPr bwMode="auto">
          <a:xfrm>
            <a:off x="4114800" y="5951539"/>
            <a:ext cx="28956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Real </a:t>
            </a:r>
          </a:p>
          <a:p>
            <a:pPr algn="ctr">
              <a:defRPr/>
            </a:pPr>
            <a:r>
              <a:rPr lang="en-US" sz="2000" dirty="0">
                <a:latin typeface="+mj-lt"/>
              </a:rPr>
              <a:t>(rays converge at image)</a:t>
            </a:r>
            <a:endParaRPr lang="en-US" sz="2000" b="1" dirty="0">
              <a:latin typeface="+mj-lt"/>
            </a:endParaRPr>
          </a:p>
        </p:txBody>
      </p:sp>
      <p:sp>
        <p:nvSpPr>
          <p:cNvPr id="35" name="TextBox 34"/>
          <p:cNvSpPr txBox="1">
            <a:spLocks noChangeArrowheads="1"/>
          </p:cNvSpPr>
          <p:nvPr/>
        </p:nvSpPr>
        <p:spPr bwMode="auto">
          <a:xfrm>
            <a:off x="1905000" y="4343401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solidFill>
              <a:schemeClr val="tx1"/>
            </a:solidFill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 f 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positive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38</a:t>
            </a:fld>
            <a:endParaRPr lang="en-US"/>
          </a:p>
        </p:txBody>
      </p:sp>
      <p:sp>
        <p:nvSpPr>
          <p:cNvPr id="38" name="TextBox 37"/>
          <p:cNvSpPr txBox="1"/>
          <p:nvPr/>
        </p:nvSpPr>
        <p:spPr bwMode="auto">
          <a:xfrm>
            <a:off x="7086600" y="5867401"/>
            <a:ext cx="3352800" cy="984885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000" b="1" dirty="0">
                <a:solidFill>
                  <a:srgbClr val="FF0000"/>
                </a:solidFill>
                <a:latin typeface="+mj-lt"/>
              </a:rPr>
              <a:t> Can be reduced, enlarged or same size</a:t>
            </a:r>
          </a:p>
          <a:p>
            <a:pPr algn="ctr">
              <a:defRPr/>
            </a:pPr>
            <a:r>
              <a:rPr lang="en-US" dirty="0">
                <a:latin typeface="+mj-lt"/>
              </a:rPr>
              <a:t>(depending on object location)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 animBg="1"/>
      <p:bldP spid="43" grpId="0"/>
      <p:bldP spid="44" grpId="0"/>
      <p:bldP spid="35" grpId="0" animBg="1"/>
      <p:bldP spid="3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latin typeface="Arial" charset="0"/>
                <a:cs typeface="Arial" charset="0"/>
              </a:rPr>
              <a:t>Converging Lens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3600" i="1" dirty="0">
                <a:latin typeface="Arial" charset="0"/>
                <a:cs typeface="Arial" charset="0"/>
              </a:rPr>
              <a:t>(object located </a:t>
            </a:r>
            <a:r>
              <a:rPr lang="en-US" sz="3600" b="1" i="1" dirty="0">
                <a:latin typeface="Arial" charset="0"/>
                <a:cs typeface="Arial" charset="0"/>
              </a:rPr>
              <a:t>inside F</a:t>
            </a:r>
            <a:r>
              <a:rPr lang="en-US" sz="3600" i="1" dirty="0">
                <a:latin typeface="Arial" charset="0"/>
                <a:cs typeface="Arial" charset="0"/>
              </a:rPr>
              <a:t>) </a:t>
            </a:r>
            <a:endParaRPr lang="en-US" i="1" dirty="0">
              <a:cs typeface="Arial" charset="0"/>
            </a:endParaRPr>
          </a:p>
        </p:txBody>
      </p:sp>
      <p:sp>
        <p:nvSpPr>
          <p:cNvPr id="5" name="Oval 4"/>
          <p:cNvSpPr/>
          <p:nvPr/>
        </p:nvSpPr>
        <p:spPr>
          <a:xfrm>
            <a:off x="23145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7" name="TextBox 5"/>
          <p:cNvSpPr txBox="1">
            <a:spLocks noChangeArrowheads="1"/>
          </p:cNvSpPr>
          <p:nvPr/>
        </p:nvSpPr>
        <p:spPr bwMode="auto">
          <a:xfrm>
            <a:off x="9372601" y="4572000"/>
            <a:ext cx="301625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7" name="Oval 6"/>
          <p:cNvSpPr/>
          <p:nvPr/>
        </p:nvSpPr>
        <p:spPr>
          <a:xfrm>
            <a:off x="9629775" y="4565650"/>
            <a:ext cx="90488" cy="90488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0119" name="TextBox 7"/>
          <p:cNvSpPr txBox="1">
            <a:spLocks noChangeArrowheads="1"/>
          </p:cNvSpPr>
          <p:nvPr/>
        </p:nvSpPr>
        <p:spPr bwMode="auto">
          <a:xfrm>
            <a:off x="1981201" y="4572000"/>
            <a:ext cx="301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1890713" y="4611688"/>
            <a:ext cx="8253412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5916613" y="2397125"/>
            <a:ext cx="201612" cy="4427538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9" name="Up Arrow 18"/>
          <p:cNvSpPr/>
          <p:nvPr/>
        </p:nvSpPr>
        <p:spPr>
          <a:xfrm>
            <a:off x="4070350" y="4154488"/>
            <a:ext cx="228600" cy="457200"/>
          </a:xfrm>
          <a:prstGeom prst="up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20" name="Straight Connector 19"/>
          <p:cNvCxnSpPr/>
          <p:nvPr/>
        </p:nvCxnSpPr>
        <p:spPr>
          <a:xfrm rot="5400000">
            <a:off x="3771107" y="4610894"/>
            <a:ext cx="44942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/>
          <p:cNvCxnSpPr/>
          <p:nvPr/>
        </p:nvCxnSpPr>
        <p:spPr bwMode="auto">
          <a:xfrm>
            <a:off x="6018214" y="4154489"/>
            <a:ext cx="4497387" cy="561975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/>
          <p:cNvCxnSpPr/>
          <p:nvPr/>
        </p:nvCxnSpPr>
        <p:spPr bwMode="auto">
          <a:xfrm>
            <a:off x="4189413" y="4154489"/>
            <a:ext cx="1828800" cy="1587"/>
          </a:xfrm>
          <a:prstGeom prst="straightConnector1">
            <a:avLst/>
          </a:prstGeom>
          <a:ln w="3810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/>
          <p:cNvCxnSpPr>
            <a:cxnSpLocks noChangeAspect="1"/>
          </p:cNvCxnSpPr>
          <p:nvPr/>
        </p:nvCxnSpPr>
        <p:spPr bwMode="auto">
          <a:xfrm>
            <a:off x="1524001" y="3489325"/>
            <a:ext cx="2665413" cy="666750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/>
          <p:cNvCxnSpPr>
            <a:cxnSpLocks/>
          </p:cNvCxnSpPr>
          <p:nvPr/>
        </p:nvCxnSpPr>
        <p:spPr bwMode="auto">
          <a:xfrm>
            <a:off x="6018214" y="3698875"/>
            <a:ext cx="4344987" cy="1588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0"/>
          <p:cNvGrpSpPr/>
          <p:nvPr/>
        </p:nvGrpSpPr>
        <p:grpSpPr>
          <a:xfrm>
            <a:off x="1524001" y="3594101"/>
            <a:ext cx="4494213" cy="561975"/>
            <a:chOff x="0" y="3594100"/>
            <a:chExt cx="4494213" cy="56197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 bwMode="auto">
            <a:xfrm>
              <a:off x="0" y="3594100"/>
              <a:ext cx="4494213" cy="561975"/>
            </a:xfrm>
            <a:prstGeom prst="straightConnector1">
              <a:avLst/>
            </a:prstGeom>
            <a:ln w="3810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Arrow Connector 44"/>
            <p:cNvCxnSpPr>
              <a:cxnSpLocks/>
            </p:cNvCxnSpPr>
            <p:nvPr/>
          </p:nvCxnSpPr>
          <p:spPr bwMode="auto">
            <a:xfrm>
              <a:off x="0" y="3700463"/>
              <a:ext cx="4494213" cy="1587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8" name="Up Arrow 47"/>
          <p:cNvSpPr>
            <a:spLocks noChangeAspect="1"/>
          </p:cNvSpPr>
          <p:nvPr/>
        </p:nvSpPr>
        <p:spPr>
          <a:xfrm>
            <a:off x="2132013" y="3697288"/>
            <a:ext cx="457200" cy="914400"/>
          </a:xfrm>
          <a:prstGeom prst="upArrow">
            <a:avLst/>
          </a:prstGeom>
          <a:solidFill>
            <a:schemeClr val="bg1">
              <a:lumMod val="75000"/>
            </a:schemeClr>
          </a:solidFill>
          <a:ln>
            <a:solidFill>
              <a:schemeClr val="accent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6" name="Group 32"/>
          <p:cNvGrpSpPr>
            <a:grpSpLocks/>
          </p:cNvGrpSpPr>
          <p:nvPr/>
        </p:nvGrpSpPr>
        <p:grpSpPr bwMode="auto">
          <a:xfrm>
            <a:off x="2360614" y="2641938"/>
            <a:ext cx="7469187" cy="1969751"/>
            <a:chOff x="836613" y="2641937"/>
            <a:chExt cx="7469187" cy="1969751"/>
          </a:xfrm>
        </p:grpSpPr>
        <p:grpSp>
          <p:nvGrpSpPr>
            <p:cNvPr id="8" name="Group 29"/>
            <p:cNvGrpSpPr>
              <a:grpSpLocks/>
            </p:cNvGrpSpPr>
            <p:nvPr/>
          </p:nvGrpSpPr>
          <p:grpSpPr bwMode="auto">
            <a:xfrm>
              <a:off x="836613" y="3698875"/>
              <a:ext cx="3657600" cy="912813"/>
              <a:chOff x="836613" y="3698875"/>
              <a:chExt cx="3657600" cy="912813"/>
            </a:xfrm>
          </p:grpSpPr>
          <p:cxnSp>
            <p:nvCxnSpPr>
              <p:cNvPr id="40" name="Straight Arrow Connector 39"/>
              <p:cNvCxnSpPr>
                <a:cxnSpLocks/>
              </p:cNvCxnSpPr>
              <p:nvPr/>
            </p:nvCxnSpPr>
            <p:spPr>
              <a:xfrm flipV="1">
                <a:off x="836613" y="4154488"/>
                <a:ext cx="1828800" cy="457200"/>
              </a:xfrm>
              <a:prstGeom prst="straightConnector1">
                <a:avLst/>
              </a:prstGeom>
              <a:ln w="12700">
                <a:solidFill>
                  <a:srgbClr val="A67A00"/>
                </a:solidFill>
                <a:tailEnd type="non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2" name="Straight Arrow Connector 41"/>
              <p:cNvCxnSpPr>
                <a:cxnSpLocks noChangeAspect="1"/>
              </p:cNvCxnSpPr>
              <p:nvPr/>
            </p:nvCxnSpPr>
            <p:spPr>
              <a:xfrm flipV="1">
                <a:off x="2665413" y="3698875"/>
                <a:ext cx="1828800" cy="457200"/>
              </a:xfrm>
              <a:prstGeom prst="straightConnector1">
                <a:avLst/>
              </a:prstGeom>
              <a:ln w="31750">
                <a:solidFill>
                  <a:srgbClr val="A67A00"/>
                </a:solidFill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9" name="TextBox 48"/>
            <p:cNvSpPr txBox="1"/>
            <p:nvPr/>
          </p:nvSpPr>
          <p:spPr bwMode="auto">
            <a:xfrm>
              <a:off x="5638800" y="2641937"/>
              <a:ext cx="2667000" cy="101566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One special ray looks like it </a:t>
              </a:r>
              <a:r>
                <a:rPr lang="en-US" sz="2000" b="1" dirty="0">
                  <a:solidFill>
                    <a:schemeClr val="bg1">
                      <a:lumMod val="50000"/>
                    </a:schemeClr>
                  </a:solidFill>
                  <a:latin typeface="+mj-lt"/>
                </a:rPr>
                <a:t>came from focal point</a:t>
              </a:r>
            </a:p>
          </p:txBody>
        </p:sp>
      </p:grpSp>
      <p:sp>
        <p:nvSpPr>
          <p:cNvPr id="30" name="TextBox 29"/>
          <p:cNvSpPr txBox="1"/>
          <p:nvPr/>
        </p:nvSpPr>
        <p:spPr bwMode="auto">
          <a:xfrm>
            <a:off x="1578231" y="5791201"/>
            <a:ext cx="3352800" cy="76944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33" name="TextBox 32"/>
          <p:cNvSpPr txBox="1"/>
          <p:nvPr/>
        </p:nvSpPr>
        <p:spPr bwMode="auto">
          <a:xfrm>
            <a:off x="5007231" y="5791200"/>
            <a:ext cx="2286000" cy="4619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Enlarged</a:t>
            </a:r>
          </a:p>
        </p:txBody>
      </p:sp>
      <p:sp>
        <p:nvSpPr>
          <p:cNvPr id="36" name="TextBox 35"/>
          <p:cNvSpPr txBox="1"/>
          <p:nvPr/>
        </p:nvSpPr>
        <p:spPr bwMode="auto">
          <a:xfrm>
            <a:off x="7031038" y="5791201"/>
            <a:ext cx="3636962" cy="76944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</a:t>
            </a:r>
            <a:br>
              <a:rPr lang="en-US" sz="2400" b="1" dirty="0">
                <a:solidFill>
                  <a:srgbClr val="FF0000"/>
                </a:solidFill>
                <a:latin typeface="+mj-lt"/>
              </a:rPr>
            </a:br>
            <a:r>
              <a:rPr lang="en-US" sz="2000" dirty="0">
                <a:latin typeface="+mj-lt"/>
              </a:rPr>
              <a:t>(actual rays don’t converge)</a:t>
            </a:r>
            <a:endParaRPr lang="en-US" sz="2400" b="1" dirty="0">
              <a:latin typeface="+mj-lt"/>
            </a:endParaRPr>
          </a:p>
        </p:txBody>
      </p:sp>
      <p:sp>
        <p:nvSpPr>
          <p:cNvPr id="39" name="TextBox 38"/>
          <p:cNvSpPr txBox="1"/>
          <p:nvPr/>
        </p:nvSpPr>
        <p:spPr bwMode="auto">
          <a:xfrm>
            <a:off x="1698368" y="5083314"/>
            <a:ext cx="4550032" cy="707886"/>
          </a:xfrm>
          <a:prstGeom prst="rect">
            <a:avLst/>
          </a:prstGeom>
          <a:solidFill>
            <a:schemeClr val="bg1"/>
          </a:solidFill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Converging Lenses </a:t>
            </a:r>
            <a:r>
              <a:rPr lang="en-US" sz="2000" dirty="0">
                <a:latin typeface="+mj-lt"/>
              </a:rPr>
              <a:t>(for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objects</a:t>
            </a:r>
            <a:r>
              <a:rPr lang="en-US" sz="2000" dirty="0">
                <a:latin typeface="+mj-lt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+mj-lt"/>
              </a:rPr>
              <a:t>inside </a:t>
            </a:r>
            <a:r>
              <a:rPr lang="en-US" sz="2000" dirty="0">
                <a:latin typeface="+mj-lt"/>
              </a:rPr>
              <a:t>the focal length) create images which are:</a:t>
            </a:r>
          </a:p>
        </p:txBody>
      </p:sp>
      <p:grpSp>
        <p:nvGrpSpPr>
          <p:cNvPr id="11" name="Group 36"/>
          <p:cNvGrpSpPr>
            <a:grpSpLocks/>
          </p:cNvGrpSpPr>
          <p:nvPr/>
        </p:nvGrpSpPr>
        <p:grpSpPr bwMode="auto">
          <a:xfrm>
            <a:off x="4189414" y="4154488"/>
            <a:ext cx="6249987" cy="1562100"/>
            <a:chOff x="2665413" y="4154488"/>
            <a:chExt cx="6249987" cy="1562100"/>
          </a:xfrm>
        </p:grpSpPr>
        <p:cxnSp>
          <p:nvCxnSpPr>
            <p:cNvPr id="31" name="Straight Arrow Connector 30"/>
            <p:cNvCxnSpPr>
              <a:cxnSpLocks/>
            </p:cNvCxnSpPr>
            <p:nvPr/>
          </p:nvCxnSpPr>
          <p:spPr bwMode="auto">
            <a:xfrm>
              <a:off x="2665413" y="4154488"/>
              <a:ext cx="1828800" cy="4572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/>
            <p:cNvCxnSpPr>
              <a:cxnSpLocks/>
            </p:cNvCxnSpPr>
            <p:nvPr/>
          </p:nvCxnSpPr>
          <p:spPr bwMode="auto">
            <a:xfrm>
              <a:off x="4494213" y="4611688"/>
              <a:ext cx="4421187" cy="11049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39</a:t>
            </a:fld>
            <a:endParaRPr lang="en-US" dirty="0"/>
          </a:p>
        </p:txBody>
      </p:sp>
      <p:sp>
        <p:nvSpPr>
          <p:cNvPr id="37" name="TextBox 36"/>
          <p:cNvSpPr txBox="1"/>
          <p:nvPr/>
        </p:nvSpPr>
        <p:spPr bwMode="auto">
          <a:xfrm>
            <a:off x="2856706" y="2895600"/>
            <a:ext cx="2705895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(object is located between lens and F)</a:t>
            </a:r>
          </a:p>
        </p:txBody>
      </p:sp>
    </p:spTree>
    <p:extLst>
      <p:ext uri="{BB962C8B-B14F-4D97-AF65-F5344CB8AC3E}">
        <p14:creationId xmlns:p14="http://schemas.microsoft.com/office/powerpoint/2010/main" val="26073456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  <p:bldP spid="30" grpId="0"/>
      <p:bldP spid="33" grpId="0" animBg="1"/>
      <p:bldP spid="36" grpId="0" animBg="1"/>
      <p:bldP spid="39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1</a:t>
            </a:r>
            <a:endParaRPr lang="en-US" i="1" dirty="0">
              <a:cs typeface="Arial" charset="0"/>
            </a:endParaRPr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2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6024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5" name="Group 32"/>
          <p:cNvGrpSpPr>
            <a:grpSpLocks/>
          </p:cNvGrpSpPr>
          <p:nvPr/>
        </p:nvGrpSpPr>
        <p:grpSpPr bwMode="auto">
          <a:xfrm>
            <a:off x="5257800" y="1600200"/>
            <a:ext cx="4852988" cy="3232150"/>
            <a:chOff x="3734007" y="1600200"/>
            <a:chExt cx="4853010" cy="3231544"/>
          </a:xfrm>
        </p:grpSpPr>
        <p:cxnSp>
          <p:nvCxnSpPr>
            <p:cNvPr id="8" name="Straight Arrow Connector 7"/>
            <p:cNvCxnSpPr/>
            <p:nvPr/>
          </p:nvCxnSpPr>
          <p:spPr>
            <a:xfrm flipV="1">
              <a:off x="6847109" y="1600200"/>
              <a:ext cx="1739908" cy="1160245"/>
            </a:xfrm>
            <a:prstGeom prst="straightConnector1">
              <a:avLst/>
            </a:prstGeom>
            <a:ln w="31750">
              <a:solidFill>
                <a:srgbClr val="293F6F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/>
            <p:cNvCxnSpPr/>
            <p:nvPr/>
          </p:nvCxnSpPr>
          <p:spPr>
            <a:xfrm flipV="1">
              <a:off x="3734007" y="2758858"/>
              <a:ext cx="3109927" cy="2072886"/>
            </a:xfrm>
            <a:prstGeom prst="straightConnector1">
              <a:avLst/>
            </a:prstGeom>
            <a:ln w="31750">
              <a:solidFill>
                <a:srgbClr val="293F6F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752600" y="1752601"/>
            <a:ext cx="2895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1.  Ray which is parallel with the OA</a:t>
            </a:r>
            <a:r>
              <a:rPr lang="en-US" sz="2400" dirty="0">
                <a:latin typeface="+mj-lt"/>
              </a:rPr>
              <a:t>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514600" y="5029201"/>
            <a:ext cx="4191000" cy="1200329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Refracted Ray looks like it came from the focal point (on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same side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as the object)   </a:t>
            </a:r>
          </a:p>
        </p:txBody>
      </p:sp>
      <p:cxnSp>
        <p:nvCxnSpPr>
          <p:cNvPr id="35" name="Straight Connector 34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40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2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48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7050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" name="Group 31"/>
          <p:cNvGrpSpPr>
            <a:grpSpLocks/>
          </p:cNvGrpSpPr>
          <p:nvPr/>
        </p:nvGrpSpPr>
        <p:grpSpPr bwMode="auto">
          <a:xfrm>
            <a:off x="4421188" y="2757488"/>
            <a:ext cx="5918200" cy="1312862"/>
            <a:chOff x="2897707" y="2758082"/>
            <a:chExt cx="5917910" cy="1312559"/>
          </a:xfrm>
        </p:grpSpPr>
        <p:cxnSp>
          <p:nvCxnSpPr>
            <p:cNvPr id="10" name="Straight Arrow Connector 9"/>
            <p:cNvCxnSpPr>
              <a:cxnSpLocks noChangeAspect="1"/>
            </p:cNvCxnSpPr>
            <p:nvPr/>
          </p:nvCxnSpPr>
          <p:spPr>
            <a:xfrm rot="10800000" flipH="1" flipV="1">
              <a:off x="2897707" y="2758082"/>
              <a:ext cx="3938394" cy="874510"/>
            </a:xfrm>
            <a:prstGeom prst="straightConnector1">
              <a:avLst/>
            </a:prstGeom>
            <a:ln w="31750">
              <a:solidFill>
                <a:srgbClr val="A67A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/>
            <p:cNvCxnSpPr>
              <a:cxnSpLocks noChangeAspect="1"/>
            </p:cNvCxnSpPr>
            <p:nvPr/>
          </p:nvCxnSpPr>
          <p:spPr>
            <a:xfrm rot="10800000" flipH="1" flipV="1">
              <a:off x="6847213" y="3632592"/>
              <a:ext cx="1968404" cy="438049"/>
            </a:xfrm>
            <a:prstGeom prst="straightConnector1">
              <a:avLst/>
            </a:prstGeom>
            <a:ln w="12700">
              <a:solidFill>
                <a:srgbClr val="A67A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2" name="Group 32"/>
          <p:cNvGrpSpPr>
            <a:grpSpLocks/>
          </p:cNvGrpSpPr>
          <p:nvPr/>
        </p:nvGrpSpPr>
        <p:grpSpPr bwMode="auto">
          <a:xfrm>
            <a:off x="5297488" y="3630613"/>
            <a:ext cx="5141912" cy="4762"/>
            <a:chOff x="3772746" y="3630842"/>
            <a:chExt cx="5142654" cy="3867"/>
          </a:xfrm>
        </p:grpSpPr>
        <p:cxnSp>
          <p:nvCxnSpPr>
            <p:cNvPr id="11" name="Straight Arrow Connector 10"/>
            <p:cNvCxnSpPr/>
            <p:nvPr/>
          </p:nvCxnSpPr>
          <p:spPr>
            <a:xfrm rot="10800000">
              <a:off x="6846590" y="3633420"/>
              <a:ext cx="2068810" cy="1289"/>
            </a:xfrm>
            <a:prstGeom prst="straightConnector1">
              <a:avLst/>
            </a:prstGeom>
            <a:ln w="31750">
              <a:solidFill>
                <a:srgbClr val="A67A0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/>
            <p:cNvCxnSpPr/>
            <p:nvPr/>
          </p:nvCxnSpPr>
          <p:spPr>
            <a:xfrm rot="10800000">
              <a:off x="3772746" y="3630842"/>
              <a:ext cx="3062729" cy="2578"/>
            </a:xfrm>
            <a:prstGeom prst="straightConnector1">
              <a:avLst/>
            </a:prstGeom>
            <a:ln w="31750">
              <a:solidFill>
                <a:srgbClr val="A67A0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7" name="TextBox 36"/>
          <p:cNvSpPr txBox="1"/>
          <p:nvPr/>
        </p:nvSpPr>
        <p:spPr bwMode="auto">
          <a:xfrm>
            <a:off x="1828800" y="1752601"/>
            <a:ext cx="58674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2. Ray which is aimed at the focal point on the side of the lens opposite the object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057400" y="5334001"/>
            <a:ext cx="5029200" cy="830997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Refracted Ray is parallel to the OA (optical axis)</a:t>
            </a:r>
          </a:p>
        </p:txBody>
      </p:sp>
      <p:cxnSp>
        <p:nvCxnSpPr>
          <p:cNvPr id="34" name="Straight Connector 33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41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38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itle 1"/>
          <p:cNvSpPr>
            <a:spLocks noGrp="1"/>
          </p:cNvSpPr>
          <p:nvPr>
            <p:ph type="title"/>
          </p:nvPr>
        </p:nvSpPr>
        <p:spPr/>
        <p:txBody>
          <a:bodyPr rtlCol="0">
            <a:normAutofit fontScale="90000"/>
          </a:bodyPr>
          <a:lstStyle/>
          <a:p>
            <a:pPr>
              <a:defRPr/>
            </a:pPr>
            <a:r>
              <a:rPr lang="en-US" dirty="0">
                <a:cs typeface="Arial" charset="0"/>
              </a:rPr>
              <a:t>Diverging Lens</a:t>
            </a:r>
            <a:br>
              <a:rPr lang="en-US" dirty="0">
                <a:cs typeface="Arial" charset="0"/>
              </a:rPr>
            </a:br>
            <a:r>
              <a:rPr lang="en-US" sz="3600" i="1" dirty="0">
                <a:cs typeface="Arial" charset="0"/>
              </a:rPr>
              <a:t>Special Ray 3</a:t>
            </a:r>
            <a:endParaRPr lang="en-US" i="1" dirty="0">
              <a:cs typeface="Arial" charset="0"/>
            </a:endParaRP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5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8077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5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257801" y="2757488"/>
            <a:ext cx="3109913" cy="207486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 bwMode="auto">
          <a:xfrm>
            <a:off x="1752600" y="1828801"/>
            <a:ext cx="4419600" cy="830263"/>
          </a:xfrm>
          <a:prstGeom prst="rect">
            <a:avLst/>
          </a:prstGeom>
          <a:solidFill>
            <a:schemeClr val="bg1">
              <a:lumMod val="75000"/>
            </a:schemeClr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3. Ray which passes through the center of the lens  </a:t>
            </a:r>
          </a:p>
        </p:txBody>
      </p:sp>
      <p:sp>
        <p:nvSpPr>
          <p:cNvPr id="38" name="TextBox 37"/>
          <p:cNvSpPr txBox="1"/>
          <p:nvPr/>
        </p:nvSpPr>
        <p:spPr bwMode="auto">
          <a:xfrm>
            <a:off x="2133600" y="5334001"/>
            <a:ext cx="4419600" cy="830263"/>
          </a:xfrm>
          <a:prstGeom prst="rect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Refracted Ray passes through </a:t>
            </a:r>
            <a:r>
              <a:rPr lang="en-US" sz="2400" dirty="0" err="1">
                <a:solidFill>
                  <a:srgbClr val="FF0000"/>
                </a:solidFill>
                <a:latin typeface="+mj-lt"/>
              </a:rPr>
              <a:t>undeflected</a:t>
            </a:r>
            <a:endParaRPr lang="en-US" sz="2400" dirty="0">
              <a:solidFill>
                <a:srgbClr val="FF0000"/>
              </a:solidFill>
              <a:latin typeface="+mj-lt"/>
            </a:endParaRPr>
          </a:p>
        </p:txBody>
      </p:sp>
      <p:cxnSp>
        <p:nvCxnSpPr>
          <p:cNvPr id="32" name="Straight Connector 31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42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Box 50"/>
          <p:cNvSpPr txBox="1"/>
          <p:nvPr/>
        </p:nvSpPr>
        <p:spPr bwMode="auto">
          <a:xfrm>
            <a:off x="4762500" y="5989639"/>
            <a:ext cx="2857500" cy="830997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Reduced </a:t>
            </a:r>
            <a:r>
              <a:rPr lang="en-US" sz="2400" dirty="0">
                <a:latin typeface="+mj-lt"/>
              </a:rPr>
              <a:t>(smaller than object)</a:t>
            </a:r>
            <a:endParaRPr lang="en-US" sz="2400" b="1" dirty="0">
              <a:latin typeface="+mj-lt"/>
            </a:endParaRPr>
          </a:p>
        </p:txBody>
      </p:sp>
      <p:sp>
        <p:nvSpPr>
          <p:cNvPr id="8909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Diverging Lens - Summary</a:t>
            </a:r>
          </a:p>
        </p:txBody>
      </p:sp>
      <p:sp>
        <p:nvSpPr>
          <p:cNvPr id="4" name="Down Arrow 3"/>
          <p:cNvSpPr>
            <a:spLocks noChangeAspect="1"/>
          </p:cNvSpPr>
          <p:nvPr/>
        </p:nvSpPr>
        <p:spPr>
          <a:xfrm rot="10800000">
            <a:off x="6969126" y="3630614"/>
            <a:ext cx="180975" cy="433387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25400">
            <a:solidFill>
              <a:schemeClr val="bg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4157663" y="2757488"/>
            <a:ext cx="546100" cy="1312862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>
            <a:off x="4421189" y="2757489"/>
            <a:ext cx="3938587" cy="3175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/>
          <p:nvPr/>
        </p:nvCxnSpPr>
        <p:spPr>
          <a:xfrm flipV="1">
            <a:off x="8370888" y="1600201"/>
            <a:ext cx="1739900" cy="1160463"/>
          </a:xfrm>
          <a:prstGeom prst="straightConnector1">
            <a:avLst/>
          </a:prstGeom>
          <a:ln w="31750">
            <a:solidFill>
              <a:srgbClr val="293F6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 rot="10800000" flipH="1" flipV="1">
            <a:off x="4421189" y="2757488"/>
            <a:ext cx="3938587" cy="876300"/>
          </a:xfrm>
          <a:prstGeom prst="straightConnector1">
            <a:avLst/>
          </a:prstGeom>
          <a:ln w="31750">
            <a:solidFill>
              <a:srgbClr val="A67A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 rot="10800000">
            <a:off x="8370888" y="3633789"/>
            <a:ext cx="2068512" cy="1587"/>
          </a:xfrm>
          <a:prstGeom prst="straightConnector1">
            <a:avLst/>
          </a:prstGeom>
          <a:ln w="31750">
            <a:solidFill>
              <a:srgbClr val="A67A0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>
            <a:cxnSpLocks noChangeAspect="1"/>
          </p:cNvCxnSpPr>
          <p:nvPr/>
        </p:nvCxnSpPr>
        <p:spPr>
          <a:xfrm>
            <a:off x="4430713" y="2757488"/>
            <a:ext cx="3937000" cy="1312862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Oval 16"/>
          <p:cNvSpPr/>
          <p:nvPr/>
        </p:nvSpPr>
        <p:spPr>
          <a:xfrm>
            <a:off x="6335713" y="4005263"/>
            <a:ext cx="131762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099" name="TextBox 21"/>
          <p:cNvSpPr txBox="1">
            <a:spLocks noChangeArrowheads="1"/>
          </p:cNvSpPr>
          <p:nvPr/>
        </p:nvSpPr>
        <p:spPr bwMode="auto">
          <a:xfrm>
            <a:off x="10010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sp>
        <p:nvSpPr>
          <p:cNvPr id="19" name="Oval 18"/>
          <p:cNvSpPr/>
          <p:nvPr/>
        </p:nvSpPr>
        <p:spPr>
          <a:xfrm>
            <a:off x="10274301" y="4005263"/>
            <a:ext cx="131763" cy="131762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89101" name="TextBox 23"/>
          <p:cNvSpPr txBox="1">
            <a:spLocks noChangeArrowheads="1"/>
          </p:cNvSpPr>
          <p:nvPr/>
        </p:nvSpPr>
        <p:spPr bwMode="auto">
          <a:xfrm>
            <a:off x="6073776" y="4179889"/>
            <a:ext cx="32861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>
                <a:latin typeface="Times New Roman" pitchFamily="18" charset="0"/>
                <a:cs typeface="Times New Roman" pitchFamily="18" charset="0"/>
              </a:rPr>
              <a:t>F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886200" y="4070350"/>
            <a:ext cx="67818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8147051" y="1658938"/>
            <a:ext cx="447675" cy="4818062"/>
            <a:chOff x="7162799" y="990600"/>
            <a:chExt cx="310888" cy="3355848"/>
          </a:xfrm>
        </p:grpSpPr>
        <p:grpSp>
          <p:nvGrpSpPr>
            <p:cNvPr id="9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6" name="Arc 25"/>
              <p:cNvSpPr/>
              <p:nvPr/>
            </p:nvSpPr>
            <p:spPr>
              <a:xfrm>
                <a:off x="7162799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7" name="Arc 26"/>
              <p:cNvSpPr/>
              <p:nvPr/>
            </p:nvSpPr>
            <p:spPr>
              <a:xfrm flipH="1">
                <a:off x="7350214" y="990600"/>
                <a:ext cx="123473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24" name="Straight Connector 23"/>
            <p:cNvCxnSpPr/>
            <p:nvPr/>
          </p:nvCxnSpPr>
          <p:spPr>
            <a:xfrm>
              <a:off x="7217921" y="4346448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/>
            <p:cNvCxnSpPr/>
            <p:nvPr/>
          </p:nvCxnSpPr>
          <p:spPr>
            <a:xfrm>
              <a:off x="7217921" y="990600"/>
              <a:ext cx="200644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8" name="Straight Arrow Connector 27"/>
          <p:cNvCxnSpPr/>
          <p:nvPr/>
        </p:nvCxnSpPr>
        <p:spPr>
          <a:xfrm flipV="1">
            <a:off x="5791201" y="2757488"/>
            <a:ext cx="2576513" cy="1738312"/>
          </a:xfrm>
          <a:prstGeom prst="straightConnector1">
            <a:avLst/>
          </a:prstGeom>
          <a:ln w="31750">
            <a:solidFill>
              <a:srgbClr val="293F6F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/>
          <p:cNvCxnSpPr>
            <a:cxnSpLocks noChangeAspect="1"/>
          </p:cNvCxnSpPr>
          <p:nvPr/>
        </p:nvCxnSpPr>
        <p:spPr>
          <a:xfrm rot="10800000" flipH="1" flipV="1">
            <a:off x="8370888" y="3633788"/>
            <a:ext cx="1968500" cy="436562"/>
          </a:xfrm>
          <a:prstGeom prst="straightConnector1">
            <a:avLst/>
          </a:prstGeom>
          <a:ln w="12700">
            <a:solidFill>
              <a:srgbClr val="A67A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5297489" y="3630614"/>
            <a:ext cx="3062287" cy="3175"/>
          </a:xfrm>
          <a:prstGeom prst="straightConnector1">
            <a:avLst/>
          </a:prstGeom>
          <a:ln w="31750">
            <a:solidFill>
              <a:srgbClr val="A67A0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/>
          <p:cNvCxnSpPr>
            <a:cxnSpLocks noChangeAspect="1"/>
          </p:cNvCxnSpPr>
          <p:nvPr/>
        </p:nvCxnSpPr>
        <p:spPr>
          <a:xfrm>
            <a:off x="8370888" y="4070351"/>
            <a:ext cx="1992312" cy="665163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" name="Group 52"/>
          <p:cNvGrpSpPr>
            <a:grpSpLocks/>
          </p:cNvGrpSpPr>
          <p:nvPr/>
        </p:nvGrpSpPr>
        <p:grpSpPr bwMode="auto">
          <a:xfrm>
            <a:off x="1524000" y="3124203"/>
            <a:ext cx="2895600" cy="400110"/>
            <a:chOff x="0" y="3124440"/>
            <a:chExt cx="2895600" cy="400267"/>
          </a:xfrm>
        </p:grpSpPr>
        <p:sp>
          <p:nvSpPr>
            <p:cNvPr id="89126" name="TextBox 10"/>
            <p:cNvSpPr txBox="1">
              <a:spLocks noChangeArrowheads="1"/>
            </p:cNvSpPr>
            <p:nvPr/>
          </p:nvSpPr>
          <p:spPr bwMode="auto">
            <a:xfrm>
              <a:off x="2405497" y="3150026"/>
              <a:ext cx="328140" cy="3694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</a:t>
              </a:r>
            </a:p>
          </p:txBody>
        </p:sp>
        <p:sp>
          <p:nvSpPr>
            <p:cNvPr id="33" name="TextBox 32"/>
            <p:cNvSpPr txBox="1"/>
            <p:nvPr/>
          </p:nvSpPr>
          <p:spPr bwMode="auto">
            <a:xfrm>
              <a:off x="0" y="3124440"/>
              <a:ext cx="2895600" cy="400267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4" name="Group 54"/>
          <p:cNvGrpSpPr>
            <a:grpSpLocks/>
          </p:cNvGrpSpPr>
          <p:nvPr/>
        </p:nvGrpSpPr>
        <p:grpSpPr bwMode="auto">
          <a:xfrm>
            <a:off x="4495800" y="3629029"/>
            <a:ext cx="3152616" cy="409572"/>
            <a:chOff x="2971800" y="3628564"/>
            <a:chExt cx="3152616" cy="409673"/>
          </a:xfrm>
        </p:grpSpPr>
        <p:sp>
          <p:nvSpPr>
            <p:cNvPr id="35" name="TextBox 34"/>
            <p:cNvSpPr txBox="1"/>
            <p:nvPr/>
          </p:nvSpPr>
          <p:spPr bwMode="auto">
            <a:xfrm>
              <a:off x="2971800" y="3638028"/>
              <a:ext cx="1954213" cy="40020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r">
                <a:defRPr/>
              </a:pPr>
              <a:r>
                <a:rPr lang="en-US" sz="2000" dirty="0">
                  <a:latin typeface="+mj-lt"/>
                </a:rPr>
                <a:t>Image height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h'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  <p:sp>
          <p:nvSpPr>
            <p:cNvPr id="89124" name="TextBox 16"/>
            <p:cNvSpPr txBox="1">
              <a:spLocks noChangeArrowheads="1"/>
            </p:cNvSpPr>
            <p:nvPr/>
          </p:nvSpPr>
          <p:spPr bwMode="auto">
            <a:xfrm>
              <a:off x="5577516" y="3628564"/>
              <a:ext cx="546900" cy="369423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h'</a:t>
              </a:r>
            </a:p>
          </p:txBody>
        </p:sp>
      </p:grpSp>
      <p:grpSp>
        <p:nvGrpSpPr>
          <p:cNvPr id="16" name="Group 53"/>
          <p:cNvGrpSpPr>
            <a:grpSpLocks/>
          </p:cNvGrpSpPr>
          <p:nvPr/>
        </p:nvGrpSpPr>
        <p:grpSpPr bwMode="auto">
          <a:xfrm>
            <a:off x="5943600" y="4094464"/>
            <a:ext cx="2590800" cy="725247"/>
            <a:chOff x="4495800" y="4175461"/>
            <a:chExt cx="2590800" cy="724961"/>
          </a:xfrm>
        </p:grpSpPr>
        <p:cxnSp>
          <p:nvCxnSpPr>
            <p:cNvPr id="5" name="Straight Connector 4"/>
            <p:cNvCxnSpPr/>
            <p:nvPr/>
          </p:nvCxnSpPr>
          <p:spPr>
            <a:xfrm flipH="1">
              <a:off x="5522913" y="4175463"/>
              <a:ext cx="13128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22" name="TextBox 17"/>
            <p:cNvSpPr txBox="1">
              <a:spLocks noChangeArrowheads="1"/>
            </p:cNvSpPr>
            <p:nvPr/>
          </p:nvSpPr>
          <p:spPr bwMode="auto">
            <a:xfrm>
              <a:off x="5905656" y="4175461"/>
              <a:ext cx="546900" cy="36918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s'</a:t>
              </a:r>
            </a:p>
          </p:txBody>
        </p:sp>
        <p:sp>
          <p:nvSpPr>
            <p:cNvPr id="40" name="TextBox 39"/>
            <p:cNvSpPr txBox="1"/>
            <p:nvPr/>
          </p:nvSpPr>
          <p:spPr bwMode="auto">
            <a:xfrm>
              <a:off x="4495800" y="4500470"/>
              <a:ext cx="2590800" cy="39995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Image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s'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grpSp>
        <p:nvGrpSpPr>
          <p:cNvPr id="18" name="Group 51"/>
          <p:cNvGrpSpPr>
            <a:grpSpLocks/>
          </p:cNvGrpSpPr>
          <p:nvPr/>
        </p:nvGrpSpPr>
        <p:grpSpPr bwMode="auto">
          <a:xfrm>
            <a:off x="4421190" y="1752602"/>
            <a:ext cx="3938587" cy="782637"/>
            <a:chOff x="2897023" y="1752601"/>
            <a:chExt cx="3938362" cy="782163"/>
          </a:xfrm>
        </p:grpSpPr>
        <p:cxnSp>
          <p:nvCxnSpPr>
            <p:cNvPr id="15" name="Straight Connector 14"/>
            <p:cNvCxnSpPr/>
            <p:nvPr/>
          </p:nvCxnSpPr>
          <p:spPr>
            <a:xfrm flipH="1">
              <a:off x="2897023" y="2534764"/>
              <a:ext cx="3938362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9119" name="TextBox 19"/>
            <p:cNvSpPr txBox="1">
              <a:spLocks noChangeArrowheads="1"/>
            </p:cNvSpPr>
            <p:nvPr/>
          </p:nvSpPr>
          <p:spPr bwMode="auto">
            <a:xfrm>
              <a:off x="4593096" y="2003815"/>
              <a:ext cx="546900" cy="3691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pPr algn="ctr" eaLnBrk="1" hangingPunct="1"/>
              <a:r>
                <a:rPr lang="en-US" i="1">
                  <a:latin typeface="Times New Roman" pitchFamily="18" charset="0"/>
                  <a:cs typeface="Times New Roman" pitchFamily="18" charset="0"/>
                </a:rPr>
                <a:t>s</a:t>
              </a:r>
            </a:p>
          </p:txBody>
        </p:sp>
        <p:sp>
          <p:nvSpPr>
            <p:cNvPr id="45" name="TextBox 44"/>
            <p:cNvSpPr txBox="1"/>
            <p:nvPr/>
          </p:nvSpPr>
          <p:spPr bwMode="auto">
            <a:xfrm>
              <a:off x="3124021" y="1752601"/>
              <a:ext cx="2895435" cy="39986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>
                <a:defRPr/>
              </a:pPr>
              <a:r>
                <a:rPr lang="en-US" sz="2000" dirty="0">
                  <a:latin typeface="+mj-lt"/>
                </a:rPr>
                <a:t>Object distance (</a:t>
              </a:r>
              <a:r>
                <a:rPr lang="en-US" sz="2000" b="1" i="1" dirty="0">
                  <a:latin typeface="Times New Roman" pitchFamily="18" charset="0"/>
                  <a:cs typeface="Times New Roman" pitchFamily="18" charset="0"/>
                </a:rPr>
                <a:t>s</a:t>
              </a:r>
              <a:r>
                <a:rPr lang="en-US" sz="2000" dirty="0">
                  <a:latin typeface="+mj-lt"/>
                </a:rPr>
                <a:t>)</a:t>
              </a:r>
            </a:p>
          </p:txBody>
        </p:sp>
      </p:grpSp>
      <p:sp>
        <p:nvSpPr>
          <p:cNvPr id="48" name="TextBox 47"/>
          <p:cNvSpPr txBox="1"/>
          <p:nvPr/>
        </p:nvSpPr>
        <p:spPr bwMode="auto">
          <a:xfrm>
            <a:off x="1905000" y="5159514"/>
            <a:ext cx="2971800" cy="707886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FF0000"/>
                </a:solidFill>
                <a:latin typeface="+mj-lt"/>
              </a:rPr>
              <a:t>Diverging Lenses</a:t>
            </a:r>
            <a:r>
              <a:rPr lang="en-US" sz="2000" dirty="0">
                <a:latin typeface="+mj-lt"/>
              </a:rPr>
              <a:t> create images which are:</a:t>
            </a:r>
          </a:p>
        </p:txBody>
      </p:sp>
      <p:cxnSp>
        <p:nvCxnSpPr>
          <p:cNvPr id="56" name="Straight Connector 55"/>
          <p:cNvCxnSpPr/>
          <p:nvPr/>
        </p:nvCxnSpPr>
        <p:spPr>
          <a:xfrm rot="5400000">
            <a:off x="5627688" y="4070350"/>
            <a:ext cx="5486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>
            <a:spLocks noChangeArrowheads="1"/>
          </p:cNvSpPr>
          <p:nvPr/>
        </p:nvSpPr>
        <p:spPr bwMode="auto">
          <a:xfrm>
            <a:off x="1828800" y="4491038"/>
            <a:ext cx="2286000" cy="461963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algn="ctr" eaLnBrk="1" hangingPunct="1">
              <a:buFont typeface="Arial" pitchFamily="34" charset="0"/>
              <a:buChar char="•"/>
            </a:pPr>
            <a:r>
              <a:rPr lang="en-US" sz="2400" i="1" dirty="0">
                <a:latin typeface="Times New Roman" pitchFamily="18" charset="0"/>
                <a:cs typeface="Times New Roman" pitchFamily="18" charset="0"/>
              </a:rPr>
              <a:t> f</a:t>
            </a:r>
            <a:r>
              <a:rPr lang="en-US" sz="2400" dirty="0"/>
              <a:t> is </a:t>
            </a:r>
            <a:r>
              <a:rPr lang="en-US" sz="2400" b="1" dirty="0">
                <a:solidFill>
                  <a:srgbClr val="FF0000"/>
                </a:solidFill>
              </a:rPr>
              <a:t>negative</a:t>
            </a:r>
            <a:endParaRPr lang="en-US" sz="2400" b="1" i="1" dirty="0">
              <a:solidFill>
                <a:srgbClr val="FF0000"/>
              </a:solidFill>
            </a:endParaRPr>
          </a:p>
        </p:txBody>
      </p:sp>
      <p:sp>
        <p:nvSpPr>
          <p:cNvPr id="46" name="TextBox 45"/>
          <p:cNvSpPr txBox="1"/>
          <p:nvPr/>
        </p:nvSpPr>
        <p:spPr bwMode="auto">
          <a:xfrm>
            <a:off x="1524000" y="5989638"/>
            <a:ext cx="3352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Upright</a:t>
            </a:r>
            <a:r>
              <a:rPr lang="en-US" sz="2400" dirty="0">
                <a:latin typeface="+mj-lt"/>
              </a:rPr>
              <a:t> (no orientation change)</a:t>
            </a:r>
            <a:endParaRPr lang="en-US" sz="2400" b="1" dirty="0">
              <a:latin typeface="+mj-lt"/>
            </a:endParaRPr>
          </a:p>
        </p:txBody>
      </p:sp>
      <p:sp>
        <p:nvSpPr>
          <p:cNvPr id="47" name="TextBox 46"/>
          <p:cNvSpPr txBox="1"/>
          <p:nvPr/>
        </p:nvSpPr>
        <p:spPr bwMode="auto">
          <a:xfrm>
            <a:off x="7467600" y="5989638"/>
            <a:ext cx="3200400" cy="830262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 Virtual </a:t>
            </a:r>
            <a:r>
              <a:rPr lang="en-US" sz="2400" dirty="0">
                <a:latin typeface="+mj-lt"/>
              </a:rPr>
              <a:t>(rays don’t converge at image)</a:t>
            </a:r>
            <a:endParaRPr lang="en-US" sz="2400" b="1" dirty="0">
              <a:latin typeface="+mj-lt"/>
            </a:endParaRP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43</a:t>
            </a:fld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1" grpId="0" animBg="1"/>
      <p:bldP spid="48" grpId="0" animBg="1"/>
      <p:bldP spid="44" grpId="0" animBg="1"/>
      <p:bldP spid="46" grpId="0"/>
      <p:bldP spid="47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Reminders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885950" y="1625601"/>
            <a:ext cx="84201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Draw rays all the way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central line </a:t>
            </a:r>
            <a:r>
              <a:rPr lang="en-US" sz="2400" dirty="0">
                <a:latin typeface="+mj-lt"/>
              </a:rPr>
              <a:t>of lens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mirror plane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95500" y="2295525"/>
            <a:ext cx="80010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(Since our ray diagrams only work for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thin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lenses and fairly flat mirrors)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95500" y="3335338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Use at least two of the special rays: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095500" y="4005263"/>
            <a:ext cx="80010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293F6F"/>
                </a:solidFill>
                <a:latin typeface="+mj-lt"/>
              </a:rPr>
              <a:t>1 – Starts parallel to OA 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809750" y="4675188"/>
            <a:ext cx="85725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A67A00"/>
                </a:solidFill>
                <a:latin typeface="+mj-lt"/>
              </a:rPr>
              <a:t>2 – Aimed at or from appropriate focal point (near focal point for converging lens; far focal point for diverging lens)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95500" y="5862638"/>
            <a:ext cx="80010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solidFill>
                  <a:srgbClr val="FF0000"/>
                </a:solidFill>
                <a:latin typeface="+mj-lt"/>
              </a:rPr>
              <a:t>3 – Aimed at center of lens or mirror</a:t>
            </a:r>
          </a:p>
        </p:txBody>
      </p:sp>
      <p:grpSp>
        <p:nvGrpSpPr>
          <p:cNvPr id="10" name="Group 9"/>
          <p:cNvGrpSpPr/>
          <p:nvPr/>
        </p:nvGrpSpPr>
        <p:grpSpPr>
          <a:xfrm>
            <a:off x="1600200" y="3797300"/>
            <a:ext cx="8991600" cy="2013764"/>
            <a:chOff x="76200" y="3797300"/>
            <a:chExt cx="8991600" cy="2013764"/>
          </a:xfrm>
        </p:grpSpPr>
        <p:sp>
          <p:nvSpPr>
            <p:cNvPr id="2" name="Rounded Rectangle 1"/>
            <p:cNvSpPr/>
            <p:nvPr/>
          </p:nvSpPr>
          <p:spPr>
            <a:xfrm>
              <a:off x="76200" y="3797300"/>
              <a:ext cx="8991600" cy="1993900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914400" y="5441732"/>
              <a:ext cx="59436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dirty="0"/>
                <a:t>(These two rays are good enough for most  sketches)</a:t>
              </a:r>
            </a:p>
          </p:txBody>
        </p:sp>
      </p:grp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42114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9" grpId="0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Real vs. Virtual Images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2079008" y="14779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Real images </a:t>
            </a:r>
            <a:r>
              <a:rPr lang="en-US" sz="2400" dirty="0">
                <a:latin typeface="+mj-lt"/>
              </a:rPr>
              <a:t>occur when light rays converge at a point 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2057400" y="2519363"/>
            <a:ext cx="76962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Can be used to project </a:t>
            </a:r>
            <a:r>
              <a:rPr lang="en-US" sz="2400" dirty="0">
                <a:latin typeface="+mj-lt"/>
              </a:rPr>
              <a:t>an image on a screen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2247900" y="3933825"/>
            <a:ext cx="7696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Virtual images </a:t>
            </a:r>
            <a:r>
              <a:rPr lang="en-US" sz="2400" dirty="0">
                <a:latin typeface="+mj-lt"/>
              </a:rPr>
              <a:t>occur when light rays appear to diverge from a point (but the projected rays converge to a point)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1752600" y="5345113"/>
            <a:ext cx="81915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  <a:defRPr/>
            </a:pPr>
            <a:r>
              <a:rPr lang="en-US" sz="2400" b="1" dirty="0">
                <a:solidFill>
                  <a:srgbClr val="00B050"/>
                </a:solidFill>
                <a:latin typeface="+mj-lt"/>
              </a:rPr>
              <a:t>Cannot</a:t>
            </a:r>
            <a:r>
              <a:rPr lang="en-US" sz="2400" dirty="0">
                <a:latin typeface="+mj-lt"/>
              </a:rPr>
              <a:t>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 used to project </a:t>
            </a:r>
            <a:r>
              <a:rPr lang="en-US" sz="2400" dirty="0">
                <a:latin typeface="+mj-lt"/>
              </a:rPr>
              <a:t>an image onto a screen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2057400" y="3041650"/>
            <a:ext cx="8077200" cy="831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Real images form on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far side</a:t>
            </a:r>
            <a:r>
              <a:rPr lang="en-US" sz="2400" dirty="0">
                <a:latin typeface="+mj-lt"/>
              </a:rPr>
              <a:t> of lens from object or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mirror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2452048" y="5891213"/>
            <a:ext cx="78867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Virtual images form on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same side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of lens as object or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behind</a:t>
            </a:r>
            <a:r>
              <a:rPr lang="en-US" sz="2400" dirty="0">
                <a:latin typeface="+mj-lt"/>
              </a:rPr>
              <a:t> mirror</a:t>
            </a:r>
          </a:p>
        </p:txBody>
      </p:sp>
      <p:sp>
        <p:nvSpPr>
          <p:cNvPr id="13" name="TextBox 12"/>
          <p:cNvSpPr txBox="1">
            <a:spLocks noChangeArrowheads="1"/>
          </p:cNvSpPr>
          <p:nvPr/>
        </p:nvSpPr>
        <p:spPr bwMode="auto">
          <a:xfrm>
            <a:off x="2057400" y="1998664"/>
            <a:ext cx="74676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FF0000"/>
                </a:solidFill>
              </a:rPr>
              <a:t>Inverted</a:t>
            </a:r>
            <a:r>
              <a:rPr lang="en-US" sz="2400" dirty="0"/>
              <a:t> (if only one lens or mirror is present)</a:t>
            </a:r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2057400" y="4824414"/>
            <a:ext cx="739140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marL="342900" indent="-342900" algn="ctr" eaLnBrk="1" hangingPunct="1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rgbClr val="00B050"/>
                </a:solidFill>
              </a:rPr>
              <a:t>Upright </a:t>
            </a:r>
            <a:r>
              <a:rPr lang="en-US" sz="2400" dirty="0"/>
              <a:t>(if only one lens or mirror is present)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1524000" y="3903663"/>
            <a:ext cx="9144000" cy="0"/>
          </a:xfrm>
          <a:prstGeom prst="line">
            <a:avLst/>
          </a:prstGeom>
          <a:ln w="508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45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8" grpId="0"/>
      <p:bldP spid="9" grpId="0"/>
      <p:bldP spid="11" grpId="0"/>
      <p:bldP spid="13" grpId="0"/>
      <p:bldP spid="14" grpId="0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rial" charset="0"/>
                <a:cs typeface="Arial" charset="0"/>
              </a:rPr>
              <a:t>Thin-Lens Equation</a:t>
            </a:r>
          </a:p>
        </p:txBody>
      </p:sp>
      <p:sp>
        <p:nvSpPr>
          <p:cNvPr id="93187" name="Content Placeholder 7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>
                <a:latin typeface="Arial" charset="0"/>
                <a:cs typeface="Arial" charset="0"/>
              </a:rPr>
              <a:t>OpenStax</a:t>
            </a:r>
            <a:r>
              <a:rPr lang="en-US" dirty="0">
                <a:latin typeface="Arial" charset="0"/>
                <a:cs typeface="Arial" charset="0"/>
              </a:rPr>
              <a:t> Chapter 25.6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46</a:t>
            </a:fld>
            <a:endParaRPr lang="en-US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Sign Conventions for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7542213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4648200" y="2330450"/>
            <a:ext cx="22098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in front</a:t>
            </a:r>
            <a:r>
              <a:rPr lang="en-US" sz="2400" dirty="0">
                <a:latin typeface="+mj-lt"/>
              </a:rPr>
              <a:t> of lens (usually)</a:t>
            </a:r>
          </a:p>
        </p:txBody>
      </p:sp>
      <p:sp>
        <p:nvSpPr>
          <p:cNvPr id="6" name="TextBox 5"/>
          <p:cNvSpPr txBox="1"/>
          <p:nvPr/>
        </p:nvSpPr>
        <p:spPr bwMode="auto">
          <a:xfrm>
            <a:off x="4457700" y="3498851"/>
            <a:ext cx="25908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FF0000"/>
                </a:solidFill>
              </a:rPr>
              <a:t>real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FF0000"/>
                </a:solidFill>
              </a:rPr>
              <a:t>pass though</a:t>
            </a:r>
            <a:r>
              <a:rPr lang="en-US" sz="2400" dirty="0"/>
              <a:t>)</a:t>
            </a:r>
          </a:p>
        </p:txBody>
      </p:sp>
      <p:sp>
        <p:nvSpPr>
          <p:cNvPr id="7" name="TextBox 6"/>
          <p:cNvSpPr txBox="1"/>
          <p:nvPr/>
        </p:nvSpPr>
        <p:spPr bwMode="auto">
          <a:xfrm>
            <a:off x="4267200" y="4840288"/>
            <a:ext cx="2971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Converging Lens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4648200" y="1905001"/>
            <a:ext cx="2209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</a:p>
        </p:txBody>
      </p:sp>
      <p:sp>
        <p:nvSpPr>
          <p:cNvPr id="9" name="TextBox 8"/>
          <p:cNvSpPr txBox="1"/>
          <p:nvPr/>
        </p:nvSpPr>
        <p:spPr bwMode="auto">
          <a:xfrm>
            <a:off x="1905000" y="2514601"/>
            <a:ext cx="22098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Object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 bwMode="auto">
          <a:xfrm>
            <a:off x="1905000" y="3684588"/>
            <a:ext cx="2209800" cy="830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Image Distance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2" name="TextBox 11"/>
          <p:cNvSpPr txBox="1"/>
          <p:nvPr/>
        </p:nvSpPr>
        <p:spPr bwMode="auto">
          <a:xfrm>
            <a:off x="7323138" y="3498850"/>
            <a:ext cx="264795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/>
              <a:t>Image is </a:t>
            </a:r>
            <a:r>
              <a:rPr lang="en-US" sz="2400" b="1" dirty="0">
                <a:solidFill>
                  <a:srgbClr val="008000"/>
                </a:solidFill>
              </a:rPr>
              <a:t>virtual </a:t>
            </a:r>
            <a:r>
              <a:rPr lang="en-US" sz="2400" dirty="0"/>
              <a:t>(rays </a:t>
            </a:r>
            <a:r>
              <a:rPr lang="en-US" sz="2400" b="1" dirty="0">
                <a:solidFill>
                  <a:srgbClr val="008000"/>
                </a:solidFill>
              </a:rPr>
              <a:t>don’t pass through</a:t>
            </a:r>
            <a:r>
              <a:rPr lang="en-US" sz="2400" dirty="0"/>
              <a:t>)</a:t>
            </a:r>
          </a:p>
        </p:txBody>
      </p:sp>
      <p:sp>
        <p:nvSpPr>
          <p:cNvPr id="13" name="TextBox 12"/>
          <p:cNvSpPr txBox="1"/>
          <p:nvPr/>
        </p:nvSpPr>
        <p:spPr bwMode="auto">
          <a:xfrm>
            <a:off x="1752600" y="4840288"/>
            <a:ext cx="2514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Focal Length (</a:t>
            </a:r>
            <a:r>
              <a:rPr lang="en-US" sz="2400" b="1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7351713" y="4840288"/>
            <a:ext cx="25908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Diverging Lens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52601" y="3511550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Connector 15"/>
          <p:cNvCxnSpPr/>
          <p:nvPr/>
        </p:nvCxnSpPr>
        <p:spPr>
          <a:xfrm>
            <a:off x="1752601" y="4675188"/>
            <a:ext cx="83026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72390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4267201" y="2347913"/>
            <a:ext cx="5788025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>
            <a:off x="4267200" y="1905001"/>
            <a:ext cx="0" cy="3584575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 bwMode="auto">
          <a:xfrm>
            <a:off x="1967552" y="5862936"/>
            <a:ext cx="824324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FF0000"/>
                </a:solidFill>
                <a:latin typeface="+mj-lt"/>
              </a:rPr>
              <a:t>Positive</a:t>
            </a:r>
            <a:r>
              <a:rPr lang="en-US" sz="2400" dirty="0">
                <a:latin typeface="+mj-lt"/>
              </a:rPr>
              <a:t>: someplace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light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 </a:t>
            </a:r>
            <a:r>
              <a:rPr lang="en-US" sz="2400" dirty="0">
                <a:latin typeface="+mj-lt"/>
              </a:rPr>
              <a:t>is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actually converging or coming from</a:t>
            </a:r>
          </a:p>
        </p:txBody>
      </p:sp>
      <p:sp>
        <p:nvSpPr>
          <p:cNvPr id="21" name="TextBox 20"/>
          <p:cNvSpPr txBox="1"/>
          <p:nvPr/>
        </p:nvSpPr>
        <p:spPr bwMode="auto">
          <a:xfrm>
            <a:off x="1973240" y="6324601"/>
            <a:ext cx="79248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solidFill>
                  <a:srgbClr val="008000"/>
                </a:solidFill>
                <a:latin typeface="+mj-lt"/>
              </a:rPr>
              <a:t>Negative</a:t>
            </a:r>
            <a:r>
              <a:rPr lang="en-US" sz="2400" dirty="0">
                <a:latin typeface="+mj-lt"/>
              </a:rPr>
              <a:t>: someplace light </a:t>
            </a:r>
            <a:r>
              <a:rPr lang="en-US" sz="2400" b="1" dirty="0">
                <a:solidFill>
                  <a:srgbClr val="008000"/>
                </a:solidFill>
                <a:latin typeface="+mj-lt"/>
              </a:rPr>
              <a:t>looks like it diverges from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47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/>
      <p:bldP spid="21" grpId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790700" y="1562100"/>
            <a:ext cx="86106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Ray diagrams give a relatively quick and powerful way to find information about an image </a:t>
            </a:r>
          </a:p>
          <a:p>
            <a:pPr algn="ctr">
              <a:defRPr/>
            </a:pPr>
            <a:r>
              <a:rPr lang="en-US" sz="2400" dirty="0">
                <a:latin typeface="+mj-lt"/>
              </a:rPr>
              <a:t>(e.g.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real vs.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upright vs.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size</a:t>
            </a:r>
            <a:r>
              <a:rPr lang="en-US" sz="2400" dirty="0">
                <a:latin typeface="+mj-lt"/>
              </a:rPr>
              <a:t>)</a:t>
            </a:r>
          </a:p>
        </p:txBody>
      </p:sp>
      <p:sp>
        <p:nvSpPr>
          <p:cNvPr id="5" name="TextBox 4"/>
          <p:cNvSpPr txBox="1"/>
          <p:nvPr/>
        </p:nvSpPr>
        <p:spPr bwMode="auto">
          <a:xfrm>
            <a:off x="1752600" y="3129756"/>
            <a:ext cx="8610600" cy="461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Sometimes a mathematical argument will make life easier:</a:t>
            </a:r>
          </a:p>
        </p:txBody>
      </p:sp>
      <p:graphicFrame>
        <p:nvGraphicFramePr>
          <p:cNvPr id="95237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65343914"/>
              </p:ext>
            </p:extLst>
          </p:nvPr>
        </p:nvGraphicFramePr>
        <p:xfrm>
          <a:off x="4838701" y="3734594"/>
          <a:ext cx="1954955" cy="121840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95237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838701" y="3734594"/>
                        <a:ext cx="1954955" cy="1218406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48</a:t>
            </a:fld>
            <a:endParaRPr lang="en-US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258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Magnification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019300" y="1447801"/>
            <a:ext cx="8077200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As with mirrors </a:t>
            </a:r>
            <a:r>
              <a:rPr lang="en-US" sz="2400" dirty="0">
                <a:solidFill>
                  <a:schemeClr val="bg1">
                    <a:lumMod val="50000"/>
                  </a:schemeClr>
                </a:solidFill>
                <a:latin typeface="+mj-lt"/>
              </a:rPr>
              <a:t>(see lecture 1-2, slide 52)</a:t>
            </a:r>
            <a:r>
              <a:rPr lang="en-US" sz="2400" dirty="0">
                <a:latin typeface="+mj-lt"/>
              </a:rPr>
              <a:t>:</a:t>
            </a:r>
          </a:p>
        </p:txBody>
      </p:sp>
      <p:graphicFrame>
        <p:nvGraphicFramePr>
          <p:cNvPr id="33796" name="Object 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38216350"/>
              </p:ext>
            </p:extLst>
          </p:nvPr>
        </p:nvGraphicFramePr>
        <p:xfrm>
          <a:off x="5232400" y="2133600"/>
          <a:ext cx="1854200" cy="8981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812520" imgH="393480" progId="Equation.3">
                  <p:embed/>
                </p:oleObj>
              </mc:Choice>
              <mc:Fallback>
                <p:oleObj name="Equation" r:id="rId2" imgW="812520" imgH="393480" progId="Equation.3">
                  <p:embed/>
                  <p:pic>
                    <p:nvPicPr>
                      <p:cNvPr id="33796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32400" y="2133600"/>
                        <a:ext cx="1854200" cy="898128"/>
                      </a:xfrm>
                      <a:prstGeom prst="rect">
                        <a:avLst/>
                      </a:prstGeom>
                      <a:solidFill>
                        <a:schemeClr val="bg1">
                          <a:lumMod val="8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019300" y="3429000"/>
            <a:ext cx="8077200" cy="193899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400" b="1" dirty="0">
                <a:latin typeface="+mj-lt"/>
              </a:rPr>
              <a:t>Magnification by Multiple Lenses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Analyze multiple lenses by looking at each lens separately and calculating its magnification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The total magnification from a series of lenses is the product of magnification of each lens:</a:t>
            </a:r>
          </a:p>
        </p:txBody>
      </p:sp>
      <p:graphicFrame>
        <p:nvGraphicFramePr>
          <p:cNvPr id="5" name="Object 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60702499"/>
              </p:ext>
            </p:extLst>
          </p:nvPr>
        </p:nvGraphicFramePr>
        <p:xfrm>
          <a:off x="3814764" y="5534026"/>
          <a:ext cx="4486275" cy="485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35200" imgH="241300" progId="Equation.3">
                  <p:embed/>
                </p:oleObj>
              </mc:Choice>
              <mc:Fallback>
                <p:oleObj name="Equation" r:id="rId4" imgW="2235200" imgH="241300" progId="Equation.3">
                  <p:embed/>
                  <p:pic>
                    <p:nvPicPr>
                      <p:cNvPr id="5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4764" y="5534026"/>
                        <a:ext cx="4486275" cy="485775"/>
                      </a:xfrm>
                      <a:prstGeom prst="rect">
                        <a:avLst/>
                      </a:prstGeom>
                      <a:solidFill>
                        <a:schemeClr val="bg1">
                          <a:lumMod val="75000"/>
                        </a:schemeClr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49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81200" y="274638"/>
            <a:ext cx="8229600" cy="1143000"/>
          </a:xfrm>
        </p:spPr>
        <p:txBody>
          <a:bodyPr/>
          <a:lstStyle/>
          <a:p>
            <a:r>
              <a:rPr lang="en-US" dirty="0"/>
              <a:t>For Exact Answers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2727167" y="2329225"/>
            <a:ext cx="4207033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Thin Lens Equation:</a:t>
            </a:r>
          </a:p>
          <a:p>
            <a:pPr algn="ctr"/>
            <a:r>
              <a:rPr lang="en-US" sz="2400" dirty="0">
                <a:latin typeface="+mj-lt"/>
              </a:rPr>
              <a:t>(Identical to Mirror Equation)</a:t>
            </a:r>
          </a:p>
        </p:txBody>
      </p:sp>
      <p:graphicFrame>
        <p:nvGraphicFramePr>
          <p:cNvPr id="5" name="Object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42690437"/>
              </p:ext>
            </p:extLst>
          </p:nvPr>
        </p:nvGraphicFramePr>
        <p:xfrm>
          <a:off x="8134034" y="2354021"/>
          <a:ext cx="1352550" cy="8429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672808" imgH="418918" progId="Equation.3">
                  <p:embed/>
                </p:oleObj>
              </mc:Choice>
              <mc:Fallback>
                <p:oleObj name="Equation" r:id="rId2" imgW="672808" imgH="418918" progId="Equation.3">
                  <p:embed/>
                  <p:pic>
                    <p:nvPicPr>
                      <p:cNvPr id="5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34034" y="2354021"/>
                        <a:ext cx="1352550" cy="8429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 bwMode="auto">
          <a:xfrm>
            <a:off x="2247900" y="1302604"/>
            <a:ext cx="76962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Draw ray diagram to find if image is</a:t>
            </a:r>
            <a:br>
              <a:rPr lang="en-US" sz="2400" dirty="0">
                <a:latin typeface="+mj-lt"/>
              </a:rPr>
            </a:br>
            <a:r>
              <a:rPr lang="en-US" sz="2400" dirty="0">
                <a:solidFill>
                  <a:srgbClr val="FF0000"/>
                </a:solidFill>
                <a:latin typeface="+mj-lt"/>
              </a:rPr>
              <a:t>real or virtual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upright or inverted</a:t>
            </a:r>
            <a:r>
              <a:rPr lang="en-US" sz="2400" dirty="0">
                <a:latin typeface="+mj-lt"/>
              </a:rPr>
              <a:t>;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enlarged or reduced</a:t>
            </a:r>
          </a:p>
        </p:txBody>
      </p:sp>
      <p:sp>
        <p:nvSpPr>
          <p:cNvPr id="8" name="TextBox 7"/>
          <p:cNvSpPr txBox="1"/>
          <p:nvPr/>
        </p:nvSpPr>
        <p:spPr bwMode="auto">
          <a:xfrm>
            <a:off x="2464115" y="3262072"/>
            <a:ext cx="4488504" cy="89255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latin typeface="+mj-lt"/>
              </a:rPr>
              <a:t>Magnification</a:t>
            </a:r>
            <a:r>
              <a:rPr lang="en-US" sz="2400" dirty="0">
                <a:latin typeface="+mj-lt"/>
              </a:rPr>
              <a:t>:</a:t>
            </a:r>
          </a:p>
          <a:p>
            <a:pPr algn="ctr"/>
            <a:r>
              <a:rPr lang="en-US" sz="2400" dirty="0">
                <a:latin typeface="+mj-lt"/>
              </a:rPr>
              <a:t>(Same as for mirrors)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aphicFrame>
        <p:nvGraphicFramePr>
          <p:cNvPr id="9" name="Object 8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88796358"/>
              </p:ext>
            </p:extLst>
          </p:nvPr>
        </p:nvGraphicFramePr>
        <p:xfrm>
          <a:off x="7892734" y="3312268"/>
          <a:ext cx="1835150" cy="7921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914400" imgH="393700" progId="Equation.3">
                  <p:embed/>
                </p:oleObj>
              </mc:Choice>
              <mc:Fallback>
                <p:oleObj name="Equation" r:id="rId4" imgW="914400" imgH="393700" progId="Equation.3">
                  <p:embed/>
                  <p:pic>
                    <p:nvPicPr>
                      <p:cNvPr id="9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2734" y="3312268"/>
                        <a:ext cx="1835150" cy="792163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Box 12"/>
          <p:cNvSpPr txBox="1"/>
          <p:nvPr/>
        </p:nvSpPr>
        <p:spPr bwMode="auto">
          <a:xfrm>
            <a:off x="2288844" y="475843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Start with </a:t>
            </a:r>
            <a:r>
              <a:rPr lang="en-US" sz="2400" dirty="0">
                <a:solidFill>
                  <a:srgbClr val="293F6F"/>
                </a:solidFill>
                <a:latin typeface="+mj-lt"/>
              </a:rPr>
              <a:t>lens closest to object</a:t>
            </a:r>
            <a:r>
              <a:rPr lang="en-US" sz="2400" dirty="0">
                <a:latin typeface="+mj-lt"/>
              </a:rPr>
              <a:t> to find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</a:p>
        </p:txBody>
      </p:sp>
      <p:sp>
        <p:nvSpPr>
          <p:cNvPr id="14" name="TextBox 13"/>
          <p:cNvSpPr txBox="1"/>
          <p:nvPr/>
        </p:nvSpPr>
        <p:spPr bwMode="auto">
          <a:xfrm>
            <a:off x="2201840" y="5260395"/>
            <a:ext cx="7696200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 algn="ctr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Use </a:t>
            </a:r>
            <a:r>
              <a:rPr lang="en-US" sz="2400" dirty="0">
                <a:solidFill>
                  <a:srgbClr val="FF0000"/>
                </a:solidFill>
                <a:latin typeface="+mj-lt"/>
              </a:rPr>
              <a:t>Image 1</a:t>
            </a:r>
            <a:r>
              <a:rPr lang="en-US" sz="2400" dirty="0">
                <a:latin typeface="+mj-lt"/>
              </a:rPr>
              <a:t> as the object for the </a:t>
            </a:r>
            <a:r>
              <a:rPr lang="en-US" sz="2400" dirty="0">
                <a:solidFill>
                  <a:srgbClr val="00B050"/>
                </a:solidFill>
                <a:latin typeface="+mj-lt"/>
              </a:rPr>
              <a:t>second lens</a:t>
            </a:r>
          </a:p>
        </p:txBody>
      </p:sp>
      <p:sp>
        <p:nvSpPr>
          <p:cNvPr id="15" name="TextBox 14"/>
          <p:cNvSpPr txBox="1"/>
          <p:nvPr/>
        </p:nvSpPr>
        <p:spPr bwMode="auto">
          <a:xfrm>
            <a:off x="2993868" y="5782499"/>
            <a:ext cx="4854733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latin typeface="+mj-lt"/>
              </a:rPr>
              <a:t>Continue</a:t>
            </a:r>
            <a:endParaRPr lang="en-US" sz="2400" dirty="0">
              <a:solidFill>
                <a:srgbClr val="00B050"/>
              </a:solidFill>
              <a:latin typeface="+mj-lt"/>
            </a:endParaRPr>
          </a:p>
        </p:txBody>
      </p:sp>
      <p:grpSp>
        <p:nvGrpSpPr>
          <p:cNvPr id="10" name="Group 17"/>
          <p:cNvGrpSpPr/>
          <p:nvPr/>
        </p:nvGrpSpPr>
        <p:grpSpPr>
          <a:xfrm>
            <a:off x="1981200" y="4174773"/>
            <a:ext cx="8229600" cy="543367"/>
            <a:chOff x="457200" y="4174772"/>
            <a:chExt cx="8229600" cy="543367"/>
          </a:xfrm>
        </p:grpSpPr>
        <p:sp>
          <p:nvSpPr>
            <p:cNvPr id="7" name="TextBox 6"/>
            <p:cNvSpPr txBox="1"/>
            <p:nvPr/>
          </p:nvSpPr>
          <p:spPr bwMode="auto">
            <a:xfrm>
              <a:off x="723900" y="4194919"/>
              <a:ext cx="7696200" cy="523220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800" dirty="0">
                  <a:latin typeface="+mj-lt"/>
                </a:rPr>
                <a:t>Multiple lenses?</a:t>
              </a:r>
              <a:endParaRPr lang="en-US" sz="2400" dirty="0">
                <a:solidFill>
                  <a:srgbClr val="00B050"/>
                </a:solidFill>
                <a:latin typeface="+mj-lt"/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>
            <a:xfrm>
              <a:off x="457200" y="4174772"/>
              <a:ext cx="8229600" cy="0"/>
            </a:xfrm>
            <a:prstGeom prst="line">
              <a:avLst/>
            </a:prstGeom>
            <a:ln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" name="TextBox 18"/>
          <p:cNvSpPr txBox="1"/>
          <p:nvPr/>
        </p:nvSpPr>
        <p:spPr bwMode="auto">
          <a:xfrm>
            <a:off x="1893144" y="6342856"/>
            <a:ext cx="5512518" cy="4616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latin typeface="+mj-lt"/>
              </a:rPr>
              <a:t>Magnification is product of each lens’s:</a:t>
            </a:r>
          </a:p>
        </p:txBody>
      </p:sp>
      <p:graphicFrame>
        <p:nvGraphicFramePr>
          <p:cNvPr id="20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89115301"/>
              </p:ext>
            </p:extLst>
          </p:nvPr>
        </p:nvGraphicFramePr>
        <p:xfrm>
          <a:off x="7774806" y="6264312"/>
          <a:ext cx="2524050" cy="618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9240" imgH="495000" progId="Equation.3">
                  <p:embed/>
                </p:oleObj>
              </mc:Choice>
              <mc:Fallback>
                <p:oleObj name="Equation" r:id="rId6" imgW="2019240" imgH="495000" progId="Equation.3">
                  <p:embed/>
                  <p:pic>
                    <p:nvPicPr>
                      <p:cNvPr id="2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74806" y="6264312"/>
                        <a:ext cx="2524050" cy="61875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11748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8" grpId="0"/>
      <p:bldP spid="13" grpId="0"/>
      <p:bldP spid="14" grpId="0"/>
      <p:bldP spid="15" grpId="0"/>
      <p:bldP spid="19" grpId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306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Using the Thin Lens Equation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81200" y="1371600"/>
            <a:ext cx="8229600" cy="70788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dirty="0">
                <a:latin typeface="+mj-lt"/>
              </a:rPr>
              <a:t>A </a:t>
            </a:r>
            <a:r>
              <a:rPr lang="en-US" sz="2000" b="1" dirty="0">
                <a:latin typeface="+mj-lt"/>
              </a:rPr>
              <a:t>2.0 cm </a:t>
            </a:r>
            <a:r>
              <a:rPr lang="en-US" sz="2000" dirty="0">
                <a:latin typeface="+mj-lt"/>
              </a:rPr>
              <a:t>tall object is near a lens.  If its image is </a:t>
            </a:r>
            <a:r>
              <a:rPr lang="en-US" sz="2000" b="1" dirty="0">
                <a:latin typeface="+mj-lt"/>
              </a:rPr>
              <a:t>upright</a:t>
            </a:r>
            <a:r>
              <a:rPr lang="en-US" sz="2000" dirty="0">
                <a:latin typeface="+mj-lt"/>
              </a:rPr>
              <a:t> and 3.0 cm from the lens but only </a:t>
            </a:r>
            <a:r>
              <a:rPr lang="en-US" sz="2000" b="1" dirty="0">
                <a:latin typeface="+mj-lt"/>
              </a:rPr>
              <a:t>1.5 cm </a:t>
            </a:r>
            <a:r>
              <a:rPr lang="en-US" sz="2000" dirty="0">
                <a:latin typeface="+mj-lt"/>
              </a:rPr>
              <a:t>tall, what is the lens’s focal length (including sign)?</a:t>
            </a:r>
          </a:p>
        </p:txBody>
      </p:sp>
      <p:sp>
        <p:nvSpPr>
          <p:cNvPr id="6" name="TextBox 5"/>
          <p:cNvSpPr txBox="1">
            <a:spLocks noChangeArrowheads="1"/>
          </p:cNvSpPr>
          <p:nvPr/>
        </p:nvSpPr>
        <p:spPr bwMode="auto">
          <a:xfrm>
            <a:off x="3657600" y="2667000"/>
            <a:ext cx="1066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/>
              <a:t>Given:</a:t>
            </a:r>
          </a:p>
        </p:txBody>
      </p:sp>
      <p:sp>
        <p:nvSpPr>
          <p:cNvPr id="7" name="TextBox 6"/>
          <p:cNvSpPr txBox="1">
            <a:spLocks noChangeArrowheads="1"/>
          </p:cNvSpPr>
          <p:nvPr/>
        </p:nvSpPr>
        <p:spPr bwMode="auto">
          <a:xfrm>
            <a:off x="4572000" y="264795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</a:rPr>
              <a:t> = 2.0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8" name="TextBox 7"/>
          <p:cNvSpPr txBox="1">
            <a:spLocks noChangeArrowheads="1"/>
          </p:cNvSpPr>
          <p:nvPr/>
        </p:nvSpPr>
        <p:spPr bwMode="auto">
          <a:xfrm>
            <a:off x="4572000" y="3048000"/>
            <a:ext cx="18288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h</a:t>
            </a:r>
            <a:r>
              <a:rPr lang="en-US" sz="2000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FF0000"/>
                </a:solidFill>
              </a:rPr>
              <a:t> = +1.5 cm</a:t>
            </a:r>
            <a:endParaRPr lang="en-US" sz="2000" i="1" dirty="0">
              <a:solidFill>
                <a:srgbClr val="FF0000"/>
              </a:solidFill>
            </a:endParaRPr>
          </a:p>
        </p:txBody>
      </p: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4572000" y="4191000"/>
            <a:ext cx="16764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00B050"/>
                </a:solidFill>
                <a:latin typeface="Times New Roman" pitchFamily="18" charset="0"/>
                <a:cs typeface="Times New Roman" pitchFamily="18" charset="0"/>
              </a:rPr>
              <a:t>'</a:t>
            </a:r>
            <a:r>
              <a:rPr lang="en-US" sz="2000" dirty="0">
                <a:solidFill>
                  <a:srgbClr val="00B050"/>
                </a:solidFill>
              </a:rPr>
              <a:t> = –3.0 cm</a:t>
            </a:r>
            <a:endParaRPr lang="en-US" sz="2000" i="1" dirty="0">
              <a:solidFill>
                <a:srgbClr val="00B050"/>
              </a:solidFill>
            </a:endParaRPr>
          </a:p>
        </p:txBody>
      </p: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4572000" y="3448050"/>
            <a:ext cx="1905000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dirty="0">
                <a:solidFill>
                  <a:srgbClr val="293F6F"/>
                </a:solidFill>
              </a:rPr>
              <a:t>Magnification:</a:t>
            </a:r>
          </a:p>
        </p:txBody>
      </p:sp>
      <p:sp>
        <p:nvSpPr>
          <p:cNvPr id="11" name="TextBox 10"/>
          <p:cNvSpPr txBox="1">
            <a:spLocks noChangeArrowheads="1"/>
          </p:cNvSpPr>
          <p:nvPr/>
        </p:nvSpPr>
        <p:spPr bwMode="auto">
          <a:xfrm>
            <a:off x="6248400" y="3448050"/>
            <a:ext cx="1889126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293F6F"/>
                </a:solidFill>
              </a:rPr>
              <a:t> </a:t>
            </a:r>
            <a:r>
              <a:rPr lang="en-US" sz="2000" i="1" dirty="0">
                <a:solidFill>
                  <a:srgbClr val="293F6F"/>
                </a:solidFill>
                <a:latin typeface="Times New Roman" pitchFamily="18" charset="0"/>
                <a:cs typeface="Times New Roman" pitchFamily="18" charset="0"/>
              </a:rPr>
              <a:t>=h’/h=</a:t>
            </a:r>
            <a:r>
              <a:rPr lang="en-US" sz="2000" dirty="0">
                <a:solidFill>
                  <a:srgbClr val="293F6F"/>
                </a:solidFill>
              </a:rPr>
              <a:t> 0.75</a:t>
            </a:r>
            <a:endParaRPr lang="en-US" sz="2000" i="1" dirty="0">
              <a:solidFill>
                <a:srgbClr val="293F6F"/>
              </a:solidFill>
            </a:endParaRPr>
          </a:p>
        </p:txBody>
      </p:sp>
      <p:graphicFrame>
        <p:nvGraphicFramePr>
          <p:cNvPr id="12" name="Object 2"/>
          <p:cNvGraphicFramePr>
            <a:graphicFrameLocks noChangeAspect="1"/>
          </p:cNvGraphicFramePr>
          <p:nvPr/>
        </p:nvGraphicFramePr>
        <p:xfrm>
          <a:off x="4424364" y="5002212"/>
          <a:ext cx="1069975" cy="7889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533169" imgH="393529" progId="Equation.3">
                  <p:embed/>
                </p:oleObj>
              </mc:Choice>
              <mc:Fallback>
                <p:oleObj name="Equation" r:id="rId2" imgW="533169" imgH="393529" progId="Equation.3">
                  <p:embed/>
                  <p:pic>
                    <p:nvPicPr>
                      <p:cNvPr id="12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24364" y="5002212"/>
                        <a:ext cx="1069975" cy="788988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ight Arrow 12"/>
          <p:cNvSpPr/>
          <p:nvPr/>
        </p:nvSpPr>
        <p:spPr>
          <a:xfrm>
            <a:off x="5716588" y="5227637"/>
            <a:ext cx="685800" cy="338138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4" name="TextBox 13"/>
          <p:cNvSpPr txBox="1">
            <a:spLocks noChangeArrowheads="1"/>
          </p:cNvSpPr>
          <p:nvPr/>
        </p:nvSpPr>
        <p:spPr bwMode="auto">
          <a:xfrm>
            <a:off x="6858000" y="5195887"/>
            <a:ext cx="1676400" cy="401638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s</a:t>
            </a:r>
            <a:r>
              <a:rPr lang="en-US" sz="2000" dirty="0">
                <a:solidFill>
                  <a:srgbClr val="7030A0"/>
                </a:solidFill>
              </a:rPr>
              <a:t> = +4.0 cm</a:t>
            </a:r>
            <a:endParaRPr lang="en-US" sz="2000" i="1" dirty="0">
              <a:solidFill>
                <a:srgbClr val="7030A0"/>
              </a:solidFill>
            </a:endParaRPr>
          </a:p>
        </p:txBody>
      </p:sp>
      <p:sp>
        <p:nvSpPr>
          <p:cNvPr id="15" name="Right Arrow 14"/>
          <p:cNvSpPr/>
          <p:nvPr/>
        </p:nvSpPr>
        <p:spPr>
          <a:xfrm>
            <a:off x="5838825" y="6119813"/>
            <a:ext cx="685800" cy="339725"/>
          </a:xfrm>
          <a:prstGeom prst="rightArrow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grpSp>
        <p:nvGrpSpPr>
          <p:cNvPr id="2" name="Group 23"/>
          <p:cNvGrpSpPr>
            <a:grpSpLocks/>
          </p:cNvGrpSpPr>
          <p:nvPr/>
        </p:nvGrpSpPr>
        <p:grpSpPr bwMode="auto">
          <a:xfrm>
            <a:off x="4191000" y="5865812"/>
            <a:ext cx="1358900" cy="839788"/>
            <a:chOff x="3746500" y="5308600"/>
            <a:chExt cx="1358900" cy="839788"/>
          </a:xfrm>
        </p:grpSpPr>
        <p:graphicFrame>
          <p:nvGraphicFramePr>
            <p:cNvPr id="98328" name="Object 3"/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2641549931"/>
                </p:ext>
              </p:extLst>
            </p:nvPr>
          </p:nvGraphicFramePr>
          <p:xfrm>
            <a:off x="3746500" y="5308600"/>
            <a:ext cx="1349375" cy="839788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672840" imgH="419040" progId="Equation.3">
                    <p:embed/>
                  </p:oleObj>
                </mc:Choice>
                <mc:Fallback>
                  <p:oleObj name="Equation" r:id="rId4" imgW="672840" imgH="419040" progId="Equation.3">
                    <p:embed/>
                    <p:pic>
                      <p:nvPicPr>
                        <p:cNvPr id="98328" name="Object 3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5"/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46500" y="5308600"/>
                          <a:ext cx="1349375" cy="839788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6" name="Rounded Rectangle 15"/>
            <p:cNvSpPr/>
            <p:nvPr/>
          </p:nvSpPr>
          <p:spPr>
            <a:xfrm>
              <a:off x="42672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7030A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  <p:sp>
          <p:nvSpPr>
            <p:cNvPr id="17" name="Rounded Rectangle 16"/>
            <p:cNvSpPr/>
            <p:nvPr/>
          </p:nvSpPr>
          <p:spPr>
            <a:xfrm>
              <a:off x="4800600" y="5348288"/>
              <a:ext cx="304800" cy="760412"/>
            </a:xfrm>
            <a:prstGeom prst="roundRect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en-US"/>
            </a:p>
          </p:txBody>
        </p:sp>
      </p:grpSp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6813550" y="6119812"/>
            <a:ext cx="1676400" cy="400050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sz="2000" i="1" dirty="0">
                <a:solidFill>
                  <a:srgbClr val="A67A00"/>
                </a:solidFill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sz="2000" dirty="0">
                <a:solidFill>
                  <a:srgbClr val="A67A00"/>
                </a:solidFill>
              </a:rPr>
              <a:t> = –12 cm</a:t>
            </a:r>
            <a:endParaRPr lang="en-US" sz="2000" i="1" dirty="0">
              <a:solidFill>
                <a:srgbClr val="A67A00"/>
              </a:solidFill>
            </a:endParaRPr>
          </a:p>
        </p:txBody>
      </p:sp>
      <p:sp>
        <p:nvSpPr>
          <p:cNvPr id="98320" name="TextBox 19"/>
          <p:cNvSpPr txBox="1">
            <a:spLocks noChangeArrowheads="1"/>
          </p:cNvSpPr>
          <p:nvPr/>
        </p:nvSpPr>
        <p:spPr bwMode="auto">
          <a:xfrm>
            <a:off x="1752600" y="2895600"/>
            <a:ext cx="1828800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>
              <a:buFontTx/>
              <a:buAutoNum type="alphaLcPeriod"/>
            </a:pPr>
            <a:r>
              <a:rPr lang="en-US" sz="2400" dirty="0"/>
              <a:t>+6.0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+1.7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+5.0 cm</a:t>
            </a:r>
          </a:p>
          <a:p>
            <a:pPr eaLnBrk="1" hangingPunct="1">
              <a:buFontTx/>
              <a:buAutoNum type="alphaLcPeriod"/>
            </a:pPr>
            <a:r>
              <a:rPr lang="en-US" sz="2400" dirty="0"/>
              <a:t>–12 cm</a:t>
            </a:r>
          </a:p>
        </p:txBody>
      </p:sp>
      <p:grpSp>
        <p:nvGrpSpPr>
          <p:cNvPr id="3" name="Group 30"/>
          <p:cNvGrpSpPr>
            <a:grpSpLocks/>
          </p:cNvGrpSpPr>
          <p:nvPr/>
        </p:nvGrpSpPr>
        <p:grpSpPr bwMode="auto">
          <a:xfrm>
            <a:off x="1828800" y="3124200"/>
            <a:ext cx="1676400" cy="1143000"/>
            <a:chOff x="228600" y="2590800"/>
            <a:chExt cx="1676400" cy="1143000"/>
          </a:xfrm>
        </p:grpSpPr>
        <p:cxnSp>
          <p:nvCxnSpPr>
            <p:cNvPr id="26" name="Straight Connector 25"/>
            <p:cNvCxnSpPr/>
            <p:nvPr/>
          </p:nvCxnSpPr>
          <p:spPr>
            <a:xfrm>
              <a:off x="228600" y="2590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/>
            <p:cNvCxnSpPr/>
            <p:nvPr/>
          </p:nvCxnSpPr>
          <p:spPr>
            <a:xfrm>
              <a:off x="228600" y="3352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/>
            <p:cNvCxnSpPr/>
            <p:nvPr/>
          </p:nvCxnSpPr>
          <p:spPr>
            <a:xfrm>
              <a:off x="228600" y="3733800"/>
              <a:ext cx="1676400" cy="0"/>
            </a:xfrm>
            <a:prstGeom prst="line">
              <a:avLst/>
            </a:prstGeom>
            <a:ln>
              <a:solidFill>
                <a:srgbClr val="FF00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9" name="Rounded Rectangle 28"/>
          <p:cNvSpPr/>
          <p:nvPr/>
        </p:nvSpPr>
        <p:spPr>
          <a:xfrm>
            <a:off x="1795463" y="4451350"/>
            <a:ext cx="1600200" cy="304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31" name="TextBox 30"/>
          <p:cNvSpPr txBox="1">
            <a:spLocks noChangeArrowheads="1"/>
          </p:cNvSpPr>
          <p:nvPr/>
        </p:nvSpPr>
        <p:spPr bwMode="auto">
          <a:xfrm>
            <a:off x="8464057" y="2447667"/>
            <a:ext cx="2606674" cy="2554545"/>
          </a:xfrm>
          <a:prstGeom prst="rect">
            <a:avLst/>
          </a:prstGeom>
          <a:noFill/>
          <a:ln w="9525">
            <a:solidFill>
              <a:schemeClr val="tx1"/>
            </a:solidFill>
            <a:prstDash val="dash"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Since image is reduced  (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i="1" dirty="0">
                <a:solidFill>
                  <a:srgbClr val="7030A0"/>
                </a:solidFill>
                <a:cs typeface="Times New Roman" pitchFamily="18" charset="0"/>
              </a:rPr>
              <a:t>|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&lt; 1) and upright (</a:t>
            </a:r>
            <a:r>
              <a:rPr lang="en-US" sz="2000" i="1" dirty="0">
                <a:solidFill>
                  <a:srgbClr val="7030A0"/>
                </a:solidFill>
                <a:latin typeface="Times New Roman" pitchFamily="18" charset="0"/>
                <a:cs typeface="Times New Roman" pitchFamily="18" charset="0"/>
              </a:rPr>
              <a:t>m</a:t>
            </a:r>
            <a:r>
              <a:rPr lang="en-US" sz="2000" dirty="0">
                <a:solidFill>
                  <a:srgbClr val="7030A0"/>
                </a:solidFill>
                <a:cs typeface="Times New Roman" pitchFamily="18" charset="0"/>
              </a:rPr>
              <a:t> &gt; 0), 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it must be a </a:t>
            </a:r>
            <a:r>
              <a:rPr lang="en-US" sz="2000" b="1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diverging</a:t>
            </a: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 lens.</a:t>
            </a:r>
          </a:p>
          <a:p>
            <a:pPr algn="ctr">
              <a:defRPr/>
            </a:pPr>
            <a:endParaRPr lang="en-US" sz="2000" dirty="0">
              <a:solidFill>
                <a:srgbClr val="7030A0"/>
              </a:solidFill>
              <a:latin typeface="+mj-lt"/>
              <a:cs typeface="Times New Roman" pitchFamily="18" charset="0"/>
            </a:endParaRP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Therefore, f &lt; 0</a:t>
            </a:r>
          </a:p>
          <a:p>
            <a:pPr algn="ctr">
              <a:defRPr/>
            </a:pPr>
            <a:r>
              <a:rPr lang="en-US" sz="2000" dirty="0">
                <a:solidFill>
                  <a:srgbClr val="7030A0"/>
                </a:solidFill>
                <a:latin typeface="+mj-lt"/>
                <a:cs typeface="Times New Roman" pitchFamily="18" charset="0"/>
              </a:rPr>
              <a:t>and s’ &lt; 0 </a:t>
            </a:r>
            <a:r>
              <a:rPr lang="en-US" sz="2000" dirty="0">
                <a:solidFill>
                  <a:schemeClr val="bg1">
                    <a:lumMod val="50000"/>
                  </a:schemeClr>
                </a:solidFill>
                <a:latin typeface="+mj-lt"/>
                <a:cs typeface="Times New Roman" pitchFamily="18" charset="0"/>
              </a:rPr>
              <a:t>(virtual image)</a:t>
            </a:r>
            <a:endParaRPr lang="en-US" sz="2000" dirty="0">
              <a:solidFill>
                <a:schemeClr val="bg1">
                  <a:lumMod val="50000"/>
                </a:schemeClr>
              </a:solidFill>
              <a:latin typeface="+mj-lt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51</a:t>
            </a:fld>
            <a:endParaRPr 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3" grpId="0" animBg="1"/>
      <p:bldP spid="14" grpId="0" animBg="1"/>
      <p:bldP spid="15" grpId="0" animBg="1"/>
      <p:bldP spid="19" grpId="0" animBg="1"/>
      <p:bldP spid="29" grpId="0" animBg="1"/>
      <p:bldP spid="31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/>
          <p:cNvSpPr>
            <a:spLocks noGrp="1"/>
          </p:cNvSpPr>
          <p:nvPr>
            <p:ph type="title"/>
          </p:nvPr>
        </p:nvSpPr>
        <p:spPr>
          <a:xfrm>
            <a:off x="2286000" y="0"/>
            <a:ext cx="8229600" cy="1143000"/>
          </a:xfrm>
        </p:spPr>
        <p:txBody>
          <a:bodyPr/>
          <a:lstStyle/>
          <a:p>
            <a:pPr eaLnBrk="1" hangingPunct="1"/>
            <a:r>
              <a:rPr lang="en-US" dirty="0">
                <a:cs typeface="Arial" charset="0"/>
              </a:rPr>
              <a:t>Ray Diagram with Two Lenses</a:t>
            </a:r>
          </a:p>
        </p:txBody>
      </p:sp>
      <p:sp>
        <p:nvSpPr>
          <p:cNvPr id="6" name="Down Arrow 5"/>
          <p:cNvSpPr/>
          <p:nvPr/>
        </p:nvSpPr>
        <p:spPr>
          <a:xfrm rot="10800000">
            <a:off x="1900423" y="2480523"/>
            <a:ext cx="430718" cy="1033724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7543801" y="914400"/>
            <a:ext cx="26823" cy="17882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>
            <a:off x="5105400" y="3146478"/>
            <a:ext cx="104374" cy="23194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8763000" y="3173055"/>
            <a:ext cx="73780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61611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1" name="TextBox 21"/>
          <p:cNvSpPr txBox="1">
            <a:spLocks noChangeArrowheads="1"/>
          </p:cNvSpPr>
          <p:nvPr/>
        </p:nvSpPr>
        <p:spPr bwMode="auto">
          <a:xfrm>
            <a:off x="6510902" y="3600391"/>
            <a:ext cx="55096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717287" y="3462201"/>
            <a:ext cx="104090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13" name="TextBox 23"/>
          <p:cNvSpPr txBox="1">
            <a:spLocks noChangeArrowheads="1"/>
          </p:cNvSpPr>
          <p:nvPr/>
        </p:nvSpPr>
        <p:spPr bwMode="auto">
          <a:xfrm>
            <a:off x="3409732" y="3600391"/>
            <a:ext cx="464816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20958" y="3514247"/>
            <a:ext cx="8642243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25"/>
          <p:cNvGrpSpPr>
            <a:grpSpLocks/>
          </p:cNvGrpSpPr>
          <p:nvPr/>
        </p:nvGrpSpPr>
        <p:grpSpPr bwMode="auto">
          <a:xfrm>
            <a:off x="5042872" y="1615499"/>
            <a:ext cx="351753" cy="3793909"/>
            <a:chOff x="7162799" y="990600"/>
            <a:chExt cx="310888" cy="3355848"/>
          </a:xfrm>
        </p:grpSpPr>
        <p:grpSp>
          <p:nvGrpSpPr>
            <p:cNvPr id="3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803058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9870505" y="3460407"/>
            <a:ext cx="102295" cy="104090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0" name="TextBox 36"/>
          <p:cNvSpPr txBox="1">
            <a:spLocks noChangeArrowheads="1"/>
          </p:cNvSpPr>
          <p:nvPr/>
        </p:nvSpPr>
        <p:spPr bwMode="auto">
          <a:xfrm>
            <a:off x="7492580" y="3602185"/>
            <a:ext cx="516862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750638" y="1617292"/>
            <a:ext cx="172287" cy="379032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622" name="TextBox 38"/>
          <p:cNvSpPr txBox="1">
            <a:spLocks noChangeArrowheads="1"/>
          </p:cNvSpPr>
          <p:nvPr/>
        </p:nvSpPr>
        <p:spPr bwMode="auto">
          <a:xfrm>
            <a:off x="9473885" y="3614748"/>
            <a:ext cx="603005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5105400" y="2483905"/>
            <a:ext cx="104374" cy="1588"/>
          </a:xfrm>
          <a:prstGeom prst="straightConnector1">
            <a:avLst/>
          </a:prstGeom>
          <a:ln w="31750">
            <a:solidFill>
              <a:schemeClr val="tx1"/>
            </a:solidFill>
            <a:prstDash val="solid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8229600" y="6356351"/>
            <a:ext cx="2133600" cy="365125"/>
          </a:xfrm>
        </p:spPr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148720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33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4" name="TextBox 3"/>
          <p:cNvSpPr txBox="1"/>
          <p:nvPr/>
        </p:nvSpPr>
        <p:spPr bwMode="auto">
          <a:xfrm>
            <a:off x="1905000" y="1295401"/>
            <a:ext cx="83820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If you have two lenses, you can still make a ray diagram.</a:t>
            </a:r>
          </a:p>
          <a:p>
            <a:pPr marL="342900" indent="-342900">
              <a:buFont typeface="Arial" panose="020B0604020202020204" pitchFamily="34" charset="0"/>
              <a:buChar char="•"/>
              <a:defRPr/>
            </a:pPr>
            <a:r>
              <a:rPr lang="en-US" sz="2400" dirty="0">
                <a:latin typeface="+mj-lt"/>
              </a:rPr>
              <a:t>Find the image formed by one lens at a time.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6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38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12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381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4" name="Group 44"/>
          <p:cNvGrpSpPr>
            <a:grpSpLocks/>
          </p:cNvGrpSpPr>
          <p:nvPr/>
        </p:nvGrpSpPr>
        <p:grpSpPr bwMode="auto">
          <a:xfrm>
            <a:off x="3048000" y="2362200"/>
            <a:ext cx="2819400" cy="1905000"/>
            <a:chOff x="1524000" y="2362200"/>
            <a:chExt cx="2819400" cy="1905000"/>
          </a:xfrm>
        </p:grpSpPr>
        <p:cxnSp>
          <p:nvCxnSpPr>
            <p:cNvPr id="7" name="Straight Arrow Connector 6"/>
            <p:cNvCxnSpPr/>
            <p:nvPr/>
          </p:nvCxnSpPr>
          <p:spPr>
            <a:xfrm flipV="1">
              <a:off x="3360738" y="2362200"/>
              <a:ext cx="982662" cy="685800"/>
            </a:xfrm>
            <a:prstGeom prst="straightConnector1">
              <a:avLst/>
            </a:prstGeom>
            <a:ln w="31750">
              <a:solidFill>
                <a:srgbClr val="FF000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/>
            <p:nvPr/>
          </p:nvCxnSpPr>
          <p:spPr>
            <a:xfrm flipV="1">
              <a:off x="1524000" y="3046414"/>
              <a:ext cx="1835150" cy="1220786"/>
            </a:xfrm>
            <a:prstGeom prst="straightConnector1">
              <a:avLst/>
            </a:prstGeom>
            <a:ln w="31750">
              <a:solidFill>
                <a:srgbClr val="FF000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9" y="3960814"/>
            <a:ext cx="1604961" cy="534987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5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99347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6" name="Group 45"/>
          <p:cNvGrpSpPr>
            <a:grpSpLocks/>
          </p:cNvGrpSpPr>
          <p:nvPr/>
        </p:nvGrpSpPr>
        <p:grpSpPr bwMode="auto">
          <a:xfrm>
            <a:off x="2133600" y="3046413"/>
            <a:ext cx="4122738" cy="914400"/>
            <a:chOff x="609600" y="3046413"/>
            <a:chExt cx="4122738" cy="914400"/>
          </a:xfrm>
        </p:grpSpPr>
        <p:cxnSp>
          <p:nvCxnSpPr>
            <p:cNvPr id="8" name="Straight Arrow Connector 7"/>
            <p:cNvCxnSpPr>
              <a:cxnSpLocks noChangeAspect="1"/>
            </p:cNvCxnSpPr>
            <p:nvPr/>
          </p:nvCxnSpPr>
          <p:spPr>
            <a:xfrm rot="10800000" flipH="1" flipV="1">
              <a:off x="609600" y="3046413"/>
              <a:ext cx="2743200" cy="609600"/>
            </a:xfrm>
            <a:prstGeom prst="straightConnector1">
              <a:avLst/>
            </a:prstGeom>
            <a:ln w="31750">
              <a:solidFill>
                <a:srgbClr val="0070C0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Arrow Connector 39"/>
            <p:cNvCxnSpPr>
              <a:cxnSpLocks noChangeAspect="1"/>
            </p:cNvCxnSpPr>
            <p:nvPr/>
          </p:nvCxnSpPr>
          <p:spPr>
            <a:xfrm rot="10800000" flipH="1" flipV="1">
              <a:off x="3360738" y="3656013"/>
              <a:ext cx="1371600" cy="304800"/>
            </a:xfrm>
            <a:prstGeom prst="straightConnector1">
              <a:avLst/>
            </a:prstGeom>
            <a:ln w="12700">
              <a:solidFill>
                <a:srgbClr val="0070C0"/>
              </a:solidFill>
              <a:prstDash val="sysDot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7" name="Group 46"/>
          <p:cNvGrpSpPr>
            <a:grpSpLocks/>
          </p:cNvGrpSpPr>
          <p:nvPr/>
        </p:nvGrpSpPr>
        <p:grpSpPr bwMode="auto">
          <a:xfrm>
            <a:off x="3505200" y="3654426"/>
            <a:ext cx="3505200" cy="79375"/>
            <a:chOff x="1219200" y="3654425"/>
            <a:chExt cx="5341938" cy="3175"/>
          </a:xfrm>
        </p:grpSpPr>
        <p:cxnSp>
          <p:nvCxnSpPr>
            <p:cNvPr id="9" name="Straight Arrow Connector 8"/>
            <p:cNvCxnSpPr/>
            <p:nvPr/>
          </p:nvCxnSpPr>
          <p:spPr>
            <a:xfrm rot="10800000">
              <a:off x="3360738" y="3656013"/>
              <a:ext cx="3200400" cy="1587"/>
            </a:xfrm>
            <a:prstGeom prst="straightConnector1">
              <a:avLst/>
            </a:prstGeom>
            <a:ln w="31750">
              <a:solidFill>
                <a:srgbClr val="0070C0"/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/>
            <p:cNvCxnSpPr/>
            <p:nvPr/>
          </p:nvCxnSpPr>
          <p:spPr>
            <a:xfrm rot="10800000">
              <a:off x="1219200" y="3654425"/>
              <a:ext cx="2133600" cy="1588"/>
            </a:xfrm>
            <a:prstGeom prst="straightConnector1">
              <a:avLst/>
            </a:prstGeom>
            <a:ln w="31750">
              <a:solidFill>
                <a:srgbClr val="0070C0"/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4" name="TextBox 43"/>
          <p:cNvSpPr txBox="1"/>
          <p:nvPr/>
        </p:nvSpPr>
        <p:spPr bwMode="auto">
          <a:xfrm>
            <a:off x="1828800" y="5867401"/>
            <a:ext cx="8534400" cy="8302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Use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 </a:t>
            </a:r>
            <a:r>
              <a:rPr lang="en-US" sz="2400" dirty="0">
                <a:latin typeface="+mj-lt"/>
              </a:rPr>
              <a:t>and its three special rays to find the image formed by just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that lens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53</a:t>
            </a:fld>
            <a:endParaRPr lang="en-US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14:cNvPr>
              <p14:cNvContentPartPr/>
              <p14:nvPr/>
            </p14:nvContentPartPr>
            <p14:xfrm>
              <a:off x="3784680" y="4057560"/>
              <a:ext cx="622440" cy="241920"/>
            </p14:xfrm>
          </p:contentPart>
        </mc:Choice>
        <mc:Fallback xmlns=""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8069301A-C543-4FF3-8C80-40F26E5E40D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775320" y="4048200"/>
                <a:ext cx="641160" cy="260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91099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44" grpId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354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>
                <a:latin typeface="Arial" charset="0"/>
                <a:cs typeface="Arial" charset="0"/>
              </a:rPr>
              <a:t>Ray Diagram with Two Lenses</a:t>
            </a: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1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bg1">
                    <a:lumMod val="75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bg1">
                  <a:lumMod val="75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68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0370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1" name="Straight Arrow Connector 40"/>
          <p:cNvCxnSpPr>
            <a:endCxn id="5" idx="2"/>
          </p:cNvCxnSpPr>
          <p:nvPr/>
        </p:nvCxnSpPr>
        <p:spPr>
          <a:xfrm flipH="1" flipV="1">
            <a:off x="3971132" y="3654425"/>
            <a:ext cx="905669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981200" y="1295401"/>
            <a:ext cx="8229600" cy="8309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buFont typeface="Arial" pitchFamily="34" charset="0"/>
              <a:buChar char="•"/>
              <a:defRPr/>
            </a:pPr>
            <a:r>
              <a:rPr lang="en-US" sz="2400" dirty="0">
                <a:latin typeface="+mj-lt"/>
              </a:rPr>
              <a:t>  Draw special rays from the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 image </a:t>
            </a:r>
            <a:r>
              <a:rPr lang="en-US" sz="2400" dirty="0">
                <a:latin typeface="+mj-lt"/>
              </a:rPr>
              <a:t>to the </a:t>
            </a:r>
            <a:r>
              <a:rPr lang="en-US" sz="2400" b="1" dirty="0">
                <a:solidFill>
                  <a:srgbClr val="00B050"/>
                </a:solidFill>
              </a:rPr>
              <a:t>converging lens </a:t>
            </a:r>
            <a:r>
              <a:rPr lang="en-US" sz="2400" dirty="0">
                <a:latin typeface="+mj-lt"/>
              </a:rPr>
              <a:t>and find the </a:t>
            </a:r>
            <a:r>
              <a:rPr lang="en-US" sz="2400" b="1" dirty="0">
                <a:solidFill>
                  <a:srgbClr val="293F6F"/>
                </a:solidFill>
                <a:latin typeface="+mj-lt"/>
              </a:rPr>
              <a:t>final image</a:t>
            </a:r>
          </a:p>
        </p:txBody>
      </p:sp>
      <p:grpSp>
        <p:nvGrpSpPr>
          <p:cNvPr id="7" name="Group 48"/>
          <p:cNvGrpSpPr>
            <a:grpSpLocks/>
          </p:cNvGrpSpPr>
          <p:nvPr/>
        </p:nvGrpSpPr>
        <p:grpSpPr bwMode="auto">
          <a:xfrm>
            <a:off x="3970338" y="3654426"/>
            <a:ext cx="4114800" cy="301625"/>
            <a:chOff x="2447131" y="3654425"/>
            <a:chExt cx="4114007" cy="301625"/>
          </a:xfrm>
        </p:grpSpPr>
        <p:cxnSp>
          <p:nvCxnSpPr>
            <p:cNvPr id="35" name="Straight Arrow Connector 34"/>
            <p:cNvCxnSpPr>
              <a:cxnSpLocks noChangeAspect="1"/>
            </p:cNvCxnSpPr>
            <p:nvPr/>
          </p:nvCxnSpPr>
          <p:spPr>
            <a:xfrm rot="10800000">
              <a:off x="3361355" y="3721100"/>
              <a:ext cx="3199783" cy="234950"/>
            </a:xfrm>
            <a:prstGeom prst="straightConnector1">
              <a:avLst/>
            </a:prstGeom>
            <a:ln w="31750">
              <a:solidFill>
                <a:schemeClr val="accent4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Arrow Connector 42"/>
            <p:cNvCxnSpPr>
              <a:cxnSpLocks noChangeAspect="1"/>
            </p:cNvCxnSpPr>
            <p:nvPr/>
          </p:nvCxnSpPr>
          <p:spPr>
            <a:xfrm rot="10800000">
              <a:off x="2447131" y="3654425"/>
              <a:ext cx="914224" cy="66675"/>
            </a:xfrm>
            <a:prstGeom prst="straightConnector1">
              <a:avLst/>
            </a:prstGeom>
            <a:ln w="12700">
              <a:solidFill>
                <a:schemeClr val="accent4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Group 50"/>
          <p:cNvGrpSpPr/>
          <p:nvPr/>
        </p:nvGrpSpPr>
        <p:grpSpPr>
          <a:xfrm>
            <a:off x="3970338" y="3654426"/>
            <a:ext cx="4114800" cy="392113"/>
            <a:chOff x="2446338" y="3654425"/>
            <a:chExt cx="4114800" cy="392113"/>
          </a:xfrm>
        </p:grpSpPr>
        <p:cxnSp>
          <p:nvCxnSpPr>
            <p:cNvPr id="47" name="Straight Arrow Connector 46"/>
            <p:cNvCxnSpPr>
              <a:cxnSpLocks noChangeAspect="1"/>
            </p:cNvCxnSpPr>
            <p:nvPr/>
          </p:nvCxnSpPr>
          <p:spPr>
            <a:xfrm rot="10800000">
              <a:off x="3360738" y="3744913"/>
              <a:ext cx="3200400" cy="3016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headEnd type="arrow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9" name="Straight Arrow Connector 48"/>
            <p:cNvCxnSpPr>
              <a:cxnSpLocks noChangeAspect="1"/>
            </p:cNvCxnSpPr>
            <p:nvPr/>
          </p:nvCxnSpPr>
          <p:spPr>
            <a:xfrm rot="10800000">
              <a:off x="2446338" y="3654425"/>
              <a:ext cx="914400" cy="85725"/>
            </a:xfrm>
            <a:prstGeom prst="straightConnector1">
              <a:avLst/>
            </a:prstGeom>
            <a:ln w="31750">
              <a:solidFill>
                <a:schemeClr val="accent6">
                  <a:lumMod val="75000"/>
                </a:schemeClr>
              </a:solidFill>
              <a:prstDash val="sysDot"/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54</a:t>
            </a:fld>
            <a:endParaRPr lang="en-US"/>
          </a:p>
        </p:txBody>
      </p:sp>
      <p:grpSp>
        <p:nvGrpSpPr>
          <p:cNvPr id="1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45" name="TextBox 44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3" name="Straight Arrow Connector 52"/>
            <p:cNvCxnSpPr>
              <a:stCxn id="45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073499920"/>
      </p:ext>
    </p:extLst>
  </p:cSld>
  <p:clrMapOvr>
    <a:masterClrMapping/>
  </p:clrMapOvr>
  <p:transition>
    <p:pull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2" grpId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Title 1"/>
          <p:cNvSpPr>
            <a:spLocks noGrp="1"/>
          </p:cNvSpPr>
          <p:nvPr>
            <p:ph type="title"/>
          </p:nvPr>
        </p:nvSpPr>
        <p:spPr>
          <a:xfrm>
            <a:off x="1981200" y="76200"/>
            <a:ext cx="8229600" cy="11430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dirty="0">
                <a:latin typeface="Arial" charset="0"/>
                <a:cs typeface="Arial" charset="0"/>
              </a:rPr>
              <a:t>Ray Diagram with Two Lenses</a:t>
            </a:r>
            <a:br>
              <a:rPr lang="en-US" dirty="0">
                <a:latin typeface="Arial" charset="0"/>
                <a:cs typeface="Arial" charset="0"/>
              </a:rPr>
            </a:br>
            <a:r>
              <a:rPr lang="en-US" sz="2700" dirty="0">
                <a:latin typeface="Arial" charset="0"/>
                <a:cs typeface="Arial" charset="0"/>
              </a:rPr>
              <a:t>Complete Ray Diagram</a:t>
            </a:r>
            <a:endParaRPr lang="en-US" dirty="0">
              <a:latin typeface="Arial" charset="0"/>
              <a:cs typeface="Arial" charset="0"/>
            </a:endParaRPr>
          </a:p>
        </p:txBody>
      </p:sp>
      <p:sp>
        <p:nvSpPr>
          <p:cNvPr id="5" name="Down Arrow 4"/>
          <p:cNvSpPr>
            <a:spLocks noChangeAspect="1"/>
          </p:cNvSpPr>
          <p:nvPr/>
        </p:nvSpPr>
        <p:spPr>
          <a:xfrm rot="10800000">
            <a:off x="3908426" y="3654426"/>
            <a:ext cx="125413" cy="301625"/>
          </a:xfrm>
          <a:prstGeom prst="downArrow">
            <a:avLst/>
          </a:prstGeom>
          <a:solidFill>
            <a:schemeClr val="bg1">
              <a:lumMod val="75000"/>
            </a:schemeClr>
          </a:solidFill>
          <a:ln w="12700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6" name="Down Arrow 5"/>
          <p:cNvSpPr/>
          <p:nvPr/>
        </p:nvSpPr>
        <p:spPr>
          <a:xfrm rot="10800000">
            <a:off x="1949450" y="3046413"/>
            <a:ext cx="381000" cy="914400"/>
          </a:xfrm>
          <a:prstGeom prst="downArrow">
            <a:avLst/>
          </a:prstGeom>
          <a:noFill/>
          <a:ln w="2540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7" name="Straight Arrow Connector 6"/>
          <p:cNvCxnSpPr/>
          <p:nvPr/>
        </p:nvCxnSpPr>
        <p:spPr>
          <a:xfrm flipV="1">
            <a:off x="4884738" y="2133600"/>
            <a:ext cx="1371600" cy="914400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cxnSpLocks noChangeAspect="1"/>
          </p:cNvCxnSpPr>
          <p:nvPr/>
        </p:nvCxnSpPr>
        <p:spPr>
          <a:xfrm rot="10800000" flipH="1" flipV="1">
            <a:off x="2133600" y="3046413"/>
            <a:ext cx="2743200" cy="609600"/>
          </a:xfrm>
          <a:prstGeom prst="straightConnector1">
            <a:avLst/>
          </a:prstGeom>
          <a:ln w="31750">
            <a:solidFill>
              <a:srgbClr val="0070C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/>
          <p:nvPr/>
        </p:nvCxnSpPr>
        <p:spPr>
          <a:xfrm rot="10800000">
            <a:off x="4884738" y="3656014"/>
            <a:ext cx="3200400" cy="1587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/>
          <p:cNvCxnSpPr>
            <a:cxnSpLocks noChangeAspect="1"/>
          </p:cNvCxnSpPr>
          <p:nvPr/>
        </p:nvCxnSpPr>
        <p:spPr>
          <a:xfrm>
            <a:off x="2139950" y="3046413"/>
            <a:ext cx="2743200" cy="9144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34671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87" name="TextBox 21"/>
          <p:cNvSpPr txBox="1">
            <a:spLocks noChangeArrowheads="1"/>
          </p:cNvSpPr>
          <p:nvPr/>
        </p:nvSpPr>
        <p:spPr bwMode="auto">
          <a:xfrm>
            <a:off x="6027738" y="4037014"/>
            <a:ext cx="4873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13" name="Oval 12"/>
          <p:cNvSpPr/>
          <p:nvPr/>
        </p:nvSpPr>
        <p:spPr>
          <a:xfrm>
            <a:off x="6210301" y="3914776"/>
            <a:ext cx="92075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790700" y="3960813"/>
            <a:ext cx="8534400" cy="0"/>
          </a:xfrm>
          <a:prstGeom prst="line">
            <a:avLst/>
          </a:prstGeom>
          <a:ln>
            <a:solidFill>
              <a:schemeClr val="tx1"/>
            </a:solidFill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" name="Group 25"/>
          <p:cNvGrpSpPr>
            <a:grpSpLocks/>
          </p:cNvGrpSpPr>
          <p:nvPr/>
        </p:nvGrpSpPr>
        <p:grpSpPr bwMode="auto">
          <a:xfrm>
            <a:off x="4729163" y="2281239"/>
            <a:ext cx="311150" cy="3355975"/>
            <a:chOff x="7162799" y="990600"/>
            <a:chExt cx="310888" cy="3355848"/>
          </a:xfrm>
        </p:grpSpPr>
        <p:grpSp>
          <p:nvGrpSpPr>
            <p:cNvPr id="4" name="Group 26"/>
            <p:cNvGrpSpPr>
              <a:grpSpLocks/>
            </p:cNvGrpSpPr>
            <p:nvPr/>
          </p:nvGrpSpPr>
          <p:grpSpPr bwMode="auto">
            <a:xfrm>
              <a:off x="7162799" y="990600"/>
              <a:ext cx="310888" cy="3355848"/>
              <a:chOff x="7162799" y="990600"/>
              <a:chExt cx="310888" cy="3355848"/>
            </a:xfrm>
          </p:grpSpPr>
          <p:sp>
            <p:nvSpPr>
              <p:cNvPr id="20" name="Arc 19"/>
              <p:cNvSpPr/>
              <p:nvPr/>
            </p:nvSpPr>
            <p:spPr>
              <a:xfrm>
                <a:off x="7162799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  <p:sp>
            <p:nvSpPr>
              <p:cNvPr id="21" name="Arc 20"/>
              <p:cNvSpPr/>
              <p:nvPr/>
            </p:nvSpPr>
            <p:spPr>
              <a:xfrm flipH="1">
                <a:off x="7349966" y="990600"/>
                <a:ext cx="123721" cy="3355848"/>
              </a:xfrm>
              <a:prstGeom prst="arc">
                <a:avLst>
                  <a:gd name="adj1" fmla="val 16195275"/>
                  <a:gd name="adj2" fmla="val 5405178"/>
                </a:avLst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anchor="ctr"/>
              <a:lstStyle/>
              <a:p>
                <a:pPr algn="ctr">
                  <a:defRPr/>
                </a:pPr>
                <a:endParaRPr lang="en-US"/>
              </a:p>
            </p:txBody>
          </p:sp>
        </p:grpSp>
        <p:cxnSp>
          <p:nvCxnSpPr>
            <p:cNvPr id="18" name="Straight Connector 17"/>
            <p:cNvCxnSpPr/>
            <p:nvPr/>
          </p:nvCxnSpPr>
          <p:spPr>
            <a:xfrm>
              <a:off x="7218314" y="4346448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7218314" y="990600"/>
              <a:ext cx="199857" cy="0"/>
            </a:xfrm>
            <a:prstGeom prst="line">
              <a:avLst/>
            </a:prstGeom>
            <a:ln w="254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2" name="Straight Arrow Connector 21"/>
          <p:cNvCxnSpPr/>
          <p:nvPr/>
        </p:nvCxnSpPr>
        <p:spPr>
          <a:xfrm flipV="1">
            <a:off x="3467100" y="3046414"/>
            <a:ext cx="1416050" cy="960436"/>
          </a:xfrm>
          <a:prstGeom prst="straightConnector1">
            <a:avLst/>
          </a:prstGeom>
          <a:ln w="31750">
            <a:solidFill>
              <a:srgbClr val="FF000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>
            <a:cxnSpLocks noChangeAspect="1"/>
          </p:cNvCxnSpPr>
          <p:nvPr/>
        </p:nvCxnSpPr>
        <p:spPr>
          <a:xfrm>
            <a:off x="4884738" y="3960813"/>
            <a:ext cx="3200400" cy="1066800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71707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25" name="Oval 24"/>
          <p:cNvSpPr/>
          <p:nvPr/>
        </p:nvSpPr>
        <p:spPr>
          <a:xfrm>
            <a:off x="8999539" y="3913189"/>
            <a:ext cx="90487" cy="92075"/>
          </a:xfrm>
          <a:prstGeom prst="ellipse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6" name="TextBox 36"/>
          <p:cNvSpPr txBox="1">
            <a:spLocks noChangeArrowheads="1"/>
          </p:cNvSpPr>
          <p:nvPr/>
        </p:nvSpPr>
        <p:spPr bwMode="auto">
          <a:xfrm>
            <a:off x="6896100" y="4038600"/>
            <a:ext cx="4572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sp>
        <p:nvSpPr>
          <p:cNvPr id="27" name="Oval 26"/>
          <p:cNvSpPr/>
          <p:nvPr/>
        </p:nvSpPr>
        <p:spPr>
          <a:xfrm>
            <a:off x="8008938" y="2282825"/>
            <a:ext cx="152400" cy="3352800"/>
          </a:xfrm>
          <a:prstGeom prst="ellipse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sp>
        <p:nvSpPr>
          <p:cNvPr id="101398" name="TextBox 38"/>
          <p:cNvSpPr txBox="1">
            <a:spLocks noChangeArrowheads="1"/>
          </p:cNvSpPr>
          <p:nvPr/>
        </p:nvSpPr>
        <p:spPr bwMode="auto">
          <a:xfrm>
            <a:off x="8648700" y="4049714"/>
            <a:ext cx="5334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C</a:t>
            </a: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133600" y="3046414"/>
            <a:ext cx="2743200" cy="1587"/>
          </a:xfrm>
          <a:prstGeom prst="straightConnector1">
            <a:avLst/>
          </a:prstGeom>
          <a:ln w="31750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/>
          <p:cNvCxnSpPr/>
          <p:nvPr/>
        </p:nvCxnSpPr>
        <p:spPr>
          <a:xfrm rot="10800000">
            <a:off x="8085138" y="3659189"/>
            <a:ext cx="2239962" cy="739775"/>
          </a:xfrm>
          <a:prstGeom prst="straightConnector1">
            <a:avLst/>
          </a:prstGeom>
          <a:ln w="31750">
            <a:solidFill>
              <a:srgbClr val="0070C0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/>
          <p:cNvCxnSpPr>
            <a:cxnSpLocks noChangeAspect="1"/>
          </p:cNvCxnSpPr>
          <p:nvPr/>
        </p:nvCxnSpPr>
        <p:spPr>
          <a:xfrm rot="10800000">
            <a:off x="4884738" y="3721100"/>
            <a:ext cx="3200400" cy="234950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>
            <a:cxnSpLocks noChangeAspect="1"/>
          </p:cNvCxnSpPr>
          <p:nvPr/>
        </p:nvCxnSpPr>
        <p:spPr>
          <a:xfrm rot="10800000">
            <a:off x="8085138" y="3960813"/>
            <a:ext cx="2316162" cy="169862"/>
          </a:xfrm>
          <a:prstGeom prst="straightConnector1">
            <a:avLst/>
          </a:prstGeom>
          <a:ln w="31750">
            <a:solidFill>
              <a:schemeClr val="accent4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8085139" y="3276601"/>
            <a:ext cx="2143125" cy="1751013"/>
          </a:xfrm>
          <a:prstGeom prst="straightConnector1">
            <a:avLst/>
          </a:prstGeom>
          <a:ln w="31750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Down Arrow 38"/>
          <p:cNvSpPr>
            <a:spLocks noChangeAspect="1"/>
          </p:cNvSpPr>
          <p:nvPr/>
        </p:nvSpPr>
        <p:spPr>
          <a:xfrm>
            <a:off x="9259888" y="3960814"/>
            <a:ext cx="38100" cy="92075"/>
          </a:xfrm>
          <a:prstGeom prst="downArrow">
            <a:avLst/>
          </a:prstGeom>
          <a:solidFill>
            <a:schemeClr val="bg1">
              <a:lumMod val="65000"/>
            </a:schemeClr>
          </a:solidFill>
          <a:ln w="12700">
            <a:solidFill>
              <a:schemeClr val="tx1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US"/>
          </a:p>
        </p:txBody>
      </p:sp>
      <p:cxnSp>
        <p:nvCxnSpPr>
          <p:cNvPr id="40" name="Straight Arrow Connector 39"/>
          <p:cNvCxnSpPr>
            <a:cxnSpLocks noChangeAspect="1"/>
          </p:cNvCxnSpPr>
          <p:nvPr/>
        </p:nvCxnSpPr>
        <p:spPr>
          <a:xfrm rot="10800000" flipH="1" flipV="1">
            <a:off x="4884738" y="3656013"/>
            <a:ext cx="1371600" cy="304800"/>
          </a:xfrm>
          <a:prstGeom prst="straightConnector1">
            <a:avLst/>
          </a:prstGeom>
          <a:ln w="12700">
            <a:solidFill>
              <a:srgbClr val="0070C0"/>
            </a:solidFill>
            <a:prstDash val="sysDot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 flipH="1" flipV="1">
            <a:off x="3352800" y="3654425"/>
            <a:ext cx="1524000" cy="1588"/>
          </a:xfrm>
          <a:prstGeom prst="straightConnector1">
            <a:avLst/>
          </a:prstGeom>
          <a:ln w="31750">
            <a:solidFill>
              <a:srgbClr val="0070C0"/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/>
          <p:cNvSpPr txBox="1"/>
          <p:nvPr/>
        </p:nvSpPr>
        <p:spPr bwMode="auto">
          <a:xfrm>
            <a:off x="1524000" y="5251450"/>
            <a:ext cx="3048000" cy="1200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can be traced back to </a:t>
            </a:r>
            <a:r>
              <a:rPr lang="en-US" sz="2400" b="1" dirty="0">
                <a:solidFill>
                  <a:srgbClr val="A67A00"/>
                </a:solidFill>
                <a:latin typeface="+mj-lt"/>
              </a:rPr>
              <a:t>object</a:t>
            </a:r>
          </a:p>
        </p:txBody>
      </p:sp>
      <p:sp>
        <p:nvSpPr>
          <p:cNvPr id="43" name="TextBox 42"/>
          <p:cNvSpPr txBox="1"/>
          <p:nvPr/>
        </p:nvSpPr>
        <p:spPr bwMode="auto">
          <a:xfrm>
            <a:off x="5000298" y="5130365"/>
            <a:ext cx="3048000" cy="120032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in this region can be traced back to </a:t>
            </a:r>
            <a:r>
              <a:rPr lang="en-US" sz="2400" b="1" dirty="0">
                <a:solidFill>
                  <a:srgbClr val="FF0000"/>
                </a:solidFill>
                <a:latin typeface="+mj-lt"/>
              </a:rPr>
              <a:t>diverging lens’s image</a:t>
            </a:r>
          </a:p>
        </p:txBody>
      </p:sp>
      <p:sp>
        <p:nvSpPr>
          <p:cNvPr id="44" name="TextBox 43"/>
          <p:cNvSpPr txBox="1"/>
          <p:nvPr/>
        </p:nvSpPr>
        <p:spPr bwMode="auto">
          <a:xfrm>
            <a:off x="8077200" y="5067300"/>
            <a:ext cx="2667000" cy="15696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>
              <a:defRPr/>
            </a:pPr>
            <a:r>
              <a:rPr lang="en-US" sz="2400" dirty="0">
                <a:latin typeface="+mj-lt"/>
              </a:rPr>
              <a:t>All rays on this side pass through  </a:t>
            </a:r>
            <a:r>
              <a:rPr lang="en-US" sz="2400" b="1" dirty="0">
                <a:solidFill>
                  <a:srgbClr val="00B050"/>
                </a:solidFill>
                <a:latin typeface="+mj-lt"/>
              </a:rPr>
              <a:t>converging lens’s image</a:t>
            </a:r>
          </a:p>
        </p:txBody>
      </p:sp>
      <p:cxnSp>
        <p:nvCxnSpPr>
          <p:cNvPr id="45" name="Straight Arrow Connector 44"/>
          <p:cNvCxnSpPr>
            <a:cxnSpLocks noChangeAspect="1"/>
          </p:cNvCxnSpPr>
          <p:nvPr/>
        </p:nvCxnSpPr>
        <p:spPr>
          <a:xfrm rot="10800000">
            <a:off x="4884738" y="3744914"/>
            <a:ext cx="3200400" cy="3016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cxnSpLocks/>
          </p:cNvCxnSpPr>
          <p:nvPr/>
        </p:nvCxnSpPr>
        <p:spPr>
          <a:xfrm rot="10800000">
            <a:off x="8085138" y="4044950"/>
            <a:ext cx="1935162" cy="1588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/>
          <p:cNvCxnSpPr>
            <a:cxnSpLocks noChangeAspect="1"/>
          </p:cNvCxnSpPr>
          <p:nvPr/>
        </p:nvCxnSpPr>
        <p:spPr>
          <a:xfrm rot="10800000">
            <a:off x="3970338" y="3654426"/>
            <a:ext cx="914400" cy="857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prstDash val="sysDot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/>
          <p:cNvCxnSpPr>
            <a:cxnSpLocks/>
          </p:cNvCxnSpPr>
          <p:nvPr/>
        </p:nvCxnSpPr>
        <p:spPr>
          <a:xfrm rot="10800000">
            <a:off x="2133600" y="3046414"/>
            <a:ext cx="2743200" cy="695325"/>
          </a:xfrm>
          <a:prstGeom prst="straightConnector1">
            <a:avLst/>
          </a:prstGeom>
          <a:ln w="31750">
            <a:solidFill>
              <a:schemeClr val="accent6">
                <a:lumMod val="75000"/>
              </a:schemeClr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23"/>
          <p:cNvSpPr txBox="1">
            <a:spLocks noChangeArrowheads="1"/>
          </p:cNvSpPr>
          <p:nvPr/>
        </p:nvSpPr>
        <p:spPr bwMode="auto">
          <a:xfrm>
            <a:off x="3284538" y="4037013"/>
            <a:ext cx="52546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cs typeface="Arial" charset="0"/>
              </a:defRPr>
            </a:lvl9pPr>
          </a:lstStyle>
          <a:p>
            <a:pPr eaLnBrk="1" hangingPunct="1"/>
            <a:r>
              <a:rPr lang="en-US" i="1" dirty="0">
                <a:latin typeface="Times New Roman" pitchFamily="18" charset="0"/>
                <a:cs typeface="Times New Roman" pitchFamily="18" charset="0"/>
              </a:rPr>
              <a:t>F</a:t>
            </a:r>
            <a:r>
              <a:rPr lang="en-US" baseline="-25000" dirty="0">
                <a:latin typeface="Times New Roman" pitchFamily="18" charset="0"/>
                <a:cs typeface="Times New Roman" pitchFamily="18" charset="0"/>
              </a:rPr>
              <a:t>D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4D09241-9E76-427C-8FF9-7E40C7F3303C}" type="slidenum">
              <a:rPr lang="en-US" smtClean="0"/>
              <a:pPr>
                <a:defRPr/>
              </a:pPr>
              <a:t>55</a:t>
            </a:fld>
            <a:endParaRPr lang="en-US"/>
          </a:p>
        </p:txBody>
      </p:sp>
      <p:cxnSp>
        <p:nvCxnSpPr>
          <p:cNvPr id="51" name="Straight Connector 50"/>
          <p:cNvCxnSpPr/>
          <p:nvPr/>
        </p:nvCxnSpPr>
        <p:spPr>
          <a:xfrm>
            <a:off x="48768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>
            <a:off x="8077200" y="1447800"/>
            <a:ext cx="0" cy="5181600"/>
          </a:xfrm>
          <a:prstGeom prst="line">
            <a:avLst/>
          </a:prstGeom>
          <a:ln w="28575">
            <a:solidFill>
              <a:schemeClr val="tx1"/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50" name="Group 54"/>
          <p:cNvGrpSpPr/>
          <p:nvPr/>
        </p:nvGrpSpPr>
        <p:grpSpPr>
          <a:xfrm>
            <a:off x="8763000" y="2971800"/>
            <a:ext cx="1371600" cy="914400"/>
            <a:chOff x="7239000" y="2971800"/>
            <a:chExt cx="1371600" cy="914400"/>
          </a:xfrm>
        </p:grpSpPr>
        <p:sp>
          <p:nvSpPr>
            <p:cNvPr id="53" name="TextBox 52"/>
            <p:cNvSpPr txBox="1"/>
            <p:nvPr/>
          </p:nvSpPr>
          <p:spPr bwMode="auto">
            <a:xfrm>
              <a:off x="7239000" y="2971800"/>
              <a:ext cx="1371600" cy="36933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>
                <a:defRPr/>
              </a:pPr>
              <a:r>
                <a:rPr lang="en-US" dirty="0">
                  <a:latin typeface="+mj-lt"/>
                </a:rPr>
                <a:t>final image</a:t>
              </a:r>
            </a:p>
          </p:txBody>
        </p:sp>
        <p:cxnSp>
          <p:nvCxnSpPr>
            <p:cNvPr id="54" name="Straight Arrow Connector 53"/>
            <p:cNvCxnSpPr>
              <a:stCxn id="53" idx="2"/>
            </p:cNvCxnSpPr>
            <p:nvPr/>
          </p:nvCxnSpPr>
          <p:spPr>
            <a:xfrm flipH="1">
              <a:off x="7772400" y="3341132"/>
              <a:ext cx="152400" cy="545068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819535170"/>
      </p:ext>
    </p:extLst>
  </p:cSld>
  <p:clrMapOvr>
    <a:masterClrMapping/>
  </p:clrMapOvr>
  <p:transition spd="slow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" grpId="0"/>
      <p:bldP spid="43" grpId="0"/>
      <p:bldP spid="44" grpId="0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Lenses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Magnifying Glass (converging lens)</a:t>
            </a:r>
          </a:p>
          <a:p>
            <a:r>
              <a:rPr lang="en-US" dirty="0"/>
              <a:t>Projector (converging lens and concave mirrors)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Camera, eye 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86200" y="2971801"/>
            <a:ext cx="4495800" cy="2068467"/>
          </a:xfrm>
          <a:prstGeom prst="rect">
            <a:avLst/>
          </a:prstGeom>
        </p:spPr>
      </p:pic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031C1D-26FA-4620-9291-F5FB380C102D}" type="slidenum">
              <a:rPr lang="en-US" smtClean="0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69087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22C76DF9BD8349B0CA3C9A1AA4C548" ma:contentTypeVersion="112" ma:contentTypeDescription="Create a new document." ma:contentTypeScope="" ma:versionID="3ba740bbfea08ad42b5fb892d4577724">
  <xsd:schema xmlns:xsd="http://www.w3.org/2001/XMLSchema" xmlns:xs="http://www.w3.org/2001/XMLSchema" xmlns:p="http://schemas.microsoft.com/office/2006/metadata/properties" xmlns:ns3="http://schemas.microsoft.com/sharepoint/v4" xmlns:ns4="9fff0862-dda6-4fd7-9437-296e7a0fcd45" xmlns:ns5="7dcc4a76-b6f0-4a5c-8242-557922f7abb0" targetNamespace="http://schemas.microsoft.com/office/2006/metadata/properties" ma:root="true" ma:fieldsID="f7fd287cc537a47f0d39eda5b7439aef" ns3:_="" ns4:_="" ns5:_="">
    <xsd:import namespace="http://schemas.microsoft.com/sharepoint/v4"/>
    <xsd:import namespace="9fff0862-dda6-4fd7-9437-296e7a0fcd45"/>
    <xsd:import namespace="7dcc4a76-b6f0-4a5c-8242-557922f7abb0"/>
    <xsd:element name="properties">
      <xsd:complexType>
        <xsd:sequence>
          <xsd:element name="documentManagement">
            <xsd:complexType>
              <xsd:all>
                <xsd:element ref="ns3:IconOverlay" minOccurs="0"/>
                <xsd:element ref="ns4:MediaServiceMetadata" minOccurs="0"/>
                <xsd:element ref="ns4:MediaServiceFastMetadata" minOccurs="0"/>
                <xsd:element ref="ns4:MediaServiceAutoTags" minOccurs="0"/>
                <xsd:element ref="ns4:MediaServiceDateTaken" minOccurs="0"/>
                <xsd:element ref="ns5:SharedWithUsers" minOccurs="0"/>
                <xsd:element ref="ns5:SharedWithDetails" minOccurs="0"/>
                <xsd:element ref="ns4:MediaServiceOCR" minOccurs="0"/>
                <xsd:element ref="ns4:MediaServiceEventHashCode" minOccurs="0"/>
                <xsd:element ref="ns4:MediaServiceGenerationTime" minOccurs="0"/>
                <xsd:element ref="ns4:MediaServiceLocation" minOccurs="0"/>
                <xsd:element ref="ns4:MediaServiceAutoKeyPoints" minOccurs="0"/>
                <xsd:element ref="ns4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9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fff0862-dda6-4fd7-9437-296e7a0fcd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description="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description="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MediaServiceAutoTags" ma:description="" ma:internalName="MediaServiceAutoTags" ma:readOnly="true">
      <xsd:simpleType>
        <xsd:restriction base="dms:Text"/>
      </xsd:simpleType>
    </xsd:element>
    <xsd:element name="MediaServiceDateTaken" ma:index="13" nillable="true" ma:displayName="MediaServiceDateTaken" ma:description="" ma:hidden="true" ma:internalName="MediaServiceDateTaken" ma:readOnly="true">
      <xsd:simpleType>
        <xsd:restriction base="dms:Text"/>
      </xsd:simpleType>
    </xsd:element>
    <xsd:element name="MediaServiceOCR" ma:index="16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8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ServiceAutoKeyPoints" ma:index="2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dcc4a76-b6f0-4a5c-8242-557922f7abb0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description="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 ma:index="8" ma:displayName="Keywords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</documentManagement>
</p:properties>
</file>

<file path=customXml/itemProps1.xml><?xml version="1.0" encoding="utf-8"?>
<ds:datastoreItem xmlns:ds="http://schemas.openxmlformats.org/officeDocument/2006/customXml" ds:itemID="{E8D97985-1D09-4E24-838B-ABDBD88BDCD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4"/>
    <ds:schemaRef ds:uri="9fff0862-dda6-4fd7-9437-296e7a0fcd45"/>
    <ds:schemaRef ds:uri="7dcc4a76-b6f0-4a5c-8242-557922f7abb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6C99B3C-E900-4148-B44F-42053A4986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34D277AA-4042-4BF5-943A-58B7E98DCCD3}">
  <ds:schemaRefs>
    <ds:schemaRef ds:uri="http://schemas.microsoft.com/office/2006/metadata/properties"/>
    <ds:schemaRef ds:uri="http://schemas.microsoft.com/office/infopath/2007/PartnerControls"/>
    <ds:schemaRef ds:uri="http://schemas.microsoft.com/sharepoint/v4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1216</TotalTime>
  <Words>3886</Words>
  <Application>Microsoft Macintosh PowerPoint</Application>
  <PresentationFormat>Widescreen</PresentationFormat>
  <Paragraphs>674</Paragraphs>
  <Slides>56</Slides>
  <Notes>5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56</vt:i4>
      </vt:variant>
    </vt:vector>
  </HeadingPairs>
  <TitlesOfParts>
    <vt:vector size="64" baseType="lpstr">
      <vt:lpstr>ＭＳ Ｐゴシック</vt:lpstr>
      <vt:lpstr>Arial</vt:lpstr>
      <vt:lpstr>Calibri</vt:lpstr>
      <vt:lpstr>Cambria Math</vt:lpstr>
      <vt:lpstr>Symbol</vt:lpstr>
      <vt:lpstr>Times New Roman</vt:lpstr>
      <vt:lpstr>Office Theme</vt:lpstr>
      <vt:lpstr>Equation</vt:lpstr>
      <vt:lpstr>PowerPoint Presentation</vt:lpstr>
      <vt:lpstr>Convex Mirrors: Summary</vt:lpstr>
      <vt:lpstr>Tips for Ray Diagrams</vt:lpstr>
      <vt:lpstr>Concave Mirrors: Ray Diagram</vt:lpstr>
      <vt:lpstr>Concave Mirrors: Ray Diagram</vt:lpstr>
      <vt:lpstr>Concave Mirrors: Ray Diagram</vt:lpstr>
      <vt:lpstr>PowerPoint Presentation</vt:lpstr>
      <vt:lpstr>Concave Mirrors: Summary (for object located outside F)</vt:lpstr>
      <vt:lpstr>Concave Mirrors (for object located inside F)</vt:lpstr>
      <vt:lpstr>Which Type of Mirror?</vt:lpstr>
      <vt:lpstr>Mirror Equation</vt:lpstr>
      <vt:lpstr>Mirror Equation</vt:lpstr>
      <vt:lpstr>Magnification</vt:lpstr>
      <vt:lpstr>Convex Mirror Example</vt:lpstr>
      <vt:lpstr>What to Do About Long Objects?</vt:lpstr>
      <vt:lpstr>Refraction</vt:lpstr>
      <vt:lpstr>Changing Materials</vt:lpstr>
      <vt:lpstr>Index of Refraction</vt:lpstr>
      <vt:lpstr>Indices of Refraction From College Physics 2nd Edition; by Knight, Jones, and Field © 2010 Pearson Education, Inc.</vt:lpstr>
      <vt:lpstr>Snell’s Law</vt:lpstr>
      <vt:lpstr>Each Case Matched with Figure:</vt:lpstr>
      <vt:lpstr>Snell’s Law and Laser Pointer</vt:lpstr>
      <vt:lpstr>Determining Depth of a Pool</vt:lpstr>
      <vt:lpstr>Critical Angle and Total Internal Reflection (OpenStax 25.4)</vt:lpstr>
      <vt:lpstr>Critical Angle and Total Internal Reflection</vt:lpstr>
      <vt:lpstr>Fiber Optics</vt:lpstr>
      <vt:lpstr>Images formed by Refraction</vt:lpstr>
      <vt:lpstr>Images and Refraction</vt:lpstr>
      <vt:lpstr>Height of Rock (1)</vt:lpstr>
      <vt:lpstr>Height of Rock (2)</vt:lpstr>
      <vt:lpstr>Height of Rock (3)</vt:lpstr>
      <vt:lpstr>Lenses</vt:lpstr>
      <vt:lpstr>Refraction from a Curved Surface</vt:lpstr>
      <vt:lpstr>Thin Lenses</vt:lpstr>
      <vt:lpstr>Converging Lens Special Ray 1</vt:lpstr>
      <vt:lpstr>Converging Lens Special Ray 2</vt:lpstr>
      <vt:lpstr>Converging Lens Special Ray 3</vt:lpstr>
      <vt:lpstr>Converging Lens – Summary (for object located outside F) </vt:lpstr>
      <vt:lpstr>Converging Lens (object located inside F) </vt:lpstr>
      <vt:lpstr>Diverging Lens Special Ray 1</vt:lpstr>
      <vt:lpstr>Diverging Lens Special Ray 2</vt:lpstr>
      <vt:lpstr>Diverging Lens Special Ray 3</vt:lpstr>
      <vt:lpstr>Diverging Lens - Summary</vt:lpstr>
      <vt:lpstr>Ray Diagram Reminders</vt:lpstr>
      <vt:lpstr>Real vs. Virtual Images</vt:lpstr>
      <vt:lpstr>Thin-Lens Equation</vt:lpstr>
      <vt:lpstr>Sign Conventions for Lenses</vt:lpstr>
      <vt:lpstr>Thin Lens Equation</vt:lpstr>
      <vt:lpstr>Magnification</vt:lpstr>
      <vt:lpstr>For Exact Answers</vt:lpstr>
      <vt:lpstr>Using the Thin Lens Equation</vt:lpstr>
      <vt:lpstr>Ray Diagram with Two Lenses</vt:lpstr>
      <vt:lpstr>Ray Diagram with Two Lenses</vt:lpstr>
      <vt:lpstr>Ray Diagram with Two Lenses</vt:lpstr>
      <vt:lpstr>Ray Diagram with Two Lenses Complete Ray Diagram</vt:lpstr>
      <vt:lpstr>Application of Lenses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Refraction</dc:title>
  <dc:creator>Shafat</dc:creator>
  <cp:lastModifiedBy>Michael Ofengenden</cp:lastModifiedBy>
  <cp:revision>41</cp:revision>
  <cp:lastPrinted>2016-06-14T15:08:41Z</cp:lastPrinted>
  <dcterms:created xsi:type="dcterms:W3CDTF">2016-06-05T08:18:18Z</dcterms:created>
  <dcterms:modified xsi:type="dcterms:W3CDTF">2025-07-30T06:49:22Z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0x0101007222C76DF9BD8349B0CA3C9A1AA4C548</vt:lpwstr>
  </property>
</Properties>
</file>