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0" r:id="rId2"/>
    <p:sldId id="256" r:id="rId3"/>
    <p:sldId id="257" r:id="rId4"/>
    <p:sldId id="258" r:id="rId5"/>
    <p:sldId id="271" r:id="rId6"/>
    <p:sldId id="272" r:id="rId7"/>
    <p:sldId id="259" r:id="rId8"/>
    <p:sldId id="260" r:id="rId9"/>
    <p:sldId id="261" r:id="rId10"/>
    <p:sldId id="262" r:id="rId11"/>
    <p:sldId id="265" r:id="rId12"/>
    <p:sldId id="263" r:id="rId13"/>
    <p:sldId id="264" r:id="rId14"/>
    <p:sldId id="266" r:id="rId15"/>
    <p:sldId id="267" r:id="rId16"/>
    <p:sldId id="268" r:id="rId17"/>
    <p:sldId id="273" r:id="rId18"/>
    <p:sldId id="26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Стиль из темы 2 - акцент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8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208" y="5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52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55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4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81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5903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1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32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15326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454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44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64262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5BA889-5AA5-4A91-9830-2777D7648142}" type="datetimeFigureOut">
              <a:rPr lang="en-US" smtClean="0"/>
              <a:t>8/12/25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7A62E2-7A0D-4906-B1C7-AB3791176D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482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.jpeg"/><Relationship Id="rId4" Type="http://schemas.openxmlformats.org/officeDocument/2006/relationships/image" Target="../media/image7.jpeg"/><Relationship Id="rId5" Type="http://schemas.openxmlformats.org/officeDocument/2006/relationships/image" Target="../media/image8.jpeg"/><Relationship Id="rId6" Type="http://schemas.openxmlformats.org/officeDocument/2006/relationships/image" Target="../media/image9.jpeg"/><Relationship Id="rId7" Type="http://schemas.openxmlformats.org/officeDocument/2006/relationships/image" Target="../media/image10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eg"/><Relationship Id="rId3" Type="http://schemas.openxmlformats.org/officeDocument/2006/relationships/image" Target="../media/image13.jpeg"/><Relationship Id="rId4" Type="http://schemas.openxmlformats.org/officeDocument/2006/relationships/image" Target="../media/image14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5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3" Type="http://schemas.openxmlformats.org/officeDocument/2006/relationships/image" Target="../media/image17.jpeg"/><Relationship Id="rId4" Type="http://schemas.openxmlformats.org/officeDocument/2006/relationships/image" Target="../media/image18.jpeg"/><Relationship Id="rId5" Type="http://schemas.openxmlformats.org/officeDocument/2006/relationships/image" Target="../media/image19.jpeg"/><Relationship Id="rId6" Type="http://schemas.openxmlformats.org/officeDocument/2006/relationships/image" Target="../media/image20.jpeg"/><Relationship Id="rId7" Type="http://schemas.openxmlformats.org/officeDocument/2006/relationships/image" Target="../media/image21.jpeg"/><Relationship Id="rId8" Type="http://schemas.openxmlformats.org/officeDocument/2006/relationships/image" Target="../media/image22.jpeg"/><Relationship Id="rId9" Type="http://schemas.openxmlformats.org/officeDocument/2006/relationships/image" Target="../media/image2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Фон для урока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99" y="0"/>
            <a:ext cx="121539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19325" y="2312046"/>
            <a:ext cx="7257141" cy="1618117"/>
          </a:xfrm>
        </p:spPr>
        <p:txBody>
          <a:bodyPr/>
          <a:lstStyle/>
          <a:p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la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leçon</a:t>
            </a:r>
            <a:r>
              <a:rPr lang="en-US" i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i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français</a:t>
            </a:r>
            <a:endParaRPr lang="en-US" i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 descr="Фон для урока - фото и картинки abrakadabra.fun"/>
          <p:cNvSpPr>
            <a:spLocks noChangeAspect="1" noChangeArrowheads="1"/>
          </p:cNvSpPr>
          <p:nvPr/>
        </p:nvSpPr>
        <p:spPr bwMode="auto">
          <a:xfrm>
            <a:off x="155575" y="25987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798534" y="3576220"/>
            <a:ext cx="3512457" cy="70788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Iklassova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Zarema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19-3</a:t>
            </a:r>
          </a:p>
        </p:txBody>
      </p:sp>
      <p:pic>
        <p:nvPicPr>
          <p:cNvPr id="5126" name="Picture 6" descr="ASTANA INTERNATIONAL UNIVERSITY | AIU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375" y="392339"/>
            <a:ext cx="3517900" cy="1108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Lego Эйфелева башня инструкция. Сборка лего 2101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9941" y="613980"/>
            <a:ext cx="3165475" cy="50142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801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Фон для презентации детский сад - 65 фото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1599041" y="2263616"/>
            <a:ext cx="8993918" cy="233076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Bonjour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Asseyez-vous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s’il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plait. Je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suis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ravi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vous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br>
              <a:rPr lang="kk-KZ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Quelle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somme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-nous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aujourd’hui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Quel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jour de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semain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est-ce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Bien,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commencons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</a:t>
            </a:r>
            <a:r>
              <a:rPr lang="en-US" sz="3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lecon</a:t>
            </a:r>
            <a:r>
              <a:rPr lang="en-US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046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FLE en ESO: Les repas de la journe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45" y="961083"/>
            <a:ext cx="3364740" cy="2166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e repas français - Пройти онлайн тест | Online Test Pa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2571" y="1190576"/>
            <a:ext cx="3414128" cy="1707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Le français par correspondance: Эта ваша &quot;заливная рыба&quot; или Repas en Franc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53273" y="3712845"/>
            <a:ext cx="2513790" cy="25137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Les repas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3352" y="3712845"/>
            <a:ext cx="2747287" cy="184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3 astuces pour économiser sur les repas de Noël - Biba Magazine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063" y="1470100"/>
            <a:ext cx="2389933" cy="1792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LES ALIMENTS, LES REPAS, LE RESTAURANT – Ma Jolie Prof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69199" y="4655010"/>
            <a:ext cx="2857500" cy="1571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490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>
          <a:xfrm>
            <a:off x="731889" y="2476500"/>
            <a:ext cx="10970342" cy="180867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repas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 </a:t>
            </a:r>
            <a:b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b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</a:t>
            </a:r>
            <a:r>
              <a:rPr lang="ru-RU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groceries</a:t>
            </a:r>
          </a:p>
        </p:txBody>
      </p:sp>
    </p:spTree>
    <p:extLst>
      <p:ext uri="{BB962C8B-B14F-4D97-AF65-F5344CB8AC3E}">
        <p14:creationId xmlns:p14="http://schemas.microsoft.com/office/powerpoint/2010/main" val="4269870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181100" y="2343151"/>
            <a:ext cx="10515600" cy="2928938"/>
          </a:xfrm>
        </p:spPr>
        <p:txBody>
          <a:bodyPr>
            <a:noAutofit/>
          </a:bodyPr>
          <a:lstStyle/>
          <a:p>
            <a: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purpose of the lesson:</a:t>
            </a:r>
            <a:br>
              <a:rPr lang="kk-KZ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new words related to food and be able to use them. To learn new verbs related to cooking.</a:t>
            </a: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Apprendre à connaître de nouveaux mots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relatives </a:t>
            </a:r>
            <a:r>
              <a:rPr lang="en-US" sz="32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une</a:t>
            </a:r>
            <a:r>
              <a:rPr lang="en-US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alimentation</a:t>
            </a:r>
            <a:r>
              <a:rPr lang="fr-FR" sz="3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Apprenez de nouveaux verbes relatives de la cuisine.</a:t>
            </a:r>
            <a:br>
              <a:rPr lang="kk-KZ" sz="4800" dirty="0"/>
            </a:b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1904646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Фон для презентации powerpoint (65 фото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2730137"/>
            <a:ext cx="10515600" cy="2856747"/>
          </a:xfrm>
        </p:spPr>
        <p:txBody>
          <a:bodyPr>
            <a:normAutofit fontScale="90000"/>
          </a:bodyPr>
          <a:lstStyle/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Lesson plan: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Homework check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words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New verbs and their conjugation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Practical tasks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Feedback </a:t>
            </a:r>
            <a:b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Homework</a:t>
            </a:r>
            <a:br>
              <a:rPr lang="kk-KZ" i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41065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 descr="5 idées de petits-déjeuners pour commencer la journé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52" name="Picture 4" descr="Le repas le plus important de la journé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964" y="590999"/>
            <a:ext cx="3707478" cy="25653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5132441" y="1504335"/>
            <a:ext cx="2384488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petit-</a:t>
            </a:r>
            <a:r>
              <a:rPr lang="en-US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déjeuner</a:t>
            </a:r>
            <a:endParaRPr lang="en-US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9028924" y="3159384"/>
            <a:ext cx="2238844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b="1" i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4" name="Picture 6" descr="LE DÉJEUNER ET LE DÎNER : MANGER… COMME UN PRINCE LE MIDI ET LÉGER LE SOIR  ! - Uberti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2441" y="2104213"/>
            <a:ext cx="3585393" cy="2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5854043" y="5430534"/>
            <a:ext cx="909223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pPr algn="ctr"/>
            <a:r>
              <a:rPr lang="en-US" b="1" i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diner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6" name="Picture 8" descr="Ужин по-французски: 5 простых и вкусных блюд для романтического вечера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23" y="4353341"/>
            <a:ext cx="3856618" cy="2154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4277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1545564"/>
              </p:ext>
            </p:extLst>
          </p:nvPr>
        </p:nvGraphicFramePr>
        <p:xfrm>
          <a:off x="561702" y="627020"/>
          <a:ext cx="5264330" cy="323721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3176609345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2623605680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pain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Bread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865745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sel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12349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sucre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Sugar</a:t>
                      </a:r>
                      <a:r>
                        <a:rPr lang="kk-KZ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44543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beurre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Butter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381395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fromage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Cheese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3395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kk-KZ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viande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Meat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543672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saucisson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Sausage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62254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poisson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Fish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01609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farine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Flour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300477"/>
                  </a:ext>
                </a:extLst>
              </a:tr>
            </a:tbl>
          </a:graphicData>
        </a:graphic>
      </p:graphicFrame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4301063"/>
              </p:ext>
            </p:extLst>
          </p:nvPr>
        </p:nvGraphicFramePr>
        <p:xfrm>
          <a:off x="6734176" y="2099806"/>
          <a:ext cx="4051300" cy="1824612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{00A15C55-8517-42AA-B614-E9B94910E393}</a:tableStyleId>
              </a:tblPr>
              <a:tblGrid>
                <a:gridCol w="2025650">
                  <a:extLst>
                    <a:ext uri="{9D8B030D-6E8A-4147-A177-3AD203B41FA5}">
                      <a16:colId xmlns:a16="http://schemas.microsoft.com/office/drawing/2014/main" val="3787140689"/>
                    </a:ext>
                  </a:extLst>
                </a:gridCol>
                <a:gridCol w="2025650">
                  <a:extLst>
                    <a:ext uri="{9D8B030D-6E8A-4147-A177-3AD203B41FA5}">
                      <a16:colId xmlns:a16="http://schemas.microsoft.com/office/drawing/2014/main" val="2197312840"/>
                    </a:ext>
                  </a:extLst>
                </a:gridCol>
              </a:tblGrid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bonbon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Candy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6247949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bisquits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Cookies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08464350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confiture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Jam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713171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miel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Honey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76762741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gâteau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Cake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97439147"/>
                  </a:ext>
                </a:extLst>
              </a:tr>
              <a:tr h="298584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petit -pain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Sweet Bread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506657"/>
                  </a:ext>
                </a:extLst>
              </a:tr>
            </a:tbl>
          </a:graphicData>
        </a:graphic>
      </p:graphicFrame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4021510"/>
              </p:ext>
            </p:extLst>
          </p:nvPr>
        </p:nvGraphicFramePr>
        <p:xfrm>
          <a:off x="1015774" y="4382758"/>
          <a:ext cx="5264330" cy="179845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2603408">
                  <a:extLst>
                    <a:ext uri="{9D8B030D-6E8A-4147-A177-3AD203B41FA5}">
                      <a16:colId xmlns:a16="http://schemas.microsoft.com/office/drawing/2014/main" val="1134442661"/>
                    </a:ext>
                  </a:extLst>
                </a:gridCol>
                <a:gridCol w="2660922">
                  <a:extLst>
                    <a:ext uri="{9D8B030D-6E8A-4147-A177-3AD203B41FA5}">
                      <a16:colId xmlns:a16="http://schemas.microsoft.com/office/drawing/2014/main" val="4114737775"/>
                    </a:ext>
                  </a:extLst>
                </a:gridCol>
              </a:tblGrid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</a:t>
                      </a:r>
                      <a:r>
                        <a:rPr lang="en-US" sz="1800" dirty="0" err="1">
                          <a:effectLst/>
                        </a:rPr>
                        <a:t>thé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Tea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778112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le café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Coffee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1255471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lait 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Milk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1102880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le jus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Juice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81963086"/>
                  </a:ext>
                </a:extLst>
              </a:tr>
              <a:tr h="35969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la limonade</a:t>
                      </a:r>
                      <a:endParaRPr lang="en-US" sz="2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Lemonade</a:t>
                      </a:r>
                      <a:endParaRPr lang="en-US" sz="2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66556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6835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806452"/>
              </p:ext>
            </p:extLst>
          </p:nvPr>
        </p:nvGraphicFramePr>
        <p:xfrm>
          <a:off x="2933700" y="163830"/>
          <a:ext cx="6381750" cy="6082040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{D113A9D2-9D6B-4929-AA2D-F23B5EE8CBE7}</a:tableStyleId>
              </a:tblPr>
              <a:tblGrid>
                <a:gridCol w="3190875">
                  <a:extLst>
                    <a:ext uri="{9D8B030D-6E8A-4147-A177-3AD203B41FA5}">
                      <a16:colId xmlns:a16="http://schemas.microsoft.com/office/drawing/2014/main" val="2543792647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3011944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légumes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vegetables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022524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chou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cabbage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94302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tomate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8632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</a:t>
                      </a:r>
                      <a:r>
                        <a:rPr lang="en-US" sz="20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concombres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cucumbers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00583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carottes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carrots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447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l'oignon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onion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02091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bettrave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beetroot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06277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pasteque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watermelon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20456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melon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943564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 de terre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potatoes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08018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 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fruits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26723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pommes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apples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9782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poires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pears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59116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raisins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grapes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3048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prunes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plums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377811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abricots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apricots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45173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pêche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peach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06523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strawberry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0608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framboise</a:t>
                      </a:r>
                      <a:endParaRPr lang="en-US" sz="28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935193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cerise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cherry</a:t>
                      </a:r>
                      <a:endParaRPr lang="en-US" sz="28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70915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452222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68830" y="1489166"/>
            <a:ext cx="4909457" cy="3192917"/>
          </a:xfrm>
        </p:spPr>
        <p:txBody>
          <a:bodyPr>
            <a:noAutofit/>
          </a:bodyPr>
          <a:lstStyle/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la) salle </a:t>
            </a:r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restaurant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dans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café</a:t>
            </a: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5. </a:t>
            </a:r>
            <a:r>
              <a:rPr lang="fr-FR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à 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l'école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662058" y="823466"/>
            <a:ext cx="397110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1. in the dining hall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2. at home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3. in a restaurant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4. in the cafe</a:t>
            </a:r>
          </a:p>
          <a:p>
            <a:endParaRPr lang="en-US" sz="3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>
                <a:latin typeface="Times New Roman" panose="02020603050405020304" pitchFamily="18" charset="0"/>
                <a:cs typeface="Times New Roman" panose="02020603050405020304" pitchFamily="18" charset="0"/>
              </a:rPr>
              <a:t>5. at school</a:t>
            </a:r>
          </a:p>
        </p:txBody>
      </p:sp>
    </p:spTree>
    <p:extLst>
      <p:ext uri="{BB962C8B-B14F-4D97-AF65-F5344CB8AC3E}">
        <p14:creationId xmlns:p14="http://schemas.microsoft.com/office/powerpoint/2010/main" val="30585006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383280" y="2996139"/>
            <a:ext cx="513370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https://youtu.be/d5U4kDDBCVA</a:t>
            </a:r>
          </a:p>
        </p:txBody>
      </p:sp>
    </p:spTree>
    <p:extLst>
      <p:ext uri="{BB962C8B-B14F-4D97-AF65-F5344CB8AC3E}">
        <p14:creationId xmlns:p14="http://schemas.microsoft.com/office/powerpoint/2010/main" val="3079136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2719705" y="2421336"/>
            <a:ext cx="1542410" cy="270843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Manger</a:t>
            </a:r>
          </a:p>
          <a:p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Boire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faim</a:t>
            </a: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А</a:t>
            </a:r>
            <a:r>
              <a:rPr lang="en-US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voir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soif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32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5805715" y="2421336"/>
            <a:ext cx="1532599" cy="2068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eat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 drink water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hungry</a:t>
            </a:r>
          </a:p>
          <a:p>
            <a:pPr>
              <a:lnSpc>
                <a:spcPct val="107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be thirsty</a:t>
            </a:r>
            <a:endParaRPr lang="en-US" sz="24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52651" y="1502229"/>
            <a:ext cx="374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verbs - verbs</a:t>
            </a:r>
          </a:p>
        </p:txBody>
      </p:sp>
    </p:spTree>
    <p:extLst>
      <p:ext uri="{BB962C8B-B14F-4D97-AF65-F5344CB8AC3E}">
        <p14:creationId xmlns:p14="http://schemas.microsoft.com/office/powerpoint/2010/main" val="25751343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860766" y="352245"/>
            <a:ext cx="6622868" cy="66128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Retenez  la conjugaison des verbes : </a:t>
            </a:r>
          </a:p>
          <a:p>
            <a:pPr>
              <a:lnSpc>
                <a:spcPct val="107000"/>
              </a:lnSpc>
              <a:spcAft>
                <a:spcPts val="0"/>
              </a:spcAft>
            </a:pP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manger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au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je 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boi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mang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il,elle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Nous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mange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nous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ez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mang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elles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boiv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                                     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avoir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 au </a:t>
            </a: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Présent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J’ai  faim                                                   J’ai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tu as   faim                                                 tu as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il, elle a faim                                              il, elle a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nous avons     faim                                    nous  avons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vous avez   faim                                        vous avez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ils, elles ont faim                                       ils, elles ont soif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fr-FR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3528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561378" y="2356060"/>
            <a:ext cx="4155305" cy="230832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j'aime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banana</a:t>
            </a:r>
          </a:p>
          <a:p>
            <a:endParaRPr lang="ru-RU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J’aime</a:t>
            </a:r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………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5058518" y="1128151"/>
            <a:ext cx="116102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Exercise 1 </a:t>
            </a:r>
          </a:p>
        </p:txBody>
      </p:sp>
    </p:spTree>
    <p:extLst>
      <p:ext uri="{BB962C8B-B14F-4D97-AF65-F5344CB8AC3E}">
        <p14:creationId xmlns:p14="http://schemas.microsoft.com/office/powerpoint/2010/main" val="179341311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781448" y="1160248"/>
            <a:ext cx="1686680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Olga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137842" y="2782132"/>
            <a:ext cx="2725939" cy="39940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Bonjours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Aigoul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André!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6686961" y="3178142"/>
            <a:ext cx="420179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ensemble,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cantine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8609506" y="5614919"/>
            <a:ext cx="952505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Allons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!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4803977" y="1064397"/>
            <a:ext cx="4758034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voulez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?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1781448" y="5461031"/>
            <a:ext cx="6096000" cy="707886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5098413" y="4126422"/>
            <a:ext cx="6096000" cy="10156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pommes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café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Et,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Olga,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qu’est-ce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que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manger?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1587207" y="3564471"/>
            <a:ext cx="4743606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veux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manger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je bois du jus.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2360296" y="1939943"/>
            <a:ext cx="8653331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non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André 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parents?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parents  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déjeunent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surtout à la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9010" y="509451"/>
            <a:ext cx="3240299" cy="4001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2 </a:t>
            </a:r>
          </a:p>
        </p:txBody>
      </p:sp>
    </p:spTree>
    <p:extLst>
      <p:ext uri="{BB962C8B-B14F-4D97-AF65-F5344CB8AC3E}">
        <p14:creationId xmlns:p14="http://schemas.microsoft.com/office/powerpoint/2010/main" val="18262954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460333" y="1178360"/>
            <a:ext cx="9026432" cy="25292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Texte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matin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Pif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 _____. Il mange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_______</a:t>
            </a:r>
            <a:r>
              <a:rPr lang="kk-KZ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du pain avec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beurre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________.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bien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thé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petit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Après son ________,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son travail. Il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rentre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maison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à 2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heures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demie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Il mange ______, de la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viande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avec des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légumes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et _______. Il ne mange ______ de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poisson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8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 Le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mange des fruits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où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quelquefois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_______.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C’est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son diner.</a:t>
            </a:r>
            <a:endParaRPr lang="en-US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887814" y="4746563"/>
            <a:ext cx="53091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soif</a:t>
            </a:r>
            <a:endParaRPr lang="en-US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6141075" y="4746563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D’habitude</a:t>
            </a:r>
            <a:endParaRPr lang="en-US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8221514" y="4746563"/>
            <a:ext cx="1242648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fromage</a:t>
            </a:r>
            <a:endParaRPr lang="en-US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6554659" y="5446203"/>
            <a:ext cx="960519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sucre</a:t>
            </a:r>
            <a:endParaRPr lang="en-US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166992" y="5431101"/>
            <a:ext cx="144783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petit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déjeuner</a:t>
            </a:r>
            <a:endParaRPr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8369333" y="5718839"/>
            <a:ext cx="158889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l’après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-midi</a:t>
            </a:r>
            <a:endParaRPr lang="en-US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4750137" y="5758481"/>
            <a:ext cx="1223412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 la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soupe</a:t>
            </a:r>
            <a:endParaRPr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6746179" y="4046923"/>
            <a:ext cx="208903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pommes de </a:t>
            </a:r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terre</a:t>
            </a:r>
            <a:endParaRPr lang="en-US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128446" y="4231589"/>
            <a:ext cx="845103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jamais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2743507" y="3951134"/>
            <a:ext cx="133241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 bonbons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3930847" y="630546"/>
            <a:ext cx="3240299" cy="40011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rgbClr val="FF0000"/>
                </a:solidFill>
              </a:rPr>
              <a:t>Exercise 3 </a:t>
            </a:r>
          </a:p>
        </p:txBody>
      </p:sp>
    </p:spTree>
    <p:extLst>
      <p:ext uri="{BB962C8B-B14F-4D97-AF65-F5344CB8AC3E}">
        <p14:creationId xmlns:p14="http://schemas.microsoft.com/office/powerpoint/2010/main" val="14197805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Фон для презентации цветы нежные - фото и картинки abrakadabra.fu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1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4146959" y="1828575"/>
            <a:ext cx="3281633" cy="4136573"/>
          </a:xfrm>
          <a:prstGeom prst="wedgeRoundRectCallou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497791" y="633864"/>
            <a:ext cx="9196411" cy="93050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8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Feedback</a:t>
            </a:r>
            <a:endParaRPr lang="en-US" sz="4800" b="1" i="1" dirty="0">
              <a:latin typeface="Brush Script MT" panose="03060802040406070304" pitchFamily="66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475100" y="2561250"/>
            <a:ext cx="295349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Was the lesson clear?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did you like and what didn't you like?</a:t>
            </a:r>
          </a:p>
          <a:p>
            <a:pPr marL="342900" indent="-342900">
              <a:buAutoNum type="arabicPeriod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suggestion.</a:t>
            </a:r>
          </a:p>
        </p:txBody>
      </p:sp>
    </p:spTree>
    <p:extLst>
      <p:ext uri="{BB962C8B-B14F-4D97-AF65-F5344CB8AC3E}">
        <p14:creationId xmlns:p14="http://schemas.microsoft.com/office/powerpoint/2010/main" val="414969588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333379" y="379013"/>
            <a:ext cx="18195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DEVOIR</a:t>
            </a:r>
          </a:p>
        </p:txBody>
      </p:sp>
      <p:pic>
        <p:nvPicPr>
          <p:cNvPr id="3074" name="Picture 2" descr="На 425 ученических мест расширена школа в Бостандыкском районе Алматы |  informburo.kz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987" y="624899"/>
            <a:ext cx="3248297" cy="1826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9 часов утра | Погода вики | Fando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6325" y="2297911"/>
            <a:ext cx="3486150" cy="1314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Идеальные классические круассаны - Лайфхакер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931" y="622794"/>
            <a:ext cx="2602684" cy="13013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Какие яйца выбрать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6954" y="2721667"/>
            <a:ext cx="2994966" cy="23236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Как научиться готовить с нуля в кратчайшие сроки - Лайфхакер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982552"/>
            <a:ext cx="3267536" cy="163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4" name="Picture 12" descr="Стоит ли инвестировать в запуск продуктовых магазинов?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3693" y="4880813"/>
            <a:ext cx="2712193" cy="1800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Овощи - калорийность, полезные свойства, польза и вред, описание -  Calorizator.ru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7925" y="3524485"/>
            <a:ext cx="2712656" cy="2712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8" name="Picture 16" descr="Освежающие напитки — 10 простых рецептов прохладительных напитков для  жаркого лета - Домашняя кулинария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8363" y="2955137"/>
            <a:ext cx="3030721" cy="17924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79897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2767</TotalTime>
  <Words>719</Words>
  <Application>Microsoft Macintosh PowerPoint</Application>
  <PresentationFormat>Widescreen</PresentationFormat>
  <Paragraphs>165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Brush Script MT</vt:lpstr>
      <vt:lpstr>Arial</vt:lpstr>
      <vt:lpstr>Calibri</vt:lpstr>
      <vt:lpstr>Calibri Light</vt:lpstr>
      <vt:lpstr>Times New Roman</vt:lpstr>
      <vt:lpstr>Тема Office</vt:lpstr>
      <vt:lpstr>A la leçon de français</vt:lpstr>
      <vt:lpstr>Bonjour mes amis! Asseyez-vous, s’il vous plait. Je suis ravi de vous voir!  Quelle date somme-nous aujourd’hui? Quel jour de la semain est-ce?  Bien, commencons la lecon. </vt:lpstr>
      <vt:lpstr>PowerPoint Presentation</vt:lpstr>
      <vt:lpstr>Le repas, une alimentation  = meal, a diet</vt:lpstr>
      <vt:lpstr>The purpose of the lesson:  To learn new words related to food and be able to use them. To learn new verbs related to cooking.  Apprendre à connaître de nouveaux mots relatives une alimentation. Apprenez de nouveaux verbes relatives de la cuisine. </vt:lpstr>
      <vt:lpstr>Lesson plan:  1. Homework check  2. New words  2. New verbs and their classification  3. Practical tasks  4. Feedback  5. Homework </vt:lpstr>
      <vt:lpstr>PowerPoint Presentation</vt:lpstr>
      <vt:lpstr>PowerPoint Presentation</vt:lpstr>
      <vt:lpstr>PowerPoint Presentation</vt:lpstr>
      <vt:lpstr>1. (dans la) salle à manger  2. à la maison  3. dans un restaurant  4. dans le café  5. à l'école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Feedback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77751210749</dc:creator>
  <cp:lastModifiedBy>Michael Ofengenden</cp:lastModifiedBy>
  <cp:revision>27</cp:revision>
  <dcterms:created xsi:type="dcterms:W3CDTF">2022-10-01T19:11:08Z</dcterms:created>
  <dcterms:modified xsi:type="dcterms:W3CDTF">2025-08-13T19:02:23Z</dcterms:modified>
</cp:coreProperties>
</file>