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0" r:id="rId2"/>
    <p:sldId id="256" r:id="rId3"/>
    <p:sldId id="257" r:id="rId4"/>
    <p:sldId id="258" r:id="rId5"/>
    <p:sldId id="271" r:id="rId6"/>
    <p:sldId id="272" r:id="rId7"/>
    <p:sldId id="259" r:id="rId8"/>
    <p:sldId id="260" r:id="rId9"/>
    <p:sldId id="261" r:id="rId10"/>
    <p:sldId id="262" r:id="rId11"/>
    <p:sldId id="265" r:id="rId12"/>
    <p:sldId id="263" r:id="rId13"/>
    <p:sldId id="264" r:id="rId14"/>
    <p:sldId id="266" r:id="rId15"/>
    <p:sldId id="267" r:id="rId16"/>
    <p:sldId id="268" r:id="rId17"/>
    <p:sldId id="273" r:id="rId18"/>
    <p:sldId id="269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Средний стиль 2 — акцент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Средний стиль 2 — акцент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D113A9D2-9D6B-4929-AA2D-F23B5EE8CBE7}" styleName="Стиль из темы 2 - акцент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578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208" y="5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BA889-5AA5-4A91-9830-2777D7648142}" type="datetimeFigureOut">
              <a:rPr lang="en-US" smtClean="0"/>
              <a:t>8/12/25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7A62E2-7A0D-4906-B1C7-AB3791176D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3524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BA889-5AA5-4A91-9830-2777D7648142}" type="datetimeFigureOut">
              <a:rPr lang="en-US" smtClean="0"/>
              <a:t>8/12/25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7A62E2-7A0D-4906-B1C7-AB3791176D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4559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BA889-5AA5-4A91-9830-2777D7648142}" type="datetimeFigureOut">
              <a:rPr lang="en-US" smtClean="0"/>
              <a:t>8/12/25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7A62E2-7A0D-4906-B1C7-AB3791176D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324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BA889-5AA5-4A91-9830-2777D7648142}" type="datetimeFigureOut">
              <a:rPr lang="en-US" smtClean="0"/>
              <a:t>8/12/25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7A62E2-7A0D-4906-B1C7-AB3791176D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98130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BA889-5AA5-4A91-9830-2777D7648142}" type="datetimeFigureOut">
              <a:rPr lang="en-US" smtClean="0"/>
              <a:t>8/12/25</a:t>
            </a:fld>
            <a:endParaRPr lang="en-US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7A62E2-7A0D-4906-B1C7-AB3791176D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59036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BA889-5AA5-4A91-9830-2777D7648142}" type="datetimeFigureOut">
              <a:rPr lang="en-US" smtClean="0"/>
              <a:t>8/12/25</a:t>
            </a:fld>
            <a:endParaRPr lang="en-US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7A62E2-7A0D-4906-B1C7-AB3791176D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8510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BA889-5AA5-4A91-9830-2777D7648142}" type="datetimeFigureOut">
              <a:rPr lang="en-US" smtClean="0"/>
              <a:t>8/12/25</a:t>
            </a:fld>
            <a:endParaRPr lang="en-US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7A62E2-7A0D-4906-B1C7-AB3791176D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81632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BA889-5AA5-4A91-9830-2777D7648142}" type="datetimeFigureOut">
              <a:rPr lang="en-US" smtClean="0"/>
              <a:t>8/12/25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7A62E2-7A0D-4906-B1C7-AB3791176D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15326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BA889-5AA5-4A91-9830-2777D7648142}" type="datetimeFigureOut">
              <a:rPr lang="en-US" smtClean="0"/>
              <a:t>8/12/25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7A62E2-7A0D-4906-B1C7-AB3791176D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4548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BA889-5AA5-4A91-9830-2777D7648142}" type="datetimeFigureOut">
              <a:rPr lang="en-US" smtClean="0"/>
              <a:t>8/12/25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7A62E2-7A0D-4906-B1C7-AB3791176D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0441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BA889-5AA5-4A91-9830-2777D7648142}" type="datetimeFigureOut">
              <a:rPr lang="en-US" smtClean="0"/>
              <a:t>8/12/25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7A62E2-7A0D-4906-B1C7-AB3791176D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364262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5BA889-5AA5-4A91-9830-2777D7648142}" type="datetimeFigureOut">
              <a:rPr lang="en-US" smtClean="0"/>
              <a:t>8/12/25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7A62E2-7A0D-4906-B1C7-AB3791176D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84822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eg"/><Relationship Id="rId3" Type="http://schemas.openxmlformats.org/officeDocument/2006/relationships/image" Target="../media/image6.jpeg"/><Relationship Id="rId4" Type="http://schemas.openxmlformats.org/officeDocument/2006/relationships/image" Target="../media/image7.jpeg"/><Relationship Id="rId5" Type="http://schemas.openxmlformats.org/officeDocument/2006/relationships/image" Target="../media/image8.jpeg"/><Relationship Id="rId6" Type="http://schemas.openxmlformats.org/officeDocument/2006/relationships/image" Target="../media/image9.jpeg"/><Relationship Id="rId7" Type="http://schemas.openxmlformats.org/officeDocument/2006/relationships/image" Target="../media/image10.jpe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1.jpe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1.jpe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eg"/><Relationship Id="rId3" Type="http://schemas.openxmlformats.org/officeDocument/2006/relationships/image" Target="../media/image13.jpeg"/><Relationship Id="rId4" Type="http://schemas.openxmlformats.org/officeDocument/2006/relationships/image" Target="../media/image14.jpe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5.jpe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eg"/><Relationship Id="rId3" Type="http://schemas.openxmlformats.org/officeDocument/2006/relationships/image" Target="../media/image17.jpeg"/><Relationship Id="rId4" Type="http://schemas.openxmlformats.org/officeDocument/2006/relationships/image" Target="../media/image18.jpeg"/><Relationship Id="rId5" Type="http://schemas.openxmlformats.org/officeDocument/2006/relationships/image" Target="../media/image19.jpeg"/><Relationship Id="rId6" Type="http://schemas.openxmlformats.org/officeDocument/2006/relationships/image" Target="../media/image20.jpeg"/><Relationship Id="rId7" Type="http://schemas.openxmlformats.org/officeDocument/2006/relationships/image" Target="../media/image21.jpeg"/><Relationship Id="rId8" Type="http://schemas.openxmlformats.org/officeDocument/2006/relationships/image" Target="../media/image22.jpeg"/><Relationship Id="rId9" Type="http://schemas.openxmlformats.org/officeDocument/2006/relationships/image" Target="../media/image2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4" name="Picture 4" descr="Фон для урока - фото и картинки abrakadabra.fu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99" y="0"/>
            <a:ext cx="12153901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219325" y="2312046"/>
            <a:ext cx="7257141" cy="1618117"/>
          </a:xfrm>
        </p:spPr>
        <p:txBody>
          <a:bodyPr/>
          <a:lstStyle/>
          <a:p>
            <a:r>
              <a:rPr lang="en-US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la </a:t>
            </a:r>
            <a:r>
              <a:rPr lang="en-US" i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leçon</a:t>
            </a:r>
            <a:r>
              <a:rPr lang="en-US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i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français</a:t>
            </a:r>
            <a:endParaRPr lang="en-US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AutoShape 2" descr="Фон для урока - фото и картинки abrakadabra.fun"/>
          <p:cNvSpPr>
            <a:spLocks noChangeAspect="1" noChangeArrowheads="1"/>
          </p:cNvSpPr>
          <p:nvPr/>
        </p:nvSpPr>
        <p:spPr bwMode="auto">
          <a:xfrm>
            <a:off x="155575" y="2598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2798534" y="3576220"/>
            <a:ext cx="3512457" cy="70788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Iklassova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Zarema</a:t>
            </a:r>
            <a:endParaRPr lang="en-US" sz="20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19-3</a:t>
            </a:r>
          </a:p>
        </p:txBody>
      </p:sp>
      <p:pic>
        <p:nvPicPr>
          <p:cNvPr id="5126" name="Picture 6" descr="ASTANA INTERNATIONAL UNIVERSITY | AIU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375" y="392339"/>
            <a:ext cx="3517900" cy="11082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30" name="Picture 10" descr="Lego Эйфелева башня инструкция. Сборка лего 21019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9941" y="613980"/>
            <a:ext cx="3165475" cy="50142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248012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Фон для презентации детский сад - 65 фото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599041" y="2263616"/>
            <a:ext cx="8993918" cy="2330768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Bonjour </a:t>
            </a:r>
            <a:r>
              <a:rPr lang="en-US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mes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amis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!</a:t>
            </a:r>
            <a:b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Asseyez-vous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s’il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vous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plait. Je </a:t>
            </a:r>
            <a:r>
              <a:rPr lang="en-US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suis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ravi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vous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voir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!</a:t>
            </a:r>
            <a:br>
              <a:rPr lang="kk-KZ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Quelle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date </a:t>
            </a:r>
            <a:r>
              <a:rPr lang="en-US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somme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-nous </a:t>
            </a:r>
            <a:r>
              <a:rPr lang="en-US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aujourd’hui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b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Quel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jour de la </a:t>
            </a:r>
            <a:r>
              <a:rPr lang="en-US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semain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est-ce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b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Bien, </a:t>
            </a:r>
            <a:r>
              <a:rPr lang="en-US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commencons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 </a:t>
            </a:r>
            <a:r>
              <a:rPr lang="en-US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lecon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20467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FLE en ESO: Les repas de la journee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345" y="961083"/>
            <a:ext cx="3364740" cy="21660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Le repas français - Пройти онлайн тест | Online Test Pad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2571" y="1190576"/>
            <a:ext cx="3414128" cy="1707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Le français par correspondance: Эта ваша &quot;заливная рыба&quot; или Repas en France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3273" y="3712845"/>
            <a:ext cx="2513790" cy="25137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Les repas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3352" y="3712845"/>
            <a:ext cx="2747287" cy="18475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3 astuces pour économiser sur les repas de Noël - Biba Magazine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7063" y="1470100"/>
            <a:ext cx="2389933" cy="1792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LES ALIMENTS, LES REPAS, LE RESTAURANT – Ma Jolie Prof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69199" y="4655010"/>
            <a:ext cx="2857500" cy="1571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034906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731889" y="2476500"/>
            <a:ext cx="10970342" cy="1808675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</a:t>
            </a:r>
            <a:r>
              <a:rPr lang="en-US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repas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une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alimentation </a:t>
            </a:r>
            <a:b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br>
              <a:rPr lang="ru-RU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food</a:t>
            </a:r>
            <a:r>
              <a:rPr lang="ru-RU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groceries</a:t>
            </a:r>
          </a:p>
        </p:txBody>
      </p:sp>
    </p:spTree>
    <p:extLst>
      <p:ext uri="{BB962C8B-B14F-4D97-AF65-F5344CB8AC3E}">
        <p14:creationId xmlns:p14="http://schemas.microsoft.com/office/powerpoint/2010/main" val="42698707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Фон для презентации powerpoint (65 фото)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12192001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81100" y="2343151"/>
            <a:ext cx="10515600" cy="2928938"/>
          </a:xfrm>
        </p:spPr>
        <p:txBody>
          <a:bodyPr>
            <a:noAutofit/>
          </a:bodyPr>
          <a:lstStyle/>
          <a:p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purpose of the lesson:</a:t>
            </a:r>
            <a:br>
              <a:rPr lang="kk-KZ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learn new words related to food and be able to use them. To learn new verbs related to cooking.</a:t>
            </a:r>
            <a:br>
              <a:rPr lang="kk-KZ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kk-KZ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Apprendre à connaître de nouveaux mots</a:t>
            </a: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relatives </a:t>
            </a:r>
            <a:r>
              <a:rPr lang="en-US" sz="3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une</a:t>
            </a: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alimentation</a:t>
            </a:r>
            <a:r>
              <a:rPr lang="fr-FR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Apprenez de nouveaux verbes relatives de la cuisine.</a:t>
            </a:r>
            <a:br>
              <a:rPr lang="kk-KZ" sz="4800" dirty="0"/>
            </a:br>
            <a:endParaRPr lang="en-US" sz="4800" dirty="0"/>
          </a:p>
        </p:txBody>
      </p:sp>
    </p:spTree>
    <p:extLst>
      <p:ext uri="{BB962C8B-B14F-4D97-AF65-F5344CB8AC3E}">
        <p14:creationId xmlns:p14="http://schemas.microsoft.com/office/powerpoint/2010/main" val="19046469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Фон для презентации powerpoint (65 фото)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12192001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199" y="2730137"/>
            <a:ext cx="10515600" cy="2856747"/>
          </a:xfrm>
        </p:spPr>
        <p:txBody>
          <a:bodyPr>
            <a:normAutofit fontScale="90000"/>
          </a:bodyPr>
          <a:lstStyle/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Lesson plan:</a:t>
            </a:r>
            <a:br>
              <a:rPr lang="kk-KZ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kk-KZ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Homework check </a:t>
            </a:r>
            <a:b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New words </a:t>
            </a:r>
            <a:b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New verbs and their classification </a:t>
            </a:r>
            <a:b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Practical tasks </a:t>
            </a:r>
            <a:b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Feedback </a:t>
            </a:r>
            <a:b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Homework</a:t>
            </a:r>
            <a:br>
              <a:rPr lang="kk-KZ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41065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" descr="5 idées de petits-déjeuners pour commencer la journé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052" name="Picture 4" descr="Le repas le plus important de la journée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8964" y="590999"/>
            <a:ext cx="3707478" cy="25653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Прямоугольник 4"/>
          <p:cNvSpPr/>
          <p:nvPr/>
        </p:nvSpPr>
        <p:spPr>
          <a:xfrm>
            <a:off x="5132441" y="1504335"/>
            <a:ext cx="2384488" cy="4001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petit-</a:t>
            </a:r>
            <a:r>
              <a:rPr lang="en-US" sz="20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déjeuner</a:t>
            </a:r>
            <a:endParaRPr 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9028924" y="3159384"/>
            <a:ext cx="2238844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b="1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le </a:t>
            </a:r>
            <a:r>
              <a:rPr lang="en-US" b="1" i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déjeuner</a:t>
            </a:r>
            <a:endParaRPr 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4" name="Picture 6" descr="LE DÉJEUNER ET LE DÎNER : MANGER… COMME UN PRINCE LE MIDI ET LÉGER LE SOIR  ! - Uberti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2441" y="2104213"/>
            <a:ext cx="3585393" cy="20185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Прямоугольник 6"/>
          <p:cNvSpPr/>
          <p:nvPr/>
        </p:nvSpPr>
        <p:spPr>
          <a:xfrm>
            <a:off x="5854043" y="5430534"/>
            <a:ext cx="909223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none">
            <a:spAutoFit/>
          </a:bodyPr>
          <a:lstStyle/>
          <a:p>
            <a:pPr algn="ctr"/>
            <a:r>
              <a:rPr lang="en-US" b="1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le diner</a:t>
            </a:r>
            <a:endParaRPr 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6" name="Picture 8" descr="Ужин по-французски: 5 простых и вкусных блюд для романтического вечера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5823" y="4353341"/>
            <a:ext cx="3856618" cy="21543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242774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1545564"/>
              </p:ext>
            </p:extLst>
          </p:nvPr>
        </p:nvGraphicFramePr>
        <p:xfrm>
          <a:off x="561702" y="627020"/>
          <a:ext cx="5264330" cy="3237210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2603408">
                  <a:extLst>
                    <a:ext uri="{9D8B030D-6E8A-4147-A177-3AD203B41FA5}">
                      <a16:colId xmlns:a16="http://schemas.microsoft.com/office/drawing/2014/main" val="3176609345"/>
                    </a:ext>
                  </a:extLst>
                </a:gridCol>
                <a:gridCol w="2660922">
                  <a:extLst>
                    <a:ext uri="{9D8B030D-6E8A-4147-A177-3AD203B41FA5}">
                      <a16:colId xmlns:a16="http://schemas.microsoft.com/office/drawing/2014/main" val="2623605680"/>
                    </a:ext>
                  </a:extLst>
                </a:gridCol>
              </a:tblGrid>
              <a:tr h="35969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kk-KZ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 pain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Bread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5865745"/>
                  </a:ext>
                </a:extLst>
              </a:tr>
              <a:tr h="35969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kk-KZ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 sel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Salt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0123496"/>
                  </a:ext>
                </a:extLst>
              </a:tr>
              <a:tr h="35969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kk-KZ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 sucre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Sugar</a:t>
                      </a:r>
                      <a:r>
                        <a:rPr lang="kk-KZ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5445432"/>
                  </a:ext>
                </a:extLst>
              </a:tr>
              <a:tr h="35969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kk-KZ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 beurre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Butter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3813952"/>
                  </a:ext>
                </a:extLst>
              </a:tr>
              <a:tr h="35969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kk-KZ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 fromage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Cheese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339509"/>
                  </a:ext>
                </a:extLst>
              </a:tr>
              <a:tr h="35969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kk-KZ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 viande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Meat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543672"/>
                  </a:ext>
                </a:extLst>
              </a:tr>
              <a:tr h="35969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 </a:t>
                      </a:r>
                      <a:r>
                        <a:rPr lang="en-US" sz="18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saucisson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Sausage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0622549"/>
                  </a:ext>
                </a:extLst>
              </a:tr>
              <a:tr h="35969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 poisson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Fish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01609"/>
                  </a:ext>
                </a:extLst>
              </a:tr>
              <a:tr h="35969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 farine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Flour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4300477"/>
                  </a:ext>
                </a:extLst>
              </a:tr>
            </a:tbl>
          </a:graphicData>
        </a:graphic>
      </p:graphicFrame>
      <p:graphicFrame>
        <p:nvGraphicFramePr>
          <p:cNvPr id="7" name="Таблица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4301063"/>
              </p:ext>
            </p:extLst>
          </p:nvPr>
        </p:nvGraphicFramePr>
        <p:xfrm>
          <a:off x="6734176" y="2099806"/>
          <a:ext cx="4051300" cy="1824612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{00A15C55-8517-42AA-B614-E9B94910E393}</a:tableStyleId>
              </a:tblPr>
              <a:tblGrid>
                <a:gridCol w="2025650">
                  <a:extLst>
                    <a:ext uri="{9D8B030D-6E8A-4147-A177-3AD203B41FA5}">
                      <a16:colId xmlns:a16="http://schemas.microsoft.com/office/drawing/2014/main" val="3787140689"/>
                    </a:ext>
                  </a:extLst>
                </a:gridCol>
                <a:gridCol w="2025650">
                  <a:extLst>
                    <a:ext uri="{9D8B030D-6E8A-4147-A177-3AD203B41FA5}">
                      <a16:colId xmlns:a16="http://schemas.microsoft.com/office/drawing/2014/main" val="2197312840"/>
                    </a:ext>
                  </a:extLst>
                </a:gridCol>
              </a:tblGrid>
              <a:tr h="29858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 bonbon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Candy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62479497"/>
                  </a:ext>
                </a:extLst>
              </a:tr>
              <a:tr h="29858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 </a:t>
                      </a:r>
                      <a:r>
                        <a:rPr lang="en-US" sz="2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bisquits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Cookies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08464350"/>
                  </a:ext>
                </a:extLst>
              </a:tr>
              <a:tr h="29858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 confiture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Jam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37131717"/>
                  </a:ext>
                </a:extLst>
              </a:tr>
              <a:tr h="29858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 miel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Honey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76762741"/>
                  </a:ext>
                </a:extLst>
              </a:tr>
              <a:tr h="29858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 </a:t>
                      </a:r>
                      <a:r>
                        <a:rPr lang="en-US" sz="2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gâteau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Cake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97439147"/>
                  </a:ext>
                </a:extLst>
              </a:tr>
              <a:tr h="29858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 petit -pain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Sweet Bread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9506657"/>
                  </a:ext>
                </a:extLst>
              </a:tr>
            </a:tbl>
          </a:graphicData>
        </a:graphic>
      </p:graphicFrame>
      <p:graphicFrame>
        <p:nvGraphicFramePr>
          <p:cNvPr id="2" name="Таблица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4021510"/>
              </p:ext>
            </p:extLst>
          </p:nvPr>
        </p:nvGraphicFramePr>
        <p:xfrm>
          <a:off x="1015774" y="4382758"/>
          <a:ext cx="5264330" cy="1798450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2603408">
                  <a:extLst>
                    <a:ext uri="{9D8B030D-6E8A-4147-A177-3AD203B41FA5}">
                      <a16:colId xmlns:a16="http://schemas.microsoft.com/office/drawing/2014/main" val="1134442661"/>
                    </a:ext>
                  </a:extLst>
                </a:gridCol>
                <a:gridCol w="2660922">
                  <a:extLst>
                    <a:ext uri="{9D8B030D-6E8A-4147-A177-3AD203B41FA5}">
                      <a16:colId xmlns:a16="http://schemas.microsoft.com/office/drawing/2014/main" val="4114737775"/>
                    </a:ext>
                  </a:extLst>
                </a:gridCol>
              </a:tblGrid>
              <a:tr h="35969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le </a:t>
                      </a:r>
                      <a:r>
                        <a:rPr lang="en-US" sz="1800" dirty="0" err="1">
                          <a:effectLst/>
                        </a:rPr>
                        <a:t>thé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Tea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47781121"/>
                  </a:ext>
                </a:extLst>
              </a:tr>
              <a:tr h="35969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le café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Coffee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31255471"/>
                  </a:ext>
                </a:extLst>
              </a:tr>
              <a:tr h="35969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le lait 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Milk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61102880"/>
                  </a:ext>
                </a:extLst>
              </a:tr>
              <a:tr h="35969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le jus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Juice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81963086"/>
                  </a:ext>
                </a:extLst>
              </a:tr>
              <a:tr h="35969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la limonade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Lemonade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766556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968357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Таблица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3806452"/>
              </p:ext>
            </p:extLst>
          </p:nvPr>
        </p:nvGraphicFramePr>
        <p:xfrm>
          <a:off x="2933700" y="163830"/>
          <a:ext cx="6381750" cy="6082040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{D113A9D2-9D6B-4929-AA2D-F23B5EE8CBE7}</a:tableStyleId>
              </a:tblPr>
              <a:tblGrid>
                <a:gridCol w="3190875">
                  <a:extLst>
                    <a:ext uri="{9D8B030D-6E8A-4147-A177-3AD203B41FA5}">
                      <a16:colId xmlns:a16="http://schemas.microsoft.com/office/drawing/2014/main" val="2543792647"/>
                    </a:ext>
                  </a:extLst>
                </a:gridCol>
                <a:gridCol w="3190875">
                  <a:extLst>
                    <a:ext uri="{9D8B030D-6E8A-4147-A177-3AD203B41FA5}">
                      <a16:colId xmlns:a16="http://schemas.microsoft.com/office/drawing/2014/main" val="301194411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 légumes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vegetables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022524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 </a:t>
                      </a:r>
                      <a:r>
                        <a:rPr lang="en-US" sz="2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chou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cabbage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943025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 tomate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tomato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863261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les </a:t>
                      </a:r>
                      <a:r>
                        <a:rPr lang="en-US" sz="2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concombres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cucumbers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000583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les carottes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carrots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3447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l'oignon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onion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302091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 bettrave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beetroot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062772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 pasteque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watermelon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420456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 melon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melon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943564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les pommes de terre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potatoes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408018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 fruits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fruits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526723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les pommes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apples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79782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les poires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pears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59116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les raisins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grapes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23048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les prunes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plums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377811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les abricots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apricots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45173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 pêche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peach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065234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 fraise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strawberry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306080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 framboise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raspberry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193519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 cerise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cherry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770915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452222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68830" y="1489166"/>
            <a:ext cx="4909457" cy="3192917"/>
          </a:xfrm>
        </p:spPr>
        <p:txBody>
          <a:bodyPr>
            <a:noAutofit/>
          </a:bodyPr>
          <a:lstStyle/>
          <a:p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fr-FR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dans la) salle </a:t>
            </a:r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à </a:t>
            </a:r>
            <a:r>
              <a:rPr lang="fr-FR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manger</a:t>
            </a:r>
            <a:r>
              <a:rPr lang="ru-RU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fr-FR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à </a:t>
            </a: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</a:t>
            </a:r>
            <a:r>
              <a:rPr lang="fr-FR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maison</a:t>
            </a:r>
            <a:r>
              <a:rPr lang="ru-RU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fr-FR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dans </a:t>
            </a: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 </a:t>
            </a:r>
            <a:r>
              <a:rPr lang="fr-FR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restaurant</a:t>
            </a:r>
            <a:r>
              <a:rPr lang="ru-RU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fr-FR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dans </a:t>
            </a: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</a:t>
            </a:r>
            <a:r>
              <a:rPr lang="fr-FR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café</a:t>
            </a:r>
            <a:r>
              <a:rPr lang="ru-RU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5. </a:t>
            </a:r>
            <a:r>
              <a:rPr lang="fr-FR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à </a:t>
            </a: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l'école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662058" y="823466"/>
            <a:ext cx="3971108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1. in the dining hall</a:t>
            </a:r>
          </a:p>
          <a:p>
            <a:endParaRPr 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2. at home</a:t>
            </a:r>
          </a:p>
          <a:p>
            <a:endParaRPr 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3. in a restaurant</a:t>
            </a:r>
          </a:p>
          <a:p>
            <a:endParaRPr 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4. in the cafe</a:t>
            </a:r>
          </a:p>
          <a:p>
            <a:endParaRPr 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5. at school</a:t>
            </a:r>
          </a:p>
        </p:txBody>
      </p:sp>
    </p:spTree>
    <p:extLst>
      <p:ext uri="{BB962C8B-B14F-4D97-AF65-F5344CB8AC3E}">
        <p14:creationId xmlns:p14="http://schemas.microsoft.com/office/powerpoint/2010/main" val="30585006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3383280" y="2996139"/>
            <a:ext cx="513370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https://youtu.be/d5U4kDDBCVA</a:t>
            </a:r>
          </a:p>
        </p:txBody>
      </p:sp>
    </p:spTree>
    <p:extLst>
      <p:ext uri="{BB962C8B-B14F-4D97-AF65-F5344CB8AC3E}">
        <p14:creationId xmlns:p14="http://schemas.microsoft.com/office/powerpoint/2010/main" val="30791366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2719705" y="2421336"/>
            <a:ext cx="1542410" cy="270843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Manger</a:t>
            </a:r>
          </a:p>
          <a:p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Boire</a:t>
            </a:r>
            <a:endParaRPr lang="ru-RU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voir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faim</a:t>
            </a:r>
            <a:endParaRPr lang="ru-RU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voir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soif</a:t>
            </a:r>
            <a:endParaRPr lang="en-US" sz="2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sz="32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5805715" y="2421336"/>
            <a:ext cx="1532599" cy="206819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eat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 drink water</a:t>
            </a:r>
          </a:p>
          <a:p>
            <a:pPr>
              <a:lnSpc>
                <a:spcPct val="107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be hungry</a:t>
            </a:r>
          </a:p>
          <a:p>
            <a:pPr>
              <a:lnSpc>
                <a:spcPct val="107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be thirsty</a:t>
            </a:r>
            <a:endParaRPr lang="en-US" sz="2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252651" y="1502229"/>
            <a:ext cx="37490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verbs - verbs</a:t>
            </a:r>
          </a:p>
        </p:txBody>
      </p:sp>
    </p:spTree>
    <p:extLst>
      <p:ext uri="{BB962C8B-B14F-4D97-AF65-F5344CB8AC3E}">
        <p14:creationId xmlns:p14="http://schemas.microsoft.com/office/powerpoint/2010/main" val="25751343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2860766" y="352245"/>
            <a:ext cx="6622868" cy="66128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fr-FR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Retenez  la conjugaison des verbes : 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manger                                     </a:t>
            </a:r>
            <a:r>
              <a:rPr lang="en-US" sz="2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boire</a:t>
            </a:r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au  </a:t>
            </a:r>
            <a:r>
              <a:rPr lang="en-US" sz="2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Présent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Je  mang</a:t>
            </a:r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            je  boi</a:t>
            </a:r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Tu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mang</a:t>
            </a:r>
            <a:r>
              <a:rPr lang="en-US" sz="2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es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         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tu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boi</a:t>
            </a:r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Il,elle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mang</a:t>
            </a:r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      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il,elle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boi</a:t>
            </a:r>
            <a:r>
              <a:rPr lang="en-US" sz="2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Nous 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mange</a:t>
            </a:r>
            <a:r>
              <a:rPr lang="en-US" sz="2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ons</a:t>
            </a:r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 nous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buv</a:t>
            </a:r>
            <a:r>
              <a:rPr lang="en-US" sz="2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ons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Vous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mang</a:t>
            </a:r>
            <a:r>
              <a:rPr lang="en-US" sz="2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ez</a:t>
            </a:r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    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vous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buv</a:t>
            </a:r>
            <a:r>
              <a:rPr lang="en-US" sz="2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ez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Ils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elles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mang</a:t>
            </a:r>
            <a:r>
              <a:rPr lang="en-US" sz="2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ent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ils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elles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boiv</a:t>
            </a:r>
            <a:r>
              <a:rPr lang="en-US" sz="2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ent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2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avoir</a:t>
            </a:r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2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faim</a:t>
            </a:r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                 </a:t>
            </a:r>
            <a:r>
              <a:rPr lang="en-US" sz="2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avoir</a:t>
            </a:r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soif</a:t>
            </a:r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au </a:t>
            </a:r>
            <a:r>
              <a:rPr lang="en-US" sz="2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Présent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fr-FR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J’ai  faim                                                   J’ai soif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fr-FR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tu as   faim                                                 tu as soif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fr-FR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il, elle a faim                                              il, elle a soif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fr-FR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nous avons     faim                                    nous  avons soif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fr-FR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vous avez   faim                                        vous avez soif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fr-FR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ils, elles ont faim                                       ils, elles ont soif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2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3528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3561378" y="2356060"/>
            <a:ext cx="4155305" cy="230832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j'aime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 banana</a:t>
            </a:r>
          </a:p>
          <a:p>
            <a:endParaRPr lang="ru-RU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J’aime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………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5058518" y="1128151"/>
            <a:ext cx="11610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Exercise 1 </a:t>
            </a:r>
          </a:p>
        </p:txBody>
      </p:sp>
    </p:spTree>
    <p:extLst>
      <p:ext uri="{BB962C8B-B14F-4D97-AF65-F5344CB8AC3E}">
        <p14:creationId xmlns:p14="http://schemas.microsoft.com/office/powerpoint/2010/main" val="17934131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1781448" y="1160248"/>
            <a:ext cx="1686680" cy="40011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txBody>
          <a:bodyPr wrap="none">
            <a:spAutoFit/>
          </a:bodyPr>
          <a:lstStyle/>
          <a:p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Bonjours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Olga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3137842" y="2782132"/>
            <a:ext cx="2725939" cy="39940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Bonjours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Aigoul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André!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6686961" y="3178142"/>
            <a:ext cx="4201791" cy="40011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txBody>
          <a:bodyPr wrap="none">
            <a:spAutoFit/>
          </a:bodyPr>
          <a:lstStyle/>
          <a:p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Allons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ensemble,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déjeuner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à la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cantine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8609506" y="5614919"/>
            <a:ext cx="952505" cy="40011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txBody>
          <a:bodyPr wrap="none">
            <a:spAutoFit/>
          </a:bodyPr>
          <a:lstStyle/>
          <a:p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Allons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!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4803977" y="1064397"/>
            <a:ext cx="4758034" cy="40011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txBody>
          <a:bodyPr wrap="none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Qu-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est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ce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que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vous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voulez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manger et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boire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? 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1781448" y="5461031"/>
            <a:ext cx="6096000" cy="70788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txBody>
          <a:bodyPr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Je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veux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manger de la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viande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avec des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légumes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et je bois du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thé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avec le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sucre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5098413" y="4126422"/>
            <a:ext cx="6096000" cy="101566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txBody>
          <a:bodyPr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Je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veux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manger du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poisson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avec des pommes de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terre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et je bois du café avec du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lait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Et,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toi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Olga,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qu’est-ce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que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tu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veux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manger?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Прямоугольник 9"/>
          <p:cNvSpPr/>
          <p:nvPr/>
        </p:nvSpPr>
        <p:spPr>
          <a:xfrm>
            <a:off x="1587207" y="3564471"/>
            <a:ext cx="4743606" cy="40011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txBody>
          <a:bodyPr wrap="none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Je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veux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manger de la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soupe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et je bois du jus.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2360296" y="1939943"/>
            <a:ext cx="8653331" cy="40011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txBody>
          <a:bodyPr wrap="none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André 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où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se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déjeunent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tes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parents?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parents  se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déjeunent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surtout à la 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maison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9010" y="509451"/>
            <a:ext cx="3240299" cy="40011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FF0000"/>
                </a:solidFill>
              </a:rPr>
              <a:t>Exercise 2 </a:t>
            </a:r>
          </a:p>
        </p:txBody>
      </p:sp>
    </p:spTree>
    <p:extLst>
      <p:ext uri="{BB962C8B-B14F-4D97-AF65-F5344CB8AC3E}">
        <p14:creationId xmlns:p14="http://schemas.microsoft.com/office/powerpoint/2010/main" val="18262954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1460333" y="1178360"/>
            <a:ext cx="9026432" cy="25292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0"/>
              </a:spcAft>
            </a:pPr>
            <a:r>
              <a:rPr lang="en-US" sz="2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Texte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0"/>
              </a:spcAft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Le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matin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Pif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faim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et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il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 _____. Il mange et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il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boit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_______</a:t>
            </a:r>
            <a:r>
              <a:rPr lang="kk-KZ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il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mange du pain avec du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beurre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et ________. Il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boit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du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lait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ou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bien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du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thé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avec _____.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C’est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son petit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déjeuner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Après son ________,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il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va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à son travail. Il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rentre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à la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maison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à 2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heures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et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demie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_______. Il mange ______, de la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viande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avec des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légumes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et _______. Il ne mange ______ de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poisson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C’est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son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déjeuner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0"/>
              </a:spcAft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Le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soir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il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mange des fruits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où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quelquefois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_______.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C’est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son diner.</a:t>
            </a:r>
            <a:endParaRPr lang="en-US" sz="2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3887814" y="4746563"/>
            <a:ext cx="530915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none">
            <a:spAutoFit/>
          </a:bodyPr>
          <a:lstStyle/>
          <a:p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soif</a:t>
            </a:r>
            <a:endParaRPr lang="en-US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6141075" y="4746563"/>
            <a:ext cx="1223412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none">
            <a:spAutoFit/>
          </a:bodyPr>
          <a:lstStyle/>
          <a:p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D’habitude</a:t>
            </a:r>
            <a:endParaRPr lang="en-US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8221514" y="4746563"/>
            <a:ext cx="1242648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non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du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fromage</a:t>
            </a:r>
            <a:endParaRPr lang="en-US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6554659" y="5446203"/>
            <a:ext cx="960519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non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du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sucre</a:t>
            </a:r>
            <a:endParaRPr lang="en-US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2166992" y="5431101"/>
            <a:ext cx="1447832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non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petit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déjeuner</a:t>
            </a:r>
            <a:endParaRPr lang="en-US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8369333" y="5718839"/>
            <a:ext cx="1588897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non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l’après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-midi</a:t>
            </a:r>
            <a:endParaRPr lang="en-US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4750137" y="5758481"/>
            <a:ext cx="1223412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non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 la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soupe</a:t>
            </a:r>
            <a:endParaRPr lang="en-US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6746179" y="4046923"/>
            <a:ext cx="2089033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non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des pommes de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terre</a:t>
            </a:r>
            <a:endParaRPr lang="en-US" dirty="0"/>
          </a:p>
        </p:txBody>
      </p:sp>
      <p:sp>
        <p:nvSpPr>
          <p:cNvPr id="11" name="Прямоугольник 10"/>
          <p:cNvSpPr/>
          <p:nvPr/>
        </p:nvSpPr>
        <p:spPr>
          <a:xfrm>
            <a:off x="5128446" y="4231589"/>
            <a:ext cx="845103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none">
            <a:spAutoFit/>
          </a:bodyPr>
          <a:lstStyle/>
          <a:p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jamais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US" dirty="0"/>
          </a:p>
        </p:txBody>
      </p:sp>
      <p:sp>
        <p:nvSpPr>
          <p:cNvPr id="12" name="Прямоугольник 11"/>
          <p:cNvSpPr/>
          <p:nvPr/>
        </p:nvSpPr>
        <p:spPr>
          <a:xfrm>
            <a:off x="2743507" y="3951134"/>
            <a:ext cx="1332416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non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des bonbons</a:t>
            </a:r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3930847" y="630546"/>
            <a:ext cx="3240299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FF0000"/>
                </a:solidFill>
              </a:rPr>
              <a:t>Exercise 3 </a:t>
            </a:r>
          </a:p>
        </p:txBody>
      </p:sp>
    </p:spTree>
    <p:extLst>
      <p:ext uri="{BB962C8B-B14F-4D97-AF65-F5344CB8AC3E}">
        <p14:creationId xmlns:p14="http://schemas.microsoft.com/office/powerpoint/2010/main" val="14197805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 descr="Фон для презентации цветы нежные - фото и картинки abrakadabra.fu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12192001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Скругленная прямоугольная выноска 3"/>
          <p:cNvSpPr/>
          <p:nvPr/>
        </p:nvSpPr>
        <p:spPr>
          <a:xfrm>
            <a:off x="4146959" y="1828575"/>
            <a:ext cx="3281633" cy="4136573"/>
          </a:xfrm>
          <a:prstGeom prst="wedgeRoundRectCallou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497791" y="633864"/>
            <a:ext cx="9196411" cy="930506"/>
          </a:xfr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algn="ctr"/>
            <a:r>
              <a:rPr lang="en-US" sz="4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Feedback</a:t>
            </a:r>
            <a:endParaRPr lang="en-US" sz="4800" b="1" i="1" dirty="0">
              <a:latin typeface="Brush Script MT" panose="03060802040406070304" pitchFamily="66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475100" y="2561250"/>
            <a:ext cx="2953492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Was the lesson clear?</a:t>
            </a:r>
          </a:p>
          <a:p>
            <a:pPr marL="342900" indent="-342900">
              <a:buAutoNum type="arabicPeriod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did you like and what didn't you like?</a:t>
            </a:r>
          </a:p>
          <a:p>
            <a:pPr marL="342900" indent="-342900">
              <a:buAutoNum type="arabicPeriod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 suggestion.</a:t>
            </a:r>
          </a:p>
        </p:txBody>
      </p:sp>
    </p:spTree>
    <p:extLst>
      <p:ext uri="{BB962C8B-B14F-4D97-AF65-F5344CB8AC3E}">
        <p14:creationId xmlns:p14="http://schemas.microsoft.com/office/powerpoint/2010/main" val="41496958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5333379" y="379013"/>
            <a:ext cx="181953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DEVOIR</a:t>
            </a:r>
          </a:p>
        </p:txBody>
      </p:sp>
      <p:pic>
        <p:nvPicPr>
          <p:cNvPr id="3074" name="Picture 2" descr="На 425 ученических мест расширена школа в Бостандыкском районе Алматы |  informburo.kz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7987" y="624899"/>
            <a:ext cx="3248297" cy="18262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9 часов утра | Погода вики | Fandom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6325" y="2297911"/>
            <a:ext cx="3486150" cy="1314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Идеальные классические круассаны - Лайфхакер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38931" y="622794"/>
            <a:ext cx="2602684" cy="13013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 descr="Какие яйца выбрать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954" y="2721667"/>
            <a:ext cx="2994966" cy="23236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2" name="Picture 10" descr="Как научиться готовить с нуля в кратчайшие сроки - Лайфхакер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3693" y="982552"/>
            <a:ext cx="3267536" cy="16337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4" name="Picture 12" descr="Стоит ли инвестировать в запуск продуктовых магазинов?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3693" y="4880813"/>
            <a:ext cx="2712193" cy="18003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6" name="Picture 14" descr="Овощи - калорийность, полезные свойства, польза и вред, описание -  Calorizator.ru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37925" y="3524485"/>
            <a:ext cx="2712656" cy="2712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8" name="Picture 16" descr="Освежающие напитки — 10 простых рецептов прохладительных напитков для  жаркого лета - Домашняя кулинария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8363" y="2955137"/>
            <a:ext cx="3030721" cy="1792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5798977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2767</TotalTime>
  <Words>719</Words>
  <Application>Microsoft Macintosh PowerPoint</Application>
  <PresentationFormat>Widescreen</PresentationFormat>
  <Paragraphs>165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Brush Script MT</vt:lpstr>
      <vt:lpstr>Arial</vt:lpstr>
      <vt:lpstr>Calibri</vt:lpstr>
      <vt:lpstr>Calibri Light</vt:lpstr>
      <vt:lpstr>Times New Roman</vt:lpstr>
      <vt:lpstr>Тема Office</vt:lpstr>
      <vt:lpstr>A la leçon de français</vt:lpstr>
      <vt:lpstr>Bonjour mes amis! Asseyez-vous, s’il vous plait. Je suis ravi de vous voir!  Quelle date somme-nous aujourd’hui? Quel jour de la semain est-ce?  Bien, commencons la lecon. </vt:lpstr>
      <vt:lpstr>PowerPoint Presentation</vt:lpstr>
      <vt:lpstr>Le repas, une alimentation  = meal, a diet</vt:lpstr>
      <vt:lpstr>The purpose of the lesson:  To learn new words related to food and be able to use them. To learn new verbs related to cooking.  Apprendre à connaître de nouveaux mots relatives une alimentation. Apprenez de nouveaux verbes relatives de la cuisine. </vt:lpstr>
      <vt:lpstr>Lesson plan:  1. Homework check  2. New words  2. New verbs and their classification  3. Practical tasks  4. Feedback  5. Homework </vt:lpstr>
      <vt:lpstr>PowerPoint Presentation</vt:lpstr>
      <vt:lpstr>PowerPoint Presentation</vt:lpstr>
      <vt:lpstr>PowerPoint Presentation</vt:lpstr>
      <vt:lpstr>1. (dans la) salle à manger  2. à la maison  3. dans un restaurant  4. dans le café  5. à l'école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Feedback</vt:lpstr>
      <vt:lpstr>PowerPoint Presentation</vt:lpstr>
    </vt:vector>
  </TitlesOfParts>
  <Company>SPecialiST RePack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77751210749</dc:creator>
  <cp:lastModifiedBy>Michael Ofengenden</cp:lastModifiedBy>
  <cp:revision>27</cp:revision>
  <dcterms:created xsi:type="dcterms:W3CDTF">2022-10-01T19:11:08Z</dcterms:created>
  <dcterms:modified xsi:type="dcterms:W3CDTF">2025-08-13T19:02:23Z</dcterms:modified>
</cp:coreProperties>
</file>