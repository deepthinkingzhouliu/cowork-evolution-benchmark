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gend rounded box"/>
          <p:cNvSpPr/>
          <p:nvPr/>
        </p:nvSpPr>
        <p:spPr>
          <a:xfrm>
            <a:off x="234000" y="151200"/>
            <a:ext cx="2070000" cy="827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Legend action arrow"/>
          <p:cNvCxnSpPr/>
          <p:nvPr/>
        </p:nvCxnSpPr>
        <p:spPr>
          <a:xfrm>
            <a:off x="396000" y="413999"/>
            <a:ext cx="828000" cy="0"/>
          </a:xfrm>
          <a:prstGeom prst="line">
            <a:avLst/>
          </a:prstGeom>
          <a:ln w="9525">
            <a:solidFill>
              <a:srgbClr val="161A1D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gend action label"/>
          <p:cNvSpPr txBox="1"/>
          <p:nvPr/>
        </p:nvSpPr>
        <p:spPr>
          <a:xfrm>
            <a:off x="1278000" y="306000"/>
            <a:ext cx="864000" cy="2232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1A1D"/>
                </a:solidFill>
                <a:latin typeface="Arial"/>
              </a:rPr>
              <a:t>action</a:t>
            </a:r>
          </a:p>
        </p:txBody>
      </p:sp>
      <p:cxnSp>
        <p:nvCxnSpPr>
          <p:cNvPr id="5" name="Legend emotion arrow"/>
          <p:cNvCxnSpPr/>
          <p:nvPr/>
        </p:nvCxnSpPr>
        <p:spPr>
          <a:xfrm>
            <a:off x="396000" y="737999"/>
            <a:ext cx="828000" cy="0"/>
          </a:xfrm>
          <a:prstGeom prst="line">
            <a:avLst/>
          </a:prstGeom>
          <a:ln w="15875">
            <a:solidFill>
              <a:srgbClr val="E87522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gend emotion label"/>
          <p:cNvSpPr txBox="1"/>
          <p:nvPr/>
        </p:nvSpPr>
        <p:spPr>
          <a:xfrm>
            <a:off x="1278000" y="630000"/>
            <a:ext cx="864000" cy="2232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7522"/>
                </a:solidFill>
                <a:latin typeface="Arial"/>
              </a:rPr>
              <a:t>emotion</a:t>
            </a:r>
          </a:p>
        </p:txBody>
      </p:sp>
      <p:cxnSp>
        <p:nvCxnSpPr>
          <p:cNvPr id="7" name="Action arrow 1"/>
          <p:cNvCxnSpPr/>
          <p:nvPr/>
        </p:nvCxnSpPr>
        <p:spPr>
          <a:xfrm>
            <a:off x="1974600" y="2268000"/>
            <a:ext cx="936000" cy="0"/>
          </a:xfrm>
          <a:prstGeom prst="line">
            <a:avLst/>
          </a:prstGeom>
          <a:ln w="15875">
            <a:solidFill>
              <a:srgbClr val="161A1D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ction arrow 2"/>
          <p:cNvCxnSpPr/>
          <p:nvPr/>
        </p:nvCxnSpPr>
        <p:spPr>
          <a:xfrm>
            <a:off x="4410629" y="2268000"/>
            <a:ext cx="936001" cy="0"/>
          </a:xfrm>
          <a:prstGeom prst="line">
            <a:avLst/>
          </a:prstGeom>
          <a:ln w="15875">
            <a:solidFill>
              <a:srgbClr val="161A1D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ction arrow 3"/>
          <p:cNvCxnSpPr/>
          <p:nvPr/>
        </p:nvCxnSpPr>
        <p:spPr>
          <a:xfrm>
            <a:off x="6846029" y="2268000"/>
            <a:ext cx="936001" cy="0"/>
          </a:xfrm>
          <a:prstGeom prst="line">
            <a:avLst/>
          </a:prstGeom>
          <a:ln w="15875">
            <a:solidFill>
              <a:srgbClr val="161A1D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ction arrow 4"/>
          <p:cNvCxnSpPr/>
          <p:nvPr/>
        </p:nvCxnSpPr>
        <p:spPr>
          <a:xfrm>
            <a:off x="9261000" y="2268000"/>
            <a:ext cx="936000" cy="0"/>
          </a:xfrm>
          <a:prstGeom prst="line">
            <a:avLst/>
          </a:prstGeom>
          <a:ln w="15875">
            <a:solidFill>
              <a:srgbClr val="161A1D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ge 1 number circle"/>
          <p:cNvSpPr/>
          <p:nvPr/>
        </p:nvSpPr>
        <p:spPr>
          <a:xfrm>
            <a:off x="1025999" y="1296000"/>
            <a:ext cx="396000" cy="396000"/>
          </a:xfrm>
          <a:prstGeom prst="ellipse">
            <a:avLst/>
          </a:prstGeom>
          <a:solidFill>
            <a:srgbClr val="1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Stage 1 light-blue editable icon circle"/>
          <p:cNvSpPr/>
          <p:nvPr/>
        </p:nvSpPr>
        <p:spPr>
          <a:xfrm>
            <a:off x="647999" y="1692000"/>
            <a:ext cx="1152000" cy="1152000"/>
          </a:xfrm>
          <a:prstGeom prst="ellipse">
            <a:avLst/>
          </a:prstGeom>
          <a:solidFill>
            <a:srgbClr val="D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ge 1 editable monitor"/>
          <p:cNvSpPr/>
          <p:nvPr/>
        </p:nvSpPr>
        <p:spPr>
          <a:xfrm>
            <a:off x="950399" y="1951200"/>
            <a:ext cx="54720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Stage 1 monitor stand"/>
          <p:cNvCxnSpPr/>
          <p:nvPr/>
        </p:nvCxnSpPr>
        <p:spPr>
          <a:xfrm>
            <a:off x="1224000" y="2304000"/>
            <a:ext cx="0" cy="115200"/>
          </a:xfrm>
          <a:prstGeom prst="line">
            <a:avLst/>
          </a:prstGeom>
          <a:ln w="1905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age 1 monitor base"/>
          <p:cNvCxnSpPr/>
          <p:nvPr/>
        </p:nvCxnSpPr>
        <p:spPr>
          <a:xfrm>
            <a:off x="1072800" y="2419200"/>
            <a:ext cx="302400" cy="0"/>
          </a:xfrm>
          <a:prstGeom prst="line">
            <a:avLst/>
          </a:prstGeom>
          <a:ln w="1905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ge 1 warning triangle"/>
          <p:cNvSpPr/>
          <p:nvPr/>
        </p:nvSpPr>
        <p:spPr>
          <a:xfrm>
            <a:off x="1295999" y="2228400"/>
            <a:ext cx="302400" cy="259200"/>
          </a:xfrm>
          <a:prstGeom prst="triangle">
            <a:avLst/>
          </a:prstGeom>
          <a:solidFill>
            <a:srgbClr val="E875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760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Stage 1 title bar"/>
          <p:cNvSpPr/>
          <p:nvPr/>
        </p:nvSpPr>
        <p:spPr>
          <a:xfrm>
            <a:off x="486000" y="2916000"/>
            <a:ext cx="1475999" cy="360000"/>
          </a:xfrm>
          <a:prstGeom prst="roundRect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18" name="Stage 1 description box"/>
          <p:cNvSpPr/>
          <p:nvPr/>
        </p:nvSpPr>
        <p:spPr>
          <a:xfrm>
            <a:off x="287999" y="3366000"/>
            <a:ext cx="1872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2400" rIns="122400" tIns="79200" bIns="79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A1D"/>
                </a:solidFill>
                <a:latin typeface="Arial"/>
              </a:rPr>
              <a:t>At 8:40 a.m., the team noticed that the online store was no longer loading for customers.</a:t>
            </a:r>
          </a:p>
        </p:txBody>
      </p:sp>
      <p:sp>
        <p:nvSpPr>
          <p:cNvPr id="19" name="Stage 2 number circle"/>
          <p:cNvSpPr/>
          <p:nvPr/>
        </p:nvSpPr>
        <p:spPr>
          <a:xfrm>
            <a:off x="3463199" y="1296000"/>
            <a:ext cx="396000" cy="396000"/>
          </a:xfrm>
          <a:prstGeom prst="ellipse">
            <a:avLst/>
          </a:prstGeom>
          <a:solidFill>
            <a:srgbClr val="1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Stage 2 light-blue editable icon circle"/>
          <p:cNvSpPr/>
          <p:nvPr/>
        </p:nvSpPr>
        <p:spPr>
          <a:xfrm>
            <a:off x="3085200" y="1692000"/>
            <a:ext cx="1152000" cy="1152000"/>
          </a:xfrm>
          <a:prstGeom prst="ellipse">
            <a:avLst/>
          </a:prstGeom>
          <a:solidFill>
            <a:srgbClr val="D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editable magnifier lens"/>
          <p:cNvSpPr/>
          <p:nvPr/>
        </p:nvSpPr>
        <p:spPr>
          <a:xfrm>
            <a:off x="3409200" y="1854000"/>
            <a:ext cx="439200" cy="439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Stage 2 editable magnifier handle"/>
          <p:cNvCxnSpPr/>
          <p:nvPr/>
        </p:nvCxnSpPr>
        <p:spPr>
          <a:xfrm>
            <a:off x="3733199" y="2221200"/>
            <a:ext cx="223201" cy="226800"/>
          </a:xfrm>
          <a:prstGeom prst="line">
            <a:avLst/>
          </a:prstGeom>
          <a:ln w="2540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age 2 alert badge"/>
          <p:cNvSpPr/>
          <p:nvPr/>
        </p:nvSpPr>
        <p:spPr>
          <a:xfrm>
            <a:off x="3787200" y="2253600"/>
            <a:ext cx="244800" cy="244800"/>
          </a:xfrm>
          <a:prstGeom prst="ellipse">
            <a:avLst/>
          </a:prstGeom>
          <a:solidFill>
            <a:srgbClr val="E875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Stage 2 title bar"/>
          <p:cNvSpPr/>
          <p:nvPr/>
        </p:nvSpPr>
        <p:spPr>
          <a:xfrm>
            <a:off x="2923200" y="2916000"/>
            <a:ext cx="1475999" cy="360000"/>
          </a:xfrm>
          <a:prstGeom prst="roundRect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25" name="Stage 2 description box"/>
          <p:cNvSpPr/>
          <p:nvPr/>
        </p:nvSpPr>
        <p:spPr>
          <a:xfrm>
            <a:off x="2725200" y="3366000"/>
            <a:ext cx="1872000" cy="16200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B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2400" rIns="122400" tIns="79200" bIns="79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A1D"/>
                </a:solidFill>
                <a:latin typeface="Arial"/>
              </a:rPr>
              <a:t>The support lead checked alerts, confirmed the outage, and opened an incident channel for developers and operations.</a:t>
            </a:r>
          </a:p>
        </p:txBody>
      </p:sp>
      <p:sp>
        <p:nvSpPr>
          <p:cNvPr id="26" name="Stage 3 number circle"/>
          <p:cNvSpPr/>
          <p:nvPr/>
        </p:nvSpPr>
        <p:spPr>
          <a:xfrm>
            <a:off x="5898059" y="1296000"/>
            <a:ext cx="396000" cy="396000"/>
          </a:xfrm>
          <a:prstGeom prst="ellipse">
            <a:avLst/>
          </a:prstGeom>
          <a:solidFill>
            <a:srgbClr val="1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Stage 3 light-blue editable icon circle"/>
          <p:cNvSpPr/>
          <p:nvPr/>
        </p:nvSpPr>
        <p:spPr>
          <a:xfrm>
            <a:off x="5520060" y="1692000"/>
            <a:ext cx="1152000" cy="1152000"/>
          </a:xfrm>
          <a:prstGeom prst="ellipse">
            <a:avLst/>
          </a:prstGeom>
          <a:solidFill>
            <a:srgbClr val="D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editable server 1"/>
          <p:cNvSpPr/>
          <p:nvPr/>
        </p:nvSpPr>
        <p:spPr>
          <a:xfrm>
            <a:off x="5800859" y="1843200"/>
            <a:ext cx="590400" cy="18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ge 3 server 1 status"/>
          <p:cNvSpPr/>
          <p:nvPr/>
        </p:nvSpPr>
        <p:spPr>
          <a:xfrm>
            <a:off x="5872859" y="1904400"/>
            <a:ext cx="57600" cy="57600"/>
          </a:xfrm>
          <a:prstGeom prst="ellipse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Stage 3 server 1 slot"/>
          <p:cNvCxnSpPr/>
          <p:nvPr/>
        </p:nvCxnSpPr>
        <p:spPr>
          <a:xfrm>
            <a:off x="6006059" y="1933200"/>
            <a:ext cx="277200" cy="0"/>
          </a:xfrm>
          <a:prstGeom prst="line">
            <a:avLst/>
          </a:prstGeom>
          <a:ln w="1270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age 3 editable server 2"/>
          <p:cNvSpPr/>
          <p:nvPr/>
        </p:nvSpPr>
        <p:spPr>
          <a:xfrm>
            <a:off x="5800859" y="2077199"/>
            <a:ext cx="590400" cy="18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3 server 2 status"/>
          <p:cNvSpPr/>
          <p:nvPr/>
        </p:nvSpPr>
        <p:spPr>
          <a:xfrm>
            <a:off x="5872859" y="2138400"/>
            <a:ext cx="57600" cy="57600"/>
          </a:xfrm>
          <a:prstGeom prst="ellipse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Stage 3 server 2 slot"/>
          <p:cNvCxnSpPr/>
          <p:nvPr/>
        </p:nvCxnSpPr>
        <p:spPr>
          <a:xfrm>
            <a:off x="6006059" y="2167200"/>
            <a:ext cx="277200" cy="0"/>
          </a:xfrm>
          <a:prstGeom prst="line">
            <a:avLst/>
          </a:prstGeom>
          <a:ln w="1270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tage 3 editable server 3"/>
          <p:cNvSpPr/>
          <p:nvPr/>
        </p:nvSpPr>
        <p:spPr>
          <a:xfrm>
            <a:off x="5800859" y="2311200"/>
            <a:ext cx="590400" cy="18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3 server 3 status"/>
          <p:cNvSpPr/>
          <p:nvPr/>
        </p:nvSpPr>
        <p:spPr>
          <a:xfrm>
            <a:off x="5872859" y="2372400"/>
            <a:ext cx="57600" cy="57600"/>
          </a:xfrm>
          <a:prstGeom prst="ellipse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Stage 3 server 3 slot"/>
          <p:cNvCxnSpPr/>
          <p:nvPr/>
        </p:nvCxnSpPr>
        <p:spPr>
          <a:xfrm>
            <a:off x="6006059" y="2401200"/>
            <a:ext cx="277200" cy="0"/>
          </a:xfrm>
          <a:prstGeom prst="line">
            <a:avLst/>
          </a:prstGeom>
          <a:ln w="1270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tage 3 warning triangle"/>
          <p:cNvSpPr/>
          <p:nvPr/>
        </p:nvSpPr>
        <p:spPr>
          <a:xfrm>
            <a:off x="6196859" y="2311200"/>
            <a:ext cx="302400" cy="259200"/>
          </a:xfrm>
          <a:prstGeom prst="triangle">
            <a:avLst/>
          </a:prstGeom>
          <a:solidFill>
            <a:srgbClr val="E875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760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Stage 3 title bar"/>
          <p:cNvSpPr/>
          <p:nvPr/>
        </p:nvSpPr>
        <p:spPr>
          <a:xfrm>
            <a:off x="5358059" y="2916000"/>
            <a:ext cx="1475999" cy="360000"/>
          </a:xfrm>
          <a:prstGeom prst="roundRect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problem peak</a:t>
            </a:r>
          </a:p>
        </p:txBody>
      </p:sp>
      <p:sp>
        <p:nvSpPr>
          <p:cNvPr id="39" name="Stage 3 description box"/>
          <p:cNvSpPr/>
          <p:nvPr/>
        </p:nvSpPr>
        <p:spPr>
          <a:xfrm>
            <a:off x="5160060" y="3366000"/>
            <a:ext cx="1872000" cy="16200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B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2400" rIns="122400" tIns="79200" bIns="79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A1D"/>
                </a:solidFill>
                <a:latin typeface="Arial"/>
              </a:rPr>
              <a:t>Orders failed repeatedly because the database connection pool was exhausted during the launch traffic surge.</a:t>
            </a:r>
          </a:p>
        </p:txBody>
      </p:sp>
      <p:sp>
        <p:nvSpPr>
          <p:cNvPr id="40" name="Stage 4 number circle"/>
          <p:cNvSpPr/>
          <p:nvPr/>
        </p:nvSpPr>
        <p:spPr>
          <a:xfrm>
            <a:off x="8333999" y="1296000"/>
            <a:ext cx="396000" cy="396000"/>
          </a:xfrm>
          <a:prstGeom prst="ellipse">
            <a:avLst/>
          </a:prstGeom>
          <a:solidFill>
            <a:srgbClr val="1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Stage 4 light-blue editable icon circle"/>
          <p:cNvSpPr/>
          <p:nvPr/>
        </p:nvSpPr>
        <p:spPr>
          <a:xfrm>
            <a:off x="7955999" y="1692000"/>
            <a:ext cx="1152000" cy="1152000"/>
          </a:xfrm>
          <a:prstGeom prst="ellipse">
            <a:avLst/>
          </a:prstGeom>
          <a:solidFill>
            <a:srgbClr val="D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ge 4 editable cloud"/>
          <p:cNvSpPr/>
          <p:nvPr/>
        </p:nvSpPr>
        <p:spPr>
          <a:xfrm>
            <a:off x="8204400" y="1925999"/>
            <a:ext cx="655200" cy="450000"/>
          </a:xfrm>
          <a:prstGeom prst="cloud">
            <a:avLst/>
          </a:prstGeom>
          <a:solidFill>
            <a:srgbClr val="FFFFFF"/>
          </a:solidFill>
          <a:ln w="1778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age 4 check badge"/>
          <p:cNvSpPr/>
          <p:nvPr/>
        </p:nvSpPr>
        <p:spPr>
          <a:xfrm>
            <a:off x="8618400" y="2203199"/>
            <a:ext cx="288000" cy="288000"/>
          </a:xfrm>
          <a:prstGeom prst="ellipse">
            <a:avLst/>
          </a:prstGeom>
          <a:solidFill>
            <a:srgbClr val="2E9D6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4" name="Stage 4 title bar"/>
          <p:cNvSpPr/>
          <p:nvPr/>
        </p:nvSpPr>
        <p:spPr>
          <a:xfrm>
            <a:off x="7793999" y="2916000"/>
            <a:ext cx="1475999" cy="360000"/>
          </a:xfrm>
          <a:prstGeom prst="roundRect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solution point</a:t>
            </a:r>
          </a:p>
        </p:txBody>
      </p:sp>
      <p:sp>
        <p:nvSpPr>
          <p:cNvPr id="45" name="Stage 4 description box"/>
          <p:cNvSpPr/>
          <p:nvPr/>
        </p:nvSpPr>
        <p:spPr>
          <a:xfrm>
            <a:off x="7595999" y="3366000"/>
            <a:ext cx="1872000" cy="16200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B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2400" rIns="122400" tIns="79200" bIns="79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A1D"/>
                </a:solidFill>
                <a:latin typeface="Arial"/>
              </a:rPr>
              <a:t>The team rolled back the latest configuration and switched traffic to a healthy backup instance.</a:t>
            </a:r>
          </a:p>
        </p:txBody>
      </p:sp>
      <p:sp>
        <p:nvSpPr>
          <p:cNvPr id="46" name="Stage 5 number circle"/>
          <p:cNvSpPr/>
          <p:nvPr/>
        </p:nvSpPr>
        <p:spPr>
          <a:xfrm>
            <a:off x="10728000" y="1296000"/>
            <a:ext cx="396000" cy="396000"/>
          </a:xfrm>
          <a:prstGeom prst="ellipse">
            <a:avLst/>
          </a:prstGeom>
          <a:solidFill>
            <a:srgbClr val="1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Stage 5 light-blue editable icon circle"/>
          <p:cNvSpPr/>
          <p:nvPr/>
        </p:nvSpPr>
        <p:spPr>
          <a:xfrm>
            <a:off x="10350000" y="1692000"/>
            <a:ext cx="1152000" cy="1152000"/>
          </a:xfrm>
          <a:prstGeom prst="ellipse">
            <a:avLst/>
          </a:prstGeom>
          <a:solidFill>
            <a:srgbClr val="DD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age 5 editable monitor"/>
          <p:cNvSpPr/>
          <p:nvPr/>
        </p:nvSpPr>
        <p:spPr>
          <a:xfrm>
            <a:off x="10652400" y="1951200"/>
            <a:ext cx="54720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Stage 5 monitor stand"/>
          <p:cNvCxnSpPr/>
          <p:nvPr/>
        </p:nvCxnSpPr>
        <p:spPr>
          <a:xfrm>
            <a:off x="10926000" y="2304000"/>
            <a:ext cx="0" cy="115200"/>
          </a:xfrm>
          <a:prstGeom prst="line">
            <a:avLst/>
          </a:prstGeom>
          <a:ln w="1905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age 5 monitor base"/>
          <p:cNvCxnSpPr/>
          <p:nvPr/>
        </p:nvCxnSpPr>
        <p:spPr>
          <a:xfrm>
            <a:off x="10774800" y="2419200"/>
            <a:ext cx="302400" cy="0"/>
          </a:xfrm>
          <a:prstGeom prst="line">
            <a:avLst/>
          </a:prstGeom>
          <a:ln w="19050">
            <a:solidFill>
              <a:srgbClr val="0B536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tage 5 check badge"/>
          <p:cNvSpPr/>
          <p:nvPr/>
        </p:nvSpPr>
        <p:spPr>
          <a:xfrm>
            <a:off x="11012400" y="2203199"/>
            <a:ext cx="288000" cy="288000"/>
          </a:xfrm>
          <a:prstGeom prst="ellipse">
            <a:avLst/>
          </a:prstGeom>
          <a:solidFill>
            <a:srgbClr val="2E9D6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2" name="Stage 5 title bar"/>
          <p:cNvSpPr/>
          <p:nvPr/>
        </p:nvSpPr>
        <p:spPr>
          <a:xfrm>
            <a:off x="10188000" y="2916000"/>
            <a:ext cx="1475999" cy="360000"/>
          </a:xfrm>
          <a:prstGeom prst="roundRect">
            <a:avLst/>
          </a:prstGeom>
          <a:solidFill>
            <a:srgbClr val="0B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8800" bIns="288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finish</a:t>
            </a:r>
          </a:p>
        </p:txBody>
      </p:sp>
      <p:sp>
        <p:nvSpPr>
          <p:cNvPr id="53" name="Stage 5 description box"/>
          <p:cNvSpPr/>
          <p:nvPr/>
        </p:nvSpPr>
        <p:spPr>
          <a:xfrm>
            <a:off x="9918000" y="3366000"/>
            <a:ext cx="2015999" cy="16200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B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2400" rIns="122400" tIns="79200" bIns="79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A1D"/>
                </a:solidFill>
                <a:latin typeface="Arial"/>
              </a:rPr>
              <a:t>The site was back up and stable within 10 minutes, order submissions resumed, and a post-incident review has been scheduled for 4:00 PM this afternoon.</a:t>
            </a:r>
          </a:p>
        </p:txBody>
      </p:sp>
      <p:cxnSp>
        <p:nvCxnSpPr>
          <p:cNvPr id="54" name="Emotion editable dashed segment 1"/>
          <p:cNvCxnSpPr/>
          <p:nvPr/>
        </p:nvCxnSpPr>
        <p:spPr>
          <a:xfrm>
            <a:off x="251999" y="5472000"/>
            <a:ext cx="1008001" cy="387720"/>
          </a:xfrm>
          <a:prstGeom prst="line">
            <a:avLst/>
          </a:prstGeom>
          <a:ln w="17145">
            <a:solidFill>
              <a:srgbClr val="E875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motion editable dashed segment 2"/>
          <p:cNvCxnSpPr/>
          <p:nvPr/>
        </p:nvCxnSpPr>
        <p:spPr>
          <a:xfrm flipV="1">
            <a:off x="1260000" y="5386320"/>
            <a:ext cx="3096000" cy="473400"/>
          </a:xfrm>
          <a:prstGeom prst="line">
            <a:avLst/>
          </a:prstGeom>
          <a:ln w="17145">
            <a:solidFill>
              <a:srgbClr val="E875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motion editable dashed segment 3"/>
          <p:cNvCxnSpPr/>
          <p:nvPr/>
        </p:nvCxnSpPr>
        <p:spPr>
          <a:xfrm>
            <a:off x="4356000" y="5386320"/>
            <a:ext cx="2286000" cy="499680"/>
          </a:xfrm>
          <a:prstGeom prst="line">
            <a:avLst/>
          </a:prstGeom>
          <a:ln w="17145">
            <a:solidFill>
              <a:srgbClr val="E875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motion editable dashed segment 4"/>
          <p:cNvCxnSpPr/>
          <p:nvPr/>
        </p:nvCxnSpPr>
        <p:spPr>
          <a:xfrm flipV="1">
            <a:off x="6642000" y="5435280"/>
            <a:ext cx="1854000" cy="450720"/>
          </a:xfrm>
          <a:prstGeom prst="line">
            <a:avLst/>
          </a:prstGeom>
          <a:ln w="17145">
            <a:solidFill>
              <a:srgbClr val="E875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motion editable dashed segment 5"/>
          <p:cNvCxnSpPr/>
          <p:nvPr/>
        </p:nvCxnSpPr>
        <p:spPr>
          <a:xfrm>
            <a:off x="8496000" y="5435280"/>
            <a:ext cx="846000" cy="307080"/>
          </a:xfrm>
          <a:prstGeom prst="line">
            <a:avLst/>
          </a:prstGeom>
          <a:ln w="17145">
            <a:solidFill>
              <a:srgbClr val="E875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motion editable dashed segment 6"/>
          <p:cNvCxnSpPr/>
          <p:nvPr/>
        </p:nvCxnSpPr>
        <p:spPr>
          <a:xfrm flipV="1">
            <a:off x="9342000" y="5166360"/>
            <a:ext cx="2268000" cy="576000"/>
          </a:xfrm>
          <a:prstGeom prst="line">
            <a:avLst/>
          </a:prstGeom>
          <a:ln w="17145">
            <a:solidFill>
              <a:srgbClr val="E87522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motion label concerned"/>
          <p:cNvSpPr txBox="1"/>
          <p:nvPr/>
        </p:nvSpPr>
        <p:spPr>
          <a:xfrm>
            <a:off x="432000" y="5659200"/>
            <a:ext cx="1152000" cy="2088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87522"/>
                </a:solidFill>
                <a:latin typeface="Times New Roman"/>
              </a:rPr>
              <a:t>concerned</a:t>
            </a:r>
          </a:p>
        </p:txBody>
      </p:sp>
      <p:sp>
        <p:nvSpPr>
          <p:cNvPr id="61" name="Emotion label tense and focused"/>
          <p:cNvSpPr txBox="1"/>
          <p:nvPr/>
        </p:nvSpPr>
        <p:spPr>
          <a:xfrm>
            <a:off x="3041999" y="5191200"/>
            <a:ext cx="1548000" cy="2088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87522"/>
                </a:solidFill>
                <a:latin typeface="Times New Roman"/>
              </a:rPr>
              <a:t>tense and focused</a:t>
            </a:r>
          </a:p>
        </p:txBody>
      </p:sp>
      <p:sp>
        <p:nvSpPr>
          <p:cNvPr id="62" name="Emotion label hopeful"/>
          <p:cNvSpPr txBox="1"/>
          <p:nvPr/>
        </p:nvSpPr>
        <p:spPr>
          <a:xfrm>
            <a:off x="7038000" y="5623200"/>
            <a:ext cx="972000" cy="2088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87522"/>
                </a:solidFill>
                <a:latin typeface="Times New Roman"/>
              </a:rPr>
              <a:t>hopeful</a:t>
            </a:r>
          </a:p>
        </p:txBody>
      </p:sp>
      <p:sp>
        <p:nvSpPr>
          <p:cNvPr id="63" name="Emotion label relieved"/>
          <p:cNvSpPr txBox="1"/>
          <p:nvPr/>
        </p:nvSpPr>
        <p:spPr>
          <a:xfrm>
            <a:off x="9864000" y="5194800"/>
            <a:ext cx="1007999" cy="2088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87522"/>
                </a:solidFill>
                <a:latin typeface="Times New Roman"/>
              </a:rPr>
              <a:t>relieved</a:t>
            </a:r>
          </a:p>
        </p:txBody>
      </p:sp>
      <p:sp>
        <p:nvSpPr>
          <p:cNvPr id="64" name="Theme text"/>
          <p:cNvSpPr txBox="1"/>
          <p:nvPr/>
        </p:nvSpPr>
        <p:spPr>
          <a:xfrm>
            <a:off x="2304000" y="6282000"/>
            <a:ext cx="7585200" cy="295200"/>
          </a:xfrm>
          <a:prstGeom prst="rect">
            <a:avLst/>
          </a:prstGeom>
          <a:noFill/>
        </p:spPr>
        <p:txBody>
          <a:bodyPr wrap="square" anchor="ctr" lIns="36000" rIns="36000" tIns="28800" bIns="288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1666A8"/>
                </a:solidFill>
                <a:latin typeface="Times New Roman"/>
              </a:rPr>
              <a:t>theme: managing a website outage before a product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