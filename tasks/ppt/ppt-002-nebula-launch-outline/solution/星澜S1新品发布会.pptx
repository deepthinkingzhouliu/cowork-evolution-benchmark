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charts/chart1.xml" ContentType="application/vnd.openxmlformats-officedocument.drawingml.chart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</p:sldIdLst>
  <p:sldSz cx="12191999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/Relationships>
</file>

<file path=ppt/charts/_rels/chart1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1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autoTitleDeleted val="0"/>
    <c:plotArea>
      <c:barChart>
        <c:barDir val="col"/>
        <c:grouping val="clustered"/>
        <c:ser>
          <c:idx val="0"/>
          <c:order val="0"/>
          <c:tx>
            <c:strRef>
              <c:f>Sheet1!$B$1</c:f>
              <c:strCache>
                <c:ptCount val="1"/>
                <c:pt idx="0">
                  <c:v>误报率</c:v>
                </c:pt>
              </c:strCache>
            </c:strRef>
          </c:tx>
          <c:spPr>
            <a:solidFill>
              <a:srgbClr val="6C5CE7"/>
            </a:solidFill>
          </c:spPr>
          <c:cat>
            <c:strRef>
              <c:f>Sheet1!$A$2:$A$4</c:f>
              <c:strCache>
                <c:ptCount val="3"/>
                <c:pt idx="0">
                  <c:v>上线前</c:v>
                </c:pt>
                <c:pt idx="1">
                  <c:v>第2周</c:v>
                </c:pt>
                <c:pt idx="2">
                  <c:v>第6周</c:v>
                </c:pt>
              </c:strCache>
            </c:strRef>
          </c:cat>
          <c:val>
            <c:numRef>
              <c:f>Sheet1!$B$2:$B$4</c:f>
              <c:numCache>
                <c:formatCode>General</c:formatCode>
                <c:ptCount val="3"/>
                <c:pt idx="0">
                  <c:v>8.2</c:v>
                </c:pt>
                <c:pt idx="1">
                  <c:v>4.1</c:v>
                </c:pt>
                <c:pt idx="2">
                  <c:v>2.6</c:v>
                </c:pt>
              </c:numCache>
            </c:numRef>
          </c:val>
        </c:ser>
        <c:axId val="-2068027336"/>
        <c:axId val="-2113994440"/>
      </c:barChart>
      <c:catAx>
        <c:axId val="-2068027336"/>
        <c:scaling>
          <c:orientation val="minMax"/>
        </c:scaling>
        <c:delete val="0"/>
        <c:axPos val="b"/>
        <c:majorTickMark val="out"/>
        <c:minorTickMark val="none"/>
        <c:tickLblPos val="nextTo"/>
        <c:txPr>
          <a:bodyPr/>
          <a:lstStyle/>
          <a:p>
            <a:pPr>
              <a:defRPr sz="1100"/>
            </a:pPr>
          </a:p>
        </c:txPr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/>
        <c:delete val="0"/>
        <c:axPos val="l"/>
        <c:majorGridlines/>
        <c:majorTickMark val="out"/>
        <c:minorTickMark val="none"/>
        <c:tickLblPos val="nextTo"/>
        <c:txPr>
          <a:bodyPr/>
          <a:lstStyle/>
          <a:p>
            <a:pPr>
              <a:defRPr sz="1000"/>
            </a:pPr>
          </a:p>
        </c:txPr>
        <c:crossAx val="-2068027336"/>
        <c:crosses val="autoZero"/>
      </c:valAx>
    </c:plotArea>
    <c:dispBlanksAs val="gap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chart" Target="../charts/chart1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3223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201168" cy="6858000"/>
          </a:xfrm>
          <a:prstGeom prst="rect">
            <a:avLst/>
          </a:prstGeom>
          <a:solidFill>
            <a:srgbClr val="6C5CE7"/>
          </a:solidFill>
          <a:ln>
            <a:solidFill>
              <a:srgbClr val="6C5CE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731520" y="713232"/>
            <a:ext cx="1143000" cy="118872"/>
          </a:xfrm>
          <a:prstGeom prst="rect">
            <a:avLst/>
          </a:prstGeom>
          <a:solidFill>
            <a:srgbClr val="6C5CE7"/>
          </a:solidFill>
          <a:ln>
            <a:solidFill>
              <a:srgbClr val="6C5CE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" name="Picture 3" descr="星澜S1产品示意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955279" y="685800"/>
            <a:ext cx="3566160" cy="4480560"/>
          </a:xfrm>
          <a:prstGeom prst="rect">
            <a:avLst/>
          </a:prstGeom>
        </p:spPr>
      </p:pic>
      <p:sp>
        <p:nvSpPr>
          <p:cNvPr id="5" name="Rectangle 4"/>
          <p:cNvSpPr/>
          <p:nvPr/>
        </p:nvSpPr>
        <p:spPr>
          <a:xfrm>
            <a:off x="7955279" y="5257800"/>
            <a:ext cx="3566160" cy="109728"/>
          </a:xfrm>
          <a:prstGeom prst="rect">
            <a:avLst/>
          </a:prstGeom>
          <a:solidFill>
            <a:srgbClr val="6C5CE7"/>
          </a:solidFill>
          <a:ln>
            <a:solidFill>
              <a:srgbClr val="6C5CE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49808" y="1078992"/>
            <a:ext cx="6583680" cy="2011680"/>
          </a:xfrm>
          <a:prstGeom prst="rect">
            <a:avLst/>
          </a:prstGeom>
          <a:noFill/>
        </p:spPr>
        <p:txBody>
          <a:bodyPr wrap="square" lIns="54864" rIns="54864" tIns="27432" bIns="27432" anchor="ctr">
            <a:spAutoFit/>
          </a:bodyPr>
          <a:lstStyle/>
          <a:p>
            <a:pPr algn="l"/>
            <a:r>
              <a:rPr sz="3000" b="1">
                <a:solidFill>
                  <a:srgbClr val="FFFFFF"/>
                </a:solidFill>
                <a:latin typeface="Noto Sans CJK SC"/>
              </a:rPr>
              <a:t>星澜 S1｜让巡检从人找问题变成问题找人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49808" y="3246120"/>
            <a:ext cx="6675120" cy="685800"/>
          </a:xfrm>
          <a:prstGeom prst="rect">
            <a:avLst/>
          </a:prstGeom>
          <a:noFill/>
        </p:spPr>
        <p:txBody>
          <a:bodyPr wrap="square" lIns="54864" rIns="54864" tIns="27432" bIns="27432" anchor="ctr">
            <a:spAutoFit/>
          </a:bodyPr>
          <a:lstStyle/>
          <a:p>
            <a:pPr algn="l"/>
            <a:r>
              <a:rPr sz="1700" b="0">
                <a:solidFill>
                  <a:srgbClr val="CBD5E1"/>
                </a:solidFill>
                <a:latin typeface="Noto Sans CJK SC"/>
              </a:rPr>
              <a:t>工业设备智能巡检终端 · 2026秋季发布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49808" y="4754880"/>
            <a:ext cx="2926080" cy="530352"/>
          </a:xfrm>
          <a:prstGeom prst="roundRect">
            <a:avLst/>
          </a:prstGeom>
          <a:solidFill>
            <a:srgbClr val="6C5CE7"/>
          </a:solidFill>
          <a:ln>
            <a:solidFill>
              <a:srgbClr val="6C5CE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77824" y="4828032"/>
            <a:ext cx="2670048" cy="365760"/>
          </a:xfrm>
          <a:prstGeom prst="rect">
            <a:avLst/>
          </a:prstGeom>
          <a:noFill/>
        </p:spPr>
        <p:txBody>
          <a:bodyPr wrap="square" lIns="54864" rIns="54864" tIns="27432" bIns="27432" anchor="ctr">
            <a:spAutoFit/>
          </a:bodyPr>
          <a:lstStyle/>
          <a:p>
            <a:pPr algn="ctr"/>
            <a:r>
              <a:rPr sz="1400" b="1">
                <a:solidFill>
                  <a:srgbClr val="FFFFFF"/>
                </a:solidFill>
                <a:latin typeface="Noto Sans CJK SC"/>
              </a:rPr>
              <a:t>2026.10.15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58368" y="6473952"/>
            <a:ext cx="7955279" cy="219456"/>
          </a:xfrm>
          <a:prstGeom prst="rect">
            <a:avLst/>
          </a:prstGeom>
          <a:noFill/>
        </p:spPr>
        <p:txBody>
          <a:bodyPr wrap="square" lIns="54864" rIns="54864" tIns="27432" bIns="27432" anchor="ctr">
            <a:spAutoFit/>
          </a:bodyPr>
          <a:lstStyle/>
          <a:p>
            <a:pPr algn="l"/>
            <a:r>
              <a:rPr sz="800" b="0">
                <a:solidFill>
                  <a:srgbClr val="A9B7C6"/>
                </a:solidFill>
                <a:latin typeface="Noto Sans CJK SC"/>
              </a:rPr>
              <a:t>星澜科技（合成）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927080" y="6446520"/>
            <a:ext cx="548640" cy="228600"/>
          </a:xfrm>
          <a:prstGeom prst="rect">
            <a:avLst/>
          </a:prstGeom>
          <a:noFill/>
        </p:spPr>
        <p:txBody>
          <a:bodyPr wrap="square" lIns="54864" rIns="54864" tIns="27432" bIns="27432" anchor="ctr">
            <a:spAutoFit/>
          </a:bodyPr>
          <a:lstStyle/>
          <a:p>
            <a:pPr algn="r"/>
            <a:r>
              <a:rPr sz="900" b="1">
                <a:solidFill>
                  <a:srgbClr val="6C5CE7"/>
                </a:solidFill>
                <a:latin typeface="Noto Sans CJK SC"/>
              </a:rPr>
              <a:t>01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3F6F9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6C5CE7"/>
          </a:solidFill>
          <a:ln>
            <a:solidFill>
              <a:srgbClr val="6C5CE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58368" y="347472"/>
            <a:ext cx="10881360" cy="749808"/>
          </a:xfrm>
          <a:prstGeom prst="rect">
            <a:avLst/>
          </a:prstGeom>
          <a:noFill/>
        </p:spPr>
        <p:txBody>
          <a:bodyPr wrap="square" lIns="54864" rIns="54864" tIns="27432" bIns="27432" anchor="ctr">
            <a:spAutoFit/>
          </a:bodyPr>
          <a:lstStyle/>
          <a:p>
            <a:pPr algn="l"/>
            <a:r>
              <a:rPr sz="2500" b="1">
                <a:solidFill>
                  <a:srgbClr val="132238"/>
                </a:solidFill>
                <a:latin typeface="Noto Sans CJK SC"/>
              </a:rPr>
              <a:t>45 分钟的人工巡检，是一笔被忽略的停机风险</a:t>
            </a:r>
          </a:p>
        </p:txBody>
      </p:sp>
      <p:sp>
        <p:nvSpPr>
          <p:cNvPr id="4" name="Rectangle 3"/>
          <p:cNvSpPr/>
          <p:nvPr/>
        </p:nvSpPr>
        <p:spPr>
          <a:xfrm>
            <a:off x="658368" y="1143000"/>
            <a:ext cx="960120" cy="82296"/>
          </a:xfrm>
          <a:prstGeom prst="rect">
            <a:avLst/>
          </a:prstGeom>
          <a:solidFill>
            <a:srgbClr val="6C5CE7"/>
          </a:solidFill>
          <a:ln>
            <a:solidFill>
              <a:srgbClr val="6C5CE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749808" y="1645920"/>
            <a:ext cx="502920" cy="502920"/>
          </a:xfrm>
          <a:prstGeom prst="roundRect">
            <a:avLst/>
          </a:prstGeom>
          <a:solidFill>
            <a:srgbClr val="6C5CE7"/>
          </a:solidFill>
          <a:ln>
            <a:solidFill>
              <a:srgbClr val="6C5CE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86384" y="1691640"/>
            <a:ext cx="429768" cy="320040"/>
          </a:xfrm>
          <a:prstGeom prst="rect">
            <a:avLst/>
          </a:prstGeom>
          <a:noFill/>
        </p:spPr>
        <p:txBody>
          <a:bodyPr wrap="square" lIns="54864" rIns="54864" tIns="27432" bIns="27432" anchor="ctr">
            <a:spAutoFit/>
          </a:bodyPr>
          <a:lstStyle/>
          <a:p>
            <a:pPr algn="ctr"/>
            <a:r>
              <a:rPr sz="1200" b="1">
                <a:solidFill>
                  <a:srgbClr val="FFFFFF"/>
                </a:solidFill>
                <a:latin typeface="Noto Sans CJK SC"/>
              </a:rPr>
              <a:t>01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481328" y="1545336"/>
            <a:ext cx="9509760" cy="731520"/>
          </a:xfrm>
          <a:prstGeom prst="rect">
            <a:avLst/>
          </a:prstGeom>
          <a:noFill/>
        </p:spPr>
        <p:txBody>
          <a:bodyPr wrap="square" lIns="54864" rIns="54864" tIns="27432" bIns="27432" anchor="ctr">
            <a:spAutoFit/>
          </a:bodyPr>
          <a:lstStyle/>
          <a:p>
            <a:pPr algn="l"/>
            <a:r>
              <a:rPr sz="1800" b="0">
                <a:solidFill>
                  <a:srgbClr val="243447"/>
                </a:solidFill>
                <a:latin typeface="Noto Sans CJK SC"/>
              </a:rPr>
              <a:t>纸面记录难以追溯，异常通常延迟上报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49808" y="2670048"/>
            <a:ext cx="502920" cy="502920"/>
          </a:xfrm>
          <a:prstGeom prst="roundRect">
            <a:avLst/>
          </a:prstGeom>
          <a:solidFill>
            <a:srgbClr val="6C5CE7"/>
          </a:solidFill>
          <a:ln>
            <a:solidFill>
              <a:srgbClr val="6C5CE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86384" y="2715768"/>
            <a:ext cx="429768" cy="320040"/>
          </a:xfrm>
          <a:prstGeom prst="rect">
            <a:avLst/>
          </a:prstGeom>
          <a:noFill/>
        </p:spPr>
        <p:txBody>
          <a:bodyPr wrap="square" lIns="54864" rIns="54864" tIns="27432" bIns="27432" anchor="ctr">
            <a:spAutoFit/>
          </a:bodyPr>
          <a:lstStyle/>
          <a:p>
            <a:pPr algn="ctr"/>
            <a:r>
              <a:rPr sz="1200" b="1">
                <a:solidFill>
                  <a:srgbClr val="FFFFFF"/>
                </a:solidFill>
                <a:latin typeface="Noto Sans CJK SC"/>
              </a:rPr>
              <a:t>02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481328" y="2569464"/>
            <a:ext cx="9509760" cy="731520"/>
          </a:xfrm>
          <a:prstGeom prst="rect">
            <a:avLst/>
          </a:prstGeom>
          <a:noFill/>
        </p:spPr>
        <p:txBody>
          <a:bodyPr wrap="square" lIns="54864" rIns="54864" tIns="27432" bIns="27432" anchor="ctr">
            <a:spAutoFit/>
          </a:bodyPr>
          <a:lstStyle/>
          <a:p>
            <a:pPr algn="l"/>
            <a:r>
              <a:rPr sz="1800" b="0">
                <a:solidFill>
                  <a:srgbClr val="243447"/>
                </a:solidFill>
                <a:latin typeface="Noto Sans CJK SC"/>
              </a:rPr>
              <a:t>高危点位依赖人工靠近，检查频率受限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749808" y="3694176"/>
            <a:ext cx="502920" cy="502920"/>
          </a:xfrm>
          <a:prstGeom prst="roundRect">
            <a:avLst/>
          </a:prstGeom>
          <a:solidFill>
            <a:srgbClr val="6C5CE7"/>
          </a:solidFill>
          <a:ln>
            <a:solidFill>
              <a:srgbClr val="6C5CE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786384" y="3739896"/>
            <a:ext cx="429768" cy="320040"/>
          </a:xfrm>
          <a:prstGeom prst="rect">
            <a:avLst/>
          </a:prstGeom>
          <a:noFill/>
        </p:spPr>
        <p:txBody>
          <a:bodyPr wrap="square" lIns="54864" rIns="54864" tIns="27432" bIns="27432" anchor="ctr">
            <a:spAutoFit/>
          </a:bodyPr>
          <a:lstStyle/>
          <a:p>
            <a:pPr algn="ctr"/>
            <a:r>
              <a:rPr sz="1200" b="1">
                <a:solidFill>
                  <a:srgbClr val="FFFFFF"/>
                </a:solidFill>
                <a:latin typeface="Noto Sans CJK SC"/>
              </a:rPr>
              <a:t>03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481328" y="3593592"/>
            <a:ext cx="9509760" cy="731520"/>
          </a:xfrm>
          <a:prstGeom prst="rect">
            <a:avLst/>
          </a:prstGeom>
          <a:noFill/>
        </p:spPr>
        <p:txBody>
          <a:bodyPr wrap="square" lIns="54864" rIns="54864" tIns="27432" bIns="27432" anchor="ctr">
            <a:spAutoFit/>
          </a:bodyPr>
          <a:lstStyle/>
          <a:p>
            <a:pPr algn="l"/>
            <a:r>
              <a:rPr sz="1800" b="0">
                <a:solidFill>
                  <a:srgbClr val="243447"/>
                </a:solidFill>
                <a:latin typeface="Noto Sans CJK SC"/>
              </a:rPr>
              <a:t>多厂区口径不一，管理者无法及时比较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2011680" y="5623560"/>
            <a:ext cx="8138160" cy="530352"/>
          </a:xfrm>
          <a:prstGeom prst="roundRect">
            <a:avLst/>
          </a:prstGeom>
          <a:solidFill>
            <a:srgbClr val="6C5CE7"/>
          </a:solidFill>
          <a:ln>
            <a:solidFill>
              <a:srgbClr val="6C5CE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2194560" y="5696712"/>
            <a:ext cx="7772400" cy="347472"/>
          </a:xfrm>
          <a:prstGeom prst="rect">
            <a:avLst/>
          </a:prstGeom>
          <a:noFill/>
        </p:spPr>
        <p:txBody>
          <a:bodyPr wrap="square" lIns="54864" rIns="54864" tIns="27432" bIns="27432" anchor="ctr">
            <a:spAutoFit/>
          </a:bodyPr>
          <a:lstStyle/>
          <a:p>
            <a:pPr algn="ctr"/>
            <a:r>
              <a:rPr sz="1400" b="1">
                <a:solidFill>
                  <a:srgbClr val="FFFFFF"/>
                </a:solidFill>
                <a:latin typeface="Noto Sans CJK SC"/>
              </a:rPr>
              <a:t>今天的核心问题：如何在不停线的前提下更早发现异常？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58368" y="6473952"/>
            <a:ext cx="7955279" cy="219456"/>
          </a:xfrm>
          <a:prstGeom prst="rect">
            <a:avLst/>
          </a:prstGeom>
          <a:noFill/>
        </p:spPr>
        <p:txBody>
          <a:bodyPr wrap="square" lIns="54864" rIns="54864" tIns="27432" bIns="27432" anchor="ctr">
            <a:spAutoFit/>
          </a:bodyPr>
          <a:lstStyle/>
          <a:p>
            <a:pPr algn="l"/>
            <a:r>
              <a:rPr sz="800" b="0">
                <a:solidFill>
                  <a:srgbClr val="7F8C8D"/>
                </a:solidFill>
                <a:latin typeface="Noto Sans CJK SC"/>
              </a:rPr>
              <a:t>星澜科技（合成）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0927080" y="6446520"/>
            <a:ext cx="548640" cy="228600"/>
          </a:xfrm>
          <a:prstGeom prst="rect">
            <a:avLst/>
          </a:prstGeom>
          <a:noFill/>
        </p:spPr>
        <p:txBody>
          <a:bodyPr wrap="square" lIns="54864" rIns="54864" tIns="27432" bIns="27432" anchor="ctr">
            <a:spAutoFit/>
          </a:bodyPr>
          <a:lstStyle/>
          <a:p>
            <a:pPr algn="r"/>
            <a:r>
              <a:rPr sz="900" b="1">
                <a:solidFill>
                  <a:srgbClr val="6C5CE7"/>
                </a:solidFill>
                <a:latin typeface="Noto Sans CJK SC"/>
              </a:rPr>
              <a:t>02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6C5CE7"/>
          </a:solidFill>
          <a:ln>
            <a:solidFill>
              <a:srgbClr val="6C5CE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58368" y="347472"/>
            <a:ext cx="10881360" cy="749808"/>
          </a:xfrm>
          <a:prstGeom prst="rect">
            <a:avLst/>
          </a:prstGeom>
          <a:noFill/>
        </p:spPr>
        <p:txBody>
          <a:bodyPr wrap="square" lIns="54864" rIns="54864" tIns="27432" bIns="27432" anchor="ctr">
            <a:spAutoFit/>
          </a:bodyPr>
          <a:lstStyle/>
          <a:p>
            <a:pPr algn="l"/>
            <a:r>
              <a:rPr sz="2500" b="1">
                <a:solidFill>
                  <a:srgbClr val="132238"/>
                </a:solidFill>
                <a:latin typeface="Noto Sans CJK SC"/>
              </a:rPr>
              <a:t>零接触巡检：12 分钟完成单线部署</a:t>
            </a:r>
          </a:p>
        </p:txBody>
      </p:sp>
      <p:sp>
        <p:nvSpPr>
          <p:cNvPr id="4" name="Rectangle 3"/>
          <p:cNvSpPr/>
          <p:nvPr/>
        </p:nvSpPr>
        <p:spPr>
          <a:xfrm>
            <a:off x="658368" y="1143000"/>
            <a:ext cx="960120" cy="82296"/>
          </a:xfrm>
          <a:prstGeom prst="rect">
            <a:avLst/>
          </a:prstGeom>
          <a:solidFill>
            <a:srgbClr val="6C5CE7"/>
          </a:solidFill>
          <a:ln>
            <a:solidFill>
              <a:srgbClr val="6C5CE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658368" y="1572768"/>
            <a:ext cx="3401568" cy="1874519"/>
          </a:xfrm>
          <a:prstGeom prst="roundRect">
            <a:avLst/>
          </a:prstGeom>
          <a:solidFill>
            <a:srgbClr val="FFFFFF"/>
          </a:solidFill>
          <a:ln>
            <a:solidFill>
              <a:srgbClr val="DCE4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22959" y="1847088"/>
            <a:ext cx="3072384" cy="685800"/>
          </a:xfrm>
          <a:prstGeom prst="rect">
            <a:avLst/>
          </a:prstGeom>
          <a:noFill/>
        </p:spPr>
        <p:txBody>
          <a:bodyPr wrap="square" lIns="54864" rIns="54864" tIns="27432" bIns="27432" anchor="ctr">
            <a:spAutoFit/>
          </a:bodyPr>
          <a:lstStyle/>
          <a:p>
            <a:pPr algn="ctr"/>
            <a:r>
              <a:rPr sz="2700" b="1">
                <a:solidFill>
                  <a:srgbClr val="6C5CE7"/>
                </a:solidFill>
                <a:latin typeface="Noto Sans CJK SC"/>
              </a:rPr>
              <a:t>12分钟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22959" y="2615184"/>
            <a:ext cx="3072384" cy="411480"/>
          </a:xfrm>
          <a:prstGeom prst="rect">
            <a:avLst/>
          </a:prstGeom>
          <a:noFill/>
        </p:spPr>
        <p:txBody>
          <a:bodyPr wrap="square" lIns="54864" rIns="54864" tIns="27432" bIns="27432" anchor="ctr">
            <a:spAutoFit/>
          </a:bodyPr>
          <a:lstStyle/>
          <a:p>
            <a:pPr algn="ctr"/>
            <a:r>
              <a:rPr sz="1400" b="0">
                <a:solidFill>
                  <a:srgbClr val="5E6C84"/>
                </a:solidFill>
                <a:latin typeface="Noto Sans CJK SC"/>
              </a:rPr>
              <a:t>单线部署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379976" y="1572768"/>
            <a:ext cx="3401568" cy="1874519"/>
          </a:xfrm>
          <a:prstGeom prst="roundRect">
            <a:avLst/>
          </a:prstGeom>
          <a:solidFill>
            <a:srgbClr val="FFFFFF"/>
          </a:solidFill>
          <a:ln>
            <a:solidFill>
              <a:srgbClr val="DCE4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4544568" y="1847088"/>
            <a:ext cx="3072384" cy="685800"/>
          </a:xfrm>
          <a:prstGeom prst="rect">
            <a:avLst/>
          </a:prstGeom>
          <a:noFill/>
        </p:spPr>
        <p:txBody>
          <a:bodyPr wrap="square" lIns="54864" rIns="54864" tIns="27432" bIns="27432" anchor="ctr">
            <a:spAutoFit/>
          </a:bodyPr>
          <a:lstStyle/>
          <a:p>
            <a:pPr algn="ctr"/>
            <a:r>
              <a:rPr sz="2700" b="1">
                <a:solidFill>
                  <a:srgbClr val="6C5CE7"/>
                </a:solidFill>
                <a:latin typeface="Noto Sans CJK SC"/>
              </a:rPr>
              <a:t>99.95%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44568" y="2615184"/>
            <a:ext cx="3072384" cy="411480"/>
          </a:xfrm>
          <a:prstGeom prst="rect">
            <a:avLst/>
          </a:prstGeom>
          <a:noFill/>
        </p:spPr>
        <p:txBody>
          <a:bodyPr wrap="square" lIns="54864" rIns="54864" tIns="27432" bIns="27432" anchor="ctr">
            <a:spAutoFit/>
          </a:bodyPr>
          <a:lstStyle/>
          <a:p>
            <a:pPr algn="ctr"/>
            <a:r>
              <a:rPr sz="1400" b="0">
                <a:solidFill>
                  <a:srgbClr val="5E6C84"/>
                </a:solidFill>
                <a:latin typeface="Noto Sans CJK SC"/>
              </a:rPr>
              <a:t>平台可用性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8101584" y="1572768"/>
            <a:ext cx="3401568" cy="1874519"/>
          </a:xfrm>
          <a:prstGeom prst="roundRect">
            <a:avLst/>
          </a:prstGeom>
          <a:solidFill>
            <a:srgbClr val="FFFFFF"/>
          </a:solidFill>
          <a:ln>
            <a:solidFill>
              <a:srgbClr val="DCE4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266176" y="1847088"/>
            <a:ext cx="3072384" cy="685800"/>
          </a:xfrm>
          <a:prstGeom prst="rect">
            <a:avLst/>
          </a:prstGeom>
          <a:noFill/>
        </p:spPr>
        <p:txBody>
          <a:bodyPr wrap="square" lIns="54864" rIns="54864" tIns="27432" bIns="27432" anchor="ctr">
            <a:spAutoFit/>
          </a:bodyPr>
          <a:lstStyle/>
          <a:p>
            <a:pPr algn="ctr"/>
            <a:r>
              <a:rPr sz="2700" b="1">
                <a:solidFill>
                  <a:srgbClr val="6C5CE7"/>
                </a:solidFill>
                <a:latin typeface="Noto Sans CJK SC"/>
              </a:rPr>
              <a:t>2.6%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266176" y="2615184"/>
            <a:ext cx="3072384" cy="411480"/>
          </a:xfrm>
          <a:prstGeom prst="rect">
            <a:avLst/>
          </a:prstGeom>
          <a:noFill/>
        </p:spPr>
        <p:txBody>
          <a:bodyPr wrap="square" lIns="54864" rIns="54864" tIns="27432" bIns="27432" anchor="ctr">
            <a:spAutoFit/>
          </a:bodyPr>
          <a:lstStyle/>
          <a:p>
            <a:pPr algn="ctr"/>
            <a:r>
              <a:rPr sz="1400" b="0">
                <a:solidFill>
                  <a:srgbClr val="5E6C84"/>
                </a:solidFill>
                <a:latin typeface="Noto Sans CJK SC"/>
              </a:rPr>
              <a:t>试点误报率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94944" y="4023360"/>
            <a:ext cx="164592" cy="164592"/>
          </a:xfrm>
          <a:prstGeom prst="roundRect">
            <a:avLst/>
          </a:prstGeom>
          <a:solidFill>
            <a:srgbClr val="6C5CE7"/>
          </a:solidFill>
          <a:ln>
            <a:solidFill>
              <a:srgbClr val="6C5CE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960120" y="3858768"/>
            <a:ext cx="10424160" cy="502920"/>
          </a:xfrm>
          <a:prstGeom prst="rect">
            <a:avLst/>
          </a:prstGeom>
          <a:noFill/>
        </p:spPr>
        <p:txBody>
          <a:bodyPr wrap="square" lIns="54864" rIns="54864" tIns="27432" bIns="27432" anchor="ctr">
            <a:spAutoFit/>
          </a:bodyPr>
          <a:lstStyle/>
          <a:p>
            <a:pPr algn="l"/>
            <a:r>
              <a:rPr sz="1600" b="0">
                <a:solidFill>
                  <a:srgbClr val="243447"/>
                </a:solidFill>
                <a:latin typeface="Noto Sans CJK SC"/>
              </a:rPr>
              <a:t>无需改造现有PLC与传感器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94944" y="4590288"/>
            <a:ext cx="164592" cy="164592"/>
          </a:xfrm>
          <a:prstGeom prst="roundRect">
            <a:avLst/>
          </a:prstGeom>
          <a:solidFill>
            <a:srgbClr val="6C5CE7"/>
          </a:solidFill>
          <a:ln>
            <a:solidFill>
              <a:srgbClr val="6C5CE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960120" y="4425696"/>
            <a:ext cx="10424160" cy="502920"/>
          </a:xfrm>
          <a:prstGeom prst="rect">
            <a:avLst/>
          </a:prstGeom>
          <a:noFill/>
        </p:spPr>
        <p:txBody>
          <a:bodyPr wrap="square" lIns="54864" rIns="54864" tIns="27432" bIns="27432" anchor="ctr">
            <a:spAutoFit/>
          </a:bodyPr>
          <a:lstStyle/>
          <a:p>
            <a:pPr algn="l"/>
            <a:r>
              <a:rPr sz="1600" b="0">
                <a:solidFill>
                  <a:srgbClr val="243447"/>
                </a:solidFill>
                <a:latin typeface="Noto Sans CJK SC"/>
              </a:rPr>
              <a:t>本地分析 + 异常摘要上传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58368" y="6473952"/>
            <a:ext cx="7955279" cy="219456"/>
          </a:xfrm>
          <a:prstGeom prst="rect">
            <a:avLst/>
          </a:prstGeom>
          <a:noFill/>
        </p:spPr>
        <p:txBody>
          <a:bodyPr wrap="square" lIns="54864" rIns="54864" tIns="27432" bIns="27432" anchor="ctr">
            <a:spAutoFit/>
          </a:bodyPr>
          <a:lstStyle/>
          <a:p>
            <a:pPr algn="l"/>
            <a:r>
              <a:rPr sz="800" b="0">
                <a:solidFill>
                  <a:srgbClr val="7F8C8D"/>
                </a:solidFill>
                <a:latin typeface="Noto Sans CJK SC"/>
              </a:rPr>
              <a:t>星澜科技（合成）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0927080" y="6446520"/>
            <a:ext cx="548640" cy="228600"/>
          </a:xfrm>
          <a:prstGeom prst="rect">
            <a:avLst/>
          </a:prstGeom>
          <a:noFill/>
        </p:spPr>
        <p:txBody>
          <a:bodyPr wrap="square" lIns="54864" rIns="54864" tIns="27432" bIns="27432" anchor="ctr">
            <a:spAutoFit/>
          </a:bodyPr>
          <a:lstStyle/>
          <a:p>
            <a:pPr algn="r"/>
            <a:r>
              <a:rPr sz="900" b="1">
                <a:solidFill>
                  <a:srgbClr val="6C5CE7"/>
                </a:solidFill>
                <a:latin typeface="Noto Sans CJK SC"/>
              </a:rPr>
              <a:t>03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3F6F9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6C5CE7"/>
          </a:solidFill>
          <a:ln>
            <a:solidFill>
              <a:srgbClr val="6C5CE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58368" y="347472"/>
            <a:ext cx="10881360" cy="749808"/>
          </a:xfrm>
          <a:prstGeom prst="rect">
            <a:avLst/>
          </a:prstGeom>
          <a:noFill/>
        </p:spPr>
        <p:txBody>
          <a:bodyPr wrap="square" lIns="54864" rIns="54864" tIns="27432" bIns="27432" anchor="ctr">
            <a:spAutoFit/>
          </a:bodyPr>
          <a:lstStyle/>
          <a:p>
            <a:pPr algn="l"/>
            <a:r>
              <a:rPr sz="2500" b="1">
                <a:solidFill>
                  <a:srgbClr val="132238"/>
                </a:solidFill>
                <a:latin typeface="Noto Sans CJK SC"/>
              </a:rPr>
              <a:t>从采集到闭环，异常在一个工作台完成</a:t>
            </a:r>
          </a:p>
        </p:txBody>
      </p:sp>
      <p:sp>
        <p:nvSpPr>
          <p:cNvPr id="4" name="Rectangle 3"/>
          <p:cNvSpPr/>
          <p:nvPr/>
        </p:nvSpPr>
        <p:spPr>
          <a:xfrm>
            <a:off x="658368" y="1143000"/>
            <a:ext cx="960120" cy="82296"/>
          </a:xfrm>
          <a:prstGeom prst="rect">
            <a:avLst/>
          </a:prstGeom>
          <a:solidFill>
            <a:srgbClr val="6C5CE7"/>
          </a:solidFill>
          <a:ln>
            <a:solidFill>
              <a:srgbClr val="6C5CE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1051560" y="3429000"/>
            <a:ext cx="10012680" cy="73152"/>
          </a:xfrm>
          <a:prstGeom prst="rect">
            <a:avLst/>
          </a:prstGeom>
          <a:solidFill>
            <a:srgbClr val="6C5CE7"/>
          </a:solidFill>
          <a:ln>
            <a:solidFill>
              <a:srgbClr val="6C5CE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1051560" y="3282696"/>
            <a:ext cx="365760" cy="365760"/>
          </a:xfrm>
          <a:prstGeom prst="roundRect">
            <a:avLst/>
          </a:prstGeom>
          <a:solidFill>
            <a:srgbClr val="6C5CE7"/>
          </a:solidFill>
          <a:ln>
            <a:solidFill>
              <a:srgbClr val="6C5CE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11480" y="1828800"/>
            <a:ext cx="1783080" cy="658368"/>
          </a:xfrm>
          <a:prstGeom prst="rect">
            <a:avLst/>
          </a:prstGeom>
          <a:noFill/>
        </p:spPr>
        <p:txBody>
          <a:bodyPr wrap="square" lIns="54864" rIns="54864" tIns="27432" bIns="27432" anchor="ctr">
            <a:spAutoFit/>
          </a:bodyPr>
          <a:lstStyle/>
          <a:p>
            <a:pPr algn="ctr"/>
            <a:r>
              <a:rPr sz="1600" b="1">
                <a:solidFill>
                  <a:srgbClr val="6C5CE7"/>
                </a:solidFill>
                <a:latin typeface="Noto Sans CJK SC"/>
              </a:rPr>
              <a:t>01 感知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20040" y="3931920"/>
            <a:ext cx="2148840" cy="1051560"/>
          </a:xfrm>
          <a:prstGeom prst="rect">
            <a:avLst/>
          </a:prstGeom>
          <a:noFill/>
        </p:spPr>
        <p:txBody>
          <a:bodyPr wrap="square" lIns="54864" rIns="54864" tIns="27432" bIns="27432" anchor="ctr">
            <a:spAutoFit/>
          </a:bodyPr>
          <a:lstStyle/>
          <a:p>
            <a:pPr algn="ctr"/>
            <a:r>
              <a:rPr sz="1400" b="0">
                <a:solidFill>
                  <a:srgbClr val="243447"/>
                </a:solidFill>
                <a:latin typeface="Noto Sans CJK SC"/>
              </a:rPr>
              <a:t>非接触采集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130040" y="3282696"/>
            <a:ext cx="365760" cy="365760"/>
          </a:xfrm>
          <a:prstGeom prst="roundRect">
            <a:avLst/>
          </a:prstGeom>
          <a:solidFill>
            <a:srgbClr val="6C5CE7"/>
          </a:solidFill>
          <a:ln>
            <a:solidFill>
              <a:srgbClr val="6C5CE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3416807" y="1828800"/>
            <a:ext cx="1783080" cy="658368"/>
          </a:xfrm>
          <a:prstGeom prst="rect">
            <a:avLst/>
          </a:prstGeom>
          <a:noFill/>
        </p:spPr>
        <p:txBody>
          <a:bodyPr wrap="square" lIns="54864" rIns="54864" tIns="27432" bIns="27432" anchor="ctr">
            <a:spAutoFit/>
          </a:bodyPr>
          <a:lstStyle/>
          <a:p>
            <a:pPr algn="ctr"/>
            <a:r>
              <a:rPr sz="1600" b="1">
                <a:solidFill>
                  <a:srgbClr val="6C5CE7"/>
                </a:solidFill>
                <a:latin typeface="Noto Sans CJK SC"/>
              </a:rPr>
              <a:t>02 判断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215640" y="3931920"/>
            <a:ext cx="2148840" cy="1051560"/>
          </a:xfrm>
          <a:prstGeom prst="rect">
            <a:avLst/>
          </a:prstGeom>
          <a:noFill/>
        </p:spPr>
        <p:txBody>
          <a:bodyPr wrap="square" lIns="54864" rIns="54864" tIns="27432" bIns="27432" anchor="ctr">
            <a:spAutoFit/>
          </a:bodyPr>
          <a:lstStyle/>
          <a:p>
            <a:pPr algn="ctr"/>
            <a:r>
              <a:rPr sz="1400" b="0">
                <a:solidFill>
                  <a:srgbClr val="243447"/>
                </a:solidFill>
                <a:latin typeface="Noto Sans CJK SC"/>
              </a:rPr>
              <a:t>边缘模型识别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7208520" y="3282696"/>
            <a:ext cx="365760" cy="365760"/>
          </a:xfrm>
          <a:prstGeom prst="roundRect">
            <a:avLst/>
          </a:prstGeom>
          <a:solidFill>
            <a:srgbClr val="6C5CE7"/>
          </a:solidFill>
          <a:ln>
            <a:solidFill>
              <a:srgbClr val="6C5CE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495287" y="1828800"/>
            <a:ext cx="1783080" cy="658368"/>
          </a:xfrm>
          <a:prstGeom prst="rect">
            <a:avLst/>
          </a:prstGeom>
          <a:noFill/>
        </p:spPr>
        <p:txBody>
          <a:bodyPr wrap="square" lIns="54864" rIns="54864" tIns="27432" bIns="27432" anchor="ctr">
            <a:spAutoFit/>
          </a:bodyPr>
          <a:lstStyle/>
          <a:p>
            <a:pPr algn="ctr"/>
            <a:r>
              <a:rPr sz="1600" b="1">
                <a:solidFill>
                  <a:srgbClr val="6C5CE7"/>
                </a:solidFill>
                <a:latin typeface="Noto Sans CJK SC"/>
              </a:rPr>
              <a:t>03 协同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294120" y="3931920"/>
            <a:ext cx="2148840" cy="1051560"/>
          </a:xfrm>
          <a:prstGeom prst="rect">
            <a:avLst/>
          </a:prstGeom>
          <a:noFill/>
        </p:spPr>
        <p:txBody>
          <a:bodyPr wrap="square" lIns="54864" rIns="54864" tIns="27432" bIns="27432" anchor="ctr">
            <a:spAutoFit/>
          </a:bodyPr>
          <a:lstStyle/>
          <a:p>
            <a:pPr algn="ctr"/>
            <a:r>
              <a:rPr sz="1400" b="0">
                <a:solidFill>
                  <a:srgbClr val="243447"/>
                </a:solidFill>
                <a:latin typeface="Noto Sans CJK SC"/>
              </a:rPr>
              <a:t>工单与责任人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10287000" y="3282696"/>
            <a:ext cx="365760" cy="365760"/>
          </a:xfrm>
          <a:prstGeom prst="roundRect">
            <a:avLst/>
          </a:prstGeom>
          <a:solidFill>
            <a:srgbClr val="6C5CE7"/>
          </a:solidFill>
          <a:ln>
            <a:solidFill>
              <a:srgbClr val="6C5CE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9573768" y="1828800"/>
            <a:ext cx="1783080" cy="658368"/>
          </a:xfrm>
          <a:prstGeom prst="rect">
            <a:avLst/>
          </a:prstGeom>
          <a:noFill/>
        </p:spPr>
        <p:txBody>
          <a:bodyPr wrap="square" lIns="54864" rIns="54864" tIns="27432" bIns="27432" anchor="ctr">
            <a:spAutoFit/>
          </a:bodyPr>
          <a:lstStyle/>
          <a:p>
            <a:pPr algn="ctr"/>
            <a:r>
              <a:rPr sz="1600" b="1">
                <a:solidFill>
                  <a:srgbClr val="6C5CE7"/>
                </a:solidFill>
                <a:latin typeface="Noto Sans CJK SC"/>
              </a:rPr>
              <a:t>04 复盘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9372600" y="3931920"/>
            <a:ext cx="2148840" cy="1051560"/>
          </a:xfrm>
          <a:prstGeom prst="rect">
            <a:avLst/>
          </a:prstGeom>
          <a:noFill/>
        </p:spPr>
        <p:txBody>
          <a:bodyPr wrap="square" lIns="54864" rIns="54864" tIns="27432" bIns="27432" anchor="ctr">
            <a:spAutoFit/>
          </a:bodyPr>
          <a:lstStyle/>
          <a:p>
            <a:pPr algn="ctr"/>
            <a:r>
              <a:rPr sz="1400" b="0">
                <a:solidFill>
                  <a:srgbClr val="243447"/>
                </a:solidFill>
                <a:latin typeface="Noto Sans CJK SC"/>
              </a:rPr>
              <a:t>可追溯的趋势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58368" y="6473952"/>
            <a:ext cx="7955279" cy="219456"/>
          </a:xfrm>
          <a:prstGeom prst="rect">
            <a:avLst/>
          </a:prstGeom>
          <a:noFill/>
        </p:spPr>
        <p:txBody>
          <a:bodyPr wrap="square" lIns="54864" rIns="54864" tIns="27432" bIns="27432" anchor="ctr">
            <a:spAutoFit/>
          </a:bodyPr>
          <a:lstStyle/>
          <a:p>
            <a:pPr algn="l"/>
            <a:r>
              <a:rPr sz="800" b="0">
                <a:solidFill>
                  <a:srgbClr val="7F8C8D"/>
                </a:solidFill>
                <a:latin typeface="Noto Sans CJK SC"/>
              </a:rPr>
              <a:t>星澜科技（合成）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0927080" y="6446520"/>
            <a:ext cx="548640" cy="228600"/>
          </a:xfrm>
          <a:prstGeom prst="rect">
            <a:avLst/>
          </a:prstGeom>
          <a:noFill/>
        </p:spPr>
        <p:txBody>
          <a:bodyPr wrap="square" lIns="54864" rIns="54864" tIns="27432" bIns="27432" anchor="ctr">
            <a:spAutoFit/>
          </a:bodyPr>
          <a:lstStyle/>
          <a:p>
            <a:pPr algn="r"/>
            <a:r>
              <a:rPr sz="900" b="1">
                <a:solidFill>
                  <a:srgbClr val="6C5CE7"/>
                </a:solidFill>
                <a:latin typeface="Noto Sans CJK SC"/>
              </a:rPr>
              <a:t>04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6C5CE7"/>
          </a:solidFill>
          <a:ln>
            <a:solidFill>
              <a:srgbClr val="6C5CE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58368" y="347472"/>
            <a:ext cx="10881360" cy="749808"/>
          </a:xfrm>
          <a:prstGeom prst="rect">
            <a:avLst/>
          </a:prstGeom>
          <a:noFill/>
        </p:spPr>
        <p:txBody>
          <a:bodyPr wrap="square" lIns="54864" rIns="54864" tIns="27432" bIns="27432" anchor="ctr">
            <a:spAutoFit/>
          </a:bodyPr>
          <a:lstStyle/>
          <a:p>
            <a:pPr algn="l"/>
            <a:r>
              <a:rPr sz="2500" b="1">
                <a:solidFill>
                  <a:srgbClr val="132238"/>
                </a:solidFill>
                <a:latin typeface="Noto Sans CJK SC"/>
              </a:rPr>
              <a:t>试点误报率从 8.2% 降至 2.6%</a:t>
            </a:r>
          </a:p>
        </p:txBody>
      </p:sp>
      <p:sp>
        <p:nvSpPr>
          <p:cNvPr id="4" name="Rectangle 3"/>
          <p:cNvSpPr/>
          <p:nvPr/>
        </p:nvSpPr>
        <p:spPr>
          <a:xfrm>
            <a:off x="658368" y="1143000"/>
            <a:ext cx="960120" cy="82296"/>
          </a:xfrm>
          <a:prstGeom prst="rect">
            <a:avLst/>
          </a:prstGeom>
          <a:solidFill>
            <a:srgbClr val="6C5CE7"/>
          </a:solidFill>
          <a:ln>
            <a:solidFill>
              <a:srgbClr val="6C5CE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graphicFrame>
        <p:nvGraphicFramePr>
          <p:cNvPr id="5" name="Chart 4"/>
          <p:cNvGraphicFramePr>
            <a:graphicFrameLocks noGrp="1"/>
          </p:cNvGraphicFramePr>
          <p:nvPr/>
        </p:nvGraphicFramePr>
        <p:xfrm>
          <a:off x="713232" y="1536192"/>
          <a:ext cx="6766560" cy="4251960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  <p:sp>
        <p:nvSpPr>
          <p:cNvPr id="6" name="Rounded Rectangle 5"/>
          <p:cNvSpPr/>
          <p:nvPr/>
        </p:nvSpPr>
        <p:spPr>
          <a:xfrm>
            <a:off x="7818120" y="1536192"/>
            <a:ext cx="3675887" cy="4251960"/>
          </a:xfrm>
          <a:prstGeom prst="roundRect">
            <a:avLst/>
          </a:prstGeom>
          <a:solidFill>
            <a:srgbClr val="FFFFFF"/>
          </a:solidFill>
          <a:ln>
            <a:solidFill>
              <a:srgbClr val="DCE4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8138160" y="1874519"/>
            <a:ext cx="201168" cy="201168"/>
          </a:xfrm>
          <a:prstGeom prst="roundRect">
            <a:avLst/>
          </a:prstGeom>
          <a:solidFill>
            <a:srgbClr val="6C5CE7"/>
          </a:solidFill>
          <a:ln>
            <a:solidFill>
              <a:srgbClr val="6C5CE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458200" y="1664208"/>
            <a:ext cx="2633472" cy="987552"/>
          </a:xfrm>
          <a:prstGeom prst="rect">
            <a:avLst/>
          </a:prstGeom>
          <a:noFill/>
        </p:spPr>
        <p:txBody>
          <a:bodyPr wrap="square" lIns="54864" rIns="54864" tIns="27432" bIns="27432" anchor="ctr">
            <a:spAutoFit/>
          </a:bodyPr>
          <a:lstStyle/>
          <a:p>
            <a:pPr algn="l"/>
            <a:r>
              <a:rPr sz="1500" b="0">
                <a:solidFill>
                  <a:srgbClr val="243447"/>
                </a:solidFill>
                <a:latin typeface="Noto Sans CJK SC"/>
              </a:rPr>
              <a:t>数据来自同一条包装线的连续6周记录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8138160" y="3108960"/>
            <a:ext cx="201168" cy="201168"/>
          </a:xfrm>
          <a:prstGeom prst="roundRect">
            <a:avLst/>
          </a:prstGeom>
          <a:solidFill>
            <a:srgbClr val="6C5CE7"/>
          </a:solidFill>
          <a:ln>
            <a:solidFill>
              <a:srgbClr val="6C5CE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458200" y="2898648"/>
            <a:ext cx="2633472" cy="987552"/>
          </a:xfrm>
          <a:prstGeom prst="rect">
            <a:avLst/>
          </a:prstGeom>
          <a:noFill/>
        </p:spPr>
        <p:txBody>
          <a:bodyPr wrap="square" lIns="54864" rIns="54864" tIns="27432" bIns="27432" anchor="ctr">
            <a:spAutoFit/>
          </a:bodyPr>
          <a:lstStyle/>
          <a:p>
            <a:pPr algn="l"/>
            <a:r>
              <a:rPr sz="1500" b="0">
                <a:solidFill>
                  <a:srgbClr val="243447"/>
                </a:solidFill>
                <a:latin typeface="Noto Sans CJK SC"/>
              </a:rPr>
              <a:t>不将试点结果外推为全行业保证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58368" y="6473952"/>
            <a:ext cx="7955279" cy="219456"/>
          </a:xfrm>
          <a:prstGeom prst="rect">
            <a:avLst/>
          </a:prstGeom>
          <a:noFill/>
        </p:spPr>
        <p:txBody>
          <a:bodyPr wrap="square" lIns="54864" rIns="54864" tIns="27432" bIns="27432" anchor="ctr">
            <a:spAutoFit/>
          </a:bodyPr>
          <a:lstStyle/>
          <a:p>
            <a:pPr algn="l"/>
            <a:r>
              <a:rPr sz="800" b="0">
                <a:solidFill>
                  <a:srgbClr val="7F8C8D"/>
                </a:solidFill>
                <a:latin typeface="Noto Sans CJK SC"/>
              </a:rPr>
              <a:t>星澜科技（合成）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927080" y="6446520"/>
            <a:ext cx="548640" cy="228600"/>
          </a:xfrm>
          <a:prstGeom prst="rect">
            <a:avLst/>
          </a:prstGeom>
          <a:noFill/>
        </p:spPr>
        <p:txBody>
          <a:bodyPr wrap="square" lIns="54864" rIns="54864" tIns="27432" bIns="27432" anchor="ctr">
            <a:spAutoFit/>
          </a:bodyPr>
          <a:lstStyle/>
          <a:p>
            <a:pPr algn="r"/>
            <a:r>
              <a:rPr sz="900" b="1">
                <a:solidFill>
                  <a:srgbClr val="6C5CE7"/>
                </a:solidFill>
                <a:latin typeface="Noto Sans CJK SC"/>
              </a:rPr>
              <a:t>05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3F6F9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6C5CE7"/>
          </a:solidFill>
          <a:ln>
            <a:solidFill>
              <a:srgbClr val="6C5CE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58368" y="347472"/>
            <a:ext cx="10881360" cy="749808"/>
          </a:xfrm>
          <a:prstGeom prst="rect">
            <a:avLst/>
          </a:prstGeom>
          <a:noFill/>
        </p:spPr>
        <p:txBody>
          <a:bodyPr wrap="square" lIns="54864" rIns="54864" tIns="27432" bIns="27432" anchor="ctr">
            <a:spAutoFit/>
          </a:bodyPr>
          <a:lstStyle/>
          <a:p>
            <a:pPr algn="l"/>
            <a:r>
              <a:rPr sz="2500" b="1">
                <a:solidFill>
                  <a:srgbClr val="132238"/>
                </a:solidFill>
                <a:latin typeface="Noto Sans CJK SC"/>
              </a:rPr>
              <a:t>三阶段发布，每一步都有可回退门槛</a:t>
            </a:r>
          </a:p>
        </p:txBody>
      </p:sp>
      <p:sp>
        <p:nvSpPr>
          <p:cNvPr id="4" name="Rectangle 3"/>
          <p:cNvSpPr/>
          <p:nvPr/>
        </p:nvSpPr>
        <p:spPr>
          <a:xfrm>
            <a:off x="658368" y="1143000"/>
            <a:ext cx="960120" cy="82296"/>
          </a:xfrm>
          <a:prstGeom prst="rect">
            <a:avLst/>
          </a:prstGeom>
          <a:solidFill>
            <a:srgbClr val="6C5CE7"/>
          </a:solidFill>
          <a:ln>
            <a:solidFill>
              <a:srgbClr val="6C5CE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713232" y="1572768"/>
          <a:ext cx="10771632" cy="36118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590544"/>
                <a:gridCol w="3590544"/>
                <a:gridCol w="3590544"/>
              </a:tblGrid>
              <a:tr h="902970">
                <a:tc>
                  <a:txBody>
                    <a:bodyPr/>
                    <a:lstStyle/>
                    <a:p>
                      <a:pPr algn="ctr"/>
                      <a:r>
                        <a:rPr sz="1300" b="1">
                          <a:solidFill>
                            <a:srgbClr val="FFFFFF"/>
                          </a:solidFill>
                          <a:latin typeface="Noto Sans CJK SC"/>
                        </a:rPr>
                        <a:t>阶段</a:t>
                      </a:r>
                    </a:p>
                  </a:txBody>
                  <a:tcPr marL="73152" marR="73152">
                    <a:solidFill>
                      <a:srgbClr val="6C5CE7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1">
                          <a:solidFill>
                            <a:srgbClr val="FFFFFF"/>
                          </a:solidFill>
                          <a:latin typeface="Noto Sans CJK SC"/>
                        </a:rPr>
                        <a:t>时间</a:t>
                      </a:r>
                    </a:p>
                  </a:txBody>
                  <a:tcPr marL="73152" marR="73152">
                    <a:solidFill>
                      <a:srgbClr val="6C5CE7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1">
                          <a:solidFill>
                            <a:srgbClr val="FFFFFF"/>
                          </a:solidFill>
                          <a:latin typeface="Noto Sans CJK SC"/>
                        </a:rPr>
                        <a:t>成功门槛</a:t>
                      </a:r>
                    </a:p>
                  </a:txBody>
                  <a:tcPr marL="73152" marR="73152">
                    <a:solidFill>
                      <a:srgbClr val="6C5CE7"/>
                    </a:solidFill>
                  </a:tcPr>
                </a:tc>
              </a:tr>
              <a:tr h="902970">
                <a:tc>
                  <a:txBody>
                    <a:bodyPr/>
                    <a:lstStyle/>
                    <a:p>
                      <a:pPr algn="l"/>
                      <a:r>
                        <a:rPr sz="1200" b="0">
                          <a:solidFill>
                            <a:srgbClr val="243447"/>
                          </a:solidFill>
                          <a:latin typeface="Noto Sans CJK SC"/>
                        </a:rPr>
                        <a:t>内测</a:t>
                      </a:r>
                    </a:p>
                  </a:txBody>
                  <a:tcPr marL="73152" marR="7315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 b="0">
                          <a:solidFill>
                            <a:srgbClr val="243447"/>
                          </a:solidFill>
                          <a:latin typeface="Noto Sans CJK SC"/>
                        </a:rPr>
                        <a:t>8月</a:t>
                      </a:r>
                    </a:p>
                  </a:txBody>
                  <a:tcPr marL="73152" marR="7315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 b="0">
                          <a:solidFill>
                            <a:srgbClr val="243447"/>
                          </a:solidFill>
                          <a:latin typeface="Noto Sans CJK SC"/>
                        </a:rPr>
                        <a:t>完成3类设备校验</a:t>
                      </a:r>
                    </a:p>
                  </a:txBody>
                  <a:tcPr marL="73152" marR="73152">
                    <a:solidFill>
                      <a:srgbClr val="FFFFFF"/>
                    </a:solidFill>
                  </a:tcPr>
                </a:tc>
              </a:tr>
              <a:tr h="902970">
                <a:tc>
                  <a:txBody>
                    <a:bodyPr/>
                    <a:lstStyle/>
                    <a:p>
                      <a:pPr algn="l"/>
                      <a:r>
                        <a:rPr sz="1200" b="0">
                          <a:solidFill>
                            <a:srgbClr val="243447"/>
                          </a:solidFill>
                          <a:latin typeface="Noto Sans CJK SC"/>
                        </a:rPr>
                        <a:t>伙伴试用</a:t>
                      </a:r>
                    </a:p>
                  </a:txBody>
                  <a:tcPr marL="73152" marR="73152">
                    <a:solidFill>
                      <a:srgbClr val="EEF3F7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 b="0">
                          <a:solidFill>
                            <a:srgbClr val="243447"/>
                          </a:solidFill>
                          <a:latin typeface="Noto Sans CJK SC"/>
                        </a:rPr>
                        <a:t>9月</a:t>
                      </a:r>
                    </a:p>
                  </a:txBody>
                  <a:tcPr marL="73152" marR="73152">
                    <a:solidFill>
                      <a:srgbClr val="EEF3F7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 b="0">
                          <a:solidFill>
                            <a:srgbClr val="243447"/>
                          </a:solidFill>
                          <a:latin typeface="Noto Sans CJK SC"/>
                        </a:rPr>
                        <a:t>误报率≤3%</a:t>
                      </a:r>
                    </a:p>
                  </a:txBody>
                  <a:tcPr marL="73152" marR="73152">
                    <a:solidFill>
                      <a:srgbClr val="EEF3F7"/>
                    </a:solidFill>
                  </a:tcPr>
                </a:tc>
              </a:tr>
              <a:tr h="902970">
                <a:tc>
                  <a:txBody>
                    <a:bodyPr/>
                    <a:lstStyle/>
                    <a:p>
                      <a:pPr algn="l"/>
                      <a:r>
                        <a:rPr sz="1200" b="0">
                          <a:solidFill>
                            <a:srgbClr val="243447"/>
                          </a:solidFill>
                          <a:latin typeface="Noto Sans CJK SC"/>
                        </a:rPr>
                        <a:t>正式发布</a:t>
                      </a:r>
                    </a:p>
                  </a:txBody>
                  <a:tcPr marL="73152" marR="7315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 b="0">
                          <a:solidFill>
                            <a:srgbClr val="243447"/>
                          </a:solidFill>
                          <a:latin typeface="Noto Sans CJK SC"/>
                        </a:rPr>
                        <a:t>10月15日</a:t>
                      </a:r>
                    </a:p>
                  </a:txBody>
                  <a:tcPr marL="73152" marR="7315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 b="0">
                          <a:solidFill>
                            <a:srgbClr val="243447"/>
                          </a:solidFill>
                          <a:latin typeface="Noto Sans CJK SC"/>
                        </a:rPr>
                        <a:t>支持5类设备</a:t>
                      </a:r>
                    </a:p>
                  </a:txBody>
                  <a:tcPr marL="73152" marR="73152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6" name="TextBox 5"/>
          <p:cNvSpPr txBox="1"/>
          <p:nvPr/>
        </p:nvSpPr>
        <p:spPr>
          <a:xfrm>
            <a:off x="658368" y="6473952"/>
            <a:ext cx="7955279" cy="219456"/>
          </a:xfrm>
          <a:prstGeom prst="rect">
            <a:avLst/>
          </a:prstGeom>
          <a:noFill/>
        </p:spPr>
        <p:txBody>
          <a:bodyPr wrap="square" lIns="54864" rIns="54864" tIns="27432" bIns="27432" anchor="ctr">
            <a:spAutoFit/>
          </a:bodyPr>
          <a:lstStyle/>
          <a:p>
            <a:pPr algn="l"/>
            <a:r>
              <a:rPr sz="800" b="0">
                <a:solidFill>
                  <a:srgbClr val="7F8C8D"/>
                </a:solidFill>
                <a:latin typeface="Noto Sans CJK SC"/>
              </a:rPr>
              <a:t>星澜科技（合成）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927080" y="6446520"/>
            <a:ext cx="548640" cy="228600"/>
          </a:xfrm>
          <a:prstGeom prst="rect">
            <a:avLst/>
          </a:prstGeom>
          <a:noFill/>
        </p:spPr>
        <p:txBody>
          <a:bodyPr wrap="square" lIns="54864" rIns="54864" tIns="27432" bIns="27432" anchor="ctr">
            <a:spAutoFit/>
          </a:bodyPr>
          <a:lstStyle/>
          <a:p>
            <a:pPr algn="r"/>
            <a:r>
              <a:rPr sz="900" b="1">
                <a:solidFill>
                  <a:srgbClr val="6C5CE7"/>
                </a:solidFill>
                <a:latin typeface="Noto Sans CJK SC"/>
              </a:rPr>
              <a:t>06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3223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6C5CE7"/>
          </a:solidFill>
          <a:ln>
            <a:solidFill>
              <a:srgbClr val="6C5CE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58368" y="347472"/>
            <a:ext cx="10881360" cy="749808"/>
          </a:xfrm>
          <a:prstGeom prst="rect">
            <a:avLst/>
          </a:prstGeom>
          <a:noFill/>
        </p:spPr>
        <p:txBody>
          <a:bodyPr wrap="square" lIns="54864" rIns="54864" tIns="27432" bIns="27432" anchor="ctr">
            <a:spAutoFit/>
          </a:bodyPr>
          <a:lstStyle/>
          <a:p>
            <a:pPr algn="l"/>
            <a:r>
              <a:rPr sz="2500" b="1">
                <a:solidFill>
                  <a:srgbClr val="FFFFFF"/>
                </a:solidFill>
                <a:latin typeface="Noto Sans CJK SC"/>
              </a:rPr>
              <a:t>2026年10月15日，与首批伙伴一起开启零接触巡检</a:t>
            </a:r>
          </a:p>
        </p:txBody>
      </p:sp>
      <p:sp>
        <p:nvSpPr>
          <p:cNvPr id="4" name="Rectangle 3"/>
          <p:cNvSpPr/>
          <p:nvPr/>
        </p:nvSpPr>
        <p:spPr>
          <a:xfrm>
            <a:off x="658368" y="1143000"/>
            <a:ext cx="960120" cy="82296"/>
          </a:xfrm>
          <a:prstGeom prst="rect">
            <a:avLst/>
          </a:prstGeom>
          <a:solidFill>
            <a:srgbClr val="6C5CE7"/>
          </a:solidFill>
          <a:ln>
            <a:solidFill>
              <a:srgbClr val="6C5CE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749808" y="1645920"/>
            <a:ext cx="502920" cy="502920"/>
          </a:xfrm>
          <a:prstGeom prst="roundRect">
            <a:avLst/>
          </a:prstGeom>
          <a:solidFill>
            <a:srgbClr val="6C5CE7"/>
          </a:solidFill>
          <a:ln>
            <a:solidFill>
              <a:srgbClr val="6C5CE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86384" y="1691640"/>
            <a:ext cx="429768" cy="320040"/>
          </a:xfrm>
          <a:prstGeom prst="rect">
            <a:avLst/>
          </a:prstGeom>
          <a:noFill/>
        </p:spPr>
        <p:txBody>
          <a:bodyPr wrap="square" lIns="54864" rIns="54864" tIns="27432" bIns="27432" anchor="ctr">
            <a:spAutoFit/>
          </a:bodyPr>
          <a:lstStyle/>
          <a:p>
            <a:pPr algn="ctr"/>
            <a:r>
              <a:rPr sz="1200" b="1">
                <a:solidFill>
                  <a:srgbClr val="FFFFFF"/>
                </a:solidFill>
                <a:latin typeface="Noto Sans CJK SC"/>
              </a:rPr>
              <a:t>01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481328" y="1545336"/>
            <a:ext cx="9509760" cy="731520"/>
          </a:xfrm>
          <a:prstGeom prst="rect">
            <a:avLst/>
          </a:prstGeom>
          <a:noFill/>
        </p:spPr>
        <p:txBody>
          <a:bodyPr wrap="square" lIns="54864" rIns="54864" tIns="27432" bIns="27432" anchor="ctr">
            <a:spAutoFit/>
          </a:bodyPr>
          <a:lstStyle/>
          <a:p>
            <a:pPr algn="l"/>
            <a:r>
              <a:rPr sz="1800" b="1">
                <a:solidFill>
                  <a:srgbClr val="FFFFFF"/>
                </a:solidFill>
                <a:latin typeface="Noto Sans CJK SC"/>
              </a:rPr>
              <a:t>报名参与9月伙伴试用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49808" y="2670048"/>
            <a:ext cx="502920" cy="502920"/>
          </a:xfrm>
          <a:prstGeom prst="roundRect">
            <a:avLst/>
          </a:prstGeom>
          <a:solidFill>
            <a:srgbClr val="6C5CE7"/>
          </a:solidFill>
          <a:ln>
            <a:solidFill>
              <a:srgbClr val="6C5CE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86384" y="2715768"/>
            <a:ext cx="429768" cy="320040"/>
          </a:xfrm>
          <a:prstGeom prst="rect">
            <a:avLst/>
          </a:prstGeom>
          <a:noFill/>
        </p:spPr>
        <p:txBody>
          <a:bodyPr wrap="square" lIns="54864" rIns="54864" tIns="27432" bIns="27432" anchor="ctr">
            <a:spAutoFit/>
          </a:bodyPr>
          <a:lstStyle/>
          <a:p>
            <a:pPr algn="ctr"/>
            <a:r>
              <a:rPr sz="1200" b="1">
                <a:solidFill>
                  <a:srgbClr val="FFFFFF"/>
                </a:solidFill>
                <a:latin typeface="Noto Sans CJK SC"/>
              </a:rPr>
              <a:t>02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481328" y="2569464"/>
            <a:ext cx="9509760" cy="731520"/>
          </a:xfrm>
          <a:prstGeom prst="rect">
            <a:avLst/>
          </a:prstGeom>
          <a:noFill/>
        </p:spPr>
        <p:txBody>
          <a:bodyPr wrap="square" lIns="54864" rIns="54864" tIns="27432" bIns="27432" anchor="ctr">
            <a:spAutoFit/>
          </a:bodyPr>
          <a:lstStyle/>
          <a:p>
            <a:pPr algn="l"/>
            <a:r>
              <a:rPr sz="1800" b="1">
                <a:solidFill>
                  <a:srgbClr val="FFFFFF"/>
                </a:solidFill>
                <a:latin typeface="Noto Sans CJK SC"/>
              </a:rPr>
              <a:t>预约工厂网络与设备兼容性评估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749808" y="3694176"/>
            <a:ext cx="502920" cy="502920"/>
          </a:xfrm>
          <a:prstGeom prst="roundRect">
            <a:avLst/>
          </a:prstGeom>
          <a:solidFill>
            <a:srgbClr val="6C5CE7"/>
          </a:solidFill>
          <a:ln>
            <a:solidFill>
              <a:srgbClr val="6C5CE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786384" y="3739896"/>
            <a:ext cx="429768" cy="320040"/>
          </a:xfrm>
          <a:prstGeom prst="rect">
            <a:avLst/>
          </a:prstGeom>
          <a:noFill/>
        </p:spPr>
        <p:txBody>
          <a:bodyPr wrap="square" lIns="54864" rIns="54864" tIns="27432" bIns="27432" anchor="ctr">
            <a:spAutoFit/>
          </a:bodyPr>
          <a:lstStyle/>
          <a:p>
            <a:pPr algn="ctr"/>
            <a:r>
              <a:rPr sz="1200" b="1">
                <a:solidFill>
                  <a:srgbClr val="FFFFFF"/>
                </a:solidFill>
                <a:latin typeface="Noto Sans CJK SC"/>
              </a:rPr>
              <a:t>03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481328" y="3593592"/>
            <a:ext cx="9509760" cy="731520"/>
          </a:xfrm>
          <a:prstGeom prst="rect">
            <a:avLst/>
          </a:prstGeom>
          <a:noFill/>
        </p:spPr>
        <p:txBody>
          <a:bodyPr wrap="square" lIns="54864" rIns="54864" tIns="27432" bIns="27432" anchor="ctr">
            <a:spAutoFit/>
          </a:bodyPr>
          <a:lstStyle/>
          <a:p>
            <a:pPr algn="l"/>
            <a:r>
              <a:rPr sz="1800" b="1">
                <a:solidFill>
                  <a:srgbClr val="FFFFFF"/>
                </a:solidFill>
                <a:latin typeface="Noto Sans CJK SC"/>
              </a:rPr>
              <a:t>获取上线清单与安全边界说明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2011680" y="5623560"/>
            <a:ext cx="8138160" cy="530352"/>
          </a:xfrm>
          <a:prstGeom prst="roundRect">
            <a:avLst/>
          </a:prstGeom>
          <a:solidFill>
            <a:srgbClr val="6C5CE7"/>
          </a:solidFill>
          <a:ln>
            <a:solidFill>
              <a:srgbClr val="6C5CE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2194560" y="5696712"/>
            <a:ext cx="7772400" cy="347472"/>
          </a:xfrm>
          <a:prstGeom prst="rect">
            <a:avLst/>
          </a:prstGeom>
          <a:noFill/>
        </p:spPr>
        <p:txBody>
          <a:bodyPr wrap="square" lIns="54864" rIns="54864" tIns="27432" bIns="27432" anchor="ctr">
            <a:spAutoFit/>
          </a:bodyPr>
          <a:lstStyle/>
          <a:p>
            <a:pPr algn="ctr"/>
            <a:r>
              <a:rPr sz="1400" b="1">
                <a:solidFill>
                  <a:srgbClr val="FFFFFF"/>
                </a:solidFill>
                <a:latin typeface="Noto Sans CJK SC"/>
              </a:rPr>
              <a:t>星澜 S1 · 现场可验证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58368" y="6473952"/>
            <a:ext cx="7955279" cy="219456"/>
          </a:xfrm>
          <a:prstGeom prst="rect">
            <a:avLst/>
          </a:prstGeom>
          <a:noFill/>
        </p:spPr>
        <p:txBody>
          <a:bodyPr wrap="square" lIns="54864" rIns="54864" tIns="27432" bIns="27432" anchor="ctr">
            <a:spAutoFit/>
          </a:bodyPr>
          <a:lstStyle/>
          <a:p>
            <a:pPr algn="l"/>
            <a:r>
              <a:rPr sz="800" b="0">
                <a:solidFill>
                  <a:srgbClr val="A9B7C6"/>
                </a:solidFill>
                <a:latin typeface="Noto Sans CJK SC"/>
              </a:rPr>
              <a:t>星澜科技（合成）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0927080" y="6446520"/>
            <a:ext cx="548640" cy="228600"/>
          </a:xfrm>
          <a:prstGeom prst="rect">
            <a:avLst/>
          </a:prstGeom>
          <a:noFill/>
        </p:spPr>
        <p:txBody>
          <a:bodyPr wrap="square" lIns="54864" rIns="54864" tIns="27432" bIns="27432" anchor="ctr">
            <a:spAutoFit/>
          </a:bodyPr>
          <a:lstStyle/>
          <a:p>
            <a:pPr algn="r"/>
            <a:r>
              <a:rPr sz="900" b="1">
                <a:solidFill>
                  <a:srgbClr val="6C5CE7"/>
                </a:solidFill>
                <a:latin typeface="Noto Sans CJK SC"/>
              </a:rPr>
              <a:t>07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星澜 S1 新品发布会</dc:title>
  <dc:subject>outline_to_deck</dc:subject>
  <dc:creator>星澜科技（合成）</dc:creator>
  <cp:keywords>CoworkEvoBench, synthetic, PowerPoint</cp:keywords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