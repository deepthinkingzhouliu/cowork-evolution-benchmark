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76B900"/>
            </a:solidFill>
          </c:spPr>
          <c:cat>
            <c:strRef>
              <c:f>Sheet1!$A$2:$A$4</c:f>
              <c:strCache>
                <c:ptCount val="3"/>
                <c:pt idx="0">
                  <c:v>Q1 FY23</c:v>
                </c:pt>
                <c:pt idx="1">
                  <c:v>Q4 FY23</c:v>
                </c:pt>
                <c:pt idx="2">
                  <c:v>Q1 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8288</c:v>
                </c:pt>
                <c:pt idx="1">
                  <c:v>6051</c:v>
                </c:pt>
                <c:pt idx="2">
                  <c:v>7192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76B900"/>
            </a:solidFill>
          </c:spPr>
          <c:cat>
            <c:strRef>
              <c:f>Sheet1!$A$2:$A$5</c:f>
              <c:strCache>
                <c:ptCount val="4"/>
                <c:pt idx="0">
                  <c:v>Data Center</c:v>
                </c:pt>
                <c:pt idx="1">
                  <c:v>Gaming</c:v>
                </c:pt>
                <c:pt idx="2">
                  <c:v>Professional Visualization</c:v>
                </c:pt>
                <c:pt idx="3">
                  <c:v>Automotive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4.28</c:v>
                </c:pt>
                <c:pt idx="1">
                  <c:v>2.24</c:v>
                </c:pt>
                <c:pt idx="2">
                  <c:v>0.295</c:v>
                </c:pt>
                <c:pt idx="3">
                  <c:v>0.296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029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8F072"/>
                </a:solidFill>
                <a:latin typeface="Aptos"/>
              </a:rPr>
              <a:t>NVIDIA  /  Q1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731520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Sequential acceleration,
with a mixed year-on-year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42032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1CB"/>
                </a:solidFill>
                <a:latin typeface="Aptos"/>
              </a:rPr>
              <a:t>Management financial briefing  ·  Quarter ended 30 April 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30768" y="868680"/>
            <a:ext cx="3063240" cy="2304288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8512" y="1243584"/>
            <a:ext cx="26060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$7.19B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8512" y="1856231"/>
            <a:ext cx="2606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8C4BC"/>
                </a:solidFill>
                <a:latin typeface="Aptos"/>
              </a:rPr>
              <a:t>Q1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2331720"/>
            <a:ext cx="2606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C8F072"/>
                </a:solidFill>
                <a:latin typeface="Aptos"/>
              </a:rPr>
              <a:t>+19% Q/Q  ·  −13% Y/Y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325112"/>
            <a:ext cx="342900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325112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3484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$4.28B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84632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DATA CENTER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093208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record  ·  +18% Q/Q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325112"/>
            <a:ext cx="342900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4325112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443484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$0.82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484632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GAAP DILUTED 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5093208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+44% Q/Q  ·  +28% Y/Y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4325112"/>
            <a:ext cx="342900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4325112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43484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$11.00B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84632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Q2 REVENUE OUTLOOK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5093208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±2%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24728"/>
            <a:ext cx="6583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A8B2AC"/>
                </a:solidFill>
                <a:latin typeface="Aptos"/>
              </a:rPr>
              <a:t>FACT-BASED SUMMARY  ·  NO INVESTMENT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A8B2AC"/>
                </a:solidFill>
                <a:latin typeface="Aptos"/>
              </a:rPr>
              <a:t>Source: OfficeBench financial_report.pdf, pp. 1–2  ·  NVIDIA Q1 FY2024 release, 24 May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8B2A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76216"/>
                </a:solidFill>
                <a:latin typeface="Aptos"/>
              </a:rPr>
              <a:t>QUARTER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1714"/>
                </a:solidFill>
                <a:latin typeface="Aptos"/>
              </a:rPr>
              <a:t>Headline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5706A"/>
                </a:solidFill>
                <a:latin typeface="Aptos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9E0DB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627632"/>
          <a:ext cx="5532120" cy="41696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1243584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1714"/>
                </a:solidFill>
                <a:latin typeface="Aptos"/>
              </a:rPr>
              <a:t>Revenue reset, then rebound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89888"/>
            <a:ext cx="475488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389888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1499616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64.6%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911095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GAAP 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157984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+1.3 pts Q/Q  ·  −0.9 pts Y/Y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505456"/>
            <a:ext cx="475488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2505456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615184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$2.14B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026664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GAAP OPERATING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273552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+70% Q/Q  ·  +15% Y/Y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621024"/>
            <a:ext cx="475488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3621024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730752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$2.04B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4142232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GAAP NET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4389120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+44% Q/Q  ·  +26% Y/Y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4736592"/>
            <a:ext cx="475488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4736592"/>
            <a:ext cx="64008" cy="1069848"/>
          </a:xfrm>
          <a:prstGeom prst="rect">
            <a:avLst/>
          </a:prstGeom>
          <a:solidFill>
            <a:srgbClr val="2C68A0"/>
          </a:solidFill>
          <a:ln>
            <a:solidFill>
              <a:srgbClr val="2C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846320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$2.51B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5257800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GAAP OPERATING 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5504688"/>
            <a:ext cx="4480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C68A0"/>
                </a:solidFill>
                <a:latin typeface="Aptos"/>
              </a:rPr>
              <a:t>−3% Q/Q  ·  −30% Y/Y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925312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65706A"/>
                </a:solidFill>
                <a:latin typeface="Aptos"/>
              </a:rPr>
              <a:t>Derived reading: sequential earnings expanded faster than revenue; revenue remained below Q1 FY2023.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5706A"/>
                </a:solidFill>
                <a:latin typeface="Aptos"/>
              </a:rPr>
              <a:t>Source: OfficeBench financial_report.pdf, pp. 1–2  ·  NVIDIA Q1 FY2024 release, 24 May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06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76216"/>
                </a:solidFill>
                <a:latin typeface="Aptos"/>
              </a:rPr>
              <a:t>REPORTED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1714"/>
                </a:solidFill>
                <a:latin typeface="Aptos"/>
              </a:rPr>
              <a:t>GAAP operating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5706A"/>
                </a:solidFill>
                <a:latin typeface="Aptos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9E0DB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17320"/>
          <a:ext cx="992124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417320"/>
                <a:gridCol w="1417320"/>
                <a:gridCol w="1417320"/>
                <a:gridCol w="1508760"/>
                <a:gridCol w="150876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Q1 FY24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Q4 FY23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Q1 FY23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Q/Q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Y/Y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Revenue ($M)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7,192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6,051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8,288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19%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Down 13%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Gross margin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64.6%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63.3%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65.5%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1.3 pts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Down 0.9 pts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Operating expenses ($M)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2,508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2,576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3,563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Down 3%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Down 30%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Operating income ($M)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2,140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1,257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1,868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70%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15%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Net income ($M)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2,043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1,414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1,618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44%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26%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Diluted EPS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$0.82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$0.57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$0.64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44%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1E2925"/>
                          </a:solidFill>
                          <a:latin typeface="Aptos"/>
                        </a:rPr>
                        <a:t>Up 28%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833872"/>
            <a:ext cx="10881360" cy="438912"/>
          </a:xfrm>
          <a:prstGeom prst="roundRect">
            <a:avLst/>
          </a:prstGeom>
          <a:solidFill>
            <a:srgbClr val="F5F7F5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52744"/>
            <a:ext cx="10515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5706A"/>
                </a:solidFill>
                <a:latin typeface="Aptos"/>
              </a:rPr>
              <a:t>All values above are transcribed from the GAAP Q1 Fiscal 2024 Summary; $ values are in millions except 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5706A"/>
                </a:solidFill>
                <a:latin typeface="Aptos"/>
              </a:rPr>
              <a:t>Source: OfficeBench financial_report.pdf, pp. 1–2  ·  NVIDIA Q1 FY2024 release, 24 May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06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76216"/>
                </a:solidFill>
                <a:latin typeface="Aptos"/>
              </a:rPr>
              <a:t>PLATFORM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1714"/>
                </a:solidFill>
                <a:latin typeface="Aptos"/>
              </a:rPr>
              <a:t>Data Center led the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5706A"/>
                </a:solidFill>
                <a:latin typeface="Aptos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9E0DB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417320"/>
          <a:ext cx="5577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10528" y="1417320"/>
            <a:ext cx="4800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1417320"/>
            <a:ext cx="64008" cy="89611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53619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706A"/>
                </a:solidFill>
                <a:latin typeface="Aptos"/>
              </a:rPr>
              <a:t>DATA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517904"/>
            <a:ext cx="1051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101714"/>
                </a:solidFill>
                <a:latin typeface="Aptos"/>
              </a:rPr>
              <a:t>$4.28B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4896" y="1545336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6B900"/>
                </a:solidFill>
                <a:latin typeface="Aptos"/>
              </a:rPr>
              <a:t>+18% Q/Q  ·  +14% Y/Y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901952"/>
            <a:ext cx="4233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1E2925"/>
                </a:solidFill>
                <a:latin typeface="Aptos"/>
              </a:rPr>
              <a:t>Record quarter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2496312"/>
            <a:ext cx="4800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2496312"/>
            <a:ext cx="64008" cy="896112"/>
          </a:xfrm>
          <a:prstGeom prst="rect">
            <a:avLst/>
          </a:prstGeom>
          <a:solidFill>
            <a:srgbClr val="B87200"/>
          </a:solidFill>
          <a:ln>
            <a:solidFill>
              <a:srgbClr val="B8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61518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706A"/>
                </a:solidFill>
                <a:latin typeface="Aptos"/>
              </a:rPr>
              <a:t>GAMING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596896"/>
            <a:ext cx="1051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101714"/>
                </a:solidFill>
                <a:latin typeface="Aptos"/>
              </a:rPr>
              <a:t>$2.24B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2624328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B87200"/>
                </a:solidFill>
                <a:latin typeface="Aptos"/>
              </a:rPr>
              <a:t>+22% Q/Q  ·  −38% Y/Y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980944"/>
            <a:ext cx="4233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1E2925"/>
                </a:solidFill>
                <a:latin typeface="Aptos"/>
              </a:rPr>
              <a:t>Sequential recovery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575304"/>
            <a:ext cx="4800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3575304"/>
            <a:ext cx="64008" cy="896112"/>
          </a:xfrm>
          <a:prstGeom prst="rect">
            <a:avLst/>
          </a:prstGeom>
          <a:solidFill>
            <a:srgbClr val="C4322F"/>
          </a:solidFill>
          <a:ln>
            <a:solidFill>
              <a:srgbClr val="C4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694176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706A"/>
                </a:solidFill>
                <a:latin typeface="Aptos"/>
              </a:rPr>
              <a:t>PRO VIS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675888"/>
            <a:ext cx="1051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101714"/>
                </a:solidFill>
                <a:latin typeface="Aptos"/>
              </a:rPr>
              <a:t>$295M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3703320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4322F"/>
                </a:solidFill>
                <a:latin typeface="Aptos"/>
              </a:rPr>
              <a:t>+31% Q/Q  ·  −53% Y/Y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059936"/>
            <a:ext cx="4233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1E2925"/>
                </a:solidFill>
                <a:latin typeface="Aptos"/>
              </a:rPr>
              <a:t>Small, mixed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4654296"/>
            <a:ext cx="480060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0528" y="4654296"/>
            <a:ext cx="64008" cy="896112"/>
          </a:xfrm>
          <a:prstGeom prst="rect">
            <a:avLst/>
          </a:prstGeom>
          <a:solidFill>
            <a:srgbClr val="2C68A0"/>
          </a:solidFill>
          <a:ln>
            <a:solidFill>
              <a:srgbClr val="2C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477316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5706A"/>
                </a:solidFill>
                <a:latin typeface="Aptos"/>
              </a:rPr>
              <a:t>AUTOMOTIVE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754880"/>
            <a:ext cx="1051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101714"/>
                </a:solidFill>
                <a:latin typeface="Aptos"/>
              </a:rPr>
              <a:t>$296M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4782312"/>
            <a:ext cx="1554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2C68A0"/>
                </a:solidFill>
                <a:latin typeface="Aptos"/>
              </a:rPr>
              <a:t>+1% Q/Q  ·  +114% Y/Y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138928"/>
            <a:ext cx="4233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1E2925"/>
                </a:solidFill>
                <a:latin typeface="Aptos"/>
              </a:rPr>
              <a:t>Record quarter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5706A"/>
                </a:solidFill>
                <a:latin typeface="Aptos"/>
              </a:rPr>
              <a:t>Source: OfficeBench financial_report.pdf, pp. 2  ·  NVIDIA Q1 FY2024 release, 24 May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06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76216"/>
                </a:solidFill>
                <a:latin typeface="Aptos"/>
              </a:rPr>
              <a:t>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1714"/>
                </a:solidFill>
                <a:latin typeface="Aptos"/>
              </a:rPr>
              <a:t>Earnings quality and cash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5706A"/>
                </a:solidFill>
                <a:latin typeface="Aptos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D9E0DB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417320"/>
          <a:ext cx="5897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5087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Q1 FY2024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GAAP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Non-GAAP</a:t>
                      </a:r>
                    </a:p>
                  </a:txBody>
                  <a:tcPr>
                    <a:solidFill>
                      <a:srgbClr val="1017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Gross margin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64.6%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66.8%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Operating expenses ($M)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2,508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1,750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Operating income ($M)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2,140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3,052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Net income ($M)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2,043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2,713</a:t>
                      </a:r>
                    </a:p>
                  </a:txBody>
                  <a:tcPr marL="64008" marR="64008">
                    <a:solidFill>
                      <a:srgbClr val="F5F7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Diluted EPS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$0.82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1E2925"/>
                          </a:solidFill>
                          <a:latin typeface="Aptos"/>
                        </a:rPr>
                        <a:t>$1.09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1417320"/>
            <a:ext cx="438912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527048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$2.911B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93852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OPERATING CASH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185416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vs $1.731B Q1 FY23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670048"/>
            <a:ext cx="438912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670048"/>
            <a:ext cx="64008" cy="106984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2779776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$2.643B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3191256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FREE CASH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3438144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76B900"/>
                </a:solidFill>
                <a:latin typeface="Aptos"/>
              </a:rPr>
              <a:t>vs $1.348B Q1 FY23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922776"/>
            <a:ext cx="4389120" cy="1069848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3922776"/>
            <a:ext cx="64008" cy="1069848"/>
          </a:xfrm>
          <a:prstGeom prst="rect">
            <a:avLst/>
          </a:prstGeom>
          <a:solidFill>
            <a:srgbClr val="2C68A0"/>
          </a:solidFill>
          <a:ln>
            <a:solidFill>
              <a:srgbClr val="2C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403250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1714"/>
                </a:solidFill>
                <a:latin typeface="Aptos"/>
              </a:rPr>
              <a:t>$99M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4443984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65706A"/>
                </a:solidFill>
                <a:latin typeface="Aptos"/>
              </a:rPr>
              <a:t>CASH DIVIDENDS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4690872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2C68A0"/>
                </a:solidFill>
                <a:latin typeface="Aptos"/>
              </a:rPr>
              <a:t>returned in Q1 FY24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87568"/>
            <a:ext cx="10634472" cy="566928"/>
          </a:xfrm>
          <a:prstGeom prst="roundRect">
            <a:avLst/>
          </a:prstGeom>
          <a:solidFill>
            <a:srgbClr val="F5F7F5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843016"/>
            <a:ext cx="10222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65706A"/>
                </a:solidFill>
                <a:latin typeface="Aptos"/>
              </a:rPr>
              <a:t>Non-GAAP measures exclude specified acquisition-related costs, stock compensation and other adjustments; they do not replace GAAP.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65706A"/>
                </a:solidFill>
                <a:latin typeface="Aptos"/>
              </a:rPr>
              <a:t>Source: OfficeBench financial_report.pdf, pp. 3, 5–6  ·  NVIDIA Q1 FY2024 release, 24 May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06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8F072"/>
                </a:solidFill>
                <a:latin typeface="Aptos"/>
              </a:rPr>
              <a:t>Q2 FY2024 OUTLOOK  /  FORWARD-LOOKING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7132320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$11.00B revenue guide
raises the near-term run-rate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487168"/>
            <a:ext cx="3401568" cy="768096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96896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8C4BC"/>
                </a:solidFill>
                <a:latin typeface="Aptos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5292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$11.00B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9232" y="2898648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8F072"/>
                </a:solidFill>
                <a:latin typeface="Aptos"/>
              </a:rPr>
              <a:t>±2%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487168"/>
            <a:ext cx="3401568" cy="768096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596896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8C4BC"/>
                </a:solidFill>
                <a:latin typeface="Aptos"/>
              </a:rPr>
              <a:t>GAAP 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85292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68.6%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264" y="2898648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8F072"/>
                </a:solidFill>
                <a:latin typeface="Aptos"/>
              </a:rPr>
              <a:t>±50 bps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74720"/>
            <a:ext cx="3401568" cy="768096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584448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8C4BC"/>
                </a:solidFill>
                <a:latin typeface="Aptos"/>
              </a:rPr>
              <a:t>Non-GAAP 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40480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70.0%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886200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8F072"/>
                </a:solidFill>
                <a:latin typeface="Aptos"/>
              </a:rPr>
              <a:t>±50 bps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74720"/>
            <a:ext cx="3401568" cy="768096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584448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8C4BC"/>
                </a:solidFill>
                <a:latin typeface="Aptos"/>
              </a:rPr>
              <a:t>GAAP / non-GAAP OpEx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840480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$2.71B / $1.90B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3886200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8F072"/>
                </a:solidFill>
                <a:latin typeface="Aptos"/>
              </a:rPr>
              <a:t>approx.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62272"/>
            <a:ext cx="3401568" cy="768096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572000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8C4BC"/>
                </a:solidFill>
                <a:latin typeface="Aptos"/>
              </a:rPr>
              <a:t>Other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82803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$90M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873752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8F072"/>
                </a:solidFill>
                <a:latin typeface="Aptos"/>
              </a:rPr>
              <a:t>approx.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462272"/>
            <a:ext cx="3401568" cy="768096"/>
          </a:xfrm>
          <a:prstGeom prst="roundRect">
            <a:avLst/>
          </a:prstGeom>
          <a:solidFill>
            <a:srgbClr val="202B25"/>
          </a:solidFill>
          <a:ln>
            <a:solidFill>
              <a:srgbClr val="3B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4572000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B8C4BC"/>
                </a:solidFill>
                <a:latin typeface="Aptos"/>
              </a:rPr>
              <a:t>GAAP / non-GAAP tax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82803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14.0%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4" y="4873752"/>
            <a:ext cx="777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C8F072"/>
                </a:solidFill>
                <a:latin typeface="Aptos"/>
              </a:rPr>
              <a:t>±1%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941832"/>
            <a:ext cx="3310128" cy="45079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1280160"/>
            <a:ext cx="2670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76216"/>
                </a:solidFill>
                <a:latin typeface="Aptos"/>
              </a:rPr>
              <a:t>MANAGEMENT WATCHPOINTS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1764792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1764792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1714"/>
                </a:solidFill>
                <a:latin typeface="Aptos"/>
              </a:rPr>
              <a:t>Supply ramp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103120"/>
            <a:ext cx="20574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E2925"/>
                </a:solidFill>
                <a:latin typeface="Aptos"/>
              </a:rPr>
              <a:t>Release says supply is increasing to meet surging Data Center demand.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62072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2862072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1714"/>
                </a:solidFill>
                <a:latin typeface="Aptos"/>
              </a:rPr>
              <a:t>Margin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3200400"/>
            <a:ext cx="20574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E2925"/>
                </a:solidFill>
                <a:latin typeface="Aptos"/>
              </a:rPr>
              <a:t>Track the stated ±50 bps ranges for both GAAP and non-GAAP gross margin.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3968496"/>
            <a:ext cx="320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396849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1714"/>
                </a:solidFill>
                <a:latin typeface="Aptos"/>
              </a:rPr>
              <a:t>Comparison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8" y="4306824"/>
            <a:ext cx="205740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1E2925"/>
                </a:solidFill>
                <a:latin typeface="Aptos"/>
              </a:rPr>
              <a:t>Separate sequential recovery from year-on-year declines in Gaming and Pro Visualization.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916168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A8B2AC"/>
                </a:solidFill>
                <a:latin typeface="Aptos"/>
              </a:rPr>
              <a:t>Outlook is not a guarantee of future performance; see the source release for risk factors.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A8B2AC"/>
                </a:solidFill>
                <a:latin typeface="Aptos"/>
              </a:rPr>
              <a:t>Source: OfficeBench financial_report.pdf, pp. 1–3, 7  ·  NVIDIA Q1 FY2024 release, 24 May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8B2A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