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销售额(万元)</c:v>
                </c:pt>
              </c:strCache>
            </c:strRef>
          </c:tx>
          <c:spPr>
            <a:solidFill>
              <a:srgbClr val="F39C12"/>
            </a:solidFill>
          </c:spPr>
          <c:cat>
            <c:strRef>
              <c:f>Sheet1!$A$2:$A$5</c:f>
              <c:strCache>
                <c:ptCount val="4"/>
                <c:pt idx="0">
                  <c:v>上海</c:v>
                </c:pt>
                <c:pt idx="1">
                  <c:v>杭州</c:v>
                </c:pt>
                <c:pt idx="2">
                  <c:v>南京</c:v>
                </c:pt>
                <c:pt idx="3">
                  <c:v>苏州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186</c:v>
                </c:pt>
                <c:pt idx="1">
                  <c:v>121</c:v>
                </c:pt>
                <c:pt idx="2">
                  <c:v>96</c:v>
                </c:pt>
                <c:pt idx="3">
                  <c:v>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贡献增量(万元)</c:v>
                </c:pt>
              </c:strCache>
            </c:strRef>
          </c:tx>
          <c:spPr>
            <a:solidFill>
              <a:srgbClr val="F39C12"/>
            </a:solidFill>
          </c:spPr>
          <c:cat>
            <c:strRef>
              <c:f>Sheet1!$A$2:$A$5</c:f>
              <c:strCache>
                <c:ptCount val="4"/>
                <c:pt idx="0">
                  <c:v>轻食</c:v>
                </c:pt>
                <c:pt idx="1">
                  <c:v>咖啡</c:v>
                </c:pt>
                <c:pt idx="2">
                  <c:v>烘焙</c:v>
                </c:pt>
                <c:pt idx="3">
                  <c:v>周边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17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华东零售第32周经营简报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含税实收口径 · 对比第31周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W32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澄日零售（合成）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F39C12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482 万元销售额，环比 +12.4%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F39C12"/>
                </a:solidFill>
                <a:latin typeface="Noto Sans CJK SC"/>
              </a:rPr>
              <a:t>482万元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销售额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F39C12"/>
                </a:solidFill>
                <a:latin typeface="Noto Sans CJK SC"/>
              </a:rPr>
              <a:t>+12.4%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周环比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F39C12"/>
                </a:solidFill>
                <a:latin typeface="Noto Sans CJK SC"/>
              </a:rPr>
              <a:t>2.1%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退货率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4023360"/>
            <a:ext cx="164592" cy="164592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8768"/>
            <a:ext cx="104241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43447"/>
                </a:solidFill>
                <a:latin typeface="Noto Sans CJK SC"/>
              </a:rPr>
              <a:t>四城市全部正增长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590288"/>
            <a:ext cx="164592" cy="164592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25696"/>
            <a:ext cx="104241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43447"/>
                </a:solidFill>
                <a:latin typeface="Noto Sans CJK SC"/>
              </a:rPr>
              <a:t>退货率仍在3%内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澄日零售（合成）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F39C12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上海贡献 186 万元，苏州环比最快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上海占全区38.6%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201168" cy="201168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89864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苏州环比+15.5%，下周需配合新店补货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澄日零售（合成）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F39C12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小程序毛利率 38.2%，但规模仅占 28%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渠道</a:t>
                      </a:r>
                    </a:p>
                  </a:txBody>
                  <a:tcPr marL="73152" marR="73152"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销售额</a:t>
                      </a:r>
                    </a:p>
                  </a:txBody>
                  <a:tcPr marL="73152" marR="73152"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毛利率</a:t>
                      </a:r>
                    </a:p>
                  </a:txBody>
                  <a:tcPr marL="73152" marR="73152">
                    <a:solidFill>
                      <a:srgbClr val="F39C12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门店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278万元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34.6%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小程序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137万元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38.2%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平台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67万元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29.1%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" y="5440680"/>
            <a:ext cx="10771632" cy="566928"/>
          </a:xfrm>
          <a:prstGeom prst="roundRect">
            <a:avLst/>
          </a:prstGeom>
          <a:solidFill>
            <a:srgbClr val="E8F2F3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22976"/>
            <a:ext cx="103327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243447"/>
                </a:solidFill>
                <a:latin typeface="Noto Sans CJK SC"/>
              </a:rPr>
              <a:t>增量优先放到可控的私域渠道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澄日零售（合成）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F39C12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轻食与咖啡贡献 36 万元增量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轻食复购是上海的首要抓手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201168" cy="201168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89864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周边产品不扩SKU，先清理低周转库存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澄日零售（合成）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F39C12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下周聚焦两件事：苏州新店供给 + 上海轻食复购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苏州：将TOP20 SKU安全库存提至1.4倍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上海：针对30天内轻食购买用户做二次触达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次周复盘：销售额、毛利率、退货率三指标配对观察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数据不只是回顾，要对应下一步资源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澄日零售（合成）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F39C12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华东零售周报数据汇报</dc:title>
  <dc:subject>data_to_deck</dc:subject>
  <dc:creator>澄日零售（合成）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