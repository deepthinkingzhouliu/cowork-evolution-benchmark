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浅绿中绿渐变背景"/>
          <p:cNvSpPr/>
          <p:nvPr/>
        </p:nvSpPr>
        <p:spPr>
          <a:xfrm>
            <a:off x="0" y="0"/>
            <a:ext cx="12191999" cy="6858000"/>
          </a:xfrm>
          <a:prstGeom prst="rect">
            <a:avLst/>
          </a:prstGeom>
          <a:gradFill rotWithShape="1">
            <a:gsLst>
              <a:gs pos="0">
                <a:srgbClr val="EAF7EE"/>
              </a:gs>
              <a:gs pos="100000">
                <a:srgbClr val="7FC99A"/>
              </a:gs>
            </a:gsLst>
            <a:lin ang="54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65760"/>
            <a:ext cx="566928" cy="6400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封面导语"/>
          <p:cNvSpPr txBox="1"/>
          <p:nvPr/>
        </p:nvSpPr>
        <p:spPr>
          <a:xfrm>
            <a:off x="987552" y="1225296"/>
            <a:ext cx="10222992" cy="411480"/>
          </a:xfrm>
          <a:prstGeom prst="rect">
            <a:avLst/>
          </a:prstGeom>
          <a:noFill/>
        </p:spPr>
        <p:txBody>
          <a:bodyPr wrap="square" anchor="ctr" lIns="36576" rIns="36576" tIns="36576" bIns="36576">
            <a:spAutoFit/>
          </a:bodyPr>
          <a:lstStyle/>
          <a:p>
            <a:pPr algn="ctr">
              <a:lnSpc>
                <a:spcPct val="105000"/>
              </a:lnSpc>
              <a:spcBef>
                <a:spcPts val="0"/>
              </a:spcBef>
              <a:spcAft>
                <a:spcPts val="0"/>
              </a:spcAft>
            </a:pPr>
            <a:r>
              <a:rPr sz="1600" b="1">
                <a:solidFill>
                  <a:srgbClr val="355A49"/>
                </a:solidFill>
                <a:latin typeface="宋体"/>
                <a:ea typeface="宋体"/>
              </a:rPr>
              <a:t>2026 · 北区增长策略</a:t>
            </a:r>
          </a:p>
        </p:txBody>
      </p:sp>
      <p:sp>
        <p:nvSpPr>
          <p:cNvPr id="5" name="封面标题"/>
          <p:cNvSpPr txBox="1"/>
          <p:nvPr/>
        </p:nvSpPr>
        <p:spPr>
          <a:xfrm>
            <a:off x="502920" y="1874519"/>
            <a:ext cx="11183112" cy="1143000"/>
          </a:xfrm>
          <a:prstGeom prst="rect">
            <a:avLst/>
          </a:prstGeom>
          <a:noFill/>
        </p:spPr>
        <p:txBody>
          <a:bodyPr wrap="none" anchor="ctr" lIns="0" rIns="0" tIns="0" bIns="0">
            <a:spAutoFit/>
          </a:bodyPr>
          <a:lstStyle/>
          <a:p>
            <a:pPr algn="ctr">
              <a:lnSpc>
                <a:spcPct val="105000"/>
              </a:lnSpc>
              <a:spcBef>
                <a:spcPts val="0"/>
              </a:spcBef>
              <a:spcAft>
                <a:spcPts val="0"/>
              </a:spcAft>
            </a:pPr>
            <a:r>
              <a:rPr sz="7000" b="1">
                <a:solidFill>
                  <a:srgbClr val="17372C"/>
                </a:solidFill>
                <a:latin typeface="宋体"/>
                <a:ea typeface="宋体"/>
              </a:rPr>
              <a:t>艺术漆北区销售额提升方案</a:t>
            </a:r>
          </a:p>
        </p:txBody>
      </p:sp>
      <p:sp>
        <p:nvSpPr>
          <p:cNvPr id="6" name="封面摘要"/>
          <p:cNvSpPr txBox="1"/>
          <p:nvPr/>
        </p:nvSpPr>
        <p:spPr>
          <a:xfrm>
            <a:off x="1143000" y="3273552"/>
            <a:ext cx="9902952" cy="420624"/>
          </a:xfrm>
          <a:prstGeom prst="rect">
            <a:avLst/>
          </a:prstGeom>
          <a:noFill/>
        </p:spPr>
        <p:txBody>
          <a:bodyPr wrap="square" anchor="ctr" lIns="36576" rIns="36576" tIns="36576" bIns="36576">
            <a:spAutoFit/>
          </a:bodyPr>
          <a:lstStyle/>
          <a:p>
            <a:pPr algn="ctr">
              <a:lnSpc>
                <a:spcPct val="105000"/>
              </a:lnSpc>
              <a:spcBef>
                <a:spcPts val="0"/>
              </a:spcBef>
              <a:spcAft>
                <a:spcPts val="0"/>
              </a:spcAft>
            </a:pPr>
            <a:r>
              <a:rPr sz="1600" b="0">
                <a:solidFill>
                  <a:srgbClr val="355A49"/>
                </a:solidFill>
                <a:latin typeface="宋体"/>
                <a:ea typeface="宋体"/>
              </a:rPr>
              <a:t>市场机会  ·  产品体系  ·  渠道转化  ·  执行保障</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浅绿中绿渐变背景"/>
          <p:cNvSpPr/>
          <p:nvPr/>
        </p:nvSpPr>
        <p:spPr>
          <a:xfrm>
            <a:off x="0" y="0"/>
            <a:ext cx="12191999" cy="6858000"/>
          </a:xfrm>
          <a:prstGeom prst="rect">
            <a:avLst/>
          </a:prstGeom>
          <a:gradFill rotWithShape="1">
            <a:gsLst>
              <a:gs pos="0">
                <a:srgbClr val="EAF7EE"/>
              </a:gs>
              <a:gs pos="100000">
                <a:srgbClr val="7FC99A"/>
              </a:gs>
            </a:gsLst>
            <a:lin ang="54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65760"/>
            <a:ext cx="566928" cy="6400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目录标题"/>
          <p:cNvSpPr txBox="1"/>
          <p:nvPr/>
        </p:nvSpPr>
        <p:spPr>
          <a:xfrm>
            <a:off x="777240" y="612648"/>
            <a:ext cx="1828800" cy="685800"/>
          </a:xfrm>
          <a:prstGeom prst="rect">
            <a:avLst/>
          </a:prstGeom>
          <a:noFill/>
        </p:spPr>
        <p:txBody>
          <a:bodyPr wrap="square" anchor="ctr" lIns="36576" rIns="36576" tIns="36576" bIns="36576">
            <a:spAutoFit/>
          </a:bodyPr>
          <a:lstStyle/>
          <a:p>
            <a:pPr algn="l">
              <a:lnSpc>
                <a:spcPct val="105000"/>
              </a:lnSpc>
              <a:spcBef>
                <a:spcPts val="0"/>
              </a:spcBef>
              <a:spcAft>
                <a:spcPts val="0"/>
              </a:spcAft>
            </a:pPr>
            <a:r>
              <a:rPr sz="3600" b="1">
                <a:solidFill>
                  <a:srgbClr val="17372C"/>
                </a:solidFill>
                <a:latin typeface="宋体"/>
                <a:ea typeface="宋体"/>
              </a:rPr>
              <a:t>目录</a:t>
            </a:r>
          </a:p>
        </p:txBody>
      </p:sp>
      <p:sp>
        <p:nvSpPr>
          <p:cNvPr id="5" name="目录编号1"/>
          <p:cNvSpPr txBox="1"/>
          <p:nvPr/>
        </p:nvSpPr>
        <p:spPr>
          <a:xfrm>
            <a:off x="804672" y="1664208"/>
            <a:ext cx="457200" cy="384048"/>
          </a:xfrm>
          <a:prstGeom prst="rect">
            <a:avLst/>
          </a:prstGeom>
          <a:noFill/>
        </p:spPr>
        <p:txBody>
          <a:bodyPr wrap="square" anchor="ctr" lIns="36576" rIns="36576" tIns="36576" bIns="36576">
            <a:spAutoFit/>
          </a:bodyPr>
          <a:lstStyle/>
          <a:p>
            <a:pPr algn="l">
              <a:lnSpc>
                <a:spcPct val="105000"/>
              </a:lnSpc>
              <a:spcBef>
                <a:spcPts val="0"/>
              </a:spcBef>
              <a:spcAft>
                <a:spcPts val="0"/>
              </a:spcAft>
            </a:pPr>
            <a:r>
              <a:rPr sz="1600" b="1">
                <a:solidFill>
                  <a:srgbClr val="A94500"/>
                </a:solidFill>
                <a:latin typeface="宋体"/>
                <a:ea typeface="宋体"/>
              </a:rPr>
              <a:t>01</a:t>
            </a:r>
          </a:p>
        </p:txBody>
      </p:sp>
      <p:sp>
        <p:nvSpPr>
          <p:cNvPr id="6" name="目录条目1"/>
          <p:cNvSpPr txBox="1"/>
          <p:nvPr/>
        </p:nvSpPr>
        <p:spPr>
          <a:xfrm>
            <a:off x="1325880" y="1636776"/>
            <a:ext cx="2542032" cy="640080"/>
          </a:xfrm>
          <a:prstGeom prst="rect">
            <a:avLst/>
          </a:prstGeom>
          <a:noFill/>
        </p:spPr>
        <p:txBody>
          <a:bodyPr wrap="square" anchor="ctr" lIns="36576" rIns="36576" tIns="36576" bIns="36576">
            <a:spAutoFit/>
          </a:bodyPr>
          <a:lstStyle/>
          <a:p>
            <a:pPr algn="l">
              <a:lnSpc>
                <a:spcPct val="105000"/>
              </a:lnSpc>
              <a:spcBef>
                <a:spcPts val="0"/>
              </a:spcBef>
              <a:spcAft>
                <a:spcPts val="0"/>
              </a:spcAft>
            </a:pPr>
            <a:r>
              <a:rPr sz="1800" b="1">
                <a:solidFill>
                  <a:srgbClr val="17372C"/>
                </a:solidFill>
                <a:latin typeface="宋体"/>
                <a:ea typeface="宋体"/>
              </a:rPr>
              <a:t>市场趋势与消费升级</a:t>
            </a:r>
          </a:p>
        </p:txBody>
      </p:sp>
      <p:sp>
        <p:nvSpPr>
          <p:cNvPr id="7" name="目录编号2"/>
          <p:cNvSpPr txBox="1"/>
          <p:nvPr/>
        </p:nvSpPr>
        <p:spPr>
          <a:xfrm>
            <a:off x="4096512" y="1664208"/>
            <a:ext cx="457200" cy="384048"/>
          </a:xfrm>
          <a:prstGeom prst="rect">
            <a:avLst/>
          </a:prstGeom>
          <a:noFill/>
        </p:spPr>
        <p:txBody>
          <a:bodyPr wrap="square" anchor="ctr" lIns="36576" rIns="36576" tIns="36576" bIns="36576">
            <a:spAutoFit/>
          </a:bodyPr>
          <a:lstStyle/>
          <a:p>
            <a:pPr algn="l">
              <a:lnSpc>
                <a:spcPct val="105000"/>
              </a:lnSpc>
              <a:spcBef>
                <a:spcPts val="0"/>
              </a:spcBef>
              <a:spcAft>
                <a:spcPts val="0"/>
              </a:spcAft>
            </a:pPr>
            <a:r>
              <a:rPr sz="1600" b="1">
                <a:solidFill>
                  <a:srgbClr val="A94500"/>
                </a:solidFill>
                <a:latin typeface="宋体"/>
                <a:ea typeface="宋体"/>
              </a:rPr>
              <a:t>02</a:t>
            </a:r>
          </a:p>
        </p:txBody>
      </p:sp>
      <p:sp>
        <p:nvSpPr>
          <p:cNvPr id="8" name="目录条目2"/>
          <p:cNvSpPr txBox="1"/>
          <p:nvPr/>
        </p:nvSpPr>
        <p:spPr>
          <a:xfrm>
            <a:off x="4617720" y="1636776"/>
            <a:ext cx="2542032" cy="640080"/>
          </a:xfrm>
          <a:prstGeom prst="rect">
            <a:avLst/>
          </a:prstGeom>
          <a:noFill/>
        </p:spPr>
        <p:txBody>
          <a:bodyPr wrap="square" anchor="ctr" lIns="36576" rIns="36576" tIns="36576" bIns="36576">
            <a:spAutoFit/>
          </a:bodyPr>
          <a:lstStyle/>
          <a:p>
            <a:pPr algn="l">
              <a:lnSpc>
                <a:spcPct val="105000"/>
              </a:lnSpc>
              <a:spcBef>
                <a:spcPts val="0"/>
              </a:spcBef>
              <a:spcAft>
                <a:spcPts val="0"/>
              </a:spcAft>
            </a:pPr>
            <a:r>
              <a:rPr sz="1800" b="1">
                <a:solidFill>
                  <a:srgbClr val="17372C"/>
                </a:solidFill>
                <a:latin typeface="宋体"/>
                <a:ea typeface="宋体"/>
              </a:rPr>
              <a:t>重点城市增长机会</a:t>
            </a:r>
          </a:p>
        </p:txBody>
      </p:sp>
      <p:sp>
        <p:nvSpPr>
          <p:cNvPr id="9" name="目录编号3"/>
          <p:cNvSpPr txBox="1"/>
          <p:nvPr/>
        </p:nvSpPr>
        <p:spPr>
          <a:xfrm>
            <a:off x="7388352" y="1664208"/>
            <a:ext cx="457200" cy="384048"/>
          </a:xfrm>
          <a:prstGeom prst="rect">
            <a:avLst/>
          </a:prstGeom>
          <a:noFill/>
        </p:spPr>
        <p:txBody>
          <a:bodyPr wrap="square" anchor="ctr" lIns="36576" rIns="36576" tIns="36576" bIns="36576">
            <a:spAutoFit/>
          </a:bodyPr>
          <a:lstStyle/>
          <a:p>
            <a:pPr algn="l">
              <a:lnSpc>
                <a:spcPct val="105000"/>
              </a:lnSpc>
              <a:spcBef>
                <a:spcPts val="0"/>
              </a:spcBef>
              <a:spcAft>
                <a:spcPts val="0"/>
              </a:spcAft>
            </a:pPr>
            <a:r>
              <a:rPr sz="1600" b="1">
                <a:solidFill>
                  <a:srgbClr val="A94500"/>
                </a:solidFill>
                <a:latin typeface="宋体"/>
                <a:ea typeface="宋体"/>
              </a:rPr>
              <a:t>03</a:t>
            </a:r>
          </a:p>
        </p:txBody>
      </p:sp>
      <p:sp>
        <p:nvSpPr>
          <p:cNvPr id="10" name="目录条目3"/>
          <p:cNvSpPr txBox="1"/>
          <p:nvPr/>
        </p:nvSpPr>
        <p:spPr>
          <a:xfrm>
            <a:off x="7909560" y="1636776"/>
            <a:ext cx="2542032" cy="640080"/>
          </a:xfrm>
          <a:prstGeom prst="rect">
            <a:avLst/>
          </a:prstGeom>
          <a:noFill/>
        </p:spPr>
        <p:txBody>
          <a:bodyPr wrap="square" anchor="ctr" lIns="36576" rIns="36576" tIns="36576" bIns="36576">
            <a:spAutoFit/>
          </a:bodyPr>
          <a:lstStyle/>
          <a:p>
            <a:pPr algn="l">
              <a:lnSpc>
                <a:spcPct val="105000"/>
              </a:lnSpc>
              <a:spcBef>
                <a:spcPts val="0"/>
              </a:spcBef>
              <a:spcAft>
                <a:spcPts val="0"/>
              </a:spcAft>
            </a:pPr>
            <a:r>
              <a:rPr sz="1800" b="1">
                <a:solidFill>
                  <a:srgbClr val="17372C"/>
                </a:solidFill>
                <a:latin typeface="宋体"/>
                <a:ea typeface="宋体"/>
              </a:rPr>
              <a:t>行业竞争与品牌机遇</a:t>
            </a:r>
          </a:p>
        </p:txBody>
      </p:sp>
      <p:sp>
        <p:nvSpPr>
          <p:cNvPr id="11" name="目录编号4"/>
          <p:cNvSpPr txBox="1"/>
          <p:nvPr/>
        </p:nvSpPr>
        <p:spPr>
          <a:xfrm>
            <a:off x="804672" y="3044952"/>
            <a:ext cx="457200" cy="384048"/>
          </a:xfrm>
          <a:prstGeom prst="rect">
            <a:avLst/>
          </a:prstGeom>
          <a:noFill/>
        </p:spPr>
        <p:txBody>
          <a:bodyPr wrap="square" anchor="ctr" lIns="36576" rIns="36576" tIns="36576" bIns="36576">
            <a:spAutoFit/>
          </a:bodyPr>
          <a:lstStyle/>
          <a:p>
            <a:pPr algn="l">
              <a:lnSpc>
                <a:spcPct val="105000"/>
              </a:lnSpc>
              <a:spcBef>
                <a:spcPts val="0"/>
              </a:spcBef>
              <a:spcAft>
                <a:spcPts val="0"/>
              </a:spcAft>
            </a:pPr>
            <a:r>
              <a:rPr sz="1600" b="1">
                <a:solidFill>
                  <a:srgbClr val="A94500"/>
                </a:solidFill>
                <a:latin typeface="宋体"/>
                <a:ea typeface="宋体"/>
              </a:rPr>
              <a:t>04</a:t>
            </a:r>
          </a:p>
        </p:txBody>
      </p:sp>
      <p:sp>
        <p:nvSpPr>
          <p:cNvPr id="12" name="目录条目4"/>
          <p:cNvSpPr txBox="1"/>
          <p:nvPr/>
        </p:nvSpPr>
        <p:spPr>
          <a:xfrm>
            <a:off x="1325880" y="3017520"/>
            <a:ext cx="2542032" cy="640080"/>
          </a:xfrm>
          <a:prstGeom prst="rect">
            <a:avLst/>
          </a:prstGeom>
          <a:noFill/>
        </p:spPr>
        <p:txBody>
          <a:bodyPr wrap="square" anchor="ctr" lIns="36576" rIns="36576" tIns="36576" bIns="36576">
            <a:spAutoFit/>
          </a:bodyPr>
          <a:lstStyle/>
          <a:p>
            <a:pPr algn="l">
              <a:lnSpc>
                <a:spcPct val="105000"/>
              </a:lnSpc>
              <a:spcBef>
                <a:spcPts val="0"/>
              </a:spcBef>
              <a:spcAft>
                <a:spcPts val="0"/>
              </a:spcAft>
            </a:pPr>
            <a:r>
              <a:rPr sz="1800" b="1">
                <a:solidFill>
                  <a:srgbClr val="17372C"/>
                </a:solidFill>
                <a:latin typeface="宋体"/>
                <a:ea typeface="宋体"/>
              </a:rPr>
              <a:t>年度发展目标</a:t>
            </a:r>
          </a:p>
        </p:txBody>
      </p:sp>
      <p:sp>
        <p:nvSpPr>
          <p:cNvPr id="13" name="目录编号5"/>
          <p:cNvSpPr txBox="1"/>
          <p:nvPr/>
        </p:nvSpPr>
        <p:spPr>
          <a:xfrm>
            <a:off x="4096512" y="3044952"/>
            <a:ext cx="457200" cy="384048"/>
          </a:xfrm>
          <a:prstGeom prst="rect">
            <a:avLst/>
          </a:prstGeom>
          <a:noFill/>
        </p:spPr>
        <p:txBody>
          <a:bodyPr wrap="square" anchor="ctr" lIns="36576" rIns="36576" tIns="36576" bIns="36576">
            <a:spAutoFit/>
          </a:bodyPr>
          <a:lstStyle/>
          <a:p>
            <a:pPr algn="l">
              <a:lnSpc>
                <a:spcPct val="105000"/>
              </a:lnSpc>
              <a:spcBef>
                <a:spcPts val="0"/>
              </a:spcBef>
              <a:spcAft>
                <a:spcPts val="0"/>
              </a:spcAft>
            </a:pPr>
            <a:r>
              <a:rPr sz="1600" b="1">
                <a:solidFill>
                  <a:srgbClr val="A94500"/>
                </a:solidFill>
                <a:latin typeface="宋体"/>
                <a:ea typeface="宋体"/>
              </a:rPr>
              <a:t>05</a:t>
            </a:r>
          </a:p>
        </p:txBody>
      </p:sp>
      <p:sp>
        <p:nvSpPr>
          <p:cNvPr id="14" name="目录条目5"/>
          <p:cNvSpPr txBox="1"/>
          <p:nvPr/>
        </p:nvSpPr>
        <p:spPr>
          <a:xfrm>
            <a:off x="4617720" y="3017520"/>
            <a:ext cx="2542032" cy="640080"/>
          </a:xfrm>
          <a:prstGeom prst="rect">
            <a:avLst/>
          </a:prstGeom>
          <a:noFill/>
        </p:spPr>
        <p:txBody>
          <a:bodyPr wrap="square" anchor="ctr" lIns="36576" rIns="36576" tIns="36576" bIns="36576">
            <a:spAutoFit/>
          </a:bodyPr>
          <a:lstStyle/>
          <a:p>
            <a:pPr algn="l">
              <a:lnSpc>
                <a:spcPct val="105000"/>
              </a:lnSpc>
              <a:spcBef>
                <a:spcPts val="0"/>
              </a:spcBef>
              <a:spcAft>
                <a:spcPts val="0"/>
              </a:spcAft>
            </a:pPr>
            <a:r>
              <a:rPr sz="1800" b="1">
                <a:solidFill>
                  <a:srgbClr val="17372C"/>
                </a:solidFill>
                <a:latin typeface="宋体"/>
                <a:ea typeface="宋体"/>
              </a:rPr>
              <a:t>核心产品体系</a:t>
            </a:r>
          </a:p>
        </p:txBody>
      </p:sp>
      <p:sp>
        <p:nvSpPr>
          <p:cNvPr id="15" name="目录编号6"/>
          <p:cNvSpPr txBox="1"/>
          <p:nvPr/>
        </p:nvSpPr>
        <p:spPr>
          <a:xfrm>
            <a:off x="7388352" y="3044952"/>
            <a:ext cx="457200" cy="384048"/>
          </a:xfrm>
          <a:prstGeom prst="rect">
            <a:avLst/>
          </a:prstGeom>
          <a:noFill/>
        </p:spPr>
        <p:txBody>
          <a:bodyPr wrap="square" anchor="ctr" lIns="36576" rIns="36576" tIns="36576" bIns="36576">
            <a:spAutoFit/>
          </a:bodyPr>
          <a:lstStyle/>
          <a:p>
            <a:pPr algn="l">
              <a:lnSpc>
                <a:spcPct val="105000"/>
              </a:lnSpc>
              <a:spcBef>
                <a:spcPts val="0"/>
              </a:spcBef>
              <a:spcAft>
                <a:spcPts val="0"/>
              </a:spcAft>
            </a:pPr>
            <a:r>
              <a:rPr sz="1600" b="1">
                <a:solidFill>
                  <a:srgbClr val="A94500"/>
                </a:solidFill>
                <a:latin typeface="宋体"/>
                <a:ea typeface="宋体"/>
              </a:rPr>
              <a:t>06</a:t>
            </a:r>
          </a:p>
        </p:txBody>
      </p:sp>
      <p:sp>
        <p:nvSpPr>
          <p:cNvPr id="16" name="目录条目6"/>
          <p:cNvSpPr txBox="1"/>
          <p:nvPr/>
        </p:nvSpPr>
        <p:spPr>
          <a:xfrm>
            <a:off x="7909560" y="3017520"/>
            <a:ext cx="2542032" cy="640080"/>
          </a:xfrm>
          <a:prstGeom prst="rect">
            <a:avLst/>
          </a:prstGeom>
          <a:noFill/>
        </p:spPr>
        <p:txBody>
          <a:bodyPr wrap="square" anchor="ctr" lIns="36576" rIns="36576" tIns="36576" bIns="36576">
            <a:spAutoFit/>
          </a:bodyPr>
          <a:lstStyle/>
          <a:p>
            <a:pPr algn="l">
              <a:lnSpc>
                <a:spcPct val="105000"/>
              </a:lnSpc>
              <a:spcBef>
                <a:spcPts val="0"/>
              </a:spcBef>
              <a:spcAft>
                <a:spcPts val="0"/>
              </a:spcAft>
            </a:pPr>
            <a:r>
              <a:rPr sz="1800" b="1">
                <a:solidFill>
                  <a:srgbClr val="17372C"/>
                </a:solidFill>
                <a:latin typeface="宋体"/>
                <a:ea typeface="宋体"/>
              </a:rPr>
              <a:t>产品组合与差异化卖点</a:t>
            </a:r>
          </a:p>
        </p:txBody>
      </p:sp>
      <p:sp>
        <p:nvSpPr>
          <p:cNvPr id="17" name="目录编号7"/>
          <p:cNvSpPr txBox="1"/>
          <p:nvPr/>
        </p:nvSpPr>
        <p:spPr>
          <a:xfrm>
            <a:off x="804672" y="4425696"/>
            <a:ext cx="457200" cy="384048"/>
          </a:xfrm>
          <a:prstGeom prst="rect">
            <a:avLst/>
          </a:prstGeom>
          <a:noFill/>
        </p:spPr>
        <p:txBody>
          <a:bodyPr wrap="square" anchor="ctr" lIns="36576" rIns="36576" tIns="36576" bIns="36576">
            <a:spAutoFit/>
          </a:bodyPr>
          <a:lstStyle/>
          <a:p>
            <a:pPr algn="l">
              <a:lnSpc>
                <a:spcPct val="105000"/>
              </a:lnSpc>
              <a:spcBef>
                <a:spcPts val="0"/>
              </a:spcBef>
              <a:spcAft>
                <a:spcPts val="0"/>
              </a:spcAft>
            </a:pPr>
            <a:r>
              <a:rPr sz="1600" b="1">
                <a:solidFill>
                  <a:srgbClr val="A94500"/>
                </a:solidFill>
                <a:latin typeface="宋体"/>
                <a:ea typeface="宋体"/>
              </a:rPr>
              <a:t>07</a:t>
            </a:r>
          </a:p>
        </p:txBody>
      </p:sp>
      <p:sp>
        <p:nvSpPr>
          <p:cNvPr id="18" name="目录条目7"/>
          <p:cNvSpPr txBox="1"/>
          <p:nvPr/>
        </p:nvSpPr>
        <p:spPr>
          <a:xfrm>
            <a:off x="1325880" y="4398264"/>
            <a:ext cx="2542032" cy="640080"/>
          </a:xfrm>
          <a:prstGeom prst="rect">
            <a:avLst/>
          </a:prstGeom>
          <a:noFill/>
        </p:spPr>
        <p:txBody>
          <a:bodyPr wrap="square" anchor="ctr" lIns="36576" rIns="36576" tIns="36576" bIns="36576">
            <a:spAutoFit/>
          </a:bodyPr>
          <a:lstStyle/>
          <a:p>
            <a:pPr algn="l">
              <a:lnSpc>
                <a:spcPct val="105000"/>
              </a:lnSpc>
              <a:spcBef>
                <a:spcPts val="0"/>
              </a:spcBef>
              <a:spcAft>
                <a:spcPts val="0"/>
              </a:spcAft>
            </a:pPr>
            <a:r>
              <a:rPr sz="1800" b="1">
                <a:solidFill>
                  <a:srgbClr val="17372C"/>
                </a:solidFill>
                <a:latin typeface="宋体"/>
                <a:ea typeface="宋体"/>
              </a:rPr>
              <a:t>多渠道拓展策略</a:t>
            </a:r>
          </a:p>
        </p:txBody>
      </p:sp>
      <p:sp>
        <p:nvSpPr>
          <p:cNvPr id="19" name="目录编号8"/>
          <p:cNvSpPr txBox="1"/>
          <p:nvPr/>
        </p:nvSpPr>
        <p:spPr>
          <a:xfrm>
            <a:off x="4096512" y="4425696"/>
            <a:ext cx="457200" cy="384048"/>
          </a:xfrm>
          <a:prstGeom prst="rect">
            <a:avLst/>
          </a:prstGeom>
          <a:noFill/>
        </p:spPr>
        <p:txBody>
          <a:bodyPr wrap="square" anchor="ctr" lIns="36576" rIns="36576" tIns="36576" bIns="36576">
            <a:spAutoFit/>
          </a:bodyPr>
          <a:lstStyle/>
          <a:p>
            <a:pPr algn="l">
              <a:lnSpc>
                <a:spcPct val="105000"/>
              </a:lnSpc>
              <a:spcBef>
                <a:spcPts val="0"/>
              </a:spcBef>
              <a:spcAft>
                <a:spcPts val="0"/>
              </a:spcAft>
            </a:pPr>
            <a:r>
              <a:rPr sz="1600" b="1">
                <a:solidFill>
                  <a:srgbClr val="A94500"/>
                </a:solidFill>
                <a:latin typeface="宋体"/>
                <a:ea typeface="宋体"/>
              </a:rPr>
              <a:t>08</a:t>
            </a:r>
          </a:p>
        </p:txBody>
      </p:sp>
      <p:sp>
        <p:nvSpPr>
          <p:cNvPr id="20" name="目录条目8"/>
          <p:cNvSpPr txBox="1"/>
          <p:nvPr/>
        </p:nvSpPr>
        <p:spPr>
          <a:xfrm>
            <a:off x="4617720" y="4398264"/>
            <a:ext cx="2542032" cy="640080"/>
          </a:xfrm>
          <a:prstGeom prst="rect">
            <a:avLst/>
          </a:prstGeom>
          <a:noFill/>
        </p:spPr>
        <p:txBody>
          <a:bodyPr wrap="square" anchor="ctr" lIns="36576" rIns="36576" tIns="36576" bIns="36576">
            <a:spAutoFit/>
          </a:bodyPr>
          <a:lstStyle/>
          <a:p>
            <a:pPr algn="l">
              <a:lnSpc>
                <a:spcPct val="105000"/>
              </a:lnSpc>
              <a:spcBef>
                <a:spcPts val="0"/>
              </a:spcBef>
              <a:spcAft>
                <a:spcPts val="0"/>
              </a:spcAft>
            </a:pPr>
            <a:r>
              <a:rPr sz="1800" b="1">
                <a:solidFill>
                  <a:srgbClr val="17372C"/>
                </a:solidFill>
                <a:latin typeface="宋体"/>
                <a:ea typeface="宋体"/>
              </a:rPr>
              <a:t>整合营销与本地转化</a:t>
            </a:r>
          </a:p>
        </p:txBody>
      </p:sp>
      <p:sp>
        <p:nvSpPr>
          <p:cNvPr id="21" name="目录编号9"/>
          <p:cNvSpPr txBox="1"/>
          <p:nvPr/>
        </p:nvSpPr>
        <p:spPr>
          <a:xfrm>
            <a:off x="7388352" y="4425696"/>
            <a:ext cx="457200" cy="384048"/>
          </a:xfrm>
          <a:prstGeom prst="rect">
            <a:avLst/>
          </a:prstGeom>
          <a:noFill/>
        </p:spPr>
        <p:txBody>
          <a:bodyPr wrap="square" anchor="ctr" lIns="36576" rIns="36576" tIns="36576" bIns="36576">
            <a:spAutoFit/>
          </a:bodyPr>
          <a:lstStyle/>
          <a:p>
            <a:pPr algn="l">
              <a:lnSpc>
                <a:spcPct val="105000"/>
              </a:lnSpc>
              <a:spcBef>
                <a:spcPts val="0"/>
              </a:spcBef>
              <a:spcAft>
                <a:spcPts val="0"/>
              </a:spcAft>
            </a:pPr>
            <a:r>
              <a:rPr sz="1600" b="1">
                <a:solidFill>
                  <a:srgbClr val="A94500"/>
                </a:solidFill>
                <a:latin typeface="宋体"/>
                <a:ea typeface="宋体"/>
              </a:rPr>
              <a:t>09</a:t>
            </a:r>
          </a:p>
        </p:txBody>
      </p:sp>
      <p:sp>
        <p:nvSpPr>
          <p:cNvPr id="22" name="目录条目9"/>
          <p:cNvSpPr txBox="1"/>
          <p:nvPr/>
        </p:nvSpPr>
        <p:spPr>
          <a:xfrm>
            <a:off x="7909560" y="4398264"/>
            <a:ext cx="2542032" cy="640080"/>
          </a:xfrm>
          <a:prstGeom prst="rect">
            <a:avLst/>
          </a:prstGeom>
          <a:noFill/>
        </p:spPr>
        <p:txBody>
          <a:bodyPr wrap="square" anchor="ctr" lIns="36576" rIns="36576" tIns="36576" bIns="36576">
            <a:spAutoFit/>
          </a:bodyPr>
          <a:lstStyle/>
          <a:p>
            <a:pPr algn="l">
              <a:lnSpc>
                <a:spcPct val="105000"/>
              </a:lnSpc>
              <a:spcBef>
                <a:spcPts val="0"/>
              </a:spcBef>
              <a:spcAft>
                <a:spcPts val="0"/>
              </a:spcAft>
            </a:pPr>
            <a:r>
              <a:rPr sz="1800" b="1">
                <a:solidFill>
                  <a:srgbClr val="17372C"/>
                </a:solidFill>
                <a:latin typeface="宋体"/>
                <a:ea typeface="宋体"/>
              </a:rPr>
              <a:t>服务体系与执行保障</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浅绿中绿渐变背景"/>
          <p:cNvSpPr/>
          <p:nvPr/>
        </p:nvSpPr>
        <p:spPr>
          <a:xfrm>
            <a:off x="0" y="0"/>
            <a:ext cx="12191999" cy="6858000"/>
          </a:xfrm>
          <a:prstGeom prst="rect">
            <a:avLst/>
          </a:prstGeom>
          <a:gradFill rotWithShape="1">
            <a:gsLst>
              <a:gs pos="0">
                <a:srgbClr val="EAF7EE"/>
              </a:gs>
              <a:gs pos="100000">
                <a:srgbClr val="7FC99A"/>
              </a:gs>
            </a:gsLst>
            <a:lin ang="54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65760"/>
            <a:ext cx="566928" cy="6400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章节进度"/>
          <p:cNvSpPr txBox="1"/>
          <p:nvPr/>
        </p:nvSpPr>
        <p:spPr>
          <a:xfrm>
            <a:off x="10561320" y="219456"/>
            <a:ext cx="960120" cy="329184"/>
          </a:xfrm>
          <a:prstGeom prst="rect">
            <a:avLst/>
          </a:prstGeom>
          <a:noFill/>
        </p:spPr>
        <p:txBody>
          <a:bodyPr wrap="square" anchor="ctr" lIns="36576" rIns="36576" tIns="36576" bIns="36576">
            <a:spAutoFit/>
          </a:bodyPr>
          <a:lstStyle/>
          <a:p>
            <a:pPr algn="r">
              <a:lnSpc>
                <a:spcPct val="105000"/>
              </a:lnSpc>
              <a:spcBef>
                <a:spcPts val="0"/>
              </a:spcBef>
              <a:spcAft>
                <a:spcPts val="0"/>
              </a:spcAft>
            </a:pPr>
            <a:r>
              <a:rPr sz="1100" b="1">
                <a:solidFill>
                  <a:srgbClr val="355A49"/>
                </a:solidFill>
                <a:latin typeface="宋体"/>
                <a:ea typeface="宋体"/>
              </a:rPr>
              <a:t>01 / 09</a:t>
            </a:r>
          </a:p>
        </p:txBody>
      </p:sp>
      <p:sp>
        <p:nvSpPr>
          <p:cNvPr id="5" name="章节英文标识"/>
          <p:cNvSpPr txBox="1"/>
          <p:nvPr/>
        </p:nvSpPr>
        <p:spPr>
          <a:xfrm>
            <a:off x="914400" y="1901952"/>
            <a:ext cx="10360152" cy="384048"/>
          </a:xfrm>
          <a:prstGeom prst="rect">
            <a:avLst/>
          </a:prstGeom>
          <a:noFill/>
        </p:spPr>
        <p:txBody>
          <a:bodyPr wrap="square" anchor="ctr" lIns="36576" rIns="36576" tIns="36576" bIns="36576">
            <a:spAutoFit/>
          </a:bodyPr>
          <a:lstStyle/>
          <a:p>
            <a:pPr algn="ctr">
              <a:lnSpc>
                <a:spcPct val="105000"/>
              </a:lnSpc>
              <a:spcBef>
                <a:spcPts val="0"/>
              </a:spcBef>
              <a:spcAft>
                <a:spcPts val="0"/>
              </a:spcAft>
            </a:pPr>
            <a:r>
              <a:rPr sz="1400" b="1">
                <a:solidFill>
                  <a:srgbClr val="A94500"/>
                </a:solidFill>
                <a:latin typeface="宋体"/>
                <a:ea typeface="宋体"/>
              </a:rPr>
              <a:t>PART 01</a:t>
            </a:r>
          </a:p>
        </p:txBody>
      </p:sp>
      <p:sp>
        <p:nvSpPr>
          <p:cNvPr id="6" name="章节标题"/>
          <p:cNvSpPr txBox="1"/>
          <p:nvPr/>
        </p:nvSpPr>
        <p:spPr>
          <a:xfrm>
            <a:off x="731520" y="2432304"/>
            <a:ext cx="10725912" cy="932688"/>
          </a:xfrm>
          <a:prstGeom prst="rect">
            <a:avLst/>
          </a:prstGeom>
          <a:noFill/>
        </p:spPr>
        <p:txBody>
          <a:bodyPr wrap="none" anchor="ctr" lIns="0" rIns="0" tIns="0" bIns="0">
            <a:spAutoFit/>
          </a:bodyPr>
          <a:lstStyle/>
          <a:p>
            <a:pPr algn="ctr">
              <a:lnSpc>
                <a:spcPct val="105000"/>
              </a:lnSpc>
              <a:spcBef>
                <a:spcPts val="0"/>
              </a:spcBef>
              <a:spcAft>
                <a:spcPts val="0"/>
              </a:spcAft>
            </a:pPr>
            <a:r>
              <a:rPr sz="4000" b="1">
                <a:solidFill>
                  <a:srgbClr val="17372C"/>
                </a:solidFill>
                <a:latin typeface="宋体"/>
                <a:ea typeface="宋体"/>
              </a:rPr>
              <a:t>一、市场趋势与消费升级</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浅绿中绿渐变背景"/>
          <p:cNvSpPr/>
          <p:nvPr/>
        </p:nvSpPr>
        <p:spPr>
          <a:xfrm>
            <a:off x="0" y="0"/>
            <a:ext cx="12191999" cy="6858000"/>
          </a:xfrm>
          <a:prstGeom prst="rect">
            <a:avLst/>
          </a:prstGeom>
          <a:gradFill rotWithShape="1">
            <a:gsLst>
              <a:gs pos="0">
                <a:srgbClr val="EAF7EE"/>
              </a:gs>
              <a:gs pos="100000">
                <a:srgbClr val="7FC99A"/>
              </a:gs>
            </a:gsLst>
            <a:lin ang="54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65760"/>
            <a:ext cx="566928" cy="6400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章节进度"/>
          <p:cNvSpPr txBox="1"/>
          <p:nvPr/>
        </p:nvSpPr>
        <p:spPr>
          <a:xfrm>
            <a:off x="10561320" y="219456"/>
            <a:ext cx="960120" cy="329184"/>
          </a:xfrm>
          <a:prstGeom prst="rect">
            <a:avLst/>
          </a:prstGeom>
          <a:noFill/>
        </p:spPr>
        <p:txBody>
          <a:bodyPr wrap="square" anchor="ctr" lIns="36576" rIns="36576" tIns="36576" bIns="36576">
            <a:spAutoFit/>
          </a:bodyPr>
          <a:lstStyle/>
          <a:p>
            <a:pPr algn="r">
              <a:lnSpc>
                <a:spcPct val="105000"/>
              </a:lnSpc>
              <a:spcBef>
                <a:spcPts val="0"/>
              </a:spcBef>
              <a:spcAft>
                <a:spcPts val="0"/>
              </a:spcAft>
            </a:pPr>
            <a:r>
              <a:rPr sz="1100" b="1">
                <a:solidFill>
                  <a:srgbClr val="355A49"/>
                </a:solidFill>
                <a:latin typeface="宋体"/>
                <a:ea typeface="宋体"/>
              </a:rPr>
              <a:t>01 / 09</a:t>
            </a:r>
          </a:p>
        </p:txBody>
      </p:sp>
      <p:sp>
        <p:nvSpPr>
          <p:cNvPr id="5" name="第1节橙色外框"/>
          <p:cNvSpPr/>
          <p:nvPr/>
        </p:nvSpPr>
        <p:spPr>
          <a:xfrm>
            <a:off x="658368" y="594360"/>
            <a:ext cx="10881360" cy="2514600"/>
          </a:xfrm>
          <a:prstGeom prst="rect">
            <a:avLst/>
          </a:prstGeom>
          <a:noFill/>
          <a:ln w="28575">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二级标题1"/>
          <p:cNvSpPr txBox="1"/>
          <p:nvPr/>
        </p:nvSpPr>
        <p:spPr>
          <a:xfrm>
            <a:off x="932688" y="822960"/>
            <a:ext cx="10314432" cy="384048"/>
          </a:xfrm>
          <a:prstGeom prst="rect">
            <a:avLst/>
          </a:prstGeom>
          <a:noFill/>
        </p:spPr>
        <p:txBody>
          <a:bodyPr wrap="square" anchor="ctr" lIns="36576" rIns="36576" tIns="36576" bIns="36576">
            <a:spAutoFit/>
          </a:bodyPr>
          <a:lstStyle/>
          <a:p>
            <a:pPr algn="l">
              <a:lnSpc>
                <a:spcPct val="105000"/>
              </a:lnSpc>
              <a:spcBef>
                <a:spcPts val="0"/>
              </a:spcBef>
              <a:spcAft>
                <a:spcPts val="0"/>
              </a:spcAft>
            </a:pPr>
            <a:r>
              <a:rPr sz="1800" b="1">
                <a:solidFill>
                  <a:srgbClr val="17372C"/>
                </a:solidFill>
                <a:latin typeface="宋体"/>
                <a:ea typeface="宋体"/>
              </a:rPr>
              <a:t>1.1 市场扩容趋势</a:t>
            </a:r>
          </a:p>
        </p:txBody>
      </p:sp>
      <p:sp>
        <p:nvSpPr>
          <p:cNvPr id="7" name="正文1"/>
          <p:cNvSpPr txBox="1"/>
          <p:nvPr/>
        </p:nvSpPr>
        <p:spPr>
          <a:xfrm>
            <a:off x="932688" y="1298448"/>
            <a:ext cx="10314432" cy="1408176"/>
          </a:xfrm>
          <a:prstGeom prst="rect">
            <a:avLst/>
          </a:prstGeom>
          <a:noFill/>
        </p:spPr>
        <p:txBody>
          <a:bodyPr wrap="square" anchor="t" lIns="36576" rIns="36576" tIns="36576" bIns="36576">
            <a:spAutoFit/>
          </a:bodyPr>
          <a:lstStyle/>
          <a:p>
            <a:pPr algn="l">
              <a:lnSpc>
                <a:spcPct val="105000"/>
              </a:lnSpc>
              <a:spcBef>
                <a:spcPts val="0"/>
              </a:spcBef>
              <a:spcAft>
                <a:spcPts val="0"/>
              </a:spcAft>
            </a:pPr>
            <a:r>
              <a:rPr sz="1400" b="0">
                <a:solidFill>
                  <a:srgbClr val="17372C"/>
                </a:solidFill>
                <a:latin typeface="宋体"/>
                <a:ea typeface="宋体"/>
              </a:rPr>
              <a:t>2026年，艺术涂料市场仍处于快速扩容阶段。随着居民家装需求从“基础居住”转向“个性表达、质感升级和环保安心”，艺术漆在内墙涂料中的渗透率仍有较大提升空间。</a:t>
            </a:r>
          </a:p>
        </p:txBody>
      </p:sp>
      <p:sp>
        <p:nvSpPr>
          <p:cNvPr id="8" name="第2节橙色外框"/>
          <p:cNvSpPr/>
          <p:nvPr/>
        </p:nvSpPr>
        <p:spPr>
          <a:xfrm>
            <a:off x="658368" y="3502152"/>
            <a:ext cx="10881360" cy="2514600"/>
          </a:xfrm>
          <a:prstGeom prst="rect">
            <a:avLst/>
          </a:prstGeom>
          <a:noFill/>
          <a:ln w="28575">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二级标题2"/>
          <p:cNvSpPr txBox="1"/>
          <p:nvPr/>
        </p:nvSpPr>
        <p:spPr>
          <a:xfrm>
            <a:off x="932688" y="3730752"/>
            <a:ext cx="10314432" cy="384048"/>
          </a:xfrm>
          <a:prstGeom prst="rect">
            <a:avLst/>
          </a:prstGeom>
          <a:noFill/>
        </p:spPr>
        <p:txBody>
          <a:bodyPr wrap="square" anchor="ctr" lIns="36576" rIns="36576" tIns="36576" bIns="36576">
            <a:spAutoFit/>
          </a:bodyPr>
          <a:lstStyle/>
          <a:p>
            <a:pPr algn="l">
              <a:lnSpc>
                <a:spcPct val="105000"/>
              </a:lnSpc>
              <a:spcBef>
                <a:spcPts val="0"/>
              </a:spcBef>
              <a:spcAft>
                <a:spcPts val="0"/>
              </a:spcAft>
            </a:pPr>
            <a:r>
              <a:rPr sz="1800" b="1">
                <a:solidFill>
                  <a:srgbClr val="17372C"/>
                </a:solidFill>
                <a:latin typeface="宋体"/>
                <a:ea typeface="宋体"/>
              </a:rPr>
              <a:t>1.2 消费需求变化</a:t>
            </a:r>
          </a:p>
        </p:txBody>
      </p:sp>
      <p:sp>
        <p:nvSpPr>
          <p:cNvPr id="10" name="正文2"/>
          <p:cNvSpPr txBox="1"/>
          <p:nvPr/>
        </p:nvSpPr>
        <p:spPr>
          <a:xfrm>
            <a:off x="932688" y="4206240"/>
            <a:ext cx="10314432" cy="1408176"/>
          </a:xfrm>
          <a:prstGeom prst="rect">
            <a:avLst/>
          </a:prstGeom>
          <a:noFill/>
        </p:spPr>
        <p:txBody>
          <a:bodyPr wrap="square" anchor="t" lIns="36576" rIns="36576" tIns="36576" bIns="36576">
            <a:spAutoFit/>
          </a:bodyPr>
          <a:lstStyle/>
          <a:p>
            <a:pPr algn="l">
              <a:lnSpc>
                <a:spcPct val="105000"/>
              </a:lnSpc>
              <a:spcBef>
                <a:spcPts val="0"/>
              </a:spcBef>
              <a:spcAft>
                <a:spcPts val="0"/>
              </a:spcAft>
            </a:pPr>
            <a:r>
              <a:rPr sz="1400" b="0">
                <a:solidFill>
                  <a:srgbClr val="17372C"/>
                </a:solidFill>
                <a:latin typeface="宋体"/>
                <a:ea typeface="宋体"/>
              </a:rPr>
              <a:t>年轻消费群体逐渐成为家装决策主力，他们更关注空间氛围、色彩搭配、材质表现和整体设计感。这一变化推动艺术漆从小众装饰材料逐步走向主流家装品类，也为墙面美学消费打开了更大的增长空间。</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50"/>
                                        <p:tgtEl>
                                          <p:spTgt spid="6"/>
                                        </p:tgtEl>
                                      </p:cBhvr>
                                    </p:animEffect>
                                  </p:childTnLst>
                                </p:cTn>
                              </p:par>
                            </p:childTnLst>
                          </p:cTn>
                        </p:par>
                      </p:childTnLst>
                    </p:cTn>
                  </p:par>
                  <p:par>
                    <p:cTn id="8" fill="hold">
                      <p:stCondLst>
                        <p:cond delay="0"/>
                      </p:stCondLst>
                      <p:childTnLst>
                        <p:par>
                          <p:cTn id="9" fill="hold">
                            <p:stCondLst>
                              <p:cond delay="0"/>
                            </p:stCondLst>
                            <p:childTnLst>
                              <p:par>
                                <p:cTn id="10" presetID="22" presetClass="entr" presetSubtype="0"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650"/>
                                        <p:tgtEl>
                                          <p:spTgt spid="7"/>
                                        </p:tgtEl>
                                      </p:cBhvr>
                                    </p:animEffect>
                                  </p:childTnLst>
                                </p:cTn>
                              </p:par>
                            </p:childTnLst>
                          </p:cTn>
                        </p:par>
                      </p:childTnLst>
                    </p:cTn>
                  </p:par>
                  <p:par>
                    <p:cTn id="13" fill="hold">
                      <p:stCondLst>
                        <p:cond delay="0"/>
                      </p:stCondLst>
                      <p:childTnLst>
                        <p:par>
                          <p:cTn id="14" fill="hold">
                            <p:stCondLst>
                              <p:cond delay="0"/>
                            </p:stCondLst>
                            <p:childTnLst>
                              <p:par>
                                <p:cTn id="15" presetID="10" presetClass="entr" presetSubtype="0" fill="hold" nodeType="after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650"/>
                                        <p:tgtEl>
                                          <p:spTgt spid="9"/>
                                        </p:tgtEl>
                                      </p:cBhvr>
                                    </p:animEffect>
                                  </p:childTnLst>
                                </p:cTn>
                              </p:par>
                            </p:childTnLst>
                          </p:cTn>
                        </p:par>
                      </p:childTnLst>
                    </p:cTn>
                  </p:par>
                  <p:par>
                    <p:cTn id="18" fill="hold">
                      <p:stCondLst>
                        <p:cond delay="0"/>
                      </p:stCondLst>
                      <p:childTnLst>
                        <p:par>
                          <p:cTn id="19" fill="hold">
                            <p:stCondLst>
                              <p:cond delay="0"/>
                            </p:stCondLst>
                            <p:childTnLst>
                              <p:par>
                                <p:cTn id="20" presetID="22" presetClass="entr" presetSubtype="0" fill="hold"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6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浅绿中绿渐变背景"/>
          <p:cNvSpPr/>
          <p:nvPr/>
        </p:nvSpPr>
        <p:spPr>
          <a:xfrm>
            <a:off x="0" y="0"/>
            <a:ext cx="12191999" cy="6858000"/>
          </a:xfrm>
          <a:prstGeom prst="rect">
            <a:avLst/>
          </a:prstGeom>
          <a:gradFill rotWithShape="1">
            <a:gsLst>
              <a:gs pos="0">
                <a:srgbClr val="EAF7EE"/>
              </a:gs>
              <a:gs pos="100000">
                <a:srgbClr val="7FC99A"/>
              </a:gs>
            </a:gsLst>
            <a:lin ang="54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65760"/>
            <a:ext cx="566928" cy="6400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章节进度"/>
          <p:cNvSpPr txBox="1"/>
          <p:nvPr/>
        </p:nvSpPr>
        <p:spPr>
          <a:xfrm>
            <a:off x="10561320" y="219456"/>
            <a:ext cx="960120" cy="329184"/>
          </a:xfrm>
          <a:prstGeom prst="rect">
            <a:avLst/>
          </a:prstGeom>
          <a:noFill/>
        </p:spPr>
        <p:txBody>
          <a:bodyPr wrap="square" anchor="ctr" lIns="36576" rIns="36576" tIns="36576" bIns="36576">
            <a:spAutoFit/>
          </a:bodyPr>
          <a:lstStyle/>
          <a:p>
            <a:pPr algn="r">
              <a:lnSpc>
                <a:spcPct val="105000"/>
              </a:lnSpc>
              <a:spcBef>
                <a:spcPts val="0"/>
              </a:spcBef>
              <a:spcAft>
                <a:spcPts val="0"/>
              </a:spcAft>
            </a:pPr>
            <a:r>
              <a:rPr sz="1100" b="1">
                <a:solidFill>
                  <a:srgbClr val="355A49"/>
                </a:solidFill>
                <a:latin typeface="宋体"/>
                <a:ea typeface="宋体"/>
              </a:rPr>
              <a:t>02 / 09</a:t>
            </a:r>
          </a:p>
        </p:txBody>
      </p:sp>
      <p:sp>
        <p:nvSpPr>
          <p:cNvPr id="5" name="章节英文标识"/>
          <p:cNvSpPr txBox="1"/>
          <p:nvPr/>
        </p:nvSpPr>
        <p:spPr>
          <a:xfrm>
            <a:off x="914400" y="1901952"/>
            <a:ext cx="10360152" cy="384048"/>
          </a:xfrm>
          <a:prstGeom prst="rect">
            <a:avLst/>
          </a:prstGeom>
          <a:noFill/>
        </p:spPr>
        <p:txBody>
          <a:bodyPr wrap="square" anchor="ctr" lIns="36576" rIns="36576" tIns="36576" bIns="36576">
            <a:spAutoFit/>
          </a:bodyPr>
          <a:lstStyle/>
          <a:p>
            <a:pPr algn="ctr">
              <a:lnSpc>
                <a:spcPct val="105000"/>
              </a:lnSpc>
              <a:spcBef>
                <a:spcPts val="0"/>
              </a:spcBef>
              <a:spcAft>
                <a:spcPts val="0"/>
              </a:spcAft>
            </a:pPr>
            <a:r>
              <a:rPr sz="1400" b="1">
                <a:solidFill>
                  <a:srgbClr val="A94500"/>
                </a:solidFill>
                <a:latin typeface="宋体"/>
                <a:ea typeface="宋体"/>
              </a:rPr>
              <a:t>PART 02</a:t>
            </a:r>
          </a:p>
        </p:txBody>
      </p:sp>
      <p:sp>
        <p:nvSpPr>
          <p:cNvPr id="6" name="章节标题"/>
          <p:cNvSpPr txBox="1"/>
          <p:nvPr/>
        </p:nvSpPr>
        <p:spPr>
          <a:xfrm>
            <a:off x="731520" y="2432304"/>
            <a:ext cx="10725912" cy="932688"/>
          </a:xfrm>
          <a:prstGeom prst="rect">
            <a:avLst/>
          </a:prstGeom>
          <a:noFill/>
        </p:spPr>
        <p:txBody>
          <a:bodyPr wrap="none" anchor="ctr" lIns="0" rIns="0" tIns="0" bIns="0">
            <a:spAutoFit/>
          </a:bodyPr>
          <a:lstStyle/>
          <a:p>
            <a:pPr algn="ctr">
              <a:lnSpc>
                <a:spcPct val="105000"/>
              </a:lnSpc>
              <a:spcBef>
                <a:spcPts val="0"/>
              </a:spcBef>
              <a:spcAft>
                <a:spcPts val="0"/>
              </a:spcAft>
            </a:pPr>
            <a:r>
              <a:rPr sz="4000" b="1">
                <a:solidFill>
                  <a:srgbClr val="17372C"/>
                </a:solidFill>
                <a:latin typeface="宋体"/>
                <a:ea typeface="宋体"/>
              </a:rPr>
              <a:t>二、重点城市增长机会</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浅绿中绿渐变背景"/>
          <p:cNvSpPr/>
          <p:nvPr/>
        </p:nvSpPr>
        <p:spPr>
          <a:xfrm>
            <a:off x="0" y="0"/>
            <a:ext cx="12191999" cy="6858000"/>
          </a:xfrm>
          <a:prstGeom prst="rect">
            <a:avLst/>
          </a:prstGeom>
          <a:gradFill rotWithShape="1">
            <a:gsLst>
              <a:gs pos="0">
                <a:srgbClr val="EAF7EE"/>
              </a:gs>
              <a:gs pos="100000">
                <a:srgbClr val="7FC99A"/>
              </a:gs>
            </a:gsLst>
            <a:lin ang="54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65760"/>
            <a:ext cx="566928" cy="6400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章节进度"/>
          <p:cNvSpPr txBox="1"/>
          <p:nvPr/>
        </p:nvSpPr>
        <p:spPr>
          <a:xfrm>
            <a:off x="10561320" y="219456"/>
            <a:ext cx="960120" cy="329184"/>
          </a:xfrm>
          <a:prstGeom prst="rect">
            <a:avLst/>
          </a:prstGeom>
          <a:noFill/>
        </p:spPr>
        <p:txBody>
          <a:bodyPr wrap="square" anchor="ctr" lIns="36576" rIns="36576" tIns="36576" bIns="36576">
            <a:spAutoFit/>
          </a:bodyPr>
          <a:lstStyle/>
          <a:p>
            <a:pPr algn="r">
              <a:lnSpc>
                <a:spcPct val="105000"/>
              </a:lnSpc>
              <a:spcBef>
                <a:spcPts val="0"/>
              </a:spcBef>
              <a:spcAft>
                <a:spcPts val="0"/>
              </a:spcAft>
            </a:pPr>
            <a:r>
              <a:rPr sz="1100" b="1">
                <a:solidFill>
                  <a:srgbClr val="355A49"/>
                </a:solidFill>
                <a:latin typeface="宋体"/>
                <a:ea typeface="宋体"/>
              </a:rPr>
              <a:t>02 / 09</a:t>
            </a:r>
          </a:p>
        </p:txBody>
      </p:sp>
      <p:sp>
        <p:nvSpPr>
          <p:cNvPr id="5" name="第1节橙色外框"/>
          <p:cNvSpPr/>
          <p:nvPr/>
        </p:nvSpPr>
        <p:spPr>
          <a:xfrm>
            <a:off x="658368" y="594360"/>
            <a:ext cx="10881360" cy="2514600"/>
          </a:xfrm>
          <a:prstGeom prst="rect">
            <a:avLst/>
          </a:prstGeom>
          <a:noFill/>
          <a:ln w="28575">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二级标题1"/>
          <p:cNvSpPr txBox="1"/>
          <p:nvPr/>
        </p:nvSpPr>
        <p:spPr>
          <a:xfrm>
            <a:off x="932688" y="822960"/>
            <a:ext cx="10314432" cy="384048"/>
          </a:xfrm>
          <a:prstGeom prst="rect">
            <a:avLst/>
          </a:prstGeom>
          <a:noFill/>
        </p:spPr>
        <p:txBody>
          <a:bodyPr wrap="square" anchor="ctr" lIns="36576" rIns="36576" tIns="36576" bIns="36576">
            <a:spAutoFit/>
          </a:bodyPr>
          <a:lstStyle/>
          <a:p>
            <a:pPr algn="l">
              <a:lnSpc>
                <a:spcPct val="105000"/>
              </a:lnSpc>
              <a:spcBef>
                <a:spcPts val="0"/>
              </a:spcBef>
              <a:spcAft>
                <a:spcPts val="0"/>
              </a:spcAft>
            </a:pPr>
            <a:r>
              <a:rPr sz="1800" b="1">
                <a:solidFill>
                  <a:srgbClr val="17372C"/>
                </a:solidFill>
                <a:latin typeface="宋体"/>
                <a:ea typeface="宋体"/>
              </a:rPr>
              <a:t>2.1 改善型住房需求释放</a:t>
            </a:r>
          </a:p>
        </p:txBody>
      </p:sp>
      <p:sp>
        <p:nvSpPr>
          <p:cNvPr id="7" name="正文1"/>
          <p:cNvSpPr txBox="1"/>
          <p:nvPr/>
        </p:nvSpPr>
        <p:spPr>
          <a:xfrm>
            <a:off x="932688" y="1298448"/>
            <a:ext cx="10314432" cy="1408176"/>
          </a:xfrm>
          <a:prstGeom prst="rect">
            <a:avLst/>
          </a:prstGeom>
          <a:noFill/>
        </p:spPr>
        <p:txBody>
          <a:bodyPr wrap="square" anchor="t" lIns="36576" rIns="36576" tIns="36576" bIns="36576">
            <a:spAutoFit/>
          </a:bodyPr>
          <a:lstStyle/>
          <a:p>
            <a:pPr algn="l">
              <a:lnSpc>
                <a:spcPct val="105000"/>
              </a:lnSpc>
              <a:spcBef>
                <a:spcPts val="0"/>
              </a:spcBef>
              <a:spcAft>
                <a:spcPts val="0"/>
              </a:spcAft>
            </a:pPr>
            <a:r>
              <a:rPr sz="1400" b="0">
                <a:solidFill>
                  <a:srgbClr val="17372C"/>
                </a:solidFill>
                <a:latin typeface="宋体"/>
                <a:ea typeface="宋体"/>
              </a:rPr>
              <a:t>华北重点城市的市场机会主要来自改善型住房需求和存量房翻新需求。一线核心城市在楼市政策调整后，二手房交易和改善型装修需求有所释放，城市更新项目也带动了墙面翻新、精装升级和局部改造需求。</a:t>
            </a:r>
          </a:p>
        </p:txBody>
      </p:sp>
      <p:sp>
        <p:nvSpPr>
          <p:cNvPr id="8" name="第2节橙色外框"/>
          <p:cNvSpPr/>
          <p:nvPr/>
        </p:nvSpPr>
        <p:spPr>
          <a:xfrm>
            <a:off x="658368" y="3502152"/>
            <a:ext cx="10881360" cy="2514600"/>
          </a:xfrm>
          <a:prstGeom prst="rect">
            <a:avLst/>
          </a:prstGeom>
          <a:noFill/>
          <a:ln w="28575">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二级标题2"/>
          <p:cNvSpPr txBox="1"/>
          <p:nvPr/>
        </p:nvSpPr>
        <p:spPr>
          <a:xfrm>
            <a:off x="932688" y="3730752"/>
            <a:ext cx="10314432" cy="384048"/>
          </a:xfrm>
          <a:prstGeom prst="rect">
            <a:avLst/>
          </a:prstGeom>
          <a:noFill/>
        </p:spPr>
        <p:txBody>
          <a:bodyPr wrap="square" anchor="ctr" lIns="36576" rIns="36576" tIns="36576" bIns="36576">
            <a:spAutoFit/>
          </a:bodyPr>
          <a:lstStyle/>
          <a:p>
            <a:pPr algn="l">
              <a:lnSpc>
                <a:spcPct val="105000"/>
              </a:lnSpc>
              <a:spcBef>
                <a:spcPts val="0"/>
              </a:spcBef>
              <a:spcAft>
                <a:spcPts val="0"/>
              </a:spcAft>
            </a:pPr>
            <a:r>
              <a:rPr sz="1800" b="1">
                <a:solidFill>
                  <a:srgbClr val="17372C"/>
                </a:solidFill>
                <a:latin typeface="宋体"/>
                <a:ea typeface="宋体"/>
              </a:rPr>
              <a:t>2.2 存量房翻新潜力</a:t>
            </a:r>
          </a:p>
        </p:txBody>
      </p:sp>
      <p:sp>
        <p:nvSpPr>
          <p:cNvPr id="10" name="正文2"/>
          <p:cNvSpPr txBox="1"/>
          <p:nvPr/>
        </p:nvSpPr>
        <p:spPr>
          <a:xfrm>
            <a:off x="932688" y="4206240"/>
            <a:ext cx="10314432" cy="1408176"/>
          </a:xfrm>
          <a:prstGeom prst="rect">
            <a:avLst/>
          </a:prstGeom>
          <a:noFill/>
        </p:spPr>
        <p:txBody>
          <a:bodyPr wrap="square" anchor="t" lIns="36576" rIns="36576" tIns="36576" bIns="36576">
            <a:spAutoFit/>
          </a:bodyPr>
          <a:lstStyle/>
          <a:p>
            <a:pPr algn="l">
              <a:lnSpc>
                <a:spcPct val="105000"/>
              </a:lnSpc>
              <a:spcBef>
                <a:spcPts val="0"/>
              </a:spcBef>
              <a:spcAft>
                <a:spcPts val="0"/>
              </a:spcAft>
            </a:pPr>
            <a:r>
              <a:rPr sz="1400" b="0">
                <a:solidFill>
                  <a:srgbClr val="17372C"/>
                </a:solidFill>
                <a:latin typeface="宋体"/>
                <a:ea typeface="宋体"/>
              </a:rPr>
              <a:t>环渤海重点城市在老旧小区改造、存量住宅更新和家庭局部焕新方面具备较大潜力。家居建材行业的增长重心正在从新房增量逐步转向存量房精细化改造，艺术漆可借此切入局部焕新、整屋翻新和品质升级等消费场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50"/>
                                        <p:tgtEl>
                                          <p:spTgt spid="6"/>
                                        </p:tgtEl>
                                      </p:cBhvr>
                                    </p:animEffect>
                                  </p:childTnLst>
                                </p:cTn>
                              </p:par>
                            </p:childTnLst>
                          </p:cTn>
                        </p:par>
                      </p:childTnLst>
                    </p:cTn>
                  </p:par>
                  <p:par>
                    <p:cTn id="8" fill="hold">
                      <p:stCondLst>
                        <p:cond delay="0"/>
                      </p:stCondLst>
                      <p:childTnLst>
                        <p:par>
                          <p:cTn id="9" fill="hold">
                            <p:stCondLst>
                              <p:cond delay="0"/>
                            </p:stCondLst>
                            <p:childTnLst>
                              <p:par>
                                <p:cTn id="10" presetID="22" presetClass="entr" presetSubtype="0"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650"/>
                                        <p:tgtEl>
                                          <p:spTgt spid="7"/>
                                        </p:tgtEl>
                                      </p:cBhvr>
                                    </p:animEffect>
                                  </p:childTnLst>
                                </p:cTn>
                              </p:par>
                            </p:childTnLst>
                          </p:cTn>
                        </p:par>
                      </p:childTnLst>
                    </p:cTn>
                  </p:par>
                  <p:par>
                    <p:cTn id="13" fill="hold">
                      <p:stCondLst>
                        <p:cond delay="0"/>
                      </p:stCondLst>
                      <p:childTnLst>
                        <p:par>
                          <p:cTn id="14" fill="hold">
                            <p:stCondLst>
                              <p:cond delay="0"/>
                            </p:stCondLst>
                            <p:childTnLst>
                              <p:par>
                                <p:cTn id="15" presetID="10" presetClass="entr" presetSubtype="0" fill="hold" nodeType="after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650"/>
                                        <p:tgtEl>
                                          <p:spTgt spid="9"/>
                                        </p:tgtEl>
                                      </p:cBhvr>
                                    </p:animEffect>
                                  </p:childTnLst>
                                </p:cTn>
                              </p:par>
                            </p:childTnLst>
                          </p:cTn>
                        </p:par>
                      </p:childTnLst>
                    </p:cTn>
                  </p:par>
                  <p:par>
                    <p:cTn id="18" fill="hold">
                      <p:stCondLst>
                        <p:cond delay="0"/>
                      </p:stCondLst>
                      <p:childTnLst>
                        <p:par>
                          <p:cTn id="19" fill="hold">
                            <p:stCondLst>
                              <p:cond delay="0"/>
                            </p:stCondLst>
                            <p:childTnLst>
                              <p:par>
                                <p:cTn id="20" presetID="22" presetClass="entr" presetSubtype="0" fill="hold"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6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浅绿中绿渐变背景"/>
          <p:cNvSpPr/>
          <p:nvPr/>
        </p:nvSpPr>
        <p:spPr>
          <a:xfrm>
            <a:off x="0" y="0"/>
            <a:ext cx="12191999" cy="6858000"/>
          </a:xfrm>
          <a:prstGeom prst="rect">
            <a:avLst/>
          </a:prstGeom>
          <a:gradFill rotWithShape="1">
            <a:gsLst>
              <a:gs pos="0">
                <a:srgbClr val="EAF7EE"/>
              </a:gs>
              <a:gs pos="100000">
                <a:srgbClr val="7FC99A"/>
              </a:gs>
            </a:gsLst>
            <a:lin ang="54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65760"/>
            <a:ext cx="566928" cy="6400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章节进度"/>
          <p:cNvSpPr txBox="1"/>
          <p:nvPr/>
        </p:nvSpPr>
        <p:spPr>
          <a:xfrm>
            <a:off x="10561320" y="219456"/>
            <a:ext cx="960120" cy="329184"/>
          </a:xfrm>
          <a:prstGeom prst="rect">
            <a:avLst/>
          </a:prstGeom>
          <a:noFill/>
        </p:spPr>
        <p:txBody>
          <a:bodyPr wrap="square" anchor="ctr" lIns="36576" rIns="36576" tIns="36576" bIns="36576">
            <a:spAutoFit/>
          </a:bodyPr>
          <a:lstStyle/>
          <a:p>
            <a:pPr algn="r">
              <a:lnSpc>
                <a:spcPct val="105000"/>
              </a:lnSpc>
              <a:spcBef>
                <a:spcPts val="0"/>
              </a:spcBef>
              <a:spcAft>
                <a:spcPts val="0"/>
              </a:spcAft>
            </a:pPr>
            <a:r>
              <a:rPr sz="1100" b="1">
                <a:solidFill>
                  <a:srgbClr val="355A49"/>
                </a:solidFill>
                <a:latin typeface="宋体"/>
                <a:ea typeface="宋体"/>
              </a:rPr>
              <a:t>03 / 09</a:t>
            </a:r>
          </a:p>
        </p:txBody>
      </p:sp>
      <p:sp>
        <p:nvSpPr>
          <p:cNvPr id="5" name="章节英文标识"/>
          <p:cNvSpPr txBox="1"/>
          <p:nvPr/>
        </p:nvSpPr>
        <p:spPr>
          <a:xfrm>
            <a:off x="914400" y="1901952"/>
            <a:ext cx="10360152" cy="384048"/>
          </a:xfrm>
          <a:prstGeom prst="rect">
            <a:avLst/>
          </a:prstGeom>
          <a:noFill/>
        </p:spPr>
        <p:txBody>
          <a:bodyPr wrap="square" anchor="ctr" lIns="36576" rIns="36576" tIns="36576" bIns="36576">
            <a:spAutoFit/>
          </a:bodyPr>
          <a:lstStyle/>
          <a:p>
            <a:pPr algn="ctr">
              <a:lnSpc>
                <a:spcPct val="105000"/>
              </a:lnSpc>
              <a:spcBef>
                <a:spcPts val="0"/>
              </a:spcBef>
              <a:spcAft>
                <a:spcPts val="0"/>
              </a:spcAft>
            </a:pPr>
            <a:r>
              <a:rPr sz="1400" b="1">
                <a:solidFill>
                  <a:srgbClr val="A94500"/>
                </a:solidFill>
                <a:latin typeface="宋体"/>
                <a:ea typeface="宋体"/>
              </a:rPr>
              <a:t>PART 03</a:t>
            </a:r>
          </a:p>
        </p:txBody>
      </p:sp>
      <p:sp>
        <p:nvSpPr>
          <p:cNvPr id="6" name="章节标题"/>
          <p:cNvSpPr txBox="1"/>
          <p:nvPr/>
        </p:nvSpPr>
        <p:spPr>
          <a:xfrm>
            <a:off x="731520" y="2432304"/>
            <a:ext cx="10725912" cy="932688"/>
          </a:xfrm>
          <a:prstGeom prst="rect">
            <a:avLst/>
          </a:prstGeom>
          <a:noFill/>
        </p:spPr>
        <p:txBody>
          <a:bodyPr wrap="none" anchor="ctr" lIns="0" rIns="0" tIns="0" bIns="0">
            <a:spAutoFit/>
          </a:bodyPr>
          <a:lstStyle/>
          <a:p>
            <a:pPr algn="ctr">
              <a:lnSpc>
                <a:spcPct val="105000"/>
              </a:lnSpc>
              <a:spcBef>
                <a:spcPts val="0"/>
              </a:spcBef>
              <a:spcAft>
                <a:spcPts val="0"/>
              </a:spcAft>
            </a:pPr>
            <a:r>
              <a:rPr sz="4000" b="1">
                <a:solidFill>
                  <a:srgbClr val="17372C"/>
                </a:solidFill>
                <a:latin typeface="宋体"/>
                <a:ea typeface="宋体"/>
              </a:rPr>
              <a:t>三、行业竞争与品牌机遇</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浅绿中绿渐变背景"/>
          <p:cNvSpPr/>
          <p:nvPr/>
        </p:nvSpPr>
        <p:spPr>
          <a:xfrm>
            <a:off x="0" y="0"/>
            <a:ext cx="12191999" cy="6858000"/>
          </a:xfrm>
          <a:prstGeom prst="rect">
            <a:avLst/>
          </a:prstGeom>
          <a:gradFill rotWithShape="1">
            <a:gsLst>
              <a:gs pos="0">
                <a:srgbClr val="EAF7EE"/>
              </a:gs>
              <a:gs pos="100000">
                <a:srgbClr val="7FC99A"/>
              </a:gs>
            </a:gsLst>
            <a:lin ang="54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65760"/>
            <a:ext cx="566928" cy="6400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章节进度"/>
          <p:cNvSpPr txBox="1"/>
          <p:nvPr/>
        </p:nvSpPr>
        <p:spPr>
          <a:xfrm>
            <a:off x="10561320" y="219456"/>
            <a:ext cx="960120" cy="329184"/>
          </a:xfrm>
          <a:prstGeom prst="rect">
            <a:avLst/>
          </a:prstGeom>
          <a:noFill/>
        </p:spPr>
        <p:txBody>
          <a:bodyPr wrap="square" anchor="ctr" lIns="36576" rIns="36576" tIns="36576" bIns="36576">
            <a:spAutoFit/>
          </a:bodyPr>
          <a:lstStyle/>
          <a:p>
            <a:pPr algn="r">
              <a:lnSpc>
                <a:spcPct val="105000"/>
              </a:lnSpc>
              <a:spcBef>
                <a:spcPts val="0"/>
              </a:spcBef>
              <a:spcAft>
                <a:spcPts val="0"/>
              </a:spcAft>
            </a:pPr>
            <a:r>
              <a:rPr sz="1100" b="1">
                <a:solidFill>
                  <a:srgbClr val="355A49"/>
                </a:solidFill>
                <a:latin typeface="宋体"/>
                <a:ea typeface="宋体"/>
              </a:rPr>
              <a:t>03 / 09</a:t>
            </a:r>
          </a:p>
        </p:txBody>
      </p:sp>
      <p:sp>
        <p:nvSpPr>
          <p:cNvPr id="5" name="第1节橙色外框"/>
          <p:cNvSpPr/>
          <p:nvPr/>
        </p:nvSpPr>
        <p:spPr>
          <a:xfrm>
            <a:off x="658368" y="594360"/>
            <a:ext cx="10881360" cy="2514600"/>
          </a:xfrm>
          <a:prstGeom prst="rect">
            <a:avLst/>
          </a:prstGeom>
          <a:noFill/>
          <a:ln w="28575">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二级标题1"/>
          <p:cNvSpPr txBox="1"/>
          <p:nvPr/>
        </p:nvSpPr>
        <p:spPr>
          <a:xfrm>
            <a:off x="932688" y="822960"/>
            <a:ext cx="10314432" cy="384048"/>
          </a:xfrm>
          <a:prstGeom prst="rect">
            <a:avLst/>
          </a:prstGeom>
          <a:noFill/>
        </p:spPr>
        <p:txBody>
          <a:bodyPr wrap="square" anchor="ctr" lIns="36576" rIns="36576" tIns="36576" bIns="36576">
            <a:spAutoFit/>
          </a:bodyPr>
          <a:lstStyle/>
          <a:p>
            <a:pPr algn="l">
              <a:lnSpc>
                <a:spcPct val="105000"/>
              </a:lnSpc>
              <a:spcBef>
                <a:spcPts val="0"/>
              </a:spcBef>
              <a:spcAft>
                <a:spcPts val="0"/>
              </a:spcAft>
            </a:pPr>
            <a:r>
              <a:rPr sz="1800" b="1">
                <a:solidFill>
                  <a:srgbClr val="17372C"/>
                </a:solidFill>
                <a:latin typeface="宋体"/>
                <a:ea typeface="宋体"/>
              </a:rPr>
              <a:t>3.1 竞争格局变化</a:t>
            </a:r>
          </a:p>
        </p:txBody>
      </p:sp>
      <p:sp>
        <p:nvSpPr>
          <p:cNvPr id="7" name="正文1"/>
          <p:cNvSpPr txBox="1"/>
          <p:nvPr/>
        </p:nvSpPr>
        <p:spPr>
          <a:xfrm>
            <a:off x="932688" y="1298448"/>
            <a:ext cx="10314432" cy="1408176"/>
          </a:xfrm>
          <a:prstGeom prst="rect">
            <a:avLst/>
          </a:prstGeom>
          <a:noFill/>
        </p:spPr>
        <p:txBody>
          <a:bodyPr wrap="square" anchor="t" lIns="36576" rIns="36576" tIns="36576" bIns="36576">
            <a:spAutoFit/>
          </a:bodyPr>
          <a:lstStyle/>
          <a:p>
            <a:pPr algn="l">
              <a:lnSpc>
                <a:spcPct val="105000"/>
              </a:lnSpc>
              <a:spcBef>
                <a:spcPts val="0"/>
              </a:spcBef>
              <a:spcAft>
                <a:spcPts val="0"/>
              </a:spcAft>
            </a:pPr>
            <a:r>
              <a:rPr sz="1400" b="0">
                <a:solidFill>
                  <a:srgbClr val="17372C"/>
                </a:solidFill>
                <a:latin typeface="宋体"/>
                <a:ea typeface="宋体"/>
              </a:rPr>
              <a:t>艺术漆赛道已进入品牌集中发力阶段。行业头部企业正在通过环保体系、产品质感、终端体验和设计师渠道抢占消费者心智，部分品牌在零售端和工程端已形成一定先发优势。</a:t>
            </a:r>
          </a:p>
        </p:txBody>
      </p:sp>
      <p:sp>
        <p:nvSpPr>
          <p:cNvPr id="8" name="第2节橙色外框"/>
          <p:cNvSpPr/>
          <p:nvPr/>
        </p:nvSpPr>
        <p:spPr>
          <a:xfrm>
            <a:off x="658368" y="3502152"/>
            <a:ext cx="10881360" cy="2514600"/>
          </a:xfrm>
          <a:prstGeom prst="rect">
            <a:avLst/>
          </a:prstGeom>
          <a:noFill/>
          <a:ln w="28575">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二级标题2"/>
          <p:cNvSpPr txBox="1"/>
          <p:nvPr/>
        </p:nvSpPr>
        <p:spPr>
          <a:xfrm>
            <a:off x="932688" y="3730752"/>
            <a:ext cx="10314432" cy="384048"/>
          </a:xfrm>
          <a:prstGeom prst="rect">
            <a:avLst/>
          </a:prstGeom>
          <a:noFill/>
        </p:spPr>
        <p:txBody>
          <a:bodyPr wrap="square" anchor="ctr" lIns="36576" rIns="36576" tIns="36576" bIns="36576">
            <a:spAutoFit/>
          </a:bodyPr>
          <a:lstStyle/>
          <a:p>
            <a:pPr algn="l">
              <a:lnSpc>
                <a:spcPct val="105000"/>
              </a:lnSpc>
              <a:spcBef>
                <a:spcPts val="0"/>
              </a:spcBef>
              <a:spcAft>
                <a:spcPts val="0"/>
              </a:spcAft>
            </a:pPr>
            <a:r>
              <a:rPr sz="1800" b="1">
                <a:solidFill>
                  <a:srgbClr val="17372C"/>
                </a:solidFill>
                <a:latin typeface="宋体"/>
                <a:ea typeface="宋体"/>
              </a:rPr>
              <a:t>3.2 品牌突破方向</a:t>
            </a:r>
          </a:p>
        </p:txBody>
      </p:sp>
      <p:sp>
        <p:nvSpPr>
          <p:cNvPr id="10" name="正文2"/>
          <p:cNvSpPr txBox="1"/>
          <p:nvPr/>
        </p:nvSpPr>
        <p:spPr>
          <a:xfrm>
            <a:off x="932688" y="4206240"/>
            <a:ext cx="10314432" cy="1408176"/>
          </a:xfrm>
          <a:prstGeom prst="rect">
            <a:avLst/>
          </a:prstGeom>
          <a:noFill/>
        </p:spPr>
        <p:txBody>
          <a:bodyPr wrap="square" anchor="t" lIns="36576" rIns="36576" tIns="36576" bIns="36576">
            <a:spAutoFit/>
          </a:bodyPr>
          <a:lstStyle/>
          <a:p>
            <a:pPr algn="l">
              <a:lnSpc>
                <a:spcPct val="105000"/>
              </a:lnSpc>
              <a:spcBef>
                <a:spcPts val="0"/>
              </a:spcBef>
              <a:spcAft>
                <a:spcPts val="0"/>
              </a:spcAft>
            </a:pPr>
            <a:r>
              <a:rPr sz="1400" b="0">
                <a:solidFill>
                  <a:srgbClr val="17372C"/>
                </a:solidFill>
                <a:latin typeface="宋体"/>
                <a:ea typeface="宋体"/>
              </a:rPr>
              <a:t>涂料行业受原材料、环保标准和产品升级影响，价格体系可能继续调整。对于“澜庭漆艺”而言，应借助环保标准升级和审美消费提升的窗口期，强化其在环保、美学和整体空间解决方案上的差异化优势。</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50"/>
                                        <p:tgtEl>
                                          <p:spTgt spid="6"/>
                                        </p:tgtEl>
                                      </p:cBhvr>
                                    </p:animEffect>
                                  </p:childTnLst>
                                </p:cTn>
                              </p:par>
                            </p:childTnLst>
                          </p:cTn>
                        </p:par>
                      </p:childTnLst>
                    </p:cTn>
                  </p:par>
                  <p:par>
                    <p:cTn id="8" fill="hold">
                      <p:stCondLst>
                        <p:cond delay="0"/>
                      </p:stCondLst>
                      <p:childTnLst>
                        <p:par>
                          <p:cTn id="9" fill="hold">
                            <p:stCondLst>
                              <p:cond delay="0"/>
                            </p:stCondLst>
                            <p:childTnLst>
                              <p:par>
                                <p:cTn id="10" presetID="22" presetClass="entr" presetSubtype="0"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650"/>
                                        <p:tgtEl>
                                          <p:spTgt spid="7"/>
                                        </p:tgtEl>
                                      </p:cBhvr>
                                    </p:animEffect>
                                  </p:childTnLst>
                                </p:cTn>
                              </p:par>
                            </p:childTnLst>
                          </p:cTn>
                        </p:par>
                      </p:childTnLst>
                    </p:cTn>
                  </p:par>
                  <p:par>
                    <p:cTn id="13" fill="hold">
                      <p:stCondLst>
                        <p:cond delay="0"/>
                      </p:stCondLst>
                      <p:childTnLst>
                        <p:par>
                          <p:cTn id="14" fill="hold">
                            <p:stCondLst>
                              <p:cond delay="0"/>
                            </p:stCondLst>
                            <p:childTnLst>
                              <p:par>
                                <p:cTn id="15" presetID="10" presetClass="entr" presetSubtype="0" fill="hold" nodeType="after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650"/>
                                        <p:tgtEl>
                                          <p:spTgt spid="9"/>
                                        </p:tgtEl>
                                      </p:cBhvr>
                                    </p:animEffect>
                                  </p:childTnLst>
                                </p:cTn>
                              </p:par>
                            </p:childTnLst>
                          </p:cTn>
                        </p:par>
                      </p:childTnLst>
                    </p:cTn>
                  </p:par>
                  <p:par>
                    <p:cTn id="18" fill="hold">
                      <p:stCondLst>
                        <p:cond delay="0"/>
                      </p:stCondLst>
                      <p:childTnLst>
                        <p:par>
                          <p:cTn id="19" fill="hold">
                            <p:stCondLst>
                              <p:cond delay="0"/>
                            </p:stCondLst>
                            <p:childTnLst>
                              <p:par>
                                <p:cTn id="20" presetID="22" presetClass="entr" presetSubtype="0" fill="hold"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6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浅绿中绿渐变背景"/>
          <p:cNvSpPr/>
          <p:nvPr/>
        </p:nvSpPr>
        <p:spPr>
          <a:xfrm>
            <a:off x="0" y="0"/>
            <a:ext cx="12191999" cy="6858000"/>
          </a:xfrm>
          <a:prstGeom prst="rect">
            <a:avLst/>
          </a:prstGeom>
          <a:gradFill rotWithShape="1">
            <a:gsLst>
              <a:gs pos="0">
                <a:srgbClr val="EAF7EE"/>
              </a:gs>
              <a:gs pos="100000">
                <a:srgbClr val="7FC99A"/>
              </a:gs>
            </a:gsLst>
            <a:lin ang="54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65760"/>
            <a:ext cx="566928" cy="6400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章节进度"/>
          <p:cNvSpPr txBox="1"/>
          <p:nvPr/>
        </p:nvSpPr>
        <p:spPr>
          <a:xfrm>
            <a:off x="10561320" y="219456"/>
            <a:ext cx="960120" cy="329184"/>
          </a:xfrm>
          <a:prstGeom prst="rect">
            <a:avLst/>
          </a:prstGeom>
          <a:noFill/>
        </p:spPr>
        <p:txBody>
          <a:bodyPr wrap="square" anchor="ctr" lIns="36576" rIns="36576" tIns="36576" bIns="36576">
            <a:spAutoFit/>
          </a:bodyPr>
          <a:lstStyle/>
          <a:p>
            <a:pPr algn="r">
              <a:lnSpc>
                <a:spcPct val="105000"/>
              </a:lnSpc>
              <a:spcBef>
                <a:spcPts val="0"/>
              </a:spcBef>
              <a:spcAft>
                <a:spcPts val="0"/>
              </a:spcAft>
            </a:pPr>
            <a:r>
              <a:rPr sz="1100" b="1">
                <a:solidFill>
                  <a:srgbClr val="355A49"/>
                </a:solidFill>
                <a:latin typeface="宋体"/>
                <a:ea typeface="宋体"/>
              </a:rPr>
              <a:t>04 / 09</a:t>
            </a:r>
          </a:p>
        </p:txBody>
      </p:sp>
      <p:sp>
        <p:nvSpPr>
          <p:cNvPr id="5" name="章节英文标识"/>
          <p:cNvSpPr txBox="1"/>
          <p:nvPr/>
        </p:nvSpPr>
        <p:spPr>
          <a:xfrm>
            <a:off x="914400" y="1901952"/>
            <a:ext cx="10360152" cy="384048"/>
          </a:xfrm>
          <a:prstGeom prst="rect">
            <a:avLst/>
          </a:prstGeom>
          <a:noFill/>
        </p:spPr>
        <p:txBody>
          <a:bodyPr wrap="square" anchor="ctr" lIns="36576" rIns="36576" tIns="36576" bIns="36576">
            <a:spAutoFit/>
          </a:bodyPr>
          <a:lstStyle/>
          <a:p>
            <a:pPr algn="ctr">
              <a:lnSpc>
                <a:spcPct val="105000"/>
              </a:lnSpc>
              <a:spcBef>
                <a:spcPts val="0"/>
              </a:spcBef>
              <a:spcAft>
                <a:spcPts val="0"/>
              </a:spcAft>
            </a:pPr>
            <a:r>
              <a:rPr sz="1400" b="1">
                <a:solidFill>
                  <a:srgbClr val="A94500"/>
                </a:solidFill>
                <a:latin typeface="宋体"/>
                <a:ea typeface="宋体"/>
              </a:rPr>
              <a:t>PART 04</a:t>
            </a:r>
          </a:p>
        </p:txBody>
      </p:sp>
      <p:sp>
        <p:nvSpPr>
          <p:cNvPr id="6" name="章节标题"/>
          <p:cNvSpPr txBox="1"/>
          <p:nvPr/>
        </p:nvSpPr>
        <p:spPr>
          <a:xfrm>
            <a:off x="731520" y="2432304"/>
            <a:ext cx="10725912" cy="932688"/>
          </a:xfrm>
          <a:prstGeom prst="rect">
            <a:avLst/>
          </a:prstGeom>
          <a:noFill/>
        </p:spPr>
        <p:txBody>
          <a:bodyPr wrap="none" anchor="ctr" lIns="0" rIns="0" tIns="0" bIns="0">
            <a:spAutoFit/>
          </a:bodyPr>
          <a:lstStyle/>
          <a:p>
            <a:pPr algn="ctr">
              <a:lnSpc>
                <a:spcPct val="105000"/>
              </a:lnSpc>
              <a:spcBef>
                <a:spcPts val="0"/>
              </a:spcBef>
              <a:spcAft>
                <a:spcPts val="0"/>
              </a:spcAft>
            </a:pPr>
            <a:r>
              <a:rPr sz="4000" b="1">
                <a:solidFill>
                  <a:srgbClr val="17372C"/>
                </a:solidFill>
                <a:latin typeface="宋体"/>
                <a:ea typeface="宋体"/>
              </a:rPr>
              <a:t>四、年度发展目标</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浅绿中绿渐变背景"/>
          <p:cNvSpPr/>
          <p:nvPr/>
        </p:nvSpPr>
        <p:spPr>
          <a:xfrm>
            <a:off x="0" y="0"/>
            <a:ext cx="12191999" cy="6858000"/>
          </a:xfrm>
          <a:prstGeom prst="rect">
            <a:avLst/>
          </a:prstGeom>
          <a:gradFill rotWithShape="1">
            <a:gsLst>
              <a:gs pos="0">
                <a:srgbClr val="EAF7EE"/>
              </a:gs>
              <a:gs pos="100000">
                <a:srgbClr val="7FC99A"/>
              </a:gs>
            </a:gsLst>
            <a:lin ang="54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65760"/>
            <a:ext cx="566928" cy="6400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章节进度"/>
          <p:cNvSpPr txBox="1"/>
          <p:nvPr/>
        </p:nvSpPr>
        <p:spPr>
          <a:xfrm>
            <a:off x="10561320" y="219456"/>
            <a:ext cx="960120" cy="329184"/>
          </a:xfrm>
          <a:prstGeom prst="rect">
            <a:avLst/>
          </a:prstGeom>
          <a:noFill/>
        </p:spPr>
        <p:txBody>
          <a:bodyPr wrap="square" anchor="ctr" lIns="36576" rIns="36576" tIns="36576" bIns="36576">
            <a:spAutoFit/>
          </a:bodyPr>
          <a:lstStyle/>
          <a:p>
            <a:pPr algn="r">
              <a:lnSpc>
                <a:spcPct val="105000"/>
              </a:lnSpc>
              <a:spcBef>
                <a:spcPts val="0"/>
              </a:spcBef>
              <a:spcAft>
                <a:spcPts val="0"/>
              </a:spcAft>
            </a:pPr>
            <a:r>
              <a:rPr sz="1100" b="1">
                <a:solidFill>
                  <a:srgbClr val="355A49"/>
                </a:solidFill>
                <a:latin typeface="宋体"/>
                <a:ea typeface="宋体"/>
              </a:rPr>
              <a:t>04 / 09</a:t>
            </a:r>
          </a:p>
        </p:txBody>
      </p:sp>
      <p:sp>
        <p:nvSpPr>
          <p:cNvPr id="5" name="第1节橙色外框"/>
          <p:cNvSpPr/>
          <p:nvPr/>
        </p:nvSpPr>
        <p:spPr>
          <a:xfrm>
            <a:off x="658368" y="594360"/>
            <a:ext cx="10881360" cy="2514600"/>
          </a:xfrm>
          <a:prstGeom prst="rect">
            <a:avLst/>
          </a:prstGeom>
          <a:noFill/>
          <a:ln w="28575">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二级标题1"/>
          <p:cNvSpPr txBox="1"/>
          <p:nvPr/>
        </p:nvSpPr>
        <p:spPr>
          <a:xfrm>
            <a:off x="932688" y="822960"/>
            <a:ext cx="10314432" cy="384048"/>
          </a:xfrm>
          <a:prstGeom prst="rect">
            <a:avLst/>
          </a:prstGeom>
          <a:noFill/>
        </p:spPr>
        <p:txBody>
          <a:bodyPr wrap="square" anchor="ctr" lIns="36576" rIns="36576" tIns="36576" bIns="36576">
            <a:spAutoFit/>
          </a:bodyPr>
          <a:lstStyle/>
          <a:p>
            <a:pPr algn="l">
              <a:lnSpc>
                <a:spcPct val="105000"/>
              </a:lnSpc>
              <a:spcBef>
                <a:spcPts val="0"/>
              </a:spcBef>
              <a:spcAft>
                <a:spcPts val="0"/>
              </a:spcAft>
            </a:pPr>
            <a:r>
              <a:rPr sz="1800" b="1">
                <a:solidFill>
                  <a:srgbClr val="17372C"/>
                </a:solidFill>
                <a:latin typeface="宋体"/>
                <a:ea typeface="宋体"/>
              </a:rPr>
              <a:t>4.1 经营增长目标</a:t>
            </a:r>
          </a:p>
        </p:txBody>
      </p:sp>
      <p:sp>
        <p:nvSpPr>
          <p:cNvPr id="7" name="正文1"/>
          <p:cNvSpPr txBox="1"/>
          <p:nvPr/>
        </p:nvSpPr>
        <p:spPr>
          <a:xfrm>
            <a:off x="932688" y="1298448"/>
            <a:ext cx="10314432" cy="1408176"/>
          </a:xfrm>
          <a:prstGeom prst="rect">
            <a:avLst/>
          </a:prstGeom>
          <a:noFill/>
        </p:spPr>
        <p:txBody>
          <a:bodyPr wrap="square" anchor="t" lIns="36576" rIns="36576" tIns="36576" bIns="36576">
            <a:spAutoFit/>
          </a:bodyPr>
          <a:lstStyle/>
          <a:p>
            <a:pPr algn="l">
              <a:lnSpc>
                <a:spcPct val="105000"/>
              </a:lnSpc>
              <a:spcBef>
                <a:spcPts val="0"/>
              </a:spcBef>
              <a:spcAft>
                <a:spcPts val="0"/>
              </a:spcAft>
            </a:pPr>
            <a:r>
              <a:rPr sz="1400" b="0">
                <a:solidFill>
                  <a:srgbClr val="17372C"/>
                </a:solidFill>
                <a:latin typeface="宋体"/>
                <a:ea typeface="宋体"/>
              </a:rPr>
              <a:t>本方案建议将2026年北区艺术漆业务目标设定为销售额同比增长不低于20%，重点城市市场份额提升3—5个百分点，新增艺术漆专卖店或店中店约30家，核心经销商数量提升约20%。</a:t>
            </a:r>
          </a:p>
        </p:txBody>
      </p:sp>
      <p:sp>
        <p:nvSpPr>
          <p:cNvPr id="8" name="第2节橙色外框"/>
          <p:cNvSpPr/>
          <p:nvPr/>
        </p:nvSpPr>
        <p:spPr>
          <a:xfrm>
            <a:off x="658368" y="3502152"/>
            <a:ext cx="10881360" cy="2514600"/>
          </a:xfrm>
          <a:prstGeom prst="rect">
            <a:avLst/>
          </a:prstGeom>
          <a:noFill/>
          <a:ln w="28575">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二级标题2"/>
          <p:cNvSpPr txBox="1"/>
          <p:nvPr/>
        </p:nvSpPr>
        <p:spPr>
          <a:xfrm>
            <a:off x="932688" y="3730752"/>
            <a:ext cx="10314432" cy="384048"/>
          </a:xfrm>
          <a:prstGeom prst="rect">
            <a:avLst/>
          </a:prstGeom>
          <a:noFill/>
        </p:spPr>
        <p:txBody>
          <a:bodyPr wrap="square" anchor="ctr" lIns="36576" rIns="36576" tIns="36576" bIns="36576">
            <a:spAutoFit/>
          </a:bodyPr>
          <a:lstStyle/>
          <a:p>
            <a:pPr algn="l">
              <a:lnSpc>
                <a:spcPct val="105000"/>
              </a:lnSpc>
              <a:spcBef>
                <a:spcPts val="0"/>
              </a:spcBef>
              <a:spcAft>
                <a:spcPts val="0"/>
              </a:spcAft>
            </a:pPr>
            <a:r>
              <a:rPr sz="1800" b="1">
                <a:solidFill>
                  <a:srgbClr val="17372C"/>
                </a:solidFill>
                <a:latin typeface="宋体"/>
                <a:ea typeface="宋体"/>
              </a:rPr>
              <a:t>4.2 品牌认知目标</a:t>
            </a:r>
          </a:p>
        </p:txBody>
      </p:sp>
      <p:sp>
        <p:nvSpPr>
          <p:cNvPr id="10" name="正文2"/>
          <p:cNvSpPr txBox="1"/>
          <p:nvPr/>
        </p:nvSpPr>
        <p:spPr>
          <a:xfrm>
            <a:off x="932688" y="4206240"/>
            <a:ext cx="10314432" cy="1408176"/>
          </a:xfrm>
          <a:prstGeom prst="rect">
            <a:avLst/>
          </a:prstGeom>
          <a:noFill/>
        </p:spPr>
        <p:txBody>
          <a:bodyPr wrap="square" anchor="t" lIns="36576" rIns="36576" tIns="36576" bIns="36576">
            <a:spAutoFit/>
          </a:bodyPr>
          <a:lstStyle/>
          <a:p>
            <a:pPr algn="l">
              <a:lnSpc>
                <a:spcPct val="105000"/>
              </a:lnSpc>
              <a:spcBef>
                <a:spcPts val="0"/>
              </a:spcBef>
              <a:spcAft>
                <a:spcPts val="0"/>
              </a:spcAft>
            </a:pPr>
            <a:r>
              <a:rPr sz="1400" b="0">
                <a:solidFill>
                  <a:srgbClr val="17372C"/>
                </a:solidFill>
                <a:latin typeface="宋体"/>
                <a:ea typeface="宋体"/>
              </a:rPr>
              <a:t>品牌层面应集中塑造“澜庭漆艺=墙面美学解决方案专家”的认知，在重点城市实现目标客群认知度明显提升，并通过终端体验、设计师推荐和用户口碑形成持续转化。</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50"/>
                                        <p:tgtEl>
                                          <p:spTgt spid="6"/>
                                        </p:tgtEl>
                                      </p:cBhvr>
                                    </p:animEffect>
                                  </p:childTnLst>
                                </p:cTn>
                              </p:par>
                            </p:childTnLst>
                          </p:cTn>
                        </p:par>
                      </p:childTnLst>
                    </p:cTn>
                  </p:par>
                  <p:par>
                    <p:cTn id="8" fill="hold">
                      <p:stCondLst>
                        <p:cond delay="0"/>
                      </p:stCondLst>
                      <p:childTnLst>
                        <p:par>
                          <p:cTn id="9" fill="hold">
                            <p:stCondLst>
                              <p:cond delay="0"/>
                            </p:stCondLst>
                            <p:childTnLst>
                              <p:par>
                                <p:cTn id="10" presetID="22" presetClass="entr" presetSubtype="0"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650"/>
                                        <p:tgtEl>
                                          <p:spTgt spid="7"/>
                                        </p:tgtEl>
                                      </p:cBhvr>
                                    </p:animEffect>
                                  </p:childTnLst>
                                </p:cTn>
                              </p:par>
                            </p:childTnLst>
                          </p:cTn>
                        </p:par>
                      </p:childTnLst>
                    </p:cTn>
                  </p:par>
                  <p:par>
                    <p:cTn id="13" fill="hold">
                      <p:stCondLst>
                        <p:cond delay="0"/>
                      </p:stCondLst>
                      <p:childTnLst>
                        <p:par>
                          <p:cTn id="14" fill="hold">
                            <p:stCondLst>
                              <p:cond delay="0"/>
                            </p:stCondLst>
                            <p:childTnLst>
                              <p:par>
                                <p:cTn id="15" presetID="10" presetClass="entr" presetSubtype="0" fill="hold" nodeType="after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650"/>
                                        <p:tgtEl>
                                          <p:spTgt spid="9"/>
                                        </p:tgtEl>
                                      </p:cBhvr>
                                    </p:animEffect>
                                  </p:childTnLst>
                                </p:cTn>
                              </p:par>
                            </p:childTnLst>
                          </p:cTn>
                        </p:par>
                      </p:childTnLst>
                    </p:cTn>
                  </p:par>
                  <p:par>
                    <p:cTn id="18" fill="hold">
                      <p:stCondLst>
                        <p:cond delay="0"/>
                      </p:stCondLst>
                      <p:childTnLst>
                        <p:par>
                          <p:cTn id="19" fill="hold">
                            <p:stCondLst>
                              <p:cond delay="0"/>
                            </p:stCondLst>
                            <p:childTnLst>
                              <p:par>
                                <p:cTn id="20" presetID="22" presetClass="entr" presetSubtype="0" fill="hold"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6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浅绿中绿渐变背景"/>
          <p:cNvSpPr/>
          <p:nvPr/>
        </p:nvSpPr>
        <p:spPr>
          <a:xfrm>
            <a:off x="0" y="0"/>
            <a:ext cx="12191999" cy="6858000"/>
          </a:xfrm>
          <a:prstGeom prst="rect">
            <a:avLst/>
          </a:prstGeom>
          <a:gradFill rotWithShape="1">
            <a:gsLst>
              <a:gs pos="0">
                <a:srgbClr val="EAF7EE"/>
              </a:gs>
              <a:gs pos="100000">
                <a:srgbClr val="7FC99A"/>
              </a:gs>
            </a:gsLst>
            <a:lin ang="54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65760"/>
            <a:ext cx="566928" cy="6400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章节进度"/>
          <p:cNvSpPr txBox="1"/>
          <p:nvPr/>
        </p:nvSpPr>
        <p:spPr>
          <a:xfrm>
            <a:off x="10561320" y="219456"/>
            <a:ext cx="960120" cy="329184"/>
          </a:xfrm>
          <a:prstGeom prst="rect">
            <a:avLst/>
          </a:prstGeom>
          <a:noFill/>
        </p:spPr>
        <p:txBody>
          <a:bodyPr wrap="square" anchor="ctr" lIns="36576" rIns="36576" tIns="36576" bIns="36576">
            <a:spAutoFit/>
          </a:bodyPr>
          <a:lstStyle/>
          <a:p>
            <a:pPr algn="r">
              <a:lnSpc>
                <a:spcPct val="105000"/>
              </a:lnSpc>
              <a:spcBef>
                <a:spcPts val="0"/>
              </a:spcBef>
              <a:spcAft>
                <a:spcPts val="0"/>
              </a:spcAft>
            </a:pPr>
            <a:r>
              <a:rPr sz="1100" b="1">
                <a:solidFill>
                  <a:srgbClr val="355A49"/>
                </a:solidFill>
                <a:latin typeface="宋体"/>
                <a:ea typeface="宋体"/>
              </a:rPr>
              <a:t>05 / 09</a:t>
            </a:r>
          </a:p>
        </p:txBody>
      </p:sp>
      <p:sp>
        <p:nvSpPr>
          <p:cNvPr id="5" name="章节英文标识"/>
          <p:cNvSpPr txBox="1"/>
          <p:nvPr/>
        </p:nvSpPr>
        <p:spPr>
          <a:xfrm>
            <a:off x="914400" y="1901952"/>
            <a:ext cx="10360152" cy="384048"/>
          </a:xfrm>
          <a:prstGeom prst="rect">
            <a:avLst/>
          </a:prstGeom>
          <a:noFill/>
        </p:spPr>
        <p:txBody>
          <a:bodyPr wrap="square" anchor="ctr" lIns="36576" rIns="36576" tIns="36576" bIns="36576">
            <a:spAutoFit/>
          </a:bodyPr>
          <a:lstStyle/>
          <a:p>
            <a:pPr algn="ctr">
              <a:lnSpc>
                <a:spcPct val="105000"/>
              </a:lnSpc>
              <a:spcBef>
                <a:spcPts val="0"/>
              </a:spcBef>
              <a:spcAft>
                <a:spcPts val="0"/>
              </a:spcAft>
            </a:pPr>
            <a:r>
              <a:rPr sz="1400" b="1">
                <a:solidFill>
                  <a:srgbClr val="A94500"/>
                </a:solidFill>
                <a:latin typeface="宋体"/>
                <a:ea typeface="宋体"/>
              </a:rPr>
              <a:t>PART 05</a:t>
            </a:r>
          </a:p>
        </p:txBody>
      </p:sp>
      <p:sp>
        <p:nvSpPr>
          <p:cNvPr id="6" name="章节标题"/>
          <p:cNvSpPr txBox="1"/>
          <p:nvPr/>
        </p:nvSpPr>
        <p:spPr>
          <a:xfrm>
            <a:off x="731520" y="2432304"/>
            <a:ext cx="10725912" cy="932688"/>
          </a:xfrm>
          <a:prstGeom prst="rect">
            <a:avLst/>
          </a:prstGeom>
          <a:noFill/>
        </p:spPr>
        <p:txBody>
          <a:bodyPr wrap="none" anchor="ctr" lIns="0" rIns="0" tIns="0" bIns="0">
            <a:spAutoFit/>
          </a:bodyPr>
          <a:lstStyle/>
          <a:p>
            <a:pPr algn="ctr">
              <a:lnSpc>
                <a:spcPct val="105000"/>
              </a:lnSpc>
              <a:spcBef>
                <a:spcPts val="0"/>
              </a:spcBef>
              <a:spcAft>
                <a:spcPts val="0"/>
              </a:spcAft>
            </a:pPr>
            <a:r>
              <a:rPr sz="4000" b="1">
                <a:solidFill>
                  <a:srgbClr val="17372C"/>
                </a:solidFill>
                <a:latin typeface="宋体"/>
                <a:ea typeface="宋体"/>
              </a:rPr>
              <a:t>五、核心产品体系</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浅绿中绿渐变背景"/>
          <p:cNvSpPr/>
          <p:nvPr/>
        </p:nvSpPr>
        <p:spPr>
          <a:xfrm>
            <a:off x="0" y="0"/>
            <a:ext cx="12191999" cy="6858000"/>
          </a:xfrm>
          <a:prstGeom prst="rect">
            <a:avLst/>
          </a:prstGeom>
          <a:gradFill rotWithShape="1">
            <a:gsLst>
              <a:gs pos="0">
                <a:srgbClr val="EAF7EE"/>
              </a:gs>
              <a:gs pos="100000">
                <a:srgbClr val="7FC99A"/>
              </a:gs>
            </a:gsLst>
            <a:lin ang="54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65760"/>
            <a:ext cx="566928" cy="6400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章节进度"/>
          <p:cNvSpPr txBox="1"/>
          <p:nvPr/>
        </p:nvSpPr>
        <p:spPr>
          <a:xfrm>
            <a:off x="10561320" y="219456"/>
            <a:ext cx="960120" cy="329184"/>
          </a:xfrm>
          <a:prstGeom prst="rect">
            <a:avLst/>
          </a:prstGeom>
          <a:noFill/>
        </p:spPr>
        <p:txBody>
          <a:bodyPr wrap="square" anchor="ctr" lIns="36576" rIns="36576" tIns="36576" bIns="36576">
            <a:spAutoFit/>
          </a:bodyPr>
          <a:lstStyle/>
          <a:p>
            <a:pPr algn="r">
              <a:lnSpc>
                <a:spcPct val="105000"/>
              </a:lnSpc>
              <a:spcBef>
                <a:spcPts val="0"/>
              </a:spcBef>
              <a:spcAft>
                <a:spcPts val="0"/>
              </a:spcAft>
            </a:pPr>
            <a:r>
              <a:rPr sz="1100" b="1">
                <a:solidFill>
                  <a:srgbClr val="355A49"/>
                </a:solidFill>
                <a:latin typeface="宋体"/>
                <a:ea typeface="宋体"/>
              </a:rPr>
              <a:t>05 / 09</a:t>
            </a:r>
          </a:p>
        </p:txBody>
      </p:sp>
      <p:sp>
        <p:nvSpPr>
          <p:cNvPr id="5" name="第1节橙色外框"/>
          <p:cNvSpPr/>
          <p:nvPr/>
        </p:nvSpPr>
        <p:spPr>
          <a:xfrm>
            <a:off x="658368" y="594360"/>
            <a:ext cx="10881360" cy="2514600"/>
          </a:xfrm>
          <a:prstGeom prst="rect">
            <a:avLst/>
          </a:prstGeom>
          <a:noFill/>
          <a:ln w="28575">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二级标题1"/>
          <p:cNvSpPr txBox="1"/>
          <p:nvPr/>
        </p:nvSpPr>
        <p:spPr>
          <a:xfrm>
            <a:off x="932688" y="822960"/>
            <a:ext cx="10314432" cy="384048"/>
          </a:xfrm>
          <a:prstGeom prst="rect">
            <a:avLst/>
          </a:prstGeom>
          <a:noFill/>
        </p:spPr>
        <p:txBody>
          <a:bodyPr wrap="square" anchor="ctr" lIns="36576" rIns="36576" tIns="36576" bIns="36576">
            <a:spAutoFit/>
          </a:bodyPr>
          <a:lstStyle/>
          <a:p>
            <a:pPr algn="l">
              <a:lnSpc>
                <a:spcPct val="105000"/>
              </a:lnSpc>
              <a:spcBef>
                <a:spcPts val="0"/>
              </a:spcBef>
              <a:spcAft>
                <a:spcPts val="0"/>
              </a:spcAft>
            </a:pPr>
            <a:r>
              <a:rPr sz="1800" b="1">
                <a:solidFill>
                  <a:srgbClr val="17372C"/>
                </a:solidFill>
                <a:latin typeface="宋体"/>
                <a:ea typeface="宋体"/>
              </a:rPr>
              <a:t>5.1 主推系列定位</a:t>
            </a:r>
          </a:p>
        </p:txBody>
      </p:sp>
      <p:sp>
        <p:nvSpPr>
          <p:cNvPr id="7" name="正文1"/>
          <p:cNvSpPr txBox="1"/>
          <p:nvPr/>
        </p:nvSpPr>
        <p:spPr>
          <a:xfrm>
            <a:off x="932688" y="1298448"/>
            <a:ext cx="10314432" cy="1408176"/>
          </a:xfrm>
          <a:prstGeom prst="rect">
            <a:avLst/>
          </a:prstGeom>
          <a:noFill/>
        </p:spPr>
        <p:txBody>
          <a:bodyPr wrap="square" anchor="t" lIns="36576" rIns="36576" tIns="36576" bIns="36576">
            <a:spAutoFit/>
          </a:bodyPr>
          <a:lstStyle/>
          <a:p>
            <a:pPr algn="l">
              <a:lnSpc>
                <a:spcPct val="105000"/>
              </a:lnSpc>
              <a:spcBef>
                <a:spcPts val="0"/>
              </a:spcBef>
              <a:spcAft>
                <a:spcPts val="0"/>
              </a:spcAft>
            </a:pPr>
            <a:r>
              <a:rPr sz="1400" b="0">
                <a:solidFill>
                  <a:srgbClr val="17372C"/>
                </a:solidFill>
                <a:latin typeface="宋体"/>
                <a:ea typeface="宋体"/>
              </a:rPr>
              <a:t>核心策略上，应以“艺境家”艺术漆系列为主引擎，以“色感共生”搭配体系作为消费沟通纽带。该体系可围绕不同生活氛围建立色盘组合，将乳胶漆色彩、艺术漆质感和空间风格整合在同一套选择逻辑中。</a:t>
            </a:r>
          </a:p>
        </p:txBody>
      </p:sp>
      <p:sp>
        <p:nvSpPr>
          <p:cNvPr id="8" name="第2节橙色外框"/>
          <p:cNvSpPr/>
          <p:nvPr/>
        </p:nvSpPr>
        <p:spPr>
          <a:xfrm>
            <a:off x="658368" y="3502152"/>
            <a:ext cx="10881360" cy="2514600"/>
          </a:xfrm>
          <a:prstGeom prst="rect">
            <a:avLst/>
          </a:prstGeom>
          <a:noFill/>
          <a:ln w="28575">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二级标题2"/>
          <p:cNvSpPr txBox="1"/>
          <p:nvPr/>
        </p:nvSpPr>
        <p:spPr>
          <a:xfrm>
            <a:off x="932688" y="3730752"/>
            <a:ext cx="10314432" cy="384048"/>
          </a:xfrm>
          <a:prstGeom prst="rect">
            <a:avLst/>
          </a:prstGeom>
          <a:noFill/>
        </p:spPr>
        <p:txBody>
          <a:bodyPr wrap="square" anchor="ctr" lIns="36576" rIns="36576" tIns="36576" bIns="36576">
            <a:spAutoFit/>
          </a:bodyPr>
          <a:lstStyle/>
          <a:p>
            <a:pPr algn="l">
              <a:lnSpc>
                <a:spcPct val="105000"/>
              </a:lnSpc>
              <a:spcBef>
                <a:spcPts val="0"/>
              </a:spcBef>
              <a:spcAft>
                <a:spcPts val="0"/>
              </a:spcAft>
            </a:pPr>
            <a:r>
              <a:rPr sz="1800" b="1">
                <a:solidFill>
                  <a:srgbClr val="17372C"/>
                </a:solidFill>
                <a:latin typeface="宋体"/>
                <a:ea typeface="宋体"/>
              </a:rPr>
              <a:t>5.2 消费决策简化</a:t>
            </a:r>
          </a:p>
        </p:txBody>
      </p:sp>
      <p:sp>
        <p:nvSpPr>
          <p:cNvPr id="10" name="正文2"/>
          <p:cNvSpPr txBox="1"/>
          <p:nvPr/>
        </p:nvSpPr>
        <p:spPr>
          <a:xfrm>
            <a:off x="932688" y="4206240"/>
            <a:ext cx="10314432" cy="1408176"/>
          </a:xfrm>
          <a:prstGeom prst="rect">
            <a:avLst/>
          </a:prstGeom>
          <a:noFill/>
        </p:spPr>
        <p:txBody>
          <a:bodyPr wrap="square" anchor="t" lIns="36576" rIns="36576" tIns="36576" bIns="36576">
            <a:spAutoFit/>
          </a:bodyPr>
          <a:lstStyle/>
          <a:p>
            <a:pPr algn="l">
              <a:lnSpc>
                <a:spcPct val="105000"/>
              </a:lnSpc>
              <a:spcBef>
                <a:spcPts val="0"/>
              </a:spcBef>
              <a:spcAft>
                <a:spcPts val="0"/>
              </a:spcAft>
            </a:pPr>
            <a:r>
              <a:rPr sz="1400" b="0">
                <a:solidFill>
                  <a:srgbClr val="17372C"/>
                </a:solidFill>
                <a:latin typeface="宋体"/>
                <a:ea typeface="宋体"/>
              </a:rPr>
              <a:t>相比单纯销售单品，更应向用户传递“已经搭配好的整体墙面方案”。通过统一色彩、质感和风格表达，降低消费者在艺术漆选购过程中的搭配难度，让用户像选择成套软装或妆容方案一样选择墙面效果。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50"/>
                                        <p:tgtEl>
                                          <p:spTgt spid="6"/>
                                        </p:tgtEl>
                                      </p:cBhvr>
                                    </p:animEffect>
                                  </p:childTnLst>
                                </p:cTn>
                              </p:par>
                            </p:childTnLst>
                          </p:cTn>
                        </p:par>
                      </p:childTnLst>
                    </p:cTn>
                  </p:par>
                  <p:par>
                    <p:cTn id="8" fill="hold">
                      <p:stCondLst>
                        <p:cond delay="0"/>
                      </p:stCondLst>
                      <p:childTnLst>
                        <p:par>
                          <p:cTn id="9" fill="hold">
                            <p:stCondLst>
                              <p:cond delay="0"/>
                            </p:stCondLst>
                            <p:childTnLst>
                              <p:par>
                                <p:cTn id="10" presetID="22" presetClass="entr" presetSubtype="0"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650"/>
                                        <p:tgtEl>
                                          <p:spTgt spid="7"/>
                                        </p:tgtEl>
                                      </p:cBhvr>
                                    </p:animEffect>
                                  </p:childTnLst>
                                </p:cTn>
                              </p:par>
                            </p:childTnLst>
                          </p:cTn>
                        </p:par>
                      </p:childTnLst>
                    </p:cTn>
                  </p:par>
                  <p:par>
                    <p:cTn id="13" fill="hold">
                      <p:stCondLst>
                        <p:cond delay="0"/>
                      </p:stCondLst>
                      <p:childTnLst>
                        <p:par>
                          <p:cTn id="14" fill="hold">
                            <p:stCondLst>
                              <p:cond delay="0"/>
                            </p:stCondLst>
                            <p:childTnLst>
                              <p:par>
                                <p:cTn id="15" presetID="10" presetClass="entr" presetSubtype="0" fill="hold" nodeType="after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650"/>
                                        <p:tgtEl>
                                          <p:spTgt spid="9"/>
                                        </p:tgtEl>
                                      </p:cBhvr>
                                    </p:animEffect>
                                  </p:childTnLst>
                                </p:cTn>
                              </p:par>
                            </p:childTnLst>
                          </p:cTn>
                        </p:par>
                      </p:childTnLst>
                    </p:cTn>
                  </p:par>
                  <p:par>
                    <p:cTn id="18" fill="hold">
                      <p:stCondLst>
                        <p:cond delay="0"/>
                      </p:stCondLst>
                      <p:childTnLst>
                        <p:par>
                          <p:cTn id="19" fill="hold">
                            <p:stCondLst>
                              <p:cond delay="0"/>
                            </p:stCondLst>
                            <p:childTnLst>
                              <p:par>
                                <p:cTn id="20" presetID="22" presetClass="entr" presetSubtype="0" fill="hold"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6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浅绿中绿渐变背景"/>
          <p:cNvSpPr/>
          <p:nvPr/>
        </p:nvSpPr>
        <p:spPr>
          <a:xfrm>
            <a:off x="0" y="0"/>
            <a:ext cx="12191999" cy="6858000"/>
          </a:xfrm>
          <a:prstGeom prst="rect">
            <a:avLst/>
          </a:prstGeom>
          <a:gradFill rotWithShape="1">
            <a:gsLst>
              <a:gs pos="0">
                <a:srgbClr val="EAF7EE"/>
              </a:gs>
              <a:gs pos="100000">
                <a:srgbClr val="7FC99A"/>
              </a:gs>
            </a:gsLst>
            <a:lin ang="54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65760"/>
            <a:ext cx="566928" cy="6400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章节进度"/>
          <p:cNvSpPr txBox="1"/>
          <p:nvPr/>
        </p:nvSpPr>
        <p:spPr>
          <a:xfrm>
            <a:off x="10561320" y="219456"/>
            <a:ext cx="960120" cy="329184"/>
          </a:xfrm>
          <a:prstGeom prst="rect">
            <a:avLst/>
          </a:prstGeom>
          <a:noFill/>
        </p:spPr>
        <p:txBody>
          <a:bodyPr wrap="square" anchor="ctr" lIns="36576" rIns="36576" tIns="36576" bIns="36576">
            <a:spAutoFit/>
          </a:bodyPr>
          <a:lstStyle/>
          <a:p>
            <a:pPr algn="r">
              <a:lnSpc>
                <a:spcPct val="105000"/>
              </a:lnSpc>
              <a:spcBef>
                <a:spcPts val="0"/>
              </a:spcBef>
              <a:spcAft>
                <a:spcPts val="0"/>
              </a:spcAft>
            </a:pPr>
            <a:r>
              <a:rPr sz="1100" b="1">
                <a:solidFill>
                  <a:srgbClr val="355A49"/>
                </a:solidFill>
                <a:latin typeface="宋体"/>
                <a:ea typeface="宋体"/>
              </a:rPr>
              <a:t>06 / 09</a:t>
            </a:r>
          </a:p>
        </p:txBody>
      </p:sp>
      <p:sp>
        <p:nvSpPr>
          <p:cNvPr id="5" name="章节英文标识"/>
          <p:cNvSpPr txBox="1"/>
          <p:nvPr/>
        </p:nvSpPr>
        <p:spPr>
          <a:xfrm>
            <a:off x="914400" y="1901952"/>
            <a:ext cx="10360152" cy="384048"/>
          </a:xfrm>
          <a:prstGeom prst="rect">
            <a:avLst/>
          </a:prstGeom>
          <a:noFill/>
        </p:spPr>
        <p:txBody>
          <a:bodyPr wrap="square" anchor="ctr" lIns="36576" rIns="36576" tIns="36576" bIns="36576">
            <a:spAutoFit/>
          </a:bodyPr>
          <a:lstStyle/>
          <a:p>
            <a:pPr algn="ctr">
              <a:lnSpc>
                <a:spcPct val="105000"/>
              </a:lnSpc>
              <a:spcBef>
                <a:spcPts val="0"/>
              </a:spcBef>
              <a:spcAft>
                <a:spcPts val="0"/>
              </a:spcAft>
            </a:pPr>
            <a:r>
              <a:rPr sz="1400" b="1">
                <a:solidFill>
                  <a:srgbClr val="A94500"/>
                </a:solidFill>
                <a:latin typeface="宋体"/>
                <a:ea typeface="宋体"/>
              </a:rPr>
              <a:t>PART 06</a:t>
            </a:r>
          </a:p>
        </p:txBody>
      </p:sp>
      <p:sp>
        <p:nvSpPr>
          <p:cNvPr id="6" name="章节标题"/>
          <p:cNvSpPr txBox="1"/>
          <p:nvPr/>
        </p:nvSpPr>
        <p:spPr>
          <a:xfrm>
            <a:off x="731520" y="2432304"/>
            <a:ext cx="10725912" cy="932688"/>
          </a:xfrm>
          <a:prstGeom prst="rect">
            <a:avLst/>
          </a:prstGeom>
          <a:noFill/>
        </p:spPr>
        <p:txBody>
          <a:bodyPr wrap="none" anchor="ctr" lIns="0" rIns="0" tIns="0" bIns="0">
            <a:spAutoFit/>
          </a:bodyPr>
          <a:lstStyle/>
          <a:p>
            <a:pPr algn="ctr">
              <a:lnSpc>
                <a:spcPct val="105000"/>
              </a:lnSpc>
              <a:spcBef>
                <a:spcPts val="0"/>
              </a:spcBef>
              <a:spcAft>
                <a:spcPts val="0"/>
              </a:spcAft>
            </a:pPr>
            <a:r>
              <a:rPr sz="4000" b="1">
                <a:solidFill>
                  <a:srgbClr val="17372C"/>
                </a:solidFill>
                <a:latin typeface="宋体"/>
                <a:ea typeface="宋体"/>
              </a:rPr>
              <a:t>六、产品组合与差异化卖点</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浅绿中绿渐变背景"/>
          <p:cNvSpPr/>
          <p:nvPr/>
        </p:nvSpPr>
        <p:spPr>
          <a:xfrm>
            <a:off x="0" y="0"/>
            <a:ext cx="12191999" cy="6858000"/>
          </a:xfrm>
          <a:prstGeom prst="rect">
            <a:avLst/>
          </a:prstGeom>
          <a:gradFill rotWithShape="1">
            <a:gsLst>
              <a:gs pos="0">
                <a:srgbClr val="EAF7EE"/>
              </a:gs>
              <a:gs pos="100000">
                <a:srgbClr val="7FC99A"/>
              </a:gs>
            </a:gsLst>
            <a:lin ang="54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65760"/>
            <a:ext cx="566928" cy="6400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章节进度"/>
          <p:cNvSpPr txBox="1"/>
          <p:nvPr/>
        </p:nvSpPr>
        <p:spPr>
          <a:xfrm>
            <a:off x="10561320" y="219456"/>
            <a:ext cx="960120" cy="329184"/>
          </a:xfrm>
          <a:prstGeom prst="rect">
            <a:avLst/>
          </a:prstGeom>
          <a:noFill/>
        </p:spPr>
        <p:txBody>
          <a:bodyPr wrap="square" anchor="ctr" lIns="36576" rIns="36576" tIns="36576" bIns="36576">
            <a:spAutoFit/>
          </a:bodyPr>
          <a:lstStyle/>
          <a:p>
            <a:pPr algn="r">
              <a:lnSpc>
                <a:spcPct val="105000"/>
              </a:lnSpc>
              <a:spcBef>
                <a:spcPts val="0"/>
              </a:spcBef>
              <a:spcAft>
                <a:spcPts val="0"/>
              </a:spcAft>
            </a:pPr>
            <a:r>
              <a:rPr sz="1100" b="1">
                <a:solidFill>
                  <a:srgbClr val="355A49"/>
                </a:solidFill>
                <a:latin typeface="宋体"/>
                <a:ea typeface="宋体"/>
              </a:rPr>
              <a:t>06 / 09</a:t>
            </a:r>
          </a:p>
        </p:txBody>
      </p:sp>
      <p:sp>
        <p:nvSpPr>
          <p:cNvPr id="5" name="第1节橙色外框"/>
          <p:cNvSpPr/>
          <p:nvPr/>
        </p:nvSpPr>
        <p:spPr>
          <a:xfrm>
            <a:off x="658368" y="594360"/>
            <a:ext cx="10881360" cy="2514600"/>
          </a:xfrm>
          <a:prstGeom prst="rect">
            <a:avLst/>
          </a:prstGeom>
          <a:noFill/>
          <a:ln w="28575">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二级标题1"/>
          <p:cNvSpPr txBox="1"/>
          <p:nvPr/>
        </p:nvSpPr>
        <p:spPr>
          <a:xfrm>
            <a:off x="932688" y="822960"/>
            <a:ext cx="10314432" cy="384048"/>
          </a:xfrm>
          <a:prstGeom prst="rect">
            <a:avLst/>
          </a:prstGeom>
          <a:noFill/>
        </p:spPr>
        <p:txBody>
          <a:bodyPr wrap="square" anchor="ctr" lIns="36576" rIns="36576" tIns="36576" bIns="36576">
            <a:spAutoFit/>
          </a:bodyPr>
          <a:lstStyle/>
          <a:p>
            <a:pPr algn="l">
              <a:lnSpc>
                <a:spcPct val="105000"/>
              </a:lnSpc>
              <a:spcBef>
                <a:spcPts val="0"/>
              </a:spcBef>
              <a:spcAft>
                <a:spcPts val="0"/>
              </a:spcAft>
            </a:pPr>
            <a:r>
              <a:rPr sz="1800" b="1">
                <a:solidFill>
                  <a:srgbClr val="17372C"/>
                </a:solidFill>
                <a:latin typeface="宋体"/>
                <a:ea typeface="宋体"/>
              </a:rPr>
              <a:t>6.1 产品矩阵设计</a:t>
            </a:r>
          </a:p>
        </p:txBody>
      </p:sp>
      <p:sp>
        <p:nvSpPr>
          <p:cNvPr id="7" name="正文1"/>
          <p:cNvSpPr txBox="1"/>
          <p:nvPr/>
        </p:nvSpPr>
        <p:spPr>
          <a:xfrm>
            <a:off x="932688" y="1298448"/>
            <a:ext cx="10314432" cy="1408176"/>
          </a:xfrm>
          <a:prstGeom prst="rect">
            <a:avLst/>
          </a:prstGeom>
          <a:noFill/>
        </p:spPr>
        <p:txBody>
          <a:bodyPr wrap="square" anchor="t" lIns="36576" rIns="36576" tIns="36576" bIns="36576">
            <a:spAutoFit/>
          </a:bodyPr>
          <a:lstStyle/>
          <a:p>
            <a:pPr algn="l">
              <a:lnSpc>
                <a:spcPct val="105000"/>
              </a:lnSpc>
              <a:spcBef>
                <a:spcPts val="0"/>
              </a:spcBef>
              <a:spcAft>
                <a:spcPts val="0"/>
              </a:spcAft>
            </a:pPr>
            <a:r>
              <a:rPr sz="1400" b="0">
                <a:solidFill>
                  <a:srgbClr val="17372C"/>
                </a:solidFill>
                <a:latin typeface="宋体"/>
                <a:ea typeface="宋体"/>
              </a:rPr>
              <a:t>产品策略应形成高端引流、中端走量和工程适配三类组合。高端系列可主打通透光感、细腻肌理和静奢风格，用于旗舰店展示和高预算客户转化；中端系列则围绕不同氛围色盘，提供多价位、多风格的艺术漆组合；工程系列则面向精装房、旧改项目和商业空间，推出更适合批量施工、成本控制和效果稳定的产品包装。</a:t>
            </a:r>
          </a:p>
        </p:txBody>
      </p:sp>
      <p:sp>
        <p:nvSpPr>
          <p:cNvPr id="8" name="第2节橙色外框"/>
          <p:cNvSpPr/>
          <p:nvPr/>
        </p:nvSpPr>
        <p:spPr>
          <a:xfrm>
            <a:off x="658368" y="3502152"/>
            <a:ext cx="10881360" cy="2514600"/>
          </a:xfrm>
          <a:prstGeom prst="rect">
            <a:avLst/>
          </a:prstGeom>
          <a:noFill/>
          <a:ln w="28575">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二级标题2"/>
          <p:cNvSpPr txBox="1"/>
          <p:nvPr/>
        </p:nvSpPr>
        <p:spPr>
          <a:xfrm>
            <a:off x="932688" y="3730752"/>
            <a:ext cx="10314432" cy="384048"/>
          </a:xfrm>
          <a:prstGeom prst="rect">
            <a:avLst/>
          </a:prstGeom>
          <a:noFill/>
        </p:spPr>
        <p:txBody>
          <a:bodyPr wrap="square" anchor="ctr" lIns="36576" rIns="36576" tIns="36576" bIns="36576">
            <a:spAutoFit/>
          </a:bodyPr>
          <a:lstStyle/>
          <a:p>
            <a:pPr algn="l">
              <a:lnSpc>
                <a:spcPct val="105000"/>
              </a:lnSpc>
              <a:spcBef>
                <a:spcPts val="0"/>
              </a:spcBef>
              <a:spcAft>
                <a:spcPts val="0"/>
              </a:spcAft>
            </a:pPr>
            <a:r>
              <a:rPr sz="1800" b="1">
                <a:solidFill>
                  <a:srgbClr val="17372C"/>
                </a:solidFill>
                <a:latin typeface="宋体"/>
                <a:ea typeface="宋体"/>
              </a:rPr>
              <a:t>6.2 核心卖点提炼</a:t>
            </a:r>
          </a:p>
        </p:txBody>
      </p:sp>
      <p:sp>
        <p:nvSpPr>
          <p:cNvPr id="10" name="正文2"/>
          <p:cNvSpPr txBox="1"/>
          <p:nvPr/>
        </p:nvSpPr>
        <p:spPr>
          <a:xfrm>
            <a:off x="932688" y="4206240"/>
            <a:ext cx="10314432" cy="1408176"/>
          </a:xfrm>
          <a:prstGeom prst="rect">
            <a:avLst/>
          </a:prstGeom>
          <a:noFill/>
        </p:spPr>
        <p:txBody>
          <a:bodyPr wrap="square" anchor="t" lIns="36576" rIns="36576" tIns="36576" bIns="36576">
            <a:spAutoFit/>
          </a:bodyPr>
          <a:lstStyle/>
          <a:p>
            <a:pPr algn="l">
              <a:lnSpc>
                <a:spcPct val="105000"/>
              </a:lnSpc>
              <a:spcBef>
                <a:spcPts val="0"/>
              </a:spcBef>
              <a:spcAft>
                <a:spcPts val="0"/>
              </a:spcAft>
            </a:pPr>
            <a:r>
              <a:rPr sz="1400" b="0">
                <a:solidFill>
                  <a:srgbClr val="17372C"/>
                </a:solidFill>
                <a:latin typeface="宋体"/>
                <a:ea typeface="宋体"/>
              </a:rPr>
              <a:t>在产品传播中，应重点突出环保领先、色质统一、专业美学支持和施工标准化等核心卖点。通过“环保安心+美学搭配+稳定施工”的组合表达，建立产品与普通墙面材料之间的差异。</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50"/>
                                        <p:tgtEl>
                                          <p:spTgt spid="6"/>
                                        </p:tgtEl>
                                      </p:cBhvr>
                                    </p:animEffect>
                                  </p:childTnLst>
                                </p:cTn>
                              </p:par>
                            </p:childTnLst>
                          </p:cTn>
                        </p:par>
                      </p:childTnLst>
                    </p:cTn>
                  </p:par>
                  <p:par>
                    <p:cTn id="8" fill="hold">
                      <p:stCondLst>
                        <p:cond delay="0"/>
                      </p:stCondLst>
                      <p:childTnLst>
                        <p:par>
                          <p:cTn id="9" fill="hold">
                            <p:stCondLst>
                              <p:cond delay="0"/>
                            </p:stCondLst>
                            <p:childTnLst>
                              <p:par>
                                <p:cTn id="10" presetID="22" presetClass="entr" presetSubtype="0"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650"/>
                                        <p:tgtEl>
                                          <p:spTgt spid="7"/>
                                        </p:tgtEl>
                                      </p:cBhvr>
                                    </p:animEffect>
                                  </p:childTnLst>
                                </p:cTn>
                              </p:par>
                            </p:childTnLst>
                          </p:cTn>
                        </p:par>
                      </p:childTnLst>
                    </p:cTn>
                  </p:par>
                  <p:par>
                    <p:cTn id="13" fill="hold">
                      <p:stCondLst>
                        <p:cond delay="0"/>
                      </p:stCondLst>
                      <p:childTnLst>
                        <p:par>
                          <p:cTn id="14" fill="hold">
                            <p:stCondLst>
                              <p:cond delay="0"/>
                            </p:stCondLst>
                            <p:childTnLst>
                              <p:par>
                                <p:cTn id="15" presetID="10" presetClass="entr" presetSubtype="0" fill="hold" nodeType="after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650"/>
                                        <p:tgtEl>
                                          <p:spTgt spid="9"/>
                                        </p:tgtEl>
                                      </p:cBhvr>
                                    </p:animEffect>
                                  </p:childTnLst>
                                </p:cTn>
                              </p:par>
                            </p:childTnLst>
                          </p:cTn>
                        </p:par>
                      </p:childTnLst>
                    </p:cTn>
                  </p:par>
                  <p:par>
                    <p:cTn id="18" fill="hold">
                      <p:stCondLst>
                        <p:cond delay="0"/>
                      </p:stCondLst>
                      <p:childTnLst>
                        <p:par>
                          <p:cTn id="19" fill="hold">
                            <p:stCondLst>
                              <p:cond delay="0"/>
                            </p:stCondLst>
                            <p:childTnLst>
                              <p:par>
                                <p:cTn id="20" presetID="22" presetClass="entr" presetSubtype="0" fill="hold"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6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浅绿中绿渐变背景"/>
          <p:cNvSpPr/>
          <p:nvPr/>
        </p:nvSpPr>
        <p:spPr>
          <a:xfrm>
            <a:off x="0" y="0"/>
            <a:ext cx="12191999" cy="6858000"/>
          </a:xfrm>
          <a:prstGeom prst="rect">
            <a:avLst/>
          </a:prstGeom>
          <a:gradFill rotWithShape="1">
            <a:gsLst>
              <a:gs pos="0">
                <a:srgbClr val="EAF7EE"/>
              </a:gs>
              <a:gs pos="100000">
                <a:srgbClr val="7FC99A"/>
              </a:gs>
            </a:gsLst>
            <a:lin ang="54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65760"/>
            <a:ext cx="566928" cy="6400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章节进度"/>
          <p:cNvSpPr txBox="1"/>
          <p:nvPr/>
        </p:nvSpPr>
        <p:spPr>
          <a:xfrm>
            <a:off x="10561320" y="219456"/>
            <a:ext cx="960120" cy="329184"/>
          </a:xfrm>
          <a:prstGeom prst="rect">
            <a:avLst/>
          </a:prstGeom>
          <a:noFill/>
        </p:spPr>
        <p:txBody>
          <a:bodyPr wrap="square" anchor="ctr" lIns="36576" rIns="36576" tIns="36576" bIns="36576">
            <a:spAutoFit/>
          </a:bodyPr>
          <a:lstStyle/>
          <a:p>
            <a:pPr algn="r">
              <a:lnSpc>
                <a:spcPct val="105000"/>
              </a:lnSpc>
              <a:spcBef>
                <a:spcPts val="0"/>
              </a:spcBef>
              <a:spcAft>
                <a:spcPts val="0"/>
              </a:spcAft>
            </a:pPr>
            <a:r>
              <a:rPr sz="1100" b="1">
                <a:solidFill>
                  <a:srgbClr val="355A49"/>
                </a:solidFill>
                <a:latin typeface="宋体"/>
                <a:ea typeface="宋体"/>
              </a:rPr>
              <a:t>07 / 09</a:t>
            </a:r>
          </a:p>
        </p:txBody>
      </p:sp>
      <p:sp>
        <p:nvSpPr>
          <p:cNvPr id="5" name="章节英文标识"/>
          <p:cNvSpPr txBox="1"/>
          <p:nvPr/>
        </p:nvSpPr>
        <p:spPr>
          <a:xfrm>
            <a:off x="914400" y="1901952"/>
            <a:ext cx="10360152" cy="384048"/>
          </a:xfrm>
          <a:prstGeom prst="rect">
            <a:avLst/>
          </a:prstGeom>
          <a:noFill/>
        </p:spPr>
        <p:txBody>
          <a:bodyPr wrap="square" anchor="ctr" lIns="36576" rIns="36576" tIns="36576" bIns="36576">
            <a:spAutoFit/>
          </a:bodyPr>
          <a:lstStyle/>
          <a:p>
            <a:pPr algn="ctr">
              <a:lnSpc>
                <a:spcPct val="105000"/>
              </a:lnSpc>
              <a:spcBef>
                <a:spcPts val="0"/>
              </a:spcBef>
              <a:spcAft>
                <a:spcPts val="0"/>
              </a:spcAft>
            </a:pPr>
            <a:r>
              <a:rPr sz="1400" b="1">
                <a:solidFill>
                  <a:srgbClr val="A94500"/>
                </a:solidFill>
                <a:latin typeface="宋体"/>
                <a:ea typeface="宋体"/>
              </a:rPr>
              <a:t>PART 07</a:t>
            </a:r>
          </a:p>
        </p:txBody>
      </p:sp>
      <p:sp>
        <p:nvSpPr>
          <p:cNvPr id="6" name="章节标题"/>
          <p:cNvSpPr txBox="1"/>
          <p:nvPr/>
        </p:nvSpPr>
        <p:spPr>
          <a:xfrm>
            <a:off x="731520" y="2432304"/>
            <a:ext cx="10725912" cy="932688"/>
          </a:xfrm>
          <a:prstGeom prst="rect">
            <a:avLst/>
          </a:prstGeom>
          <a:noFill/>
        </p:spPr>
        <p:txBody>
          <a:bodyPr wrap="none" anchor="ctr" lIns="0" rIns="0" tIns="0" bIns="0">
            <a:spAutoFit/>
          </a:bodyPr>
          <a:lstStyle/>
          <a:p>
            <a:pPr algn="ctr">
              <a:lnSpc>
                <a:spcPct val="105000"/>
              </a:lnSpc>
              <a:spcBef>
                <a:spcPts val="0"/>
              </a:spcBef>
              <a:spcAft>
                <a:spcPts val="0"/>
              </a:spcAft>
            </a:pPr>
            <a:r>
              <a:rPr sz="4000" b="1">
                <a:solidFill>
                  <a:srgbClr val="17372C"/>
                </a:solidFill>
                <a:latin typeface="宋体"/>
                <a:ea typeface="宋体"/>
              </a:rPr>
              <a:t>七、多渠道拓展策略</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浅绿中绿渐变背景"/>
          <p:cNvSpPr/>
          <p:nvPr/>
        </p:nvSpPr>
        <p:spPr>
          <a:xfrm>
            <a:off x="0" y="0"/>
            <a:ext cx="12191999" cy="6858000"/>
          </a:xfrm>
          <a:prstGeom prst="rect">
            <a:avLst/>
          </a:prstGeom>
          <a:gradFill rotWithShape="1">
            <a:gsLst>
              <a:gs pos="0">
                <a:srgbClr val="EAF7EE"/>
              </a:gs>
              <a:gs pos="100000">
                <a:srgbClr val="7FC99A"/>
              </a:gs>
            </a:gsLst>
            <a:lin ang="54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65760"/>
            <a:ext cx="566928" cy="6400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章节进度"/>
          <p:cNvSpPr txBox="1"/>
          <p:nvPr/>
        </p:nvSpPr>
        <p:spPr>
          <a:xfrm>
            <a:off x="10561320" y="219456"/>
            <a:ext cx="960120" cy="329184"/>
          </a:xfrm>
          <a:prstGeom prst="rect">
            <a:avLst/>
          </a:prstGeom>
          <a:noFill/>
        </p:spPr>
        <p:txBody>
          <a:bodyPr wrap="square" anchor="ctr" lIns="36576" rIns="36576" tIns="36576" bIns="36576">
            <a:spAutoFit/>
          </a:bodyPr>
          <a:lstStyle/>
          <a:p>
            <a:pPr algn="r">
              <a:lnSpc>
                <a:spcPct val="105000"/>
              </a:lnSpc>
              <a:spcBef>
                <a:spcPts val="0"/>
              </a:spcBef>
              <a:spcAft>
                <a:spcPts val="0"/>
              </a:spcAft>
            </a:pPr>
            <a:r>
              <a:rPr sz="1100" b="1">
                <a:solidFill>
                  <a:srgbClr val="355A49"/>
                </a:solidFill>
                <a:latin typeface="宋体"/>
                <a:ea typeface="宋体"/>
              </a:rPr>
              <a:t>07 / 09</a:t>
            </a:r>
          </a:p>
        </p:txBody>
      </p:sp>
      <p:sp>
        <p:nvSpPr>
          <p:cNvPr id="5" name="第1节橙色外框"/>
          <p:cNvSpPr/>
          <p:nvPr/>
        </p:nvSpPr>
        <p:spPr>
          <a:xfrm>
            <a:off x="658368" y="594360"/>
            <a:ext cx="10881360" cy="2514600"/>
          </a:xfrm>
          <a:prstGeom prst="rect">
            <a:avLst/>
          </a:prstGeom>
          <a:noFill/>
          <a:ln w="28575">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二级标题1"/>
          <p:cNvSpPr txBox="1"/>
          <p:nvPr/>
        </p:nvSpPr>
        <p:spPr>
          <a:xfrm>
            <a:off x="932688" y="822960"/>
            <a:ext cx="10314432" cy="384048"/>
          </a:xfrm>
          <a:prstGeom prst="rect">
            <a:avLst/>
          </a:prstGeom>
          <a:noFill/>
        </p:spPr>
        <p:txBody>
          <a:bodyPr wrap="square" anchor="ctr" lIns="36576" rIns="36576" tIns="36576" bIns="36576">
            <a:spAutoFit/>
          </a:bodyPr>
          <a:lstStyle/>
          <a:p>
            <a:pPr algn="l">
              <a:lnSpc>
                <a:spcPct val="105000"/>
              </a:lnSpc>
              <a:spcBef>
                <a:spcPts val="0"/>
              </a:spcBef>
              <a:spcAft>
                <a:spcPts val="0"/>
              </a:spcAft>
            </a:pPr>
            <a:r>
              <a:rPr sz="1800" b="1">
                <a:solidFill>
                  <a:srgbClr val="17372C"/>
                </a:solidFill>
                <a:latin typeface="宋体"/>
                <a:ea typeface="宋体"/>
              </a:rPr>
              <a:t>7.1 零售终端升级</a:t>
            </a:r>
          </a:p>
        </p:txBody>
      </p:sp>
      <p:sp>
        <p:nvSpPr>
          <p:cNvPr id="7" name="正文1"/>
          <p:cNvSpPr txBox="1"/>
          <p:nvPr/>
        </p:nvSpPr>
        <p:spPr>
          <a:xfrm>
            <a:off x="932688" y="1298448"/>
            <a:ext cx="10314432" cy="1408176"/>
          </a:xfrm>
          <a:prstGeom prst="rect">
            <a:avLst/>
          </a:prstGeom>
          <a:noFill/>
        </p:spPr>
        <p:txBody>
          <a:bodyPr wrap="square" anchor="t" lIns="36576" rIns="36576" tIns="36576" bIns="36576">
            <a:spAutoFit/>
          </a:bodyPr>
          <a:lstStyle/>
          <a:p>
            <a:pPr algn="l">
              <a:lnSpc>
                <a:spcPct val="105000"/>
              </a:lnSpc>
              <a:spcBef>
                <a:spcPts val="0"/>
              </a:spcBef>
              <a:spcAft>
                <a:spcPts val="0"/>
              </a:spcAft>
            </a:pPr>
            <a:r>
              <a:rPr sz="1400" b="0">
                <a:solidFill>
                  <a:srgbClr val="17372C"/>
                </a:solidFill>
                <a:latin typeface="宋体"/>
                <a:ea typeface="宋体"/>
              </a:rPr>
              <a:t>渠道策略应围绕零售终端、家装公司、工长群体和工程项目四条路径展开。重点城市旗舰店可进行“艺境家”主题化升级，设置沉浸式样板区和色盘体验区，让消费者直观看到不同墙面效果在真实空间中的呈现；建材市场可布局店中店或艺术漆专区，配套样板、选色设备和导购培训。</a:t>
            </a:r>
          </a:p>
        </p:txBody>
      </p:sp>
      <p:sp>
        <p:nvSpPr>
          <p:cNvPr id="8" name="第2节橙色外框"/>
          <p:cNvSpPr/>
          <p:nvPr/>
        </p:nvSpPr>
        <p:spPr>
          <a:xfrm>
            <a:off x="658368" y="3502152"/>
            <a:ext cx="10881360" cy="2514600"/>
          </a:xfrm>
          <a:prstGeom prst="rect">
            <a:avLst/>
          </a:prstGeom>
          <a:noFill/>
          <a:ln w="28575">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二级标题2"/>
          <p:cNvSpPr txBox="1"/>
          <p:nvPr/>
        </p:nvSpPr>
        <p:spPr>
          <a:xfrm>
            <a:off x="932688" y="3730752"/>
            <a:ext cx="10314432" cy="384048"/>
          </a:xfrm>
          <a:prstGeom prst="rect">
            <a:avLst/>
          </a:prstGeom>
          <a:noFill/>
        </p:spPr>
        <p:txBody>
          <a:bodyPr wrap="square" anchor="ctr" lIns="36576" rIns="36576" tIns="36576" bIns="36576">
            <a:spAutoFit/>
          </a:bodyPr>
          <a:lstStyle/>
          <a:p>
            <a:pPr algn="l">
              <a:lnSpc>
                <a:spcPct val="105000"/>
              </a:lnSpc>
              <a:spcBef>
                <a:spcPts val="0"/>
              </a:spcBef>
              <a:spcAft>
                <a:spcPts val="0"/>
              </a:spcAft>
            </a:pPr>
            <a:r>
              <a:rPr sz="1800" b="1">
                <a:solidFill>
                  <a:srgbClr val="17372C"/>
                </a:solidFill>
                <a:latin typeface="宋体"/>
                <a:ea typeface="宋体"/>
              </a:rPr>
              <a:t>7.2 家装与工程渠道拓展</a:t>
            </a:r>
          </a:p>
        </p:txBody>
      </p:sp>
      <p:sp>
        <p:nvSpPr>
          <p:cNvPr id="10" name="正文2"/>
          <p:cNvSpPr txBox="1"/>
          <p:nvPr/>
        </p:nvSpPr>
        <p:spPr>
          <a:xfrm>
            <a:off x="932688" y="4206240"/>
            <a:ext cx="10314432" cy="1408176"/>
          </a:xfrm>
          <a:prstGeom prst="rect">
            <a:avLst/>
          </a:prstGeom>
          <a:noFill/>
        </p:spPr>
        <p:txBody>
          <a:bodyPr wrap="square" anchor="t" lIns="36576" rIns="36576" tIns="36576" bIns="36576">
            <a:spAutoFit/>
          </a:bodyPr>
          <a:lstStyle/>
          <a:p>
            <a:pPr algn="l">
              <a:lnSpc>
                <a:spcPct val="105000"/>
              </a:lnSpc>
              <a:spcBef>
                <a:spcPts val="0"/>
              </a:spcBef>
              <a:spcAft>
                <a:spcPts val="0"/>
              </a:spcAft>
            </a:pPr>
            <a:r>
              <a:rPr sz="1400" b="0">
                <a:solidFill>
                  <a:srgbClr val="17372C"/>
                </a:solidFill>
                <a:latin typeface="宋体"/>
                <a:ea typeface="宋体"/>
              </a:rPr>
              <a:t>家装公司与设计师渠道可通过战略合作、设计沙龙、样板间植入和推荐激励提升转化效率；工长渠道可通过培训认证、标杆评选和施工支持，稳定最终落地效果；工程渠道则重点跟进城市更新、精装房和商业空间项目，形成零售与项目双轮驱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50"/>
                                        <p:tgtEl>
                                          <p:spTgt spid="6"/>
                                        </p:tgtEl>
                                      </p:cBhvr>
                                    </p:animEffect>
                                  </p:childTnLst>
                                </p:cTn>
                              </p:par>
                            </p:childTnLst>
                          </p:cTn>
                        </p:par>
                      </p:childTnLst>
                    </p:cTn>
                  </p:par>
                  <p:par>
                    <p:cTn id="8" fill="hold">
                      <p:stCondLst>
                        <p:cond delay="0"/>
                      </p:stCondLst>
                      <p:childTnLst>
                        <p:par>
                          <p:cTn id="9" fill="hold">
                            <p:stCondLst>
                              <p:cond delay="0"/>
                            </p:stCondLst>
                            <p:childTnLst>
                              <p:par>
                                <p:cTn id="10" presetID="22" presetClass="entr" presetSubtype="0"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650"/>
                                        <p:tgtEl>
                                          <p:spTgt spid="7"/>
                                        </p:tgtEl>
                                      </p:cBhvr>
                                    </p:animEffect>
                                  </p:childTnLst>
                                </p:cTn>
                              </p:par>
                            </p:childTnLst>
                          </p:cTn>
                        </p:par>
                      </p:childTnLst>
                    </p:cTn>
                  </p:par>
                  <p:par>
                    <p:cTn id="13" fill="hold">
                      <p:stCondLst>
                        <p:cond delay="0"/>
                      </p:stCondLst>
                      <p:childTnLst>
                        <p:par>
                          <p:cTn id="14" fill="hold">
                            <p:stCondLst>
                              <p:cond delay="0"/>
                            </p:stCondLst>
                            <p:childTnLst>
                              <p:par>
                                <p:cTn id="15" presetID="10" presetClass="entr" presetSubtype="0" fill="hold" nodeType="after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650"/>
                                        <p:tgtEl>
                                          <p:spTgt spid="9"/>
                                        </p:tgtEl>
                                      </p:cBhvr>
                                    </p:animEffect>
                                  </p:childTnLst>
                                </p:cTn>
                              </p:par>
                            </p:childTnLst>
                          </p:cTn>
                        </p:par>
                      </p:childTnLst>
                    </p:cTn>
                  </p:par>
                  <p:par>
                    <p:cTn id="18" fill="hold">
                      <p:stCondLst>
                        <p:cond delay="0"/>
                      </p:stCondLst>
                      <p:childTnLst>
                        <p:par>
                          <p:cTn id="19" fill="hold">
                            <p:stCondLst>
                              <p:cond delay="0"/>
                            </p:stCondLst>
                            <p:childTnLst>
                              <p:par>
                                <p:cTn id="20" presetID="22" presetClass="entr" presetSubtype="0" fill="hold"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6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浅绿中绿渐变背景"/>
          <p:cNvSpPr/>
          <p:nvPr/>
        </p:nvSpPr>
        <p:spPr>
          <a:xfrm>
            <a:off x="0" y="0"/>
            <a:ext cx="12191999" cy="6858000"/>
          </a:xfrm>
          <a:prstGeom prst="rect">
            <a:avLst/>
          </a:prstGeom>
          <a:gradFill rotWithShape="1">
            <a:gsLst>
              <a:gs pos="0">
                <a:srgbClr val="EAF7EE"/>
              </a:gs>
              <a:gs pos="100000">
                <a:srgbClr val="7FC99A"/>
              </a:gs>
            </a:gsLst>
            <a:lin ang="54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65760"/>
            <a:ext cx="566928" cy="6400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章节进度"/>
          <p:cNvSpPr txBox="1"/>
          <p:nvPr/>
        </p:nvSpPr>
        <p:spPr>
          <a:xfrm>
            <a:off x="10561320" y="219456"/>
            <a:ext cx="960120" cy="329184"/>
          </a:xfrm>
          <a:prstGeom prst="rect">
            <a:avLst/>
          </a:prstGeom>
          <a:noFill/>
        </p:spPr>
        <p:txBody>
          <a:bodyPr wrap="square" anchor="ctr" lIns="36576" rIns="36576" tIns="36576" bIns="36576">
            <a:spAutoFit/>
          </a:bodyPr>
          <a:lstStyle/>
          <a:p>
            <a:pPr algn="r">
              <a:lnSpc>
                <a:spcPct val="105000"/>
              </a:lnSpc>
              <a:spcBef>
                <a:spcPts val="0"/>
              </a:spcBef>
              <a:spcAft>
                <a:spcPts val="0"/>
              </a:spcAft>
            </a:pPr>
            <a:r>
              <a:rPr sz="1100" b="1">
                <a:solidFill>
                  <a:srgbClr val="355A49"/>
                </a:solidFill>
                <a:latin typeface="宋体"/>
                <a:ea typeface="宋体"/>
              </a:rPr>
              <a:t>08 / 09</a:t>
            </a:r>
          </a:p>
        </p:txBody>
      </p:sp>
      <p:sp>
        <p:nvSpPr>
          <p:cNvPr id="5" name="章节英文标识"/>
          <p:cNvSpPr txBox="1"/>
          <p:nvPr/>
        </p:nvSpPr>
        <p:spPr>
          <a:xfrm>
            <a:off x="914400" y="1901952"/>
            <a:ext cx="10360152" cy="384048"/>
          </a:xfrm>
          <a:prstGeom prst="rect">
            <a:avLst/>
          </a:prstGeom>
          <a:noFill/>
        </p:spPr>
        <p:txBody>
          <a:bodyPr wrap="square" anchor="ctr" lIns="36576" rIns="36576" tIns="36576" bIns="36576">
            <a:spAutoFit/>
          </a:bodyPr>
          <a:lstStyle/>
          <a:p>
            <a:pPr algn="ctr">
              <a:lnSpc>
                <a:spcPct val="105000"/>
              </a:lnSpc>
              <a:spcBef>
                <a:spcPts val="0"/>
              </a:spcBef>
              <a:spcAft>
                <a:spcPts val="0"/>
              </a:spcAft>
            </a:pPr>
            <a:r>
              <a:rPr sz="1400" b="1">
                <a:solidFill>
                  <a:srgbClr val="A94500"/>
                </a:solidFill>
                <a:latin typeface="宋体"/>
                <a:ea typeface="宋体"/>
              </a:rPr>
              <a:t>PART 08</a:t>
            </a:r>
          </a:p>
        </p:txBody>
      </p:sp>
      <p:sp>
        <p:nvSpPr>
          <p:cNvPr id="6" name="章节标题"/>
          <p:cNvSpPr txBox="1"/>
          <p:nvPr/>
        </p:nvSpPr>
        <p:spPr>
          <a:xfrm>
            <a:off x="731520" y="2432304"/>
            <a:ext cx="10725912" cy="932688"/>
          </a:xfrm>
          <a:prstGeom prst="rect">
            <a:avLst/>
          </a:prstGeom>
          <a:noFill/>
        </p:spPr>
        <p:txBody>
          <a:bodyPr wrap="none" anchor="ctr" lIns="0" rIns="0" tIns="0" bIns="0">
            <a:spAutoFit/>
          </a:bodyPr>
          <a:lstStyle/>
          <a:p>
            <a:pPr algn="ctr">
              <a:lnSpc>
                <a:spcPct val="105000"/>
              </a:lnSpc>
              <a:spcBef>
                <a:spcPts val="0"/>
              </a:spcBef>
              <a:spcAft>
                <a:spcPts val="0"/>
              </a:spcAft>
            </a:pPr>
            <a:r>
              <a:rPr sz="4000" b="1">
                <a:solidFill>
                  <a:srgbClr val="17372C"/>
                </a:solidFill>
                <a:latin typeface="宋体"/>
                <a:ea typeface="宋体"/>
              </a:rPr>
              <a:t>八、整合营销与本地转化</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浅绿中绿渐变背景"/>
          <p:cNvSpPr/>
          <p:nvPr/>
        </p:nvSpPr>
        <p:spPr>
          <a:xfrm>
            <a:off x="0" y="0"/>
            <a:ext cx="12191999" cy="6858000"/>
          </a:xfrm>
          <a:prstGeom prst="rect">
            <a:avLst/>
          </a:prstGeom>
          <a:gradFill rotWithShape="1">
            <a:gsLst>
              <a:gs pos="0">
                <a:srgbClr val="EAF7EE"/>
              </a:gs>
              <a:gs pos="100000">
                <a:srgbClr val="7FC99A"/>
              </a:gs>
            </a:gsLst>
            <a:lin ang="54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65760"/>
            <a:ext cx="566928" cy="6400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章节进度"/>
          <p:cNvSpPr txBox="1"/>
          <p:nvPr/>
        </p:nvSpPr>
        <p:spPr>
          <a:xfrm>
            <a:off x="10561320" y="219456"/>
            <a:ext cx="960120" cy="329184"/>
          </a:xfrm>
          <a:prstGeom prst="rect">
            <a:avLst/>
          </a:prstGeom>
          <a:noFill/>
        </p:spPr>
        <p:txBody>
          <a:bodyPr wrap="square" anchor="ctr" lIns="36576" rIns="36576" tIns="36576" bIns="36576">
            <a:spAutoFit/>
          </a:bodyPr>
          <a:lstStyle/>
          <a:p>
            <a:pPr algn="r">
              <a:lnSpc>
                <a:spcPct val="105000"/>
              </a:lnSpc>
              <a:spcBef>
                <a:spcPts val="0"/>
              </a:spcBef>
              <a:spcAft>
                <a:spcPts val="0"/>
              </a:spcAft>
            </a:pPr>
            <a:r>
              <a:rPr sz="1100" b="1">
                <a:solidFill>
                  <a:srgbClr val="355A49"/>
                </a:solidFill>
                <a:latin typeface="宋体"/>
                <a:ea typeface="宋体"/>
              </a:rPr>
              <a:t>08 / 09</a:t>
            </a:r>
          </a:p>
        </p:txBody>
      </p:sp>
      <p:sp>
        <p:nvSpPr>
          <p:cNvPr id="5" name="第1节橙色外框"/>
          <p:cNvSpPr/>
          <p:nvPr/>
        </p:nvSpPr>
        <p:spPr>
          <a:xfrm>
            <a:off x="658368" y="594360"/>
            <a:ext cx="10881360" cy="2514600"/>
          </a:xfrm>
          <a:prstGeom prst="rect">
            <a:avLst/>
          </a:prstGeom>
          <a:noFill/>
          <a:ln w="28575">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二级标题1"/>
          <p:cNvSpPr txBox="1"/>
          <p:nvPr/>
        </p:nvSpPr>
        <p:spPr>
          <a:xfrm>
            <a:off x="932688" y="822960"/>
            <a:ext cx="10314432" cy="384048"/>
          </a:xfrm>
          <a:prstGeom prst="rect">
            <a:avLst/>
          </a:prstGeom>
          <a:noFill/>
        </p:spPr>
        <p:txBody>
          <a:bodyPr wrap="square" anchor="ctr" lIns="36576" rIns="36576" tIns="36576" bIns="36576">
            <a:spAutoFit/>
          </a:bodyPr>
          <a:lstStyle/>
          <a:p>
            <a:pPr algn="l">
              <a:lnSpc>
                <a:spcPct val="105000"/>
              </a:lnSpc>
              <a:spcBef>
                <a:spcPts val="0"/>
              </a:spcBef>
              <a:spcAft>
                <a:spcPts val="0"/>
              </a:spcAft>
            </a:pPr>
            <a:r>
              <a:rPr sz="1800" b="1">
                <a:solidFill>
                  <a:srgbClr val="17372C"/>
                </a:solidFill>
                <a:latin typeface="宋体"/>
                <a:ea typeface="宋体"/>
              </a:rPr>
              <a:t>8.1 线上内容种草</a:t>
            </a:r>
          </a:p>
        </p:txBody>
      </p:sp>
      <p:sp>
        <p:nvSpPr>
          <p:cNvPr id="7" name="正文1"/>
          <p:cNvSpPr txBox="1"/>
          <p:nvPr/>
        </p:nvSpPr>
        <p:spPr>
          <a:xfrm>
            <a:off x="932688" y="1298448"/>
            <a:ext cx="10314432" cy="1408176"/>
          </a:xfrm>
          <a:prstGeom prst="rect">
            <a:avLst/>
          </a:prstGeom>
          <a:noFill/>
        </p:spPr>
        <p:txBody>
          <a:bodyPr wrap="square" anchor="t" lIns="36576" rIns="36576" tIns="36576" bIns="36576">
            <a:spAutoFit/>
          </a:bodyPr>
          <a:lstStyle/>
          <a:p>
            <a:pPr algn="l">
              <a:lnSpc>
                <a:spcPct val="105000"/>
              </a:lnSpc>
              <a:spcBef>
                <a:spcPts val="0"/>
              </a:spcBef>
              <a:spcAft>
                <a:spcPts val="0"/>
              </a:spcAft>
            </a:pPr>
            <a:r>
              <a:rPr sz="1400" b="0">
                <a:solidFill>
                  <a:srgbClr val="17372C"/>
                </a:solidFill>
                <a:latin typeface="宋体"/>
                <a:ea typeface="宋体"/>
              </a:rPr>
              <a:t>营销层面应以内容种草、本地化投放和城市主题活动为主线。线上可在生活方式内容平台、短视频平台和私域社群持续输出艺术漆案例、施工过程、前后对比和搭配攻略，形成从认知到咨询再到到店体验的闭环。</a:t>
            </a:r>
          </a:p>
        </p:txBody>
      </p:sp>
      <p:sp>
        <p:nvSpPr>
          <p:cNvPr id="8" name="第2节橙色外框"/>
          <p:cNvSpPr/>
          <p:nvPr/>
        </p:nvSpPr>
        <p:spPr>
          <a:xfrm>
            <a:off x="658368" y="3502152"/>
            <a:ext cx="10881360" cy="2514600"/>
          </a:xfrm>
          <a:prstGeom prst="rect">
            <a:avLst/>
          </a:prstGeom>
          <a:noFill/>
          <a:ln w="28575">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二级标题2"/>
          <p:cNvSpPr txBox="1"/>
          <p:nvPr/>
        </p:nvSpPr>
        <p:spPr>
          <a:xfrm>
            <a:off x="932688" y="3730752"/>
            <a:ext cx="10314432" cy="384048"/>
          </a:xfrm>
          <a:prstGeom prst="rect">
            <a:avLst/>
          </a:prstGeom>
          <a:noFill/>
        </p:spPr>
        <p:txBody>
          <a:bodyPr wrap="square" anchor="ctr" lIns="36576" rIns="36576" tIns="36576" bIns="36576">
            <a:spAutoFit/>
          </a:bodyPr>
          <a:lstStyle/>
          <a:p>
            <a:pPr algn="l">
              <a:lnSpc>
                <a:spcPct val="105000"/>
              </a:lnSpc>
              <a:spcBef>
                <a:spcPts val="0"/>
              </a:spcBef>
              <a:spcAft>
                <a:spcPts val="0"/>
              </a:spcAft>
            </a:pPr>
            <a:r>
              <a:rPr sz="1800" b="1">
                <a:solidFill>
                  <a:srgbClr val="17372C"/>
                </a:solidFill>
                <a:latin typeface="宋体"/>
                <a:ea typeface="宋体"/>
              </a:rPr>
              <a:t>8.2 线下活动转化</a:t>
            </a:r>
          </a:p>
        </p:txBody>
      </p:sp>
      <p:sp>
        <p:nvSpPr>
          <p:cNvPr id="10" name="正文2"/>
          <p:cNvSpPr txBox="1"/>
          <p:nvPr/>
        </p:nvSpPr>
        <p:spPr>
          <a:xfrm>
            <a:off x="932688" y="4206240"/>
            <a:ext cx="10314432" cy="1408176"/>
          </a:xfrm>
          <a:prstGeom prst="rect">
            <a:avLst/>
          </a:prstGeom>
          <a:noFill/>
        </p:spPr>
        <p:txBody>
          <a:bodyPr wrap="square" anchor="t" lIns="36576" rIns="36576" tIns="36576" bIns="36576">
            <a:spAutoFit/>
          </a:bodyPr>
          <a:lstStyle/>
          <a:p>
            <a:pPr algn="l">
              <a:lnSpc>
                <a:spcPct val="105000"/>
              </a:lnSpc>
              <a:spcBef>
                <a:spcPts val="0"/>
              </a:spcBef>
              <a:spcAft>
                <a:spcPts val="0"/>
              </a:spcAft>
            </a:pPr>
            <a:r>
              <a:rPr sz="1400" b="0">
                <a:solidFill>
                  <a:srgbClr val="17372C"/>
                </a:solidFill>
                <a:latin typeface="宋体"/>
                <a:ea typeface="宋体"/>
              </a:rPr>
              <a:t>线下可围绕核心城市打造“墙面美学季”“旧房焕新节”“双城联动年终礼”等主题活动。促销方式上，可结合老带新、小区团购、完工晒家评选、设计师联合案例等方式提升裂变传播和本地转化效率。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50"/>
                                        <p:tgtEl>
                                          <p:spTgt spid="6"/>
                                        </p:tgtEl>
                                      </p:cBhvr>
                                    </p:animEffect>
                                  </p:childTnLst>
                                </p:cTn>
                              </p:par>
                            </p:childTnLst>
                          </p:cTn>
                        </p:par>
                      </p:childTnLst>
                    </p:cTn>
                  </p:par>
                  <p:par>
                    <p:cTn id="8" fill="hold">
                      <p:stCondLst>
                        <p:cond delay="0"/>
                      </p:stCondLst>
                      <p:childTnLst>
                        <p:par>
                          <p:cTn id="9" fill="hold">
                            <p:stCondLst>
                              <p:cond delay="0"/>
                            </p:stCondLst>
                            <p:childTnLst>
                              <p:par>
                                <p:cTn id="10" presetID="22" presetClass="entr" presetSubtype="0"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650"/>
                                        <p:tgtEl>
                                          <p:spTgt spid="7"/>
                                        </p:tgtEl>
                                      </p:cBhvr>
                                    </p:animEffect>
                                  </p:childTnLst>
                                </p:cTn>
                              </p:par>
                            </p:childTnLst>
                          </p:cTn>
                        </p:par>
                      </p:childTnLst>
                    </p:cTn>
                  </p:par>
                  <p:par>
                    <p:cTn id="13" fill="hold">
                      <p:stCondLst>
                        <p:cond delay="0"/>
                      </p:stCondLst>
                      <p:childTnLst>
                        <p:par>
                          <p:cTn id="14" fill="hold">
                            <p:stCondLst>
                              <p:cond delay="0"/>
                            </p:stCondLst>
                            <p:childTnLst>
                              <p:par>
                                <p:cTn id="15" presetID="10" presetClass="entr" presetSubtype="0" fill="hold" nodeType="after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650"/>
                                        <p:tgtEl>
                                          <p:spTgt spid="9"/>
                                        </p:tgtEl>
                                      </p:cBhvr>
                                    </p:animEffect>
                                  </p:childTnLst>
                                </p:cTn>
                              </p:par>
                            </p:childTnLst>
                          </p:cTn>
                        </p:par>
                      </p:childTnLst>
                    </p:cTn>
                  </p:par>
                  <p:par>
                    <p:cTn id="18" fill="hold">
                      <p:stCondLst>
                        <p:cond delay="0"/>
                      </p:stCondLst>
                      <p:childTnLst>
                        <p:par>
                          <p:cTn id="19" fill="hold">
                            <p:stCondLst>
                              <p:cond delay="0"/>
                            </p:stCondLst>
                            <p:childTnLst>
                              <p:par>
                                <p:cTn id="20" presetID="22" presetClass="entr" presetSubtype="0" fill="hold"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6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浅绿中绿渐变背景"/>
          <p:cNvSpPr/>
          <p:nvPr/>
        </p:nvSpPr>
        <p:spPr>
          <a:xfrm>
            <a:off x="0" y="0"/>
            <a:ext cx="12191999" cy="6858000"/>
          </a:xfrm>
          <a:prstGeom prst="rect">
            <a:avLst/>
          </a:prstGeom>
          <a:gradFill rotWithShape="1">
            <a:gsLst>
              <a:gs pos="0">
                <a:srgbClr val="EAF7EE"/>
              </a:gs>
              <a:gs pos="100000">
                <a:srgbClr val="7FC99A"/>
              </a:gs>
            </a:gsLst>
            <a:lin ang="54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65760"/>
            <a:ext cx="566928" cy="6400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章节进度"/>
          <p:cNvSpPr txBox="1"/>
          <p:nvPr/>
        </p:nvSpPr>
        <p:spPr>
          <a:xfrm>
            <a:off x="10561320" y="219456"/>
            <a:ext cx="960120" cy="329184"/>
          </a:xfrm>
          <a:prstGeom prst="rect">
            <a:avLst/>
          </a:prstGeom>
          <a:noFill/>
        </p:spPr>
        <p:txBody>
          <a:bodyPr wrap="square" anchor="ctr" lIns="36576" rIns="36576" tIns="36576" bIns="36576">
            <a:spAutoFit/>
          </a:bodyPr>
          <a:lstStyle/>
          <a:p>
            <a:pPr algn="r">
              <a:lnSpc>
                <a:spcPct val="105000"/>
              </a:lnSpc>
              <a:spcBef>
                <a:spcPts val="0"/>
              </a:spcBef>
              <a:spcAft>
                <a:spcPts val="0"/>
              </a:spcAft>
            </a:pPr>
            <a:r>
              <a:rPr sz="1100" b="1">
                <a:solidFill>
                  <a:srgbClr val="355A49"/>
                </a:solidFill>
                <a:latin typeface="宋体"/>
                <a:ea typeface="宋体"/>
              </a:rPr>
              <a:t>09 / 09</a:t>
            </a:r>
          </a:p>
        </p:txBody>
      </p:sp>
      <p:sp>
        <p:nvSpPr>
          <p:cNvPr id="5" name="章节英文标识"/>
          <p:cNvSpPr txBox="1"/>
          <p:nvPr/>
        </p:nvSpPr>
        <p:spPr>
          <a:xfrm>
            <a:off x="914400" y="1901952"/>
            <a:ext cx="10360152" cy="384048"/>
          </a:xfrm>
          <a:prstGeom prst="rect">
            <a:avLst/>
          </a:prstGeom>
          <a:noFill/>
        </p:spPr>
        <p:txBody>
          <a:bodyPr wrap="square" anchor="ctr" lIns="36576" rIns="36576" tIns="36576" bIns="36576">
            <a:spAutoFit/>
          </a:bodyPr>
          <a:lstStyle/>
          <a:p>
            <a:pPr algn="ctr">
              <a:lnSpc>
                <a:spcPct val="105000"/>
              </a:lnSpc>
              <a:spcBef>
                <a:spcPts val="0"/>
              </a:spcBef>
              <a:spcAft>
                <a:spcPts val="0"/>
              </a:spcAft>
            </a:pPr>
            <a:r>
              <a:rPr sz="1400" b="1">
                <a:solidFill>
                  <a:srgbClr val="A94500"/>
                </a:solidFill>
                <a:latin typeface="宋体"/>
                <a:ea typeface="宋体"/>
              </a:rPr>
              <a:t>PART 09</a:t>
            </a:r>
          </a:p>
        </p:txBody>
      </p:sp>
      <p:sp>
        <p:nvSpPr>
          <p:cNvPr id="6" name="章节标题"/>
          <p:cNvSpPr txBox="1"/>
          <p:nvPr/>
        </p:nvSpPr>
        <p:spPr>
          <a:xfrm>
            <a:off x="731520" y="2432304"/>
            <a:ext cx="10725912" cy="932688"/>
          </a:xfrm>
          <a:prstGeom prst="rect">
            <a:avLst/>
          </a:prstGeom>
          <a:noFill/>
        </p:spPr>
        <p:txBody>
          <a:bodyPr wrap="none" anchor="ctr" lIns="0" rIns="0" tIns="0" bIns="0">
            <a:spAutoFit/>
          </a:bodyPr>
          <a:lstStyle/>
          <a:p>
            <a:pPr algn="ctr">
              <a:lnSpc>
                <a:spcPct val="105000"/>
              </a:lnSpc>
              <a:spcBef>
                <a:spcPts val="0"/>
              </a:spcBef>
              <a:spcAft>
                <a:spcPts val="0"/>
              </a:spcAft>
            </a:pPr>
            <a:r>
              <a:rPr sz="4000" b="1">
                <a:solidFill>
                  <a:srgbClr val="17372C"/>
                </a:solidFill>
                <a:latin typeface="宋体"/>
                <a:ea typeface="宋体"/>
              </a:rPr>
              <a:t>九、服务体系与执行保障</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浅绿中绿渐变背景"/>
          <p:cNvSpPr/>
          <p:nvPr/>
        </p:nvSpPr>
        <p:spPr>
          <a:xfrm>
            <a:off x="0" y="0"/>
            <a:ext cx="12191999" cy="6858000"/>
          </a:xfrm>
          <a:prstGeom prst="rect">
            <a:avLst/>
          </a:prstGeom>
          <a:gradFill rotWithShape="1">
            <a:gsLst>
              <a:gs pos="0">
                <a:srgbClr val="EAF7EE"/>
              </a:gs>
              <a:gs pos="100000">
                <a:srgbClr val="7FC99A"/>
              </a:gs>
            </a:gsLst>
            <a:lin ang="54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365760"/>
            <a:ext cx="566928" cy="6400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章节进度"/>
          <p:cNvSpPr txBox="1"/>
          <p:nvPr/>
        </p:nvSpPr>
        <p:spPr>
          <a:xfrm>
            <a:off x="10561320" y="219456"/>
            <a:ext cx="960120" cy="329184"/>
          </a:xfrm>
          <a:prstGeom prst="rect">
            <a:avLst/>
          </a:prstGeom>
          <a:noFill/>
        </p:spPr>
        <p:txBody>
          <a:bodyPr wrap="square" anchor="ctr" lIns="36576" rIns="36576" tIns="36576" bIns="36576">
            <a:spAutoFit/>
          </a:bodyPr>
          <a:lstStyle/>
          <a:p>
            <a:pPr algn="r">
              <a:lnSpc>
                <a:spcPct val="105000"/>
              </a:lnSpc>
              <a:spcBef>
                <a:spcPts val="0"/>
              </a:spcBef>
              <a:spcAft>
                <a:spcPts val="0"/>
              </a:spcAft>
            </a:pPr>
            <a:r>
              <a:rPr sz="1100" b="1">
                <a:solidFill>
                  <a:srgbClr val="355A49"/>
                </a:solidFill>
                <a:latin typeface="宋体"/>
                <a:ea typeface="宋体"/>
              </a:rPr>
              <a:t>09 / 09</a:t>
            </a:r>
          </a:p>
        </p:txBody>
      </p:sp>
      <p:sp>
        <p:nvSpPr>
          <p:cNvPr id="5" name="第1节橙色外框"/>
          <p:cNvSpPr/>
          <p:nvPr/>
        </p:nvSpPr>
        <p:spPr>
          <a:xfrm>
            <a:off x="658368" y="594360"/>
            <a:ext cx="10881360" cy="2514600"/>
          </a:xfrm>
          <a:prstGeom prst="rect">
            <a:avLst/>
          </a:prstGeom>
          <a:noFill/>
          <a:ln w="28575">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二级标题1"/>
          <p:cNvSpPr txBox="1"/>
          <p:nvPr/>
        </p:nvSpPr>
        <p:spPr>
          <a:xfrm>
            <a:off x="932688" y="822960"/>
            <a:ext cx="10314432" cy="384048"/>
          </a:xfrm>
          <a:prstGeom prst="rect">
            <a:avLst/>
          </a:prstGeom>
          <a:noFill/>
        </p:spPr>
        <p:txBody>
          <a:bodyPr wrap="square" anchor="ctr" lIns="36576" rIns="36576" tIns="36576" bIns="36576">
            <a:spAutoFit/>
          </a:bodyPr>
          <a:lstStyle/>
          <a:p>
            <a:pPr algn="l">
              <a:lnSpc>
                <a:spcPct val="105000"/>
              </a:lnSpc>
              <a:spcBef>
                <a:spcPts val="0"/>
              </a:spcBef>
              <a:spcAft>
                <a:spcPts val="0"/>
              </a:spcAft>
            </a:pPr>
            <a:r>
              <a:rPr sz="1800" b="1">
                <a:solidFill>
                  <a:srgbClr val="17372C"/>
                </a:solidFill>
                <a:latin typeface="宋体"/>
                <a:ea typeface="宋体"/>
              </a:rPr>
              <a:t>9.1 服务体系升级</a:t>
            </a:r>
          </a:p>
        </p:txBody>
      </p:sp>
      <p:sp>
        <p:nvSpPr>
          <p:cNvPr id="7" name="正文1"/>
          <p:cNvSpPr txBox="1"/>
          <p:nvPr/>
        </p:nvSpPr>
        <p:spPr>
          <a:xfrm>
            <a:off x="932688" y="1298448"/>
            <a:ext cx="10314432" cy="1408176"/>
          </a:xfrm>
          <a:prstGeom prst="rect">
            <a:avLst/>
          </a:prstGeom>
          <a:noFill/>
        </p:spPr>
        <p:txBody>
          <a:bodyPr wrap="square" anchor="t" lIns="36576" rIns="36576" tIns="36576" bIns="36576">
            <a:spAutoFit/>
          </a:bodyPr>
          <a:lstStyle/>
          <a:p>
            <a:pPr algn="l">
              <a:lnSpc>
                <a:spcPct val="105000"/>
              </a:lnSpc>
              <a:spcBef>
                <a:spcPts val="0"/>
              </a:spcBef>
              <a:spcAft>
                <a:spcPts val="0"/>
              </a:spcAft>
            </a:pPr>
            <a:r>
              <a:rPr sz="1400" b="0">
                <a:solidFill>
                  <a:srgbClr val="17372C"/>
                </a:solidFill>
                <a:latin typeface="宋体"/>
                <a:ea typeface="宋体"/>
              </a:rPr>
              <a:t>服务与执行保障是方案落地的关键。建议推出“艺术漆焕新”专属服务包，涵盖免费上门勘测、数字化选色、专业施工、质量验收和售后回访，并针对存量房用户提供“住着改”、局部翻新、旧墙快速评估和样板小区服务。</a:t>
            </a:r>
          </a:p>
        </p:txBody>
      </p:sp>
      <p:sp>
        <p:nvSpPr>
          <p:cNvPr id="8" name="第2节橙色外框"/>
          <p:cNvSpPr/>
          <p:nvPr/>
        </p:nvSpPr>
        <p:spPr>
          <a:xfrm>
            <a:off x="658368" y="3502152"/>
            <a:ext cx="10881360" cy="2514600"/>
          </a:xfrm>
          <a:prstGeom prst="rect">
            <a:avLst/>
          </a:prstGeom>
          <a:noFill/>
          <a:ln w="28575">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二级标题2"/>
          <p:cNvSpPr txBox="1"/>
          <p:nvPr/>
        </p:nvSpPr>
        <p:spPr>
          <a:xfrm>
            <a:off x="932688" y="3730752"/>
            <a:ext cx="10314432" cy="384048"/>
          </a:xfrm>
          <a:prstGeom prst="rect">
            <a:avLst/>
          </a:prstGeom>
          <a:noFill/>
        </p:spPr>
        <p:txBody>
          <a:bodyPr wrap="square" anchor="ctr" lIns="36576" rIns="36576" tIns="36576" bIns="36576">
            <a:spAutoFit/>
          </a:bodyPr>
          <a:lstStyle/>
          <a:p>
            <a:pPr algn="l">
              <a:lnSpc>
                <a:spcPct val="105000"/>
              </a:lnSpc>
              <a:spcBef>
                <a:spcPts val="0"/>
              </a:spcBef>
              <a:spcAft>
                <a:spcPts val="0"/>
              </a:spcAft>
            </a:pPr>
            <a:r>
              <a:rPr sz="1800" b="1">
                <a:solidFill>
                  <a:srgbClr val="17372C"/>
                </a:solidFill>
                <a:latin typeface="宋体"/>
                <a:ea typeface="宋体"/>
              </a:rPr>
              <a:t>9.2 经销商赋能与组织保障</a:t>
            </a:r>
          </a:p>
        </p:txBody>
      </p:sp>
      <p:sp>
        <p:nvSpPr>
          <p:cNvPr id="10" name="正文2"/>
          <p:cNvSpPr txBox="1"/>
          <p:nvPr/>
        </p:nvSpPr>
        <p:spPr>
          <a:xfrm>
            <a:off x="932688" y="4206240"/>
            <a:ext cx="10314432" cy="1408176"/>
          </a:xfrm>
          <a:prstGeom prst="rect">
            <a:avLst/>
          </a:prstGeom>
          <a:noFill/>
        </p:spPr>
        <p:txBody>
          <a:bodyPr wrap="square" anchor="t" lIns="36576" rIns="36576" tIns="36576" bIns="36576">
            <a:spAutoFit/>
          </a:bodyPr>
          <a:lstStyle/>
          <a:p>
            <a:pPr algn="l">
              <a:lnSpc>
                <a:spcPct val="105000"/>
              </a:lnSpc>
              <a:spcBef>
                <a:spcPts val="0"/>
              </a:spcBef>
              <a:spcAft>
                <a:spcPts val="0"/>
              </a:spcAft>
            </a:pPr>
            <a:r>
              <a:rPr sz="1400" b="0">
                <a:solidFill>
                  <a:srgbClr val="17372C"/>
                </a:solidFill>
                <a:latin typeface="宋体"/>
                <a:ea typeface="宋体"/>
              </a:rPr>
              <a:t>经销商端应提供产品培训、销售培训、线上获客培训、样品支持、门店补贴和销售激励。执行上可成立北区“艺境家”专项工作小组，由销售、市场、渠道、培训和工程团队协同推进，按月复盘门店升级、渠道拓展、活动转化和销售达成情况，确保全年目标稳步落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50"/>
                                        <p:tgtEl>
                                          <p:spTgt spid="6"/>
                                        </p:tgtEl>
                                      </p:cBhvr>
                                    </p:animEffect>
                                  </p:childTnLst>
                                </p:cTn>
                              </p:par>
                            </p:childTnLst>
                          </p:cTn>
                        </p:par>
                      </p:childTnLst>
                    </p:cTn>
                  </p:par>
                  <p:par>
                    <p:cTn id="8" fill="hold">
                      <p:stCondLst>
                        <p:cond delay="0"/>
                      </p:stCondLst>
                      <p:childTnLst>
                        <p:par>
                          <p:cTn id="9" fill="hold">
                            <p:stCondLst>
                              <p:cond delay="0"/>
                            </p:stCondLst>
                            <p:childTnLst>
                              <p:par>
                                <p:cTn id="10" presetID="22" presetClass="entr" presetSubtype="0"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650"/>
                                        <p:tgtEl>
                                          <p:spTgt spid="7"/>
                                        </p:tgtEl>
                                      </p:cBhvr>
                                    </p:animEffect>
                                  </p:childTnLst>
                                </p:cTn>
                              </p:par>
                            </p:childTnLst>
                          </p:cTn>
                        </p:par>
                      </p:childTnLst>
                    </p:cTn>
                  </p:par>
                  <p:par>
                    <p:cTn id="13" fill="hold">
                      <p:stCondLst>
                        <p:cond delay="0"/>
                      </p:stCondLst>
                      <p:childTnLst>
                        <p:par>
                          <p:cTn id="14" fill="hold">
                            <p:stCondLst>
                              <p:cond delay="0"/>
                            </p:stCondLst>
                            <p:childTnLst>
                              <p:par>
                                <p:cTn id="15" presetID="10" presetClass="entr" presetSubtype="0" fill="hold" nodeType="after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650"/>
                                        <p:tgtEl>
                                          <p:spTgt spid="9"/>
                                        </p:tgtEl>
                                      </p:cBhvr>
                                    </p:animEffect>
                                  </p:childTnLst>
                                </p:cTn>
                              </p:par>
                            </p:childTnLst>
                          </p:cTn>
                        </p:par>
                      </p:childTnLst>
                    </p:cTn>
                  </p:par>
                  <p:par>
                    <p:cTn id="18" fill="hold">
                      <p:stCondLst>
                        <p:cond delay="0"/>
                      </p:stCondLst>
                      <p:childTnLst>
                        <p:par>
                          <p:cTn id="19" fill="hold">
                            <p:stCondLst>
                              <p:cond delay="0"/>
                            </p:stCondLst>
                            <p:childTnLst>
                              <p:par>
                                <p:cTn id="20" presetID="22" presetClass="entr" presetSubtype="0" fill="hold"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6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来自模版的尾页背景" descr="image.png"/>
          <p:cNvPicPr>
            <a:picLocks noChangeAspect="1"/>
          </p:cNvPicPr>
          <p:nvPr/>
        </p:nvPicPr>
        <p:blipFill>
          <a:blip r:embed="rId2"/>
          <a:stretch>
            <a:fillRect/>
          </a:stretch>
        </p:blipFill>
        <p:spPr>
          <a:xfrm>
            <a:off x="0" y="0"/>
            <a:ext cx="12191999" cy="6858000"/>
          </a:xfrm>
          <a:prstGeom prst="rect">
            <a:avLst/>
          </a:prstGeom>
        </p:spPr>
      </p:pic>
      <p:sp>
        <p:nvSpPr>
          <p:cNvPr id="3" name="尾页可编辑蒙版"/>
          <p:cNvSpPr/>
          <p:nvPr/>
        </p:nvSpPr>
        <p:spPr>
          <a:xfrm>
            <a:off x="0" y="0"/>
            <a:ext cx="12191999" cy="6858000"/>
          </a:xfrm>
          <a:prstGeom prst="rect">
            <a:avLst/>
          </a:prstGeom>
          <a:solidFill>
            <a:srgbClr val="0D2925">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尾页致谢"/>
          <p:cNvSpPr txBox="1"/>
          <p:nvPr/>
        </p:nvSpPr>
        <p:spPr>
          <a:xfrm>
            <a:off x="868680" y="2240280"/>
            <a:ext cx="6766560" cy="822960"/>
          </a:xfrm>
          <a:prstGeom prst="rect">
            <a:avLst/>
          </a:prstGeom>
          <a:noFill/>
        </p:spPr>
        <p:txBody>
          <a:bodyPr wrap="square" anchor="ctr" lIns="36576" rIns="36576" tIns="36576" bIns="36576">
            <a:spAutoFit/>
          </a:bodyPr>
          <a:lstStyle/>
          <a:p>
            <a:pPr algn="l">
              <a:lnSpc>
                <a:spcPct val="105000"/>
              </a:lnSpc>
              <a:spcBef>
                <a:spcPts val="0"/>
              </a:spcBef>
              <a:spcAft>
                <a:spcPts val="0"/>
              </a:spcAft>
            </a:pPr>
            <a:r>
              <a:rPr sz="4200" b="1">
                <a:solidFill>
                  <a:srgbClr val="FFFFFF"/>
                </a:solidFill>
                <a:latin typeface="宋体"/>
                <a:ea typeface="宋体"/>
              </a:rPr>
              <a:t>谢谢观看</a:t>
            </a:r>
          </a:p>
        </p:txBody>
      </p:sp>
      <p:sp>
        <p:nvSpPr>
          <p:cNvPr id="5" name="尾页方案名"/>
          <p:cNvSpPr txBox="1"/>
          <p:nvPr/>
        </p:nvSpPr>
        <p:spPr>
          <a:xfrm>
            <a:off x="896112" y="3127248"/>
            <a:ext cx="7132320" cy="502920"/>
          </a:xfrm>
          <a:prstGeom prst="rect">
            <a:avLst/>
          </a:prstGeom>
          <a:noFill/>
        </p:spPr>
        <p:txBody>
          <a:bodyPr wrap="square" anchor="ctr" lIns="36576" rIns="36576" tIns="36576" bIns="36576">
            <a:spAutoFit/>
          </a:bodyPr>
          <a:lstStyle/>
          <a:p>
            <a:pPr algn="l">
              <a:lnSpc>
                <a:spcPct val="105000"/>
              </a:lnSpc>
              <a:spcBef>
                <a:spcPts val="0"/>
              </a:spcBef>
              <a:spcAft>
                <a:spcPts val="0"/>
              </a:spcAft>
            </a:pPr>
            <a:r>
              <a:rPr sz="1900" b="0">
                <a:solidFill>
                  <a:srgbClr val="F5D49A"/>
                </a:solidFill>
                <a:latin typeface="宋体"/>
                <a:ea typeface="宋体"/>
              </a:rPr>
              <a:t>艺术漆北区销售额提升方案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艺术漆北区销售额提升方案</dc:title>
  <dc:subject>OmegaUse-OfficeVal officeval_076 逐题参考交付</dc:subject>
  <dc:creator>Cowork Evolution Benchmark</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