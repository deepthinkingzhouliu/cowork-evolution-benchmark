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营收(亿元)</c:v>
                </c:pt>
              </c:strCache>
            </c:strRef>
          </c:tx>
          <c:spPr>
            <a:solidFill>
              <a:srgbClr val="C7A34B"/>
            </a:solidFill>
          </c:spPr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5.72</c:v>
                </c:pt>
                <c:pt idx="1">
                  <c:v>7.12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13232"/>
            <a:ext cx="1143000" cy="118872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321040" y="1097280"/>
            <a:ext cx="2286000" cy="164592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13648" y="1600200"/>
            <a:ext cx="2121408" cy="164592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06256" y="2103120"/>
            <a:ext cx="1956816" cy="164592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98863" y="2606040"/>
            <a:ext cx="1792224" cy="164592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91472" y="3108960"/>
            <a:ext cx="1627632" cy="164592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078992"/>
            <a:ext cx="7315200" cy="20116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Noto Sans CJK SC"/>
              </a:rPr>
              <a:t>2026上半年经营简报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3246120"/>
            <a:ext cx="6675120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CBD5E1"/>
                </a:solidFill>
                <a:latin typeface="Noto Sans CJK SC"/>
              </a:rPr>
              <a:t>董事会资料｜核心指标已与数据基准表配对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4754880"/>
            <a:ext cx="2926080" cy="530352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4828032"/>
            <a:ext cx="2670048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SC"/>
              </a:rPr>
              <a:t>已核验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A9B7C6"/>
                </a:solidFill>
                <a:latin typeface="Noto Sans CJK SC"/>
              </a:rPr>
              <a:t>屿光能源｜董事会资料｜已核验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C7A34B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营收 12.84 亿元，同比 +18.9%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C7A34B"/>
                </a:solidFill>
                <a:latin typeface="Noto Sans CJK SC"/>
              </a:rPr>
              <a:t>12.84亿元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上半年营收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C7A34B"/>
                </a:solidFill>
                <a:latin typeface="Noto Sans CJK SC"/>
              </a:rPr>
              <a:t>+18.9%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营收同比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C7A34B"/>
                </a:solidFill>
                <a:latin typeface="Noto Sans CJK SC"/>
              </a:rPr>
              <a:t>36.4%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综合毛利率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屿光能源｜董事会资料｜已核验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C7A34B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Q2 营收 7.12 亿元，高于 Q1 的 5.72 亿元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13232" y="1536192"/>
          <a:ext cx="676656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536192"/>
            <a:ext cx="3675887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38160" y="1874519"/>
            <a:ext cx="201168" cy="201168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58200" y="166420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上半年合计为12.84亿元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3108960"/>
            <a:ext cx="201168" cy="201168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2898648"/>
            <a:ext cx="2633472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243447"/>
                </a:solidFill>
                <a:latin typeface="Noto Sans CJK SC"/>
              </a:rPr>
              <a:t>季度数据与年中合计勾稽一致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屿光能源｜董事会资料｜已核验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C7A34B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三个板块营收合计 12.84 亿元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9029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板块</a:t>
                      </a:r>
                    </a:p>
                  </a:txBody>
                  <a:tcPr marL="73152" marR="73152">
                    <a:solidFill>
                      <a:srgbClr val="C7A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营收</a:t>
                      </a:r>
                    </a:p>
                  </a:txBody>
                  <a:tcPr marL="73152" marR="73152">
                    <a:solidFill>
                      <a:srgbClr val="C7A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同比</a:t>
                      </a:r>
                    </a:p>
                  </a:txBody>
                  <a:tcPr marL="73152" marR="73152">
                    <a:solidFill>
                      <a:srgbClr val="C7A34B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储能系统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7.34亿元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+24.1%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运维服务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3.02亿元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+11.5%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  <a:tr h="90297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其他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2.48亿元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+8.0%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屿光能源｜董事会资料｜已核验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C7A34B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经营现金流 2.16 亿元，需与利润增长配对观察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C7A34B"/>
                </a:solidFill>
                <a:latin typeface="Noto Sans CJK SC"/>
              </a:rPr>
              <a:t>2.16亿元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经营现金流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C7A34B"/>
                </a:solidFill>
                <a:latin typeface="Noto Sans CJK SC"/>
              </a:rPr>
              <a:t>3.40亿元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期末现金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01584" y="1572768"/>
            <a:ext cx="340156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4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6" y="1847088"/>
            <a:ext cx="3072384" cy="6858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2700" b="1">
                <a:solidFill>
                  <a:srgbClr val="C7A34B"/>
                </a:solidFill>
                <a:latin typeface="Noto Sans CJK SC"/>
              </a:rPr>
              <a:t>68天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6176" y="2615184"/>
            <a:ext cx="3072384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0">
                <a:solidFill>
                  <a:srgbClr val="5E6C84"/>
                </a:solidFill>
                <a:latin typeface="Noto Sans CJK SC"/>
              </a:rPr>
              <a:t>应收周转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" y="4023360"/>
            <a:ext cx="164592" cy="164592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58768"/>
            <a:ext cx="1042416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43447"/>
                </a:solidFill>
                <a:latin typeface="Noto Sans CJK SC"/>
              </a:rPr>
              <a:t>现金流值来自现金流量表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4590288"/>
            <a:ext cx="164592" cy="164592"/>
          </a:xfrm>
          <a:prstGeom prst="round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25696"/>
            <a:ext cx="1042416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243447"/>
                </a:solidFill>
                <a:latin typeface="Noto Sans CJK SC"/>
              </a:rPr>
              <a:t>后续应按大客户交付节奏管理回款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屿光能源｜董事会资料｜已核验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C7A34B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881360" cy="7498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132238"/>
                </a:solidFill>
                <a:latin typeface="Noto Sans CJK SC"/>
              </a:rPr>
              <a:t>核验结果：四项核心数字已更正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960120" cy="82296"/>
          </a:xfrm>
          <a:prstGeom prst="rect">
            <a:avLst/>
          </a:prstGeom>
          <a:solidFill>
            <a:srgbClr val="C7A34B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" y="1572768"/>
          <a:ext cx="10771632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0544"/>
                <a:gridCol w="3590544"/>
                <a:gridCol w="3590544"/>
              </a:tblGrid>
              <a:tr h="72237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指标</a:t>
                      </a:r>
                    </a:p>
                  </a:txBody>
                  <a:tcPr marL="73152" marR="73152">
                    <a:solidFill>
                      <a:srgbClr val="C7A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待审计稿</a:t>
                      </a:r>
                    </a:p>
                  </a:txBody>
                  <a:tcPr marL="73152" marR="73152">
                    <a:solidFill>
                      <a:srgbClr val="C7A3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SC"/>
                        </a:rPr>
                        <a:t>已核验值</a:t>
                      </a:r>
                    </a:p>
                  </a:txBody>
                  <a:tcPr marL="73152" marR="73152">
                    <a:solidFill>
                      <a:srgbClr val="C7A34B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营收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12.48亿元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12.84亿元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同比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19.8%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18.9%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毛利率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34.6%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36.4%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72237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经营现金流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2.61亿元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43447"/>
                          </a:solidFill>
                          <a:latin typeface="Noto Sans CJK SC"/>
                        </a:rPr>
                        <a:t>2.16亿元</a:t>
                      </a:r>
                    </a:p>
                  </a:txBody>
                  <a:tcPr marL="73152" marR="73152"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3232" y="5440680"/>
            <a:ext cx="10771632" cy="566928"/>
          </a:xfrm>
          <a:prstGeom prst="roundRect">
            <a:avLst/>
          </a:prstGeom>
          <a:solidFill>
            <a:srgbClr val="E8F2F3"/>
          </a:solidFill>
          <a:ln>
            <a:solidFill>
              <a:srgbClr val="C7A3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22976"/>
            <a:ext cx="103327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243447"/>
                </a:solidFill>
                <a:latin typeface="Noto Sans CJK SC"/>
              </a:rPr>
              <a:t>本文件为经营简报核验，不代替法定审计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473952"/>
            <a:ext cx="7955279" cy="219456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800" b="0">
                <a:solidFill>
                  <a:srgbClr val="7F8C8D"/>
                </a:solidFill>
                <a:latin typeface="Noto Sans CJK SC"/>
              </a:rPr>
              <a:t>屿光能源｜董事会资料｜已核验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7080" y="6446520"/>
            <a:ext cx="54864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900" b="1">
                <a:solidFill>
                  <a:srgbClr val="C7A34B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董事会经营简报审计与更正</dc:title>
  <dc:subject>deck_audit</dc:subject>
  <dc:creator>屿光能源（合成）</dc:creator>
  <cp:keywords>CoworkEvoBench, synthetic,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