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B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main-title"/>
          <p:cNvSpPr txBox="1"/>
          <p:nvPr/>
        </p:nvSpPr>
        <p:spPr>
          <a:xfrm>
            <a:off x="2916000" y="198000"/>
            <a:ext cx="6372000" cy="558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3300" b="1">
                <a:solidFill>
                  <a:srgbClr val="0B3A82"/>
                </a:solidFill>
                <a:latin typeface="思源手写体"/>
              </a:rPr>
              <a:t>客户投诉闭环处理流程</a:t>
            </a:r>
          </a:p>
        </p:txBody>
      </p:sp>
      <p:cxnSp>
        <p:nvCxnSpPr>
          <p:cNvPr id="3" name="title-left-line"/>
          <p:cNvCxnSpPr/>
          <p:nvPr/>
        </p:nvCxnSpPr>
        <p:spPr>
          <a:xfrm>
            <a:off x="3906000" y="810000"/>
            <a:ext cx="1692000" cy="0"/>
          </a:xfrm>
          <a:prstGeom prst="line">
            <a:avLst/>
          </a:prstGeom>
          <a:ln w="2540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-dot-1"/>
          <p:cNvSpPr/>
          <p:nvPr/>
        </p:nvSpPr>
        <p:spPr>
          <a:xfrm>
            <a:off x="5778000" y="756000"/>
            <a:ext cx="79200" cy="79200"/>
          </a:xfrm>
          <a:prstGeom prst="ellipse">
            <a:avLst/>
          </a:prstGeom>
          <a:solidFill>
            <a:srgbClr val="0B3A82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itle-dot-2"/>
          <p:cNvSpPr/>
          <p:nvPr/>
        </p:nvSpPr>
        <p:spPr>
          <a:xfrm>
            <a:off x="5965200" y="756000"/>
            <a:ext cx="79200" cy="79200"/>
          </a:xfrm>
          <a:prstGeom prst="ellipse">
            <a:avLst/>
          </a:prstGeom>
          <a:solidFill>
            <a:srgbClr val="37A7DD"/>
          </a:solidFill>
          <a:ln w="12700">
            <a:solidFill>
              <a:srgbClr val="37A7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itle-dot-3"/>
          <p:cNvSpPr/>
          <p:nvPr/>
        </p:nvSpPr>
        <p:spPr>
          <a:xfrm>
            <a:off x="6152400" y="756000"/>
            <a:ext cx="79200" cy="79200"/>
          </a:xfrm>
          <a:prstGeom prst="ellipse">
            <a:avLst/>
          </a:prstGeom>
          <a:solidFill>
            <a:srgbClr val="F07800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tle-dot-4"/>
          <p:cNvSpPr/>
          <p:nvPr/>
        </p:nvSpPr>
        <p:spPr>
          <a:xfrm>
            <a:off x="6339600" y="756000"/>
            <a:ext cx="79200" cy="79200"/>
          </a:xfrm>
          <a:prstGeom prst="ellipse">
            <a:avLst/>
          </a:prstGeom>
          <a:solidFill>
            <a:srgbClr val="0A9C8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title-right-line"/>
          <p:cNvCxnSpPr/>
          <p:nvPr/>
        </p:nvCxnSpPr>
        <p:spPr>
          <a:xfrm>
            <a:off x="6580800" y="810000"/>
            <a:ext cx="1692000" cy="0"/>
          </a:xfrm>
          <a:prstGeom prst="line">
            <a:avLst/>
          </a:prstGeom>
          <a:ln w="25400">
            <a:solidFill>
              <a:srgbClr val="0A9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op-receive"/>
          <p:cNvSpPr/>
          <p:nvPr/>
        </p:nvSpPr>
        <p:spPr>
          <a:xfrm>
            <a:off x="251999" y="1800000"/>
            <a:ext cx="1440000" cy="882000"/>
          </a:xfrm>
          <a:prstGeom prst="roundRect">
            <a:avLst/>
          </a:prstGeom>
          <a:solidFill>
            <a:srgbClr val="EDF5FC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op-receive-icon-headset-arc"/>
          <p:cNvSpPr/>
          <p:nvPr/>
        </p:nvSpPr>
        <p:spPr>
          <a:xfrm>
            <a:off x="820800" y="1936800"/>
            <a:ext cx="270000" cy="237600"/>
          </a:xfrm>
          <a:prstGeom prst="arc">
            <a:avLst/>
          </a:prstGeom>
          <a:solidFill>
            <a:srgbClr val="FFFFFF"/>
          </a:solidFill>
          <a:ln w="1524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op-receive-icon-ear-left"/>
          <p:cNvSpPr/>
          <p:nvPr/>
        </p:nvSpPr>
        <p:spPr>
          <a:xfrm>
            <a:off x="802800" y="2062799"/>
            <a:ext cx="64800" cy="12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op-receive-icon-ear-right"/>
          <p:cNvSpPr/>
          <p:nvPr/>
        </p:nvSpPr>
        <p:spPr>
          <a:xfrm>
            <a:off x="1044000" y="2062799"/>
            <a:ext cx="64800" cy="12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top-receive-icon-mic"/>
          <p:cNvCxnSpPr/>
          <p:nvPr/>
        </p:nvCxnSpPr>
        <p:spPr>
          <a:xfrm flipH="1">
            <a:off x="972000" y="2181600"/>
            <a:ext cx="72000" cy="28800"/>
          </a:xfrm>
          <a:prstGeom prst="line">
            <a:avLst/>
          </a:prstGeom>
          <a:ln w="1270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op-receive-label"/>
          <p:cNvSpPr txBox="1"/>
          <p:nvPr/>
        </p:nvSpPr>
        <p:spPr>
          <a:xfrm>
            <a:off x="342000" y="2311200"/>
            <a:ext cx="1260000" cy="2448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接收投诉</a:t>
            </a:r>
          </a:p>
        </p:txBody>
      </p:sp>
      <p:sp>
        <p:nvSpPr>
          <p:cNvPr id="15" name="top-register"/>
          <p:cNvSpPr/>
          <p:nvPr/>
        </p:nvSpPr>
        <p:spPr>
          <a:xfrm>
            <a:off x="1980000" y="1800000"/>
            <a:ext cx="1440000" cy="882000"/>
          </a:xfrm>
          <a:prstGeom prst="roundRect">
            <a:avLst/>
          </a:prstGeom>
          <a:solidFill>
            <a:srgbClr val="EDF5FC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op-register-icon-document"/>
          <p:cNvSpPr/>
          <p:nvPr/>
        </p:nvSpPr>
        <p:spPr>
          <a:xfrm>
            <a:off x="2548800" y="1936800"/>
            <a:ext cx="259200" cy="295200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top-register-icon-doc-line"/>
          <p:cNvCxnSpPr/>
          <p:nvPr/>
        </p:nvCxnSpPr>
        <p:spPr>
          <a:xfrm>
            <a:off x="2620800" y="2015999"/>
            <a:ext cx="136800" cy="0"/>
          </a:xfrm>
          <a:prstGeom prst="line">
            <a:avLst/>
          </a:prstGeom>
          <a:ln w="889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top-register-icon-doc-line"/>
          <p:cNvCxnSpPr/>
          <p:nvPr/>
        </p:nvCxnSpPr>
        <p:spPr>
          <a:xfrm>
            <a:off x="2620800" y="2080799"/>
            <a:ext cx="136800" cy="0"/>
          </a:xfrm>
          <a:prstGeom prst="line">
            <a:avLst/>
          </a:prstGeom>
          <a:ln w="889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top-register-icon-doc-line"/>
          <p:cNvCxnSpPr/>
          <p:nvPr/>
        </p:nvCxnSpPr>
        <p:spPr>
          <a:xfrm>
            <a:off x="2620800" y="2145600"/>
            <a:ext cx="136800" cy="0"/>
          </a:xfrm>
          <a:prstGeom prst="line">
            <a:avLst/>
          </a:prstGeom>
          <a:ln w="889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op-register-label"/>
          <p:cNvSpPr txBox="1"/>
          <p:nvPr/>
        </p:nvSpPr>
        <p:spPr>
          <a:xfrm>
            <a:off x="2070000" y="2311200"/>
            <a:ext cx="1260000" cy="2448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信息登记</a:t>
            </a:r>
          </a:p>
        </p:txBody>
      </p:sp>
      <p:sp>
        <p:nvSpPr>
          <p:cNvPr id="21" name="top-level"/>
          <p:cNvSpPr/>
          <p:nvPr/>
        </p:nvSpPr>
        <p:spPr>
          <a:xfrm>
            <a:off x="3708000" y="1800000"/>
            <a:ext cx="1440000" cy="882000"/>
          </a:xfrm>
          <a:prstGeom prst="roundRect">
            <a:avLst/>
          </a:prstGeom>
          <a:solidFill>
            <a:srgbClr val="EDF5FC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op-level-icon-bar"/>
          <p:cNvSpPr/>
          <p:nvPr/>
        </p:nvSpPr>
        <p:spPr>
          <a:xfrm>
            <a:off x="4276800" y="2127600"/>
            <a:ext cx="72000" cy="9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op-level-icon-bar"/>
          <p:cNvSpPr/>
          <p:nvPr/>
        </p:nvSpPr>
        <p:spPr>
          <a:xfrm>
            <a:off x="4377600" y="2044800"/>
            <a:ext cx="72000" cy="1728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op-level-icon-bar"/>
          <p:cNvSpPr/>
          <p:nvPr/>
        </p:nvSpPr>
        <p:spPr>
          <a:xfrm>
            <a:off x="4478400" y="1958400"/>
            <a:ext cx="72000" cy="2592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top-level-icon-axis"/>
          <p:cNvCxnSpPr/>
          <p:nvPr/>
        </p:nvCxnSpPr>
        <p:spPr>
          <a:xfrm>
            <a:off x="4258800" y="2224800"/>
            <a:ext cx="313200" cy="0"/>
          </a:xfrm>
          <a:prstGeom prst="line">
            <a:avLst/>
          </a:prstGeom>
          <a:ln w="1270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op-level-label"/>
          <p:cNvSpPr txBox="1"/>
          <p:nvPr/>
        </p:nvSpPr>
        <p:spPr>
          <a:xfrm>
            <a:off x="3798000" y="2311200"/>
            <a:ext cx="1260000" cy="2448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问题分级</a:t>
            </a:r>
          </a:p>
        </p:txBody>
      </p:sp>
      <p:sp>
        <p:nvSpPr>
          <p:cNvPr id="27" name="top-service"/>
          <p:cNvSpPr/>
          <p:nvPr/>
        </p:nvSpPr>
        <p:spPr>
          <a:xfrm>
            <a:off x="7020000" y="1800000"/>
            <a:ext cx="1296000" cy="882000"/>
          </a:xfrm>
          <a:prstGeom prst="roundRect">
            <a:avLst/>
          </a:prstGeom>
          <a:solidFill>
            <a:srgbClr val="EFF9F4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op-service-icon-head-0"/>
          <p:cNvSpPr/>
          <p:nvPr/>
        </p:nvSpPr>
        <p:spPr>
          <a:xfrm>
            <a:off x="7606800" y="1936800"/>
            <a:ext cx="100800" cy="100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op-service-icon-body-0"/>
          <p:cNvSpPr/>
          <p:nvPr/>
        </p:nvSpPr>
        <p:spPr>
          <a:xfrm>
            <a:off x="7545599" y="2037600"/>
            <a:ext cx="223200" cy="198000"/>
          </a:xfrm>
          <a:prstGeom prst="arc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op-service-label"/>
          <p:cNvSpPr txBox="1"/>
          <p:nvPr/>
        </p:nvSpPr>
        <p:spPr>
          <a:xfrm>
            <a:off x="7110000" y="2311200"/>
            <a:ext cx="1116000" cy="2448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客服处理</a:t>
            </a:r>
          </a:p>
        </p:txBody>
      </p:sp>
      <p:sp>
        <p:nvSpPr>
          <p:cNvPr id="31" name="top-confirm"/>
          <p:cNvSpPr/>
          <p:nvPr/>
        </p:nvSpPr>
        <p:spPr>
          <a:xfrm>
            <a:off x="8604000" y="1800000"/>
            <a:ext cx="1296000" cy="882000"/>
          </a:xfrm>
          <a:prstGeom prst="roundRect">
            <a:avLst/>
          </a:prstGeom>
          <a:solidFill>
            <a:srgbClr val="EFF9F4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op-confirm-icon-head-0"/>
          <p:cNvSpPr/>
          <p:nvPr/>
        </p:nvSpPr>
        <p:spPr>
          <a:xfrm>
            <a:off x="9126000" y="1936800"/>
            <a:ext cx="100800" cy="100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op-confirm-icon-body-0"/>
          <p:cNvSpPr/>
          <p:nvPr/>
        </p:nvSpPr>
        <p:spPr>
          <a:xfrm>
            <a:off x="9064799" y="2037600"/>
            <a:ext cx="223200" cy="198000"/>
          </a:xfrm>
          <a:prstGeom prst="arc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op-confirm-icon-head-1"/>
          <p:cNvSpPr/>
          <p:nvPr/>
        </p:nvSpPr>
        <p:spPr>
          <a:xfrm>
            <a:off x="9291600" y="1936800"/>
            <a:ext cx="100800" cy="100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op-confirm-icon-body-1"/>
          <p:cNvSpPr/>
          <p:nvPr/>
        </p:nvSpPr>
        <p:spPr>
          <a:xfrm>
            <a:off x="9230399" y="2037600"/>
            <a:ext cx="223200" cy="198000"/>
          </a:xfrm>
          <a:prstGeom prst="arc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op-confirm-label"/>
          <p:cNvSpPr txBox="1"/>
          <p:nvPr/>
        </p:nvSpPr>
        <p:spPr>
          <a:xfrm>
            <a:off x="8694000" y="2311200"/>
            <a:ext cx="1116000" cy="2448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客户确认</a:t>
            </a:r>
          </a:p>
        </p:txBody>
      </p:sp>
      <p:sp>
        <p:nvSpPr>
          <p:cNvPr id="37" name="top-archive"/>
          <p:cNvSpPr/>
          <p:nvPr/>
        </p:nvSpPr>
        <p:spPr>
          <a:xfrm>
            <a:off x="10188000" y="1800000"/>
            <a:ext cx="1440000" cy="882000"/>
          </a:xfrm>
          <a:prstGeom prst="roundRect">
            <a:avLst/>
          </a:prstGeom>
          <a:solidFill>
            <a:srgbClr val="EFF9F4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op-archive-icon-folder"/>
          <p:cNvSpPr/>
          <p:nvPr/>
        </p:nvSpPr>
        <p:spPr>
          <a:xfrm>
            <a:off x="10756800" y="2001599"/>
            <a:ext cx="295200" cy="20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op-archive-icon-folder-tab"/>
          <p:cNvSpPr/>
          <p:nvPr/>
        </p:nvSpPr>
        <p:spPr>
          <a:xfrm>
            <a:off x="10785599" y="1965600"/>
            <a:ext cx="122400" cy="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op-archive-label"/>
          <p:cNvSpPr txBox="1"/>
          <p:nvPr/>
        </p:nvSpPr>
        <p:spPr>
          <a:xfrm>
            <a:off x="10278000" y="2311200"/>
            <a:ext cx="1260000" cy="2448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结案归档</a:t>
            </a:r>
          </a:p>
        </p:txBody>
      </p:sp>
      <p:sp>
        <p:nvSpPr>
          <p:cNvPr id="41" name="major-question"/>
          <p:cNvSpPr/>
          <p:nvPr/>
        </p:nvSpPr>
        <p:spPr>
          <a:xfrm>
            <a:off x="5328000" y="1638000"/>
            <a:ext cx="1224000" cy="1224000"/>
          </a:xfrm>
          <a:prstGeom prst="diamond">
            <a:avLst/>
          </a:prstGeom>
          <a:solidFill>
            <a:srgbClr val="FFFFFF"/>
          </a:solidFill>
          <a:ln w="13970">
            <a:solidFill>
              <a:srgbClr val="0A9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major-question-icon"/>
          <p:cNvSpPr txBox="1"/>
          <p:nvPr/>
        </p:nvSpPr>
        <p:spPr>
          <a:xfrm>
            <a:off x="5706000" y="1735200"/>
            <a:ext cx="468000" cy="216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A9C8F"/>
                </a:solidFill>
                <a:latin typeface="思源手写体"/>
              </a:rPr>
              <a:t>?</a:t>
            </a:r>
          </a:p>
        </p:txBody>
      </p:sp>
      <p:sp>
        <p:nvSpPr>
          <p:cNvPr id="43" name="major-question-label"/>
          <p:cNvSpPr txBox="1"/>
          <p:nvPr/>
        </p:nvSpPr>
        <p:spPr>
          <a:xfrm>
            <a:off x="5464800" y="1998000"/>
            <a:ext cx="954000" cy="522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是否重大
问题？</a:t>
            </a:r>
          </a:p>
        </p:txBody>
      </p:sp>
      <p:sp>
        <p:nvSpPr>
          <p:cNvPr id="44" name="arrow-receive-register"/>
          <p:cNvSpPr/>
          <p:nvPr/>
        </p:nvSpPr>
        <p:spPr>
          <a:xfrm>
            <a:off x="1692000" y="2167200"/>
            <a:ext cx="287999" cy="136800"/>
          </a:xfrm>
          <a:prstGeom prst="right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rrow-register-level"/>
          <p:cNvSpPr/>
          <p:nvPr/>
        </p:nvSpPr>
        <p:spPr>
          <a:xfrm>
            <a:off x="3420000" y="2167200"/>
            <a:ext cx="288000" cy="136800"/>
          </a:xfrm>
          <a:prstGeom prst="right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arrow-level-question"/>
          <p:cNvSpPr/>
          <p:nvPr/>
        </p:nvSpPr>
        <p:spPr>
          <a:xfrm>
            <a:off x="5148000" y="2167200"/>
            <a:ext cx="180000" cy="136800"/>
          </a:xfrm>
          <a:prstGeom prst="right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arrow-question-service"/>
          <p:cNvSpPr/>
          <p:nvPr/>
        </p:nvSpPr>
        <p:spPr>
          <a:xfrm>
            <a:off x="6552000" y="2167200"/>
            <a:ext cx="468000" cy="136800"/>
          </a:xfrm>
          <a:prstGeom prst="right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arrow-service-confirm"/>
          <p:cNvSpPr/>
          <p:nvPr/>
        </p:nvSpPr>
        <p:spPr>
          <a:xfrm>
            <a:off x="8316000" y="2167200"/>
            <a:ext cx="287999" cy="136800"/>
          </a:xfrm>
          <a:prstGeom prst="right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rrow-confirm-archive"/>
          <p:cNvSpPr/>
          <p:nvPr/>
        </p:nvSpPr>
        <p:spPr>
          <a:xfrm>
            <a:off x="9900000" y="2167200"/>
            <a:ext cx="288000" cy="136800"/>
          </a:xfrm>
          <a:prstGeom prst="right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major-no-label"/>
          <p:cNvSpPr txBox="1"/>
          <p:nvPr/>
        </p:nvSpPr>
        <p:spPr>
          <a:xfrm>
            <a:off x="6606000" y="1864800"/>
            <a:ext cx="234000" cy="198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思源手写体"/>
              </a:rPr>
              <a:t>否</a:t>
            </a:r>
          </a:p>
        </p:txBody>
      </p:sp>
      <p:sp>
        <p:nvSpPr>
          <p:cNvPr id="51" name="lower-assign"/>
          <p:cNvSpPr/>
          <p:nvPr/>
        </p:nvSpPr>
        <p:spPr>
          <a:xfrm>
            <a:off x="2610000" y="3978000"/>
            <a:ext cx="1007999" cy="1007999"/>
          </a:xfrm>
          <a:prstGeom prst="roundRect">
            <a:avLst/>
          </a:prstGeom>
          <a:solidFill>
            <a:srgbClr val="FFF6E9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lower-assign-icon-head-0"/>
          <p:cNvSpPr/>
          <p:nvPr/>
        </p:nvSpPr>
        <p:spPr>
          <a:xfrm>
            <a:off x="3052800" y="4104000"/>
            <a:ext cx="100800" cy="1008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lower-assign-icon-body-0"/>
          <p:cNvSpPr/>
          <p:nvPr/>
        </p:nvSpPr>
        <p:spPr>
          <a:xfrm>
            <a:off x="2991600" y="4204800"/>
            <a:ext cx="223200" cy="198000"/>
          </a:xfrm>
          <a:prstGeom prst="arc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lower-assign-label"/>
          <p:cNvSpPr txBox="1"/>
          <p:nvPr/>
        </p:nvSpPr>
        <p:spPr>
          <a:xfrm>
            <a:off x="2664000" y="4564800"/>
            <a:ext cx="900000" cy="27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思源手写体"/>
              </a:rPr>
              <a:t>指派专员</a:t>
            </a:r>
          </a:p>
        </p:txBody>
      </p:sp>
      <p:sp>
        <p:nvSpPr>
          <p:cNvPr id="55" name="lower-analyze"/>
          <p:cNvSpPr/>
          <p:nvPr/>
        </p:nvSpPr>
        <p:spPr>
          <a:xfrm>
            <a:off x="3906000" y="3978000"/>
            <a:ext cx="1007999" cy="1007999"/>
          </a:xfrm>
          <a:prstGeom prst="roundRect">
            <a:avLst/>
          </a:prstGeom>
          <a:solidFill>
            <a:srgbClr val="FFF6E9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lower-analyze-icon-lens"/>
          <p:cNvSpPr/>
          <p:nvPr/>
        </p:nvSpPr>
        <p:spPr>
          <a:xfrm>
            <a:off x="4258800" y="4104000"/>
            <a:ext cx="208800" cy="208800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lower-analyze-icon-handle"/>
          <p:cNvCxnSpPr/>
          <p:nvPr/>
        </p:nvCxnSpPr>
        <p:spPr>
          <a:xfrm>
            <a:off x="4420800" y="4276800"/>
            <a:ext cx="133200" cy="133200"/>
          </a:xfrm>
          <a:prstGeom prst="line">
            <a:avLst/>
          </a:prstGeom>
          <a:ln w="1651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lower-analyze-label"/>
          <p:cNvSpPr txBox="1"/>
          <p:nvPr/>
        </p:nvSpPr>
        <p:spPr>
          <a:xfrm>
            <a:off x="3960000" y="4564800"/>
            <a:ext cx="900000" cy="27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思源手写体"/>
              </a:rPr>
              <a:t>原因分析</a:t>
            </a:r>
          </a:p>
        </p:txBody>
      </p:sp>
      <p:sp>
        <p:nvSpPr>
          <p:cNvPr id="59" name="lower-plan"/>
          <p:cNvSpPr/>
          <p:nvPr/>
        </p:nvSpPr>
        <p:spPr>
          <a:xfrm>
            <a:off x="5202000" y="3978000"/>
            <a:ext cx="1152000" cy="1007999"/>
          </a:xfrm>
          <a:prstGeom prst="roundRect">
            <a:avLst/>
          </a:prstGeom>
          <a:solidFill>
            <a:srgbClr val="FFF6E9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ower-plan-icon-document"/>
          <p:cNvSpPr/>
          <p:nvPr/>
        </p:nvSpPr>
        <p:spPr>
          <a:xfrm>
            <a:off x="5626800" y="4104000"/>
            <a:ext cx="259200" cy="295200"/>
          </a:xfrm>
          <a:prstGeom prst="foldedCorner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lower-plan-icon-doc-line"/>
          <p:cNvCxnSpPr/>
          <p:nvPr/>
        </p:nvCxnSpPr>
        <p:spPr>
          <a:xfrm>
            <a:off x="5698800" y="4183200"/>
            <a:ext cx="136800" cy="0"/>
          </a:xfrm>
          <a:prstGeom prst="line">
            <a:avLst/>
          </a:prstGeom>
          <a:ln w="889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lower-plan-icon-check"/>
          <p:cNvSpPr txBox="1"/>
          <p:nvPr/>
        </p:nvSpPr>
        <p:spPr>
          <a:xfrm>
            <a:off x="5637600" y="4147200"/>
            <a:ext cx="64800" cy="9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07800"/>
                </a:solidFill>
                <a:latin typeface="思源手写体"/>
              </a:rPr>
              <a:t>✓</a:t>
            </a:r>
          </a:p>
        </p:txBody>
      </p:sp>
      <p:cxnSp>
        <p:nvCxnSpPr>
          <p:cNvPr id="63" name="lower-plan-icon-doc-line"/>
          <p:cNvCxnSpPr/>
          <p:nvPr/>
        </p:nvCxnSpPr>
        <p:spPr>
          <a:xfrm>
            <a:off x="5698800" y="4248000"/>
            <a:ext cx="136800" cy="0"/>
          </a:xfrm>
          <a:prstGeom prst="line">
            <a:avLst/>
          </a:prstGeom>
          <a:ln w="889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lower-plan-icon-check"/>
          <p:cNvSpPr txBox="1"/>
          <p:nvPr/>
        </p:nvSpPr>
        <p:spPr>
          <a:xfrm>
            <a:off x="5637600" y="4212000"/>
            <a:ext cx="64800" cy="9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07800"/>
                </a:solidFill>
                <a:latin typeface="思源手写体"/>
              </a:rPr>
              <a:t>✓</a:t>
            </a:r>
          </a:p>
        </p:txBody>
      </p:sp>
      <p:cxnSp>
        <p:nvCxnSpPr>
          <p:cNvPr id="65" name="lower-plan-icon-doc-line"/>
          <p:cNvCxnSpPr/>
          <p:nvPr/>
        </p:nvCxnSpPr>
        <p:spPr>
          <a:xfrm>
            <a:off x="5698800" y="4312800"/>
            <a:ext cx="136800" cy="0"/>
          </a:xfrm>
          <a:prstGeom prst="line">
            <a:avLst/>
          </a:prstGeom>
          <a:ln w="889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lower-plan-icon-check"/>
          <p:cNvSpPr txBox="1"/>
          <p:nvPr/>
        </p:nvSpPr>
        <p:spPr>
          <a:xfrm>
            <a:off x="5637600" y="4276800"/>
            <a:ext cx="64800" cy="9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F07800"/>
                </a:solidFill>
                <a:latin typeface="思源手写体"/>
              </a:rPr>
              <a:t>✓</a:t>
            </a:r>
          </a:p>
        </p:txBody>
      </p:sp>
      <p:sp>
        <p:nvSpPr>
          <p:cNvPr id="67" name="lower-plan-label"/>
          <p:cNvSpPr txBox="1"/>
          <p:nvPr/>
        </p:nvSpPr>
        <p:spPr>
          <a:xfrm>
            <a:off x="5256000" y="4564800"/>
            <a:ext cx="1044000" cy="27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思源手写体"/>
              </a:rPr>
              <a:t>制定整改方案</a:t>
            </a:r>
          </a:p>
        </p:txBody>
      </p:sp>
      <p:sp>
        <p:nvSpPr>
          <p:cNvPr id="68" name="lower-execute"/>
          <p:cNvSpPr/>
          <p:nvPr/>
        </p:nvSpPr>
        <p:spPr>
          <a:xfrm>
            <a:off x="6642000" y="3978000"/>
            <a:ext cx="1007999" cy="1007999"/>
          </a:xfrm>
          <a:prstGeom prst="roundRect">
            <a:avLst/>
          </a:prstGeom>
          <a:solidFill>
            <a:srgbClr val="FFF6E9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ower-execute-icon-gear"/>
          <p:cNvSpPr/>
          <p:nvPr/>
        </p:nvSpPr>
        <p:spPr>
          <a:xfrm>
            <a:off x="6994799" y="4104000"/>
            <a:ext cx="306000" cy="306000"/>
          </a:xfrm>
          <a:prstGeom prst="gear6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lower-execute-icon-gear-hole"/>
          <p:cNvSpPr/>
          <p:nvPr/>
        </p:nvSpPr>
        <p:spPr>
          <a:xfrm>
            <a:off x="7099199" y="4208400"/>
            <a:ext cx="97200" cy="9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lower-execute-label"/>
          <p:cNvSpPr txBox="1"/>
          <p:nvPr/>
        </p:nvSpPr>
        <p:spPr>
          <a:xfrm>
            <a:off x="6695999" y="4564800"/>
            <a:ext cx="900000" cy="27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思源手写体"/>
              </a:rPr>
              <a:t>执行整改</a:t>
            </a:r>
          </a:p>
        </p:txBody>
      </p:sp>
      <p:sp>
        <p:nvSpPr>
          <p:cNvPr id="72" name="lower-review"/>
          <p:cNvSpPr/>
          <p:nvPr/>
        </p:nvSpPr>
        <p:spPr>
          <a:xfrm>
            <a:off x="7938000" y="3978000"/>
            <a:ext cx="1007999" cy="1007999"/>
          </a:xfrm>
          <a:prstGeom prst="roundRect">
            <a:avLst/>
          </a:prstGeom>
          <a:solidFill>
            <a:srgbClr val="FFF6E9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lower-review-icon-shield"/>
          <p:cNvSpPr/>
          <p:nvPr/>
        </p:nvSpPr>
        <p:spPr>
          <a:xfrm>
            <a:off x="8290799" y="4104000"/>
            <a:ext cx="280800" cy="306000"/>
          </a:xfrm>
          <a:prstGeom prst="homePlate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lower-review-icon-shield-check"/>
          <p:cNvSpPr txBox="1"/>
          <p:nvPr/>
        </p:nvSpPr>
        <p:spPr>
          <a:xfrm>
            <a:off x="8348399" y="4168800"/>
            <a:ext cx="162000" cy="125999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07800"/>
                </a:solidFill>
                <a:latin typeface="思源手写体"/>
              </a:rPr>
              <a:t>✓</a:t>
            </a:r>
          </a:p>
        </p:txBody>
      </p:sp>
      <p:sp>
        <p:nvSpPr>
          <p:cNvPr id="75" name="lower-review-label"/>
          <p:cNvSpPr txBox="1"/>
          <p:nvPr/>
        </p:nvSpPr>
        <p:spPr>
          <a:xfrm>
            <a:off x="7992000" y="4564800"/>
            <a:ext cx="900000" cy="270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思源手写体"/>
              </a:rPr>
              <a:t>质量复核</a:t>
            </a:r>
          </a:p>
        </p:txBody>
      </p:sp>
      <p:sp>
        <p:nvSpPr>
          <p:cNvPr id="76" name="review-question"/>
          <p:cNvSpPr/>
          <p:nvPr/>
        </p:nvSpPr>
        <p:spPr>
          <a:xfrm>
            <a:off x="9234000" y="3761999"/>
            <a:ext cx="1440000" cy="1440000"/>
          </a:xfrm>
          <a:prstGeom prst="diamond">
            <a:avLst/>
          </a:prstGeom>
          <a:solidFill>
            <a:srgbClr val="FFFFFF"/>
          </a:solidFill>
          <a:ln w="1397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view-question-icon-clipboard"/>
          <p:cNvSpPr/>
          <p:nvPr/>
        </p:nvSpPr>
        <p:spPr>
          <a:xfrm>
            <a:off x="9806400" y="4006800"/>
            <a:ext cx="259200" cy="28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view-question-icon-clip"/>
          <p:cNvSpPr/>
          <p:nvPr/>
        </p:nvSpPr>
        <p:spPr>
          <a:xfrm>
            <a:off x="9885599" y="3978000"/>
            <a:ext cx="100800" cy="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review-question-icon-clip-line"/>
          <p:cNvCxnSpPr/>
          <p:nvPr/>
        </p:nvCxnSpPr>
        <p:spPr>
          <a:xfrm>
            <a:off x="9864000" y="4078800"/>
            <a:ext cx="143999" cy="0"/>
          </a:xfrm>
          <a:prstGeom prst="line">
            <a:avLst/>
          </a:prstGeom>
          <a:ln w="889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review-question-icon-clip-line"/>
          <p:cNvCxnSpPr/>
          <p:nvPr/>
        </p:nvCxnSpPr>
        <p:spPr>
          <a:xfrm>
            <a:off x="9864000" y="4136400"/>
            <a:ext cx="143999" cy="0"/>
          </a:xfrm>
          <a:prstGeom prst="line">
            <a:avLst/>
          </a:prstGeom>
          <a:ln w="889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review-question-icon-clip-line"/>
          <p:cNvCxnSpPr/>
          <p:nvPr/>
        </p:nvCxnSpPr>
        <p:spPr>
          <a:xfrm>
            <a:off x="9864000" y="4194000"/>
            <a:ext cx="143999" cy="0"/>
          </a:xfrm>
          <a:prstGeom prst="line">
            <a:avLst/>
          </a:prstGeom>
          <a:ln w="8890">
            <a:solidFill>
              <a:srgbClr val="F078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review-question-label"/>
          <p:cNvSpPr txBox="1"/>
          <p:nvPr/>
        </p:nvSpPr>
        <p:spPr>
          <a:xfrm>
            <a:off x="9414000" y="4374000"/>
            <a:ext cx="1080000" cy="288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202124"/>
                </a:solidFill>
                <a:latin typeface="思源手写体"/>
              </a:rPr>
              <a:t>复核通过？</a:t>
            </a:r>
          </a:p>
        </p:txBody>
      </p:sp>
      <p:sp>
        <p:nvSpPr>
          <p:cNvPr id="83" name="arrow-assign-analyze"/>
          <p:cNvSpPr/>
          <p:nvPr/>
        </p:nvSpPr>
        <p:spPr>
          <a:xfrm>
            <a:off x="3618000" y="4399200"/>
            <a:ext cx="287999" cy="136800"/>
          </a:xfrm>
          <a:prstGeom prst="rightArrow">
            <a:avLst/>
          </a:prstGeom>
          <a:solidFill>
            <a:srgbClr val="F07800"/>
          </a:solidFill>
          <a:ln w="9525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arrow-analyze-plan"/>
          <p:cNvSpPr/>
          <p:nvPr/>
        </p:nvSpPr>
        <p:spPr>
          <a:xfrm>
            <a:off x="4914000" y="4399200"/>
            <a:ext cx="287999" cy="136800"/>
          </a:xfrm>
          <a:prstGeom prst="rightArrow">
            <a:avLst/>
          </a:prstGeom>
          <a:solidFill>
            <a:srgbClr val="F07800"/>
          </a:solidFill>
          <a:ln w="9525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arrow-plan-execute"/>
          <p:cNvSpPr/>
          <p:nvPr/>
        </p:nvSpPr>
        <p:spPr>
          <a:xfrm>
            <a:off x="6353999" y="4399200"/>
            <a:ext cx="288000" cy="136800"/>
          </a:xfrm>
          <a:prstGeom prst="rightArrow">
            <a:avLst/>
          </a:prstGeom>
          <a:solidFill>
            <a:srgbClr val="F07800"/>
          </a:solidFill>
          <a:ln w="9525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arrow-execute-review"/>
          <p:cNvSpPr/>
          <p:nvPr/>
        </p:nvSpPr>
        <p:spPr>
          <a:xfrm>
            <a:off x="7650000" y="4399200"/>
            <a:ext cx="288000" cy="136800"/>
          </a:xfrm>
          <a:prstGeom prst="rightArrow">
            <a:avLst/>
          </a:prstGeom>
          <a:solidFill>
            <a:srgbClr val="F07800"/>
          </a:solidFill>
          <a:ln w="9525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arrow-review-question"/>
          <p:cNvSpPr/>
          <p:nvPr/>
        </p:nvSpPr>
        <p:spPr>
          <a:xfrm>
            <a:off x="8946000" y="4399200"/>
            <a:ext cx="287999" cy="136800"/>
          </a:xfrm>
          <a:prstGeom prst="rightArrow">
            <a:avLst/>
          </a:prstGeom>
          <a:solidFill>
            <a:srgbClr val="F07800"/>
          </a:solidFill>
          <a:ln w="9525">
            <a:solidFill>
              <a:srgbClr val="F07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major-yes-arrow"/>
          <p:cNvSpPr/>
          <p:nvPr/>
        </p:nvSpPr>
        <p:spPr>
          <a:xfrm>
            <a:off x="5860800" y="2790000"/>
            <a:ext cx="151200" cy="1134000"/>
          </a:xfrm>
          <a:prstGeom prst="downArrow">
            <a:avLst/>
          </a:prstGeom>
          <a:solidFill>
            <a:srgbClr val="0B3A82"/>
          </a:solidFill>
          <a:ln w="9525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major-yes-label"/>
          <p:cNvSpPr txBox="1"/>
          <p:nvPr/>
        </p:nvSpPr>
        <p:spPr>
          <a:xfrm>
            <a:off x="6019200" y="3031200"/>
            <a:ext cx="216000" cy="216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思源手写体"/>
              </a:rPr>
              <a:t>是</a:t>
            </a:r>
          </a:p>
        </p:txBody>
      </p:sp>
      <p:cxnSp>
        <p:nvCxnSpPr>
          <p:cNvPr id="90" name="archive-return-right"/>
          <p:cNvCxnSpPr/>
          <p:nvPr/>
        </p:nvCxnSpPr>
        <p:spPr>
          <a:xfrm>
            <a:off x="10674000" y="4482000"/>
            <a:ext cx="486000" cy="0"/>
          </a:xfrm>
          <a:prstGeom prst="line">
            <a:avLst/>
          </a:prstGeom>
          <a:ln w="1397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archive-return-up"/>
          <p:cNvCxnSpPr/>
          <p:nvPr/>
        </p:nvCxnSpPr>
        <p:spPr>
          <a:xfrm flipV="1">
            <a:off x="11160000" y="2844000"/>
            <a:ext cx="0" cy="1638000"/>
          </a:xfrm>
          <a:prstGeom prst="line">
            <a:avLst/>
          </a:prstGeom>
          <a:ln w="13970">
            <a:solidFill>
              <a:srgbClr val="0B3A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archive-return-tip"/>
          <p:cNvSpPr/>
          <p:nvPr/>
        </p:nvSpPr>
        <p:spPr>
          <a:xfrm>
            <a:off x="11088000" y="2610000"/>
            <a:ext cx="144000" cy="270000"/>
          </a:xfrm>
          <a:prstGeom prst="upArrow">
            <a:avLst/>
          </a:prstGeom>
          <a:solidFill>
            <a:srgbClr val="0B3A82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view-yes-label"/>
          <p:cNvSpPr txBox="1"/>
          <p:nvPr/>
        </p:nvSpPr>
        <p:spPr>
          <a:xfrm>
            <a:off x="11214000" y="3761999"/>
            <a:ext cx="216000" cy="216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思源手写体"/>
              </a:rPr>
              <a:t>是</a:t>
            </a:r>
          </a:p>
        </p:txBody>
      </p:sp>
      <p:cxnSp>
        <p:nvCxnSpPr>
          <p:cNvPr id="94" name="rework-down"/>
          <p:cNvCxnSpPr/>
          <p:nvPr/>
        </p:nvCxnSpPr>
        <p:spPr>
          <a:xfrm>
            <a:off x="9954000" y="5202000"/>
            <a:ext cx="0" cy="864000"/>
          </a:xfrm>
          <a:prstGeom prst="line">
            <a:avLst/>
          </a:prstGeom>
          <a:ln w="12700">
            <a:solidFill>
              <a:srgbClr val="0B3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rework-left"/>
          <p:cNvCxnSpPr/>
          <p:nvPr/>
        </p:nvCxnSpPr>
        <p:spPr>
          <a:xfrm flipH="1">
            <a:off x="7146000" y="6066000"/>
            <a:ext cx="2808000" cy="0"/>
          </a:xfrm>
          <a:prstGeom prst="line">
            <a:avLst/>
          </a:prstGeom>
          <a:ln w="12700">
            <a:solidFill>
              <a:srgbClr val="0B3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rework-up"/>
          <p:cNvCxnSpPr/>
          <p:nvPr/>
        </p:nvCxnSpPr>
        <p:spPr>
          <a:xfrm flipV="1">
            <a:off x="7146000" y="5166000"/>
            <a:ext cx="0" cy="900000"/>
          </a:xfrm>
          <a:prstGeom prst="line">
            <a:avLst/>
          </a:prstGeom>
          <a:ln w="12700">
            <a:solidFill>
              <a:srgbClr val="0B3A82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ework-tip"/>
          <p:cNvSpPr/>
          <p:nvPr/>
        </p:nvSpPr>
        <p:spPr>
          <a:xfrm>
            <a:off x="7070400" y="4986000"/>
            <a:ext cx="151200" cy="223200"/>
          </a:xfrm>
          <a:prstGeom prst="upArrow">
            <a:avLst/>
          </a:prstGeom>
          <a:solidFill>
            <a:srgbClr val="0B3A82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view-no-label"/>
          <p:cNvSpPr txBox="1"/>
          <p:nvPr/>
        </p:nvSpPr>
        <p:spPr>
          <a:xfrm>
            <a:off x="9684000" y="5238000"/>
            <a:ext cx="216000" cy="216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202124"/>
                </a:solidFill>
                <a:latin typeface="思源手写体"/>
              </a:rPr>
              <a:t>否</a:t>
            </a:r>
          </a:p>
        </p:txBody>
      </p:sp>
      <p:sp>
        <p:nvSpPr>
          <p:cNvPr id="99" name="rework-label"/>
          <p:cNvSpPr txBox="1"/>
          <p:nvPr/>
        </p:nvSpPr>
        <p:spPr>
          <a:xfrm>
            <a:off x="8496000" y="5824800"/>
            <a:ext cx="450000" cy="198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202124"/>
                </a:solidFill>
                <a:latin typeface="思源手写体"/>
              </a:rPr>
              <a:t>返工</a:t>
            </a:r>
          </a:p>
        </p:txBody>
      </p:sp>
      <p:sp>
        <p:nvSpPr>
          <p:cNvPr id="100" name="records-frame"/>
          <p:cNvSpPr/>
          <p:nvPr/>
        </p:nvSpPr>
        <p:spPr>
          <a:xfrm>
            <a:off x="306000" y="4734000"/>
            <a:ext cx="2070000" cy="162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ords-title"/>
          <p:cNvSpPr txBox="1"/>
          <p:nvPr/>
        </p:nvSpPr>
        <p:spPr>
          <a:xfrm>
            <a:off x="917999" y="4842000"/>
            <a:ext cx="1044000" cy="234000"/>
          </a:xfrm>
          <a:prstGeom prst="rect">
            <a:avLst/>
          </a:prstGeom>
          <a:noFill/>
        </p:spPr>
        <p:txBody>
          <a:bodyPr wrap="none" anchor="ctr" lIns="10800" rIns="10800" tIns="7200" bIns="720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B3A82"/>
                </a:solidFill>
                <a:latin typeface="思源手写体"/>
              </a:rPr>
              <a:t>相关记录：</a:t>
            </a:r>
          </a:p>
        </p:txBody>
      </p:sp>
      <p:sp>
        <p:nvSpPr>
          <p:cNvPr id="102" name="records-list"/>
          <p:cNvSpPr txBox="1"/>
          <p:nvPr/>
        </p:nvSpPr>
        <p:spPr>
          <a:xfrm>
            <a:off x="917999" y="5130000"/>
            <a:ext cx="1116000" cy="846000"/>
          </a:xfrm>
          <a:prstGeom prst="rect">
            <a:avLst/>
          </a:prstGeom>
          <a:noFill/>
        </p:spPr>
        <p:txBody>
          <a:bodyPr wrap="none" anchor="t" lIns="10800" rIns="10800" tIns="7200" bIns="720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202124"/>
                </a:solidFill>
                <a:latin typeface="思源手写体"/>
              </a:rPr>
              <a:t>•  沟通记录
•  证据材料
•  处理报告</a:t>
            </a:r>
          </a:p>
        </p:txBody>
      </p:sp>
      <p:sp>
        <p:nvSpPr>
          <p:cNvPr id="103" name="records-icon-bg"/>
          <p:cNvSpPr/>
          <p:nvPr/>
        </p:nvSpPr>
        <p:spPr>
          <a:xfrm>
            <a:off x="234000" y="5130000"/>
            <a:ext cx="666000" cy="666000"/>
          </a:xfrm>
          <a:prstGeom prst="ellipse">
            <a:avLst/>
          </a:prstGeom>
          <a:solidFill>
            <a:srgbClr val="1D66B2"/>
          </a:solidFill>
          <a:ln w="12700">
            <a:solidFill>
              <a:srgbClr val="0B3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ords-icon-clipboard"/>
          <p:cNvSpPr/>
          <p:nvPr/>
        </p:nvSpPr>
        <p:spPr>
          <a:xfrm>
            <a:off x="421200" y="5320800"/>
            <a:ext cx="259200" cy="280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ords-icon-clip"/>
          <p:cNvSpPr/>
          <p:nvPr/>
        </p:nvSpPr>
        <p:spPr>
          <a:xfrm>
            <a:off x="500399" y="5292000"/>
            <a:ext cx="100800" cy="5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6" name="records-icon-clip-line"/>
          <p:cNvCxnSpPr/>
          <p:nvPr/>
        </p:nvCxnSpPr>
        <p:spPr>
          <a:xfrm>
            <a:off x="478799" y="5392799"/>
            <a:ext cx="144001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records-icon-clip-line"/>
          <p:cNvCxnSpPr/>
          <p:nvPr/>
        </p:nvCxnSpPr>
        <p:spPr>
          <a:xfrm>
            <a:off x="478799" y="5450400"/>
            <a:ext cx="144001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records-icon-clip-line"/>
          <p:cNvCxnSpPr/>
          <p:nvPr/>
        </p:nvCxnSpPr>
        <p:spPr>
          <a:xfrm>
            <a:off x="478799" y="5508000"/>
            <a:ext cx="144001" cy="0"/>
          </a:xfrm>
          <a:prstGeom prst="line">
            <a:avLst/>
          </a:prstGeom>
          <a:ln w="889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