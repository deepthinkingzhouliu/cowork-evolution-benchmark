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8534095" cy="18288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Trebuchet MS"/>
              </a:defRPr>
            </a:pPr>
            <a:r>
              <a:rPr sz="3800" b="1">
                <a:solidFill>
                  <a:srgbClr val="FFFFFF"/>
                </a:solidFill>
                <a:latin typeface="Trebuchet MS"/>
              </a:rPr>
              <a:t>FY2026 Budget vs Actuals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160520"/>
            <a:ext cx="8442654" cy="5486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2200" b="1">
                <a:solidFill>
                  <a:srgbClr val="2563EB"/>
                </a:solidFill>
                <a:latin typeface="Calibri"/>
              </a:defRPr>
            </a:pPr>
            <a:r>
              <a:rPr sz="2200" b="1">
                <a:solidFill>
                  <a:srgbClr val="2563EB"/>
                </a:solidFill>
                <a:latin typeface="Calibri"/>
              </a:rPr>
              <a:t>Quarterly Leadership Review - March 2026</a:t>
            </a:r>
          </a:p>
        </p:txBody>
      </p:sp>
      <p:sp>
        <p:nvSpPr>
          <p:cNvPr id="5" name="Isosceles Triangle 4"/>
          <p:cNvSpPr/>
          <p:nvPr/>
        </p:nvSpPr>
        <p:spPr>
          <a:xfrm>
            <a:off x="10042855" y="502920"/>
            <a:ext cx="594360" cy="658368"/>
          </a:xfrm>
          <a:prstGeom prst="triangl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81767" y="658368"/>
            <a:ext cx="502920" cy="50292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>
            <a:off x="10938967" y="502920"/>
            <a:ext cx="548640" cy="658368"/>
          </a:xfrm>
          <a:prstGeom prst="triangl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528816"/>
            <a:ext cx="9601200" cy="256032"/>
          </a:xfrm>
          <a:prstGeom prst="rect">
            <a:avLst/>
          </a:prstGeom>
          <a:noFill/>
        </p:spPr>
        <p:txBody>
          <a:bodyPr wrap="none" lIns="0" rIns="0" tIns="9144" bIns="9144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Calibri"/>
              </a:defRPr>
            </a:pPr>
            <a:r>
              <a:rPr sz="1000" b="0">
                <a:solidFill>
                  <a:srgbClr val="94A3B8"/>
                </a:solidFill>
                <a:latin typeface="Calibri"/>
              </a:rPr>
              <a:t>CFO leadership briefing | Source-backed salary actuals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863840" cy="56692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Trebuchet MS"/>
              </a:defRPr>
            </a:pPr>
            <a:r>
              <a:rPr sz="2800" b="1">
                <a:solidFill>
                  <a:srgbClr val="111827"/>
                </a:solidFill>
                <a:latin typeface="Trebuchet MS"/>
              </a:rPr>
              <a:t>Department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8229600" cy="31089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400" b="0">
                <a:solidFill>
                  <a:srgbClr val="4B5563"/>
                </a:solidFill>
                <a:latin typeface="Calibri"/>
              </a:defRPr>
            </a:pPr>
            <a:r>
              <a:rPr sz="1400" b="0">
                <a:solidFill>
                  <a:srgbClr val="4B5563"/>
                </a:solidFill>
                <a:latin typeface="Calibri"/>
              </a:rPr>
              <a:t>Approved FY2026 budgets compared with salary actuals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335024"/>
          <a:ext cx="11002975" cy="2578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01190"/>
                <a:gridCol w="6601785"/>
              </a:tblGrid>
              <a:tr h="566928">
                <a:tc>
                  <a:txBody>
                    <a:bodyPr lIns="73152" rIns="73152" tIns="36576" bIns="36576" wrap="square"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Trebuchet MS"/>
                        </a:rPr>
                        <a:t>Metric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Trebuchet MS"/>
                        </a:rPr>
                        <a:t>Value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502920">
                <a:tc>
                  <a:txBody>
                    <a:bodyPr lIns="73152" rIns="73152" tIns="36576" bIns="36576" wrap="square"/>
                    <a:lstStyle/>
                    <a:p>
                      <a:pPr>
                        <a:defRPr sz="1300" b="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rPr sz="1300" b="0">
                          <a:solidFill>
                            <a:srgbClr val="111827"/>
                          </a:solidFill>
                          <a:latin typeface="Calibri"/>
                        </a:rPr>
                        <a:t>Departments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>
                        <a:defRPr sz="1300" b="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rPr sz="1300" b="0">
                          <a:solidFill>
                            <a:srgbClr val="111827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lIns="73152" rIns="73152" tIns="36576" bIns="36576" wrap="square"/>
                    <a:lstStyle/>
                    <a:p>
                      <a:pPr>
                        <a:defRPr sz="1300" b="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rPr sz="1300" b="0">
                          <a:solidFill>
                            <a:srgbClr val="111827"/>
                          </a:solidFill>
                          <a:latin typeface="Calibri"/>
                        </a:rPr>
                        <a:t>Total Budget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>
                        <a:defRPr sz="1300" b="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rPr sz="1300" b="0">
                          <a:solidFill>
                            <a:srgbClr val="111827"/>
                          </a:solidFill>
                          <a:latin typeface="Calibri"/>
                        </a:rPr>
                        <a:t>$4,564,347,744.31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 lIns="73152" rIns="73152" tIns="36576" bIns="36576" wrap="square"/>
                    <a:lstStyle/>
                    <a:p>
                      <a:pPr>
                        <a:defRPr sz="1300" b="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rPr sz="1300" b="0">
                          <a:solidFill>
                            <a:srgbClr val="111827"/>
                          </a:solidFill>
                          <a:latin typeface="Calibri"/>
                        </a:rPr>
                        <a:t>Total Actuals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>
                        <a:defRPr sz="1300" b="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rPr sz="1300" b="0">
                          <a:solidFill>
                            <a:srgbClr val="111827"/>
                          </a:solidFill>
                          <a:latin typeface="Calibri"/>
                        </a:rPr>
                        <a:t>$2,919,806,955.00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lIns="73152" rIns="73152" tIns="36576" bIns="36576" wrap="square"/>
                    <a:lstStyle/>
                    <a:p>
                      <a:pPr>
                        <a:defRPr sz="1300" b="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rPr sz="1300" b="0">
                          <a:solidFill>
                            <a:srgbClr val="111827"/>
                          </a:solidFill>
                          <a:latin typeface="Calibri"/>
                        </a:rPr>
                        <a:t>Total Variance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>
                        <a:defRPr sz="1300" b="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rPr sz="1300" b="0">
                          <a:solidFill>
                            <a:srgbClr val="111827"/>
                          </a:solidFill>
                          <a:latin typeface="Calibri"/>
                        </a:rPr>
                        <a:t>$1,644,540,789.31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041648"/>
            <a:ext cx="11002975" cy="38404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200" b="0">
                <a:solidFill>
                  <a:srgbClr val="4B5563"/>
                </a:solidFill>
                <a:latin typeface="Calibri"/>
              </a:defRPr>
            </a:pPr>
            <a:r>
              <a:rPr sz="1200" b="0">
                <a:solidFill>
                  <a:srgbClr val="4B5563"/>
                </a:solidFill>
                <a:latin typeface="Calibri"/>
              </a:rPr>
              <a:t>Source-backed roll-up across all seven departments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28816"/>
            <a:ext cx="9601200" cy="256032"/>
          </a:xfrm>
          <a:prstGeom prst="rect">
            <a:avLst/>
          </a:prstGeom>
          <a:noFill/>
        </p:spPr>
        <p:txBody>
          <a:bodyPr wrap="none" lIns="0" rIns="0" tIns="9144" bIns="9144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Calibri"/>
              </a:defRPr>
            </a:pPr>
            <a:r>
              <a:rPr sz="1000" b="0">
                <a:solidFill>
                  <a:srgbClr val="4B5563"/>
                </a:solidFill>
                <a:latin typeface="Calibri"/>
              </a:rPr>
              <a:t>Sources: department_budgets_fy2026.pdf; HR_ANALYTICS__PUBLIC__EMPLOYEES.copy.sql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863840" cy="56692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Trebuchet MS"/>
              </a:defRPr>
            </a:pPr>
            <a:r>
              <a:rPr sz="2800" b="1">
                <a:solidFill>
                  <a:srgbClr val="111827"/>
                </a:solidFill>
                <a:latin typeface="Trebuchet MS"/>
              </a:rPr>
              <a:t>Инженерия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8229600" cy="31089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400" b="0">
                <a:solidFill>
                  <a:srgbClr val="4B5563"/>
                </a:solidFill>
                <a:latin typeface="Calibri"/>
              </a:defRPr>
            </a:pPr>
            <a:r>
              <a:rPr sz="1400" b="0">
                <a:solidFill>
                  <a:srgbClr val="4B5563"/>
                </a:solidFill>
                <a:latin typeface="Calibri"/>
              </a:rPr>
              <a:t>FY2026 budget vs salary actuals | Under Budget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80744"/>
            <a:ext cx="5295747" cy="6583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2800" b="1">
                <a:solidFill>
                  <a:srgbClr val="2563EB"/>
                </a:solidFill>
                <a:latin typeface="Trebuchet MS"/>
              </a:defRPr>
            </a:pPr>
            <a:r>
              <a:rPr sz="2800" b="1">
                <a:solidFill>
                  <a:srgbClr val="2563EB"/>
                </a:solidFill>
                <a:latin typeface="Trebuchet MS"/>
              </a:rPr>
              <a:t>Approved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167128"/>
            <a:ext cx="5295747" cy="3465576"/>
          </a:xfrm>
          <a:prstGeom prst="rect">
            <a:avLst/>
          </a:prstGeom>
          <a:noFill/>
        </p:spPr>
        <p:txBody>
          <a:bodyPr wrap="square" lIns="36576" rIns="36576" tIns="25603" bIns="25603">
            <a:spAutoFit/>
          </a:bodyPr>
          <a:lstStyle/>
          <a:p>
            <a:pPr>
              <a:spcAft>
                <a:spcPts val="800"/>
              </a:spcAft>
              <a:buChar char="•"/>
              <a:defRPr sz="2200" b="0">
                <a:solidFill>
                  <a:srgbClr val="111827"/>
                </a:solidFill>
                <a:latin typeface="Calibri"/>
              </a:defRPr>
            </a:pPr>
            <a:r>
              <a:rPr sz="2200" b="0">
                <a:solidFill>
                  <a:srgbClr val="111827"/>
                </a:solidFill>
                <a:latin typeface="Calibri"/>
              </a:rPr>
              <a:t>Approved Budget: $633,555,641.27</a:t>
            </a:r>
          </a:p>
          <a:p>
            <a:pPr>
              <a:spcAft>
                <a:spcPts val="800"/>
              </a:spcAft>
              <a:buChar char="•"/>
              <a:defRPr sz="2200" b="0">
                <a:solidFill>
                  <a:srgbClr val="111827"/>
                </a:solidFill>
                <a:latin typeface="Calibri"/>
              </a:defRPr>
            </a:pPr>
            <a:r>
              <a:rPr sz="2200" b="0">
                <a:solidFill>
                  <a:srgbClr val="111827"/>
                </a:solidFill>
                <a:latin typeface="Calibri"/>
              </a:rPr>
              <a:t>Headcount: 7,096</a:t>
            </a:r>
          </a:p>
          <a:p>
            <a:pPr>
              <a:spcAft>
                <a:spcPts val="800"/>
              </a:spcAft>
              <a:buChar char="•"/>
              <a:defRPr sz="2200" b="0">
                <a:solidFill>
                  <a:srgbClr val="111827"/>
                </a:solidFill>
                <a:latin typeface="Calibri"/>
              </a:defRPr>
            </a:pPr>
            <a:r>
              <a:rPr sz="2200" b="0">
                <a:solidFill>
                  <a:srgbClr val="111827"/>
                </a:solidFill>
                <a:latin typeface="Calibri"/>
              </a:rPr>
              <a:t>Avg Salary: $58,991.61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1587" y="1380744"/>
            <a:ext cx="5295747" cy="6583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2800" b="1">
                <a:solidFill>
                  <a:srgbClr val="0891B2"/>
                </a:solidFill>
                <a:latin typeface="Trebuchet MS"/>
              </a:defRPr>
            </a:pPr>
            <a:r>
              <a:rPr sz="2800" b="1">
                <a:solidFill>
                  <a:srgbClr val="0891B2"/>
                </a:solidFill>
                <a:latin typeface="Trebuchet MS"/>
              </a:rPr>
              <a:t>Salary Actuals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1587" y="2167128"/>
            <a:ext cx="5295747" cy="3465576"/>
          </a:xfrm>
          <a:prstGeom prst="rect">
            <a:avLst/>
          </a:prstGeom>
          <a:noFill/>
        </p:spPr>
        <p:txBody>
          <a:bodyPr wrap="square" lIns="36576" rIns="36576" tIns="25603" bIns="25603">
            <a:spAutoFit/>
          </a:bodyPr>
          <a:lstStyle/>
          <a:p>
            <a:pPr>
              <a:spcAft>
                <a:spcPts val="800"/>
              </a:spcAft>
              <a:buChar char="•"/>
              <a:defRPr sz="2100" b="0">
                <a:solidFill>
                  <a:srgbClr val="111827"/>
                </a:solidFill>
                <a:latin typeface="Calibri"/>
              </a:defRPr>
            </a:pPr>
            <a:r>
              <a:rPr sz="2100" b="0">
                <a:solidFill>
                  <a:srgbClr val="111827"/>
                </a:solidFill>
                <a:latin typeface="Calibri"/>
              </a:rPr>
              <a:t>Actual Expenditure: $418,604,451.00</a:t>
            </a:r>
          </a:p>
          <a:p>
            <a:pPr>
              <a:spcAft>
                <a:spcPts val="800"/>
              </a:spcAft>
              <a:buChar char="•"/>
              <a:defRPr sz="2100" b="0">
                <a:solidFill>
                  <a:srgbClr val="111827"/>
                </a:solidFill>
                <a:latin typeface="Calibri"/>
              </a:defRPr>
            </a:pPr>
            <a:r>
              <a:rPr sz="2100" b="0">
                <a:solidFill>
                  <a:srgbClr val="111827"/>
                </a:solidFill>
                <a:latin typeface="Calibri"/>
              </a:rPr>
              <a:t>Variance: $214,951,190.27</a:t>
            </a:r>
          </a:p>
          <a:p>
            <a:pPr>
              <a:spcAft>
                <a:spcPts val="800"/>
              </a:spcAft>
              <a:buChar char="•"/>
              <a:defRPr sz="2100" b="0">
                <a:solidFill>
                  <a:srgbClr val="111827"/>
                </a:solidFill>
                <a:latin typeface="Calibri"/>
              </a:defRPr>
            </a:pPr>
            <a:r>
              <a:rPr sz="2100" b="0">
                <a:solidFill>
                  <a:srgbClr val="111827"/>
                </a:solidFill>
                <a:latin typeface="Calibri"/>
              </a:rPr>
              <a:t>Variance Pct: 33.93%</a:t>
            </a:r>
          </a:p>
        </p:txBody>
      </p:sp>
      <p:sp>
        <p:nvSpPr>
          <p:cNvPr id="8" name="Rectangle 7"/>
          <p:cNvSpPr/>
          <p:nvPr/>
        </p:nvSpPr>
        <p:spPr>
          <a:xfrm>
            <a:off x="6077559" y="1435608"/>
            <a:ext cx="36576" cy="421538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5888736"/>
            <a:ext cx="9905695" cy="5486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5888736"/>
            <a:ext cx="7315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62456" y="5925312"/>
            <a:ext cx="9539935" cy="475488"/>
          </a:xfrm>
          <a:prstGeom prst="rect">
            <a:avLst/>
          </a:prstGeom>
          <a:noFill/>
        </p:spPr>
        <p:txBody>
          <a:bodyPr wrap="square" lIns="36576" rIns="36576" tIns="25603" bIns="25603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rPr sz="1600" b="1">
                <a:solidFill>
                  <a:srgbClr val="FFFFFF"/>
                </a:solidFill>
                <a:latin typeface="Calibri"/>
              </a:rPr>
              <a:t>Status: Under Budget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528816"/>
            <a:ext cx="9601200" cy="256032"/>
          </a:xfrm>
          <a:prstGeom prst="rect">
            <a:avLst/>
          </a:prstGeom>
          <a:noFill/>
        </p:spPr>
        <p:txBody>
          <a:bodyPr wrap="none" lIns="0" rIns="0" tIns="9144" bIns="9144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Calibri"/>
              </a:defRPr>
            </a:pPr>
            <a:r>
              <a:rPr sz="1000" b="0">
                <a:solidFill>
                  <a:srgbClr val="4B5563"/>
                </a:solidFill>
                <a:latin typeface="Calibri"/>
              </a:rPr>
              <a:t>Sources: department_budgets_fy2026.pdf; HR_ANALYTICS__PUBLIC__EMPLOYEES.copy.sql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863840" cy="56692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Trebuchet MS"/>
              </a:defRPr>
            </a:pPr>
            <a:r>
              <a:rPr sz="2800" b="1">
                <a:solidFill>
                  <a:srgbClr val="111827"/>
                </a:solidFill>
                <a:latin typeface="Trebuchet MS"/>
              </a:rPr>
              <a:t>Кадры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8229600" cy="31089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400" b="0">
                <a:solidFill>
                  <a:srgbClr val="4B5563"/>
                </a:solidFill>
                <a:latin typeface="Calibri"/>
              </a:defRPr>
            </a:pPr>
            <a:r>
              <a:rPr sz="1400" b="0">
                <a:solidFill>
                  <a:srgbClr val="4B5563"/>
                </a:solidFill>
                <a:latin typeface="Calibri"/>
              </a:rPr>
              <a:t>FY2026 budget vs salary actuals | Under Budget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80744"/>
            <a:ext cx="5295747" cy="6583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2800" b="1">
                <a:solidFill>
                  <a:srgbClr val="2563EB"/>
                </a:solidFill>
                <a:latin typeface="Trebuchet MS"/>
              </a:defRPr>
            </a:pPr>
            <a:r>
              <a:rPr sz="2800" b="1">
                <a:solidFill>
                  <a:srgbClr val="2563EB"/>
                </a:solidFill>
                <a:latin typeface="Trebuchet MS"/>
              </a:rPr>
              <a:t>Approved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167128"/>
            <a:ext cx="5295747" cy="3465576"/>
          </a:xfrm>
          <a:prstGeom prst="rect">
            <a:avLst/>
          </a:prstGeom>
          <a:noFill/>
        </p:spPr>
        <p:txBody>
          <a:bodyPr wrap="square" lIns="36576" rIns="36576" tIns="25603" bIns="25603">
            <a:spAutoFit/>
          </a:bodyPr>
          <a:lstStyle/>
          <a:p>
            <a:pPr>
              <a:spcAft>
                <a:spcPts val="800"/>
              </a:spcAft>
              <a:buChar char="•"/>
              <a:defRPr sz="2200" b="0">
                <a:solidFill>
                  <a:srgbClr val="111827"/>
                </a:solidFill>
                <a:latin typeface="Calibri"/>
              </a:defRPr>
            </a:pPr>
            <a:r>
              <a:rPr sz="2200" b="0">
                <a:solidFill>
                  <a:srgbClr val="111827"/>
                </a:solidFill>
                <a:latin typeface="Calibri"/>
              </a:rPr>
              <a:t>Approved Budget: $697,911,374.65</a:t>
            </a:r>
          </a:p>
          <a:p>
            <a:pPr>
              <a:spcAft>
                <a:spcPts val="800"/>
              </a:spcAft>
              <a:buChar char="•"/>
              <a:defRPr sz="2200" b="0">
                <a:solidFill>
                  <a:srgbClr val="111827"/>
                </a:solidFill>
                <a:latin typeface="Calibri"/>
              </a:defRPr>
            </a:pPr>
            <a:r>
              <a:rPr sz="2200" b="0">
                <a:solidFill>
                  <a:srgbClr val="111827"/>
                </a:solidFill>
                <a:latin typeface="Calibri"/>
              </a:rPr>
              <a:t>Headcount: 7,077</a:t>
            </a:r>
          </a:p>
          <a:p>
            <a:pPr>
              <a:spcAft>
                <a:spcPts val="800"/>
              </a:spcAft>
              <a:buChar char="•"/>
              <a:defRPr sz="2200" b="0">
                <a:solidFill>
                  <a:srgbClr val="111827"/>
                </a:solidFill>
                <a:latin typeface="Calibri"/>
              </a:defRPr>
            </a:pPr>
            <a:r>
              <a:rPr sz="2200" b="0">
                <a:solidFill>
                  <a:srgbClr val="111827"/>
                </a:solidFill>
                <a:latin typeface="Calibri"/>
              </a:rPr>
              <a:t>Avg Salary: $58,920.45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1587" y="1380744"/>
            <a:ext cx="5295747" cy="6583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2800" b="1">
                <a:solidFill>
                  <a:srgbClr val="0891B2"/>
                </a:solidFill>
                <a:latin typeface="Trebuchet MS"/>
              </a:defRPr>
            </a:pPr>
            <a:r>
              <a:rPr sz="2800" b="1">
                <a:solidFill>
                  <a:srgbClr val="0891B2"/>
                </a:solidFill>
                <a:latin typeface="Trebuchet MS"/>
              </a:rPr>
              <a:t>Salary Actuals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1587" y="2167128"/>
            <a:ext cx="5295747" cy="3465576"/>
          </a:xfrm>
          <a:prstGeom prst="rect">
            <a:avLst/>
          </a:prstGeom>
          <a:noFill/>
        </p:spPr>
        <p:txBody>
          <a:bodyPr wrap="square" lIns="36576" rIns="36576" tIns="25603" bIns="25603">
            <a:spAutoFit/>
          </a:bodyPr>
          <a:lstStyle/>
          <a:p>
            <a:pPr>
              <a:spcAft>
                <a:spcPts val="800"/>
              </a:spcAft>
              <a:buChar char="•"/>
              <a:defRPr sz="2100" b="0">
                <a:solidFill>
                  <a:srgbClr val="111827"/>
                </a:solidFill>
                <a:latin typeface="Calibri"/>
              </a:defRPr>
            </a:pPr>
            <a:r>
              <a:rPr sz="2100" b="0">
                <a:solidFill>
                  <a:srgbClr val="111827"/>
                </a:solidFill>
                <a:latin typeface="Calibri"/>
              </a:rPr>
              <a:t>Actual Expenditure: $416,980,025.00</a:t>
            </a:r>
          </a:p>
          <a:p>
            <a:pPr>
              <a:spcAft>
                <a:spcPts val="800"/>
              </a:spcAft>
              <a:buChar char="•"/>
              <a:defRPr sz="2100" b="0">
                <a:solidFill>
                  <a:srgbClr val="111827"/>
                </a:solidFill>
                <a:latin typeface="Calibri"/>
              </a:defRPr>
            </a:pPr>
            <a:r>
              <a:rPr sz="2100" b="0">
                <a:solidFill>
                  <a:srgbClr val="111827"/>
                </a:solidFill>
                <a:latin typeface="Calibri"/>
              </a:rPr>
              <a:t>Variance: $280,931,349.65</a:t>
            </a:r>
          </a:p>
          <a:p>
            <a:pPr>
              <a:spcAft>
                <a:spcPts val="800"/>
              </a:spcAft>
              <a:buChar char="•"/>
              <a:defRPr sz="2100" b="0">
                <a:solidFill>
                  <a:srgbClr val="111827"/>
                </a:solidFill>
                <a:latin typeface="Calibri"/>
              </a:defRPr>
            </a:pPr>
            <a:r>
              <a:rPr sz="2100" b="0">
                <a:solidFill>
                  <a:srgbClr val="111827"/>
                </a:solidFill>
                <a:latin typeface="Calibri"/>
              </a:rPr>
              <a:t>Variance Pct: 40.25%</a:t>
            </a:r>
          </a:p>
        </p:txBody>
      </p:sp>
      <p:sp>
        <p:nvSpPr>
          <p:cNvPr id="8" name="Rectangle 7"/>
          <p:cNvSpPr/>
          <p:nvPr/>
        </p:nvSpPr>
        <p:spPr>
          <a:xfrm>
            <a:off x="6077559" y="1435608"/>
            <a:ext cx="36576" cy="421538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5888736"/>
            <a:ext cx="9905695" cy="5486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5888736"/>
            <a:ext cx="7315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62456" y="5925312"/>
            <a:ext cx="9539935" cy="475488"/>
          </a:xfrm>
          <a:prstGeom prst="rect">
            <a:avLst/>
          </a:prstGeom>
          <a:noFill/>
        </p:spPr>
        <p:txBody>
          <a:bodyPr wrap="square" lIns="36576" rIns="36576" tIns="25603" bIns="25603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rPr sz="1600" b="1">
                <a:solidFill>
                  <a:srgbClr val="FFFFFF"/>
                </a:solidFill>
                <a:latin typeface="Calibri"/>
              </a:rPr>
              <a:t>Status: Under Budget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528816"/>
            <a:ext cx="9601200" cy="256032"/>
          </a:xfrm>
          <a:prstGeom prst="rect">
            <a:avLst/>
          </a:prstGeom>
          <a:noFill/>
        </p:spPr>
        <p:txBody>
          <a:bodyPr wrap="none" lIns="0" rIns="0" tIns="9144" bIns="9144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Calibri"/>
              </a:defRPr>
            </a:pPr>
            <a:r>
              <a:rPr sz="1000" b="0">
                <a:solidFill>
                  <a:srgbClr val="4B5563"/>
                </a:solidFill>
                <a:latin typeface="Calibri"/>
              </a:rPr>
              <a:t>Sources: department_budgets_fy2026.pdf; HR_ANALYTICS__PUBLIC__EMPLOYEES.copy.sql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863840" cy="56692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Trebuchet MS"/>
              </a:defRPr>
            </a:pPr>
            <a:r>
              <a:rPr sz="2800" b="1">
                <a:solidFill>
                  <a:srgbClr val="111827"/>
                </a:solidFill>
                <a:latin typeface="Trebuchet MS"/>
              </a:rPr>
              <a:t>НИОКР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8229600" cy="31089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400" b="0">
                <a:solidFill>
                  <a:srgbClr val="4B5563"/>
                </a:solidFill>
                <a:latin typeface="Calibri"/>
              </a:defRPr>
            </a:pPr>
            <a:r>
              <a:rPr sz="1400" b="0">
                <a:solidFill>
                  <a:srgbClr val="4B5563"/>
                </a:solidFill>
                <a:latin typeface="Calibri"/>
              </a:rPr>
              <a:t>FY2026 budget vs salary actuals | Under Budget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80744"/>
            <a:ext cx="5295747" cy="6583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2800" b="1">
                <a:solidFill>
                  <a:srgbClr val="2563EB"/>
                </a:solidFill>
                <a:latin typeface="Trebuchet MS"/>
              </a:defRPr>
            </a:pPr>
            <a:r>
              <a:rPr sz="2800" b="1">
                <a:solidFill>
                  <a:srgbClr val="2563EB"/>
                </a:solidFill>
                <a:latin typeface="Trebuchet MS"/>
              </a:rPr>
              <a:t>Approved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167128"/>
            <a:ext cx="5295747" cy="3465576"/>
          </a:xfrm>
          <a:prstGeom prst="rect">
            <a:avLst/>
          </a:prstGeom>
          <a:noFill/>
        </p:spPr>
        <p:txBody>
          <a:bodyPr wrap="square" lIns="36576" rIns="36576" tIns="25603" bIns="25603">
            <a:spAutoFit/>
          </a:bodyPr>
          <a:lstStyle/>
          <a:p>
            <a:pPr>
              <a:spcAft>
                <a:spcPts val="800"/>
              </a:spcAft>
              <a:buChar char="•"/>
              <a:defRPr sz="2200" b="0">
                <a:solidFill>
                  <a:srgbClr val="111827"/>
                </a:solidFill>
                <a:latin typeface="Calibri"/>
              </a:defRPr>
            </a:pPr>
            <a:r>
              <a:rPr sz="2200" b="0">
                <a:solidFill>
                  <a:srgbClr val="111827"/>
                </a:solidFill>
                <a:latin typeface="Calibri"/>
              </a:rPr>
              <a:t>Approved Budget: $715,914,847.42</a:t>
            </a:r>
          </a:p>
          <a:p>
            <a:pPr>
              <a:spcAft>
                <a:spcPts val="800"/>
              </a:spcAft>
              <a:buChar char="•"/>
              <a:defRPr sz="2200" b="0">
                <a:solidFill>
                  <a:srgbClr val="111827"/>
                </a:solidFill>
                <a:latin typeface="Calibri"/>
              </a:defRPr>
            </a:pPr>
            <a:r>
              <a:rPr sz="2200" b="0">
                <a:solidFill>
                  <a:srgbClr val="111827"/>
                </a:solidFill>
                <a:latin typeface="Calibri"/>
              </a:rPr>
              <a:t>Headcount: 7,083</a:t>
            </a:r>
          </a:p>
          <a:p>
            <a:pPr>
              <a:spcAft>
                <a:spcPts val="800"/>
              </a:spcAft>
              <a:buChar char="•"/>
              <a:defRPr sz="2200" b="0">
                <a:solidFill>
                  <a:srgbClr val="111827"/>
                </a:solidFill>
                <a:latin typeface="Calibri"/>
              </a:defRPr>
            </a:pPr>
            <a:r>
              <a:rPr sz="2200" b="0">
                <a:solidFill>
                  <a:srgbClr val="111827"/>
                </a:solidFill>
                <a:latin typeface="Calibri"/>
              </a:rPr>
              <a:t>Avg Salary: $57,905.93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1587" y="1380744"/>
            <a:ext cx="5295747" cy="6583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2800" b="1">
                <a:solidFill>
                  <a:srgbClr val="0891B2"/>
                </a:solidFill>
                <a:latin typeface="Trebuchet MS"/>
              </a:defRPr>
            </a:pPr>
            <a:r>
              <a:rPr sz="2800" b="1">
                <a:solidFill>
                  <a:srgbClr val="0891B2"/>
                </a:solidFill>
                <a:latin typeface="Trebuchet MS"/>
              </a:rPr>
              <a:t>Salary Actuals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1587" y="2167128"/>
            <a:ext cx="5295747" cy="3465576"/>
          </a:xfrm>
          <a:prstGeom prst="rect">
            <a:avLst/>
          </a:prstGeom>
          <a:noFill/>
        </p:spPr>
        <p:txBody>
          <a:bodyPr wrap="square" lIns="36576" rIns="36576" tIns="25603" bIns="25603">
            <a:spAutoFit/>
          </a:bodyPr>
          <a:lstStyle/>
          <a:p>
            <a:pPr>
              <a:spcAft>
                <a:spcPts val="800"/>
              </a:spcAft>
              <a:buChar char="•"/>
              <a:defRPr sz="2100" b="0">
                <a:solidFill>
                  <a:srgbClr val="111827"/>
                </a:solidFill>
                <a:latin typeface="Calibri"/>
              </a:defRPr>
            </a:pPr>
            <a:r>
              <a:rPr sz="2100" b="0">
                <a:solidFill>
                  <a:srgbClr val="111827"/>
                </a:solidFill>
                <a:latin typeface="Calibri"/>
              </a:rPr>
              <a:t>Actual Expenditure: $410,147,671.00</a:t>
            </a:r>
          </a:p>
          <a:p>
            <a:pPr>
              <a:spcAft>
                <a:spcPts val="800"/>
              </a:spcAft>
              <a:buChar char="•"/>
              <a:defRPr sz="2100" b="0">
                <a:solidFill>
                  <a:srgbClr val="111827"/>
                </a:solidFill>
                <a:latin typeface="Calibri"/>
              </a:defRPr>
            </a:pPr>
            <a:r>
              <a:rPr sz="2100" b="0">
                <a:solidFill>
                  <a:srgbClr val="111827"/>
                </a:solidFill>
                <a:latin typeface="Calibri"/>
              </a:rPr>
              <a:t>Variance: $305,767,176.42</a:t>
            </a:r>
          </a:p>
          <a:p>
            <a:pPr>
              <a:spcAft>
                <a:spcPts val="800"/>
              </a:spcAft>
              <a:buChar char="•"/>
              <a:defRPr sz="2100" b="0">
                <a:solidFill>
                  <a:srgbClr val="111827"/>
                </a:solidFill>
                <a:latin typeface="Calibri"/>
              </a:defRPr>
            </a:pPr>
            <a:r>
              <a:rPr sz="2100" b="0">
                <a:solidFill>
                  <a:srgbClr val="111827"/>
                </a:solidFill>
                <a:latin typeface="Calibri"/>
              </a:rPr>
              <a:t>Variance Pct: 42.71%</a:t>
            </a:r>
          </a:p>
        </p:txBody>
      </p:sp>
      <p:sp>
        <p:nvSpPr>
          <p:cNvPr id="8" name="Rectangle 7"/>
          <p:cNvSpPr/>
          <p:nvPr/>
        </p:nvSpPr>
        <p:spPr>
          <a:xfrm>
            <a:off x="6077559" y="1435608"/>
            <a:ext cx="36576" cy="421538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5888736"/>
            <a:ext cx="9905695" cy="5486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5888736"/>
            <a:ext cx="7315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62456" y="5925312"/>
            <a:ext cx="9539935" cy="475488"/>
          </a:xfrm>
          <a:prstGeom prst="rect">
            <a:avLst/>
          </a:prstGeom>
          <a:noFill/>
        </p:spPr>
        <p:txBody>
          <a:bodyPr wrap="square" lIns="36576" rIns="36576" tIns="25603" bIns="25603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rPr sz="1600" b="1">
                <a:solidFill>
                  <a:srgbClr val="FFFFFF"/>
                </a:solidFill>
                <a:latin typeface="Calibri"/>
              </a:rPr>
              <a:t>Status: Under Budget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528816"/>
            <a:ext cx="9601200" cy="256032"/>
          </a:xfrm>
          <a:prstGeom prst="rect">
            <a:avLst/>
          </a:prstGeom>
          <a:noFill/>
        </p:spPr>
        <p:txBody>
          <a:bodyPr wrap="none" lIns="0" rIns="0" tIns="9144" bIns="9144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Calibri"/>
              </a:defRPr>
            </a:pPr>
            <a:r>
              <a:rPr sz="1000" b="0">
                <a:solidFill>
                  <a:srgbClr val="4B5563"/>
                </a:solidFill>
                <a:latin typeface="Calibri"/>
              </a:rPr>
              <a:t>Sources: department_budgets_fy2026.pdf; HR_ANALYTICS__PUBLIC__EMPLOYEES.copy.sql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863840" cy="56692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Trebuchet MS"/>
              </a:defRPr>
            </a:pPr>
            <a:r>
              <a:rPr sz="2800" b="1">
                <a:solidFill>
                  <a:srgbClr val="111827"/>
                </a:solidFill>
                <a:latin typeface="Trebuchet MS"/>
              </a:rPr>
              <a:t>Операции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8229600" cy="31089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400" b="0">
                <a:solidFill>
                  <a:srgbClr val="4B5563"/>
                </a:solidFill>
                <a:latin typeface="Calibri"/>
              </a:defRPr>
            </a:pPr>
            <a:r>
              <a:rPr sz="1400" b="0">
                <a:solidFill>
                  <a:srgbClr val="4B5563"/>
                </a:solidFill>
                <a:latin typeface="Calibri"/>
              </a:rPr>
              <a:t>FY2026 budget vs salary actuals | Under Budget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80744"/>
            <a:ext cx="5295747" cy="6583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2800" b="1">
                <a:solidFill>
                  <a:srgbClr val="2563EB"/>
                </a:solidFill>
                <a:latin typeface="Trebuchet MS"/>
              </a:defRPr>
            </a:pPr>
            <a:r>
              <a:rPr sz="2800" b="1">
                <a:solidFill>
                  <a:srgbClr val="2563EB"/>
                </a:solidFill>
                <a:latin typeface="Trebuchet MS"/>
              </a:rPr>
              <a:t>Approved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167128"/>
            <a:ext cx="5295747" cy="3465576"/>
          </a:xfrm>
          <a:prstGeom prst="rect">
            <a:avLst/>
          </a:prstGeom>
          <a:noFill/>
        </p:spPr>
        <p:txBody>
          <a:bodyPr wrap="square" lIns="36576" rIns="36576" tIns="25603" bIns="25603">
            <a:spAutoFit/>
          </a:bodyPr>
          <a:lstStyle/>
          <a:p>
            <a:pPr>
              <a:spcAft>
                <a:spcPts val="800"/>
              </a:spcAft>
              <a:buChar char="•"/>
              <a:defRPr sz="2200" b="0">
                <a:solidFill>
                  <a:srgbClr val="111827"/>
                </a:solidFill>
                <a:latin typeface="Calibri"/>
              </a:defRPr>
            </a:pPr>
            <a:r>
              <a:rPr sz="2200" b="0">
                <a:solidFill>
                  <a:srgbClr val="111827"/>
                </a:solidFill>
                <a:latin typeface="Calibri"/>
              </a:rPr>
              <a:t>Approved Budget: $572,668,189.63</a:t>
            </a:r>
          </a:p>
          <a:p>
            <a:pPr>
              <a:spcAft>
                <a:spcPts val="800"/>
              </a:spcAft>
              <a:buChar char="•"/>
              <a:defRPr sz="2200" b="0">
                <a:solidFill>
                  <a:srgbClr val="111827"/>
                </a:solidFill>
                <a:latin typeface="Calibri"/>
              </a:defRPr>
            </a:pPr>
            <a:r>
              <a:rPr sz="2200" b="0">
                <a:solidFill>
                  <a:srgbClr val="111827"/>
                </a:solidFill>
                <a:latin typeface="Calibri"/>
              </a:rPr>
              <a:t>Headcount: 7,120</a:t>
            </a:r>
          </a:p>
          <a:p>
            <a:pPr>
              <a:spcAft>
                <a:spcPts val="800"/>
              </a:spcAft>
              <a:buChar char="•"/>
              <a:defRPr sz="2200" b="0">
                <a:solidFill>
                  <a:srgbClr val="111827"/>
                </a:solidFill>
                <a:latin typeface="Calibri"/>
              </a:defRPr>
            </a:pPr>
            <a:r>
              <a:rPr sz="2200" b="0">
                <a:solidFill>
                  <a:srgbClr val="111827"/>
                </a:solidFill>
                <a:latin typeface="Calibri"/>
              </a:rPr>
              <a:t>Avg Salary: $57,808.74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1587" y="1380744"/>
            <a:ext cx="5295747" cy="6583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2800" b="1">
                <a:solidFill>
                  <a:srgbClr val="0891B2"/>
                </a:solidFill>
                <a:latin typeface="Trebuchet MS"/>
              </a:defRPr>
            </a:pPr>
            <a:r>
              <a:rPr sz="2800" b="1">
                <a:solidFill>
                  <a:srgbClr val="0891B2"/>
                </a:solidFill>
                <a:latin typeface="Trebuchet MS"/>
              </a:rPr>
              <a:t>Salary Actuals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1587" y="2167128"/>
            <a:ext cx="5295747" cy="3465576"/>
          </a:xfrm>
          <a:prstGeom prst="rect">
            <a:avLst/>
          </a:prstGeom>
          <a:noFill/>
        </p:spPr>
        <p:txBody>
          <a:bodyPr wrap="square" lIns="36576" rIns="36576" tIns="25603" bIns="25603">
            <a:spAutoFit/>
          </a:bodyPr>
          <a:lstStyle/>
          <a:p>
            <a:pPr>
              <a:spcAft>
                <a:spcPts val="800"/>
              </a:spcAft>
              <a:buChar char="•"/>
              <a:defRPr sz="2100" b="0">
                <a:solidFill>
                  <a:srgbClr val="111827"/>
                </a:solidFill>
                <a:latin typeface="Calibri"/>
              </a:defRPr>
            </a:pPr>
            <a:r>
              <a:rPr sz="2100" b="0">
                <a:solidFill>
                  <a:srgbClr val="111827"/>
                </a:solidFill>
                <a:latin typeface="Calibri"/>
              </a:rPr>
              <a:t>Actual Expenditure: $411,598,247.00</a:t>
            </a:r>
          </a:p>
          <a:p>
            <a:pPr>
              <a:spcAft>
                <a:spcPts val="800"/>
              </a:spcAft>
              <a:buChar char="•"/>
              <a:defRPr sz="2100" b="0">
                <a:solidFill>
                  <a:srgbClr val="111827"/>
                </a:solidFill>
                <a:latin typeface="Calibri"/>
              </a:defRPr>
            </a:pPr>
            <a:r>
              <a:rPr sz="2100" b="0">
                <a:solidFill>
                  <a:srgbClr val="111827"/>
                </a:solidFill>
                <a:latin typeface="Calibri"/>
              </a:rPr>
              <a:t>Variance: $161,069,942.63</a:t>
            </a:r>
          </a:p>
          <a:p>
            <a:pPr>
              <a:spcAft>
                <a:spcPts val="800"/>
              </a:spcAft>
              <a:buChar char="•"/>
              <a:defRPr sz="2100" b="0">
                <a:solidFill>
                  <a:srgbClr val="111827"/>
                </a:solidFill>
                <a:latin typeface="Calibri"/>
              </a:defRPr>
            </a:pPr>
            <a:r>
              <a:rPr sz="2100" b="0">
                <a:solidFill>
                  <a:srgbClr val="111827"/>
                </a:solidFill>
                <a:latin typeface="Calibri"/>
              </a:rPr>
              <a:t>Variance Pct: 28.13%</a:t>
            </a:r>
          </a:p>
        </p:txBody>
      </p:sp>
      <p:sp>
        <p:nvSpPr>
          <p:cNvPr id="8" name="Rectangle 7"/>
          <p:cNvSpPr/>
          <p:nvPr/>
        </p:nvSpPr>
        <p:spPr>
          <a:xfrm>
            <a:off x="6077559" y="1435608"/>
            <a:ext cx="36576" cy="421538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5888736"/>
            <a:ext cx="9905695" cy="5486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5888736"/>
            <a:ext cx="7315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62456" y="5925312"/>
            <a:ext cx="9539935" cy="475488"/>
          </a:xfrm>
          <a:prstGeom prst="rect">
            <a:avLst/>
          </a:prstGeom>
          <a:noFill/>
        </p:spPr>
        <p:txBody>
          <a:bodyPr wrap="square" lIns="36576" rIns="36576" tIns="25603" bIns="25603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rPr sz="1600" b="1">
                <a:solidFill>
                  <a:srgbClr val="FFFFFF"/>
                </a:solidFill>
                <a:latin typeface="Calibri"/>
              </a:rPr>
              <a:t>Status: Under Budget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528816"/>
            <a:ext cx="9601200" cy="256032"/>
          </a:xfrm>
          <a:prstGeom prst="rect">
            <a:avLst/>
          </a:prstGeom>
          <a:noFill/>
        </p:spPr>
        <p:txBody>
          <a:bodyPr wrap="none" lIns="0" rIns="0" tIns="9144" bIns="9144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Calibri"/>
              </a:defRPr>
            </a:pPr>
            <a:r>
              <a:rPr sz="1000" b="0">
                <a:solidFill>
                  <a:srgbClr val="4B5563"/>
                </a:solidFill>
                <a:latin typeface="Calibri"/>
              </a:rPr>
              <a:t>Sources: department_budgets_fy2026.pdf; HR_ANALYTICS__PUBLIC__EMPLOYEES.copy.sql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863840" cy="56692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Trebuchet MS"/>
              </a:defRPr>
            </a:pPr>
            <a:r>
              <a:rPr sz="2800" b="1">
                <a:solidFill>
                  <a:srgbClr val="111827"/>
                </a:solidFill>
                <a:latin typeface="Trebuchet MS"/>
              </a:rPr>
              <a:t>Поддержка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8229600" cy="31089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400" b="0">
                <a:solidFill>
                  <a:srgbClr val="4B5563"/>
                </a:solidFill>
                <a:latin typeface="Calibri"/>
              </a:defRPr>
            </a:pPr>
            <a:r>
              <a:rPr sz="1400" b="0">
                <a:solidFill>
                  <a:srgbClr val="4B5563"/>
                </a:solidFill>
                <a:latin typeface="Calibri"/>
              </a:rPr>
              <a:t>FY2026 budget vs salary actuals | Under Budget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80744"/>
            <a:ext cx="5295747" cy="6583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2800" b="1">
                <a:solidFill>
                  <a:srgbClr val="2563EB"/>
                </a:solidFill>
                <a:latin typeface="Trebuchet MS"/>
              </a:defRPr>
            </a:pPr>
            <a:r>
              <a:rPr sz="2800" b="1">
                <a:solidFill>
                  <a:srgbClr val="2563EB"/>
                </a:solidFill>
                <a:latin typeface="Trebuchet MS"/>
              </a:rPr>
              <a:t>Approved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167128"/>
            <a:ext cx="5295747" cy="3465576"/>
          </a:xfrm>
          <a:prstGeom prst="rect">
            <a:avLst/>
          </a:prstGeom>
          <a:noFill/>
        </p:spPr>
        <p:txBody>
          <a:bodyPr wrap="square" lIns="36576" rIns="36576" tIns="25603" bIns="25603">
            <a:spAutoFit/>
          </a:bodyPr>
          <a:lstStyle/>
          <a:p>
            <a:pPr>
              <a:spcAft>
                <a:spcPts val="800"/>
              </a:spcAft>
              <a:buChar char="•"/>
              <a:defRPr sz="2200" b="0">
                <a:solidFill>
                  <a:srgbClr val="111827"/>
                </a:solidFill>
                <a:latin typeface="Calibri"/>
              </a:defRPr>
            </a:pPr>
            <a:r>
              <a:rPr sz="2200" b="0">
                <a:solidFill>
                  <a:srgbClr val="111827"/>
                </a:solidFill>
                <a:latin typeface="Calibri"/>
              </a:rPr>
              <a:t>Approved Budget: $684,741,486.31</a:t>
            </a:r>
          </a:p>
          <a:p>
            <a:pPr>
              <a:spcAft>
                <a:spcPts val="800"/>
              </a:spcAft>
              <a:buChar char="•"/>
              <a:defRPr sz="2200" b="0">
                <a:solidFill>
                  <a:srgbClr val="111827"/>
                </a:solidFill>
                <a:latin typeface="Calibri"/>
              </a:defRPr>
            </a:pPr>
            <a:r>
              <a:rPr sz="2200" b="0">
                <a:solidFill>
                  <a:srgbClr val="111827"/>
                </a:solidFill>
                <a:latin typeface="Calibri"/>
              </a:rPr>
              <a:t>Headcount: 7,244</a:t>
            </a:r>
          </a:p>
          <a:p>
            <a:pPr>
              <a:spcAft>
                <a:spcPts val="800"/>
              </a:spcAft>
              <a:buChar char="•"/>
              <a:defRPr sz="2200" b="0">
                <a:solidFill>
                  <a:srgbClr val="111827"/>
                </a:solidFill>
                <a:latin typeface="Calibri"/>
              </a:defRPr>
            </a:pPr>
            <a:r>
              <a:rPr sz="2200" b="0">
                <a:solidFill>
                  <a:srgbClr val="111827"/>
                </a:solidFill>
                <a:latin typeface="Calibri"/>
              </a:rPr>
              <a:t>Avg Salary: $58,400.48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1587" y="1380744"/>
            <a:ext cx="5295747" cy="6583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2800" b="1">
                <a:solidFill>
                  <a:srgbClr val="0891B2"/>
                </a:solidFill>
                <a:latin typeface="Trebuchet MS"/>
              </a:defRPr>
            </a:pPr>
            <a:r>
              <a:rPr sz="2800" b="1">
                <a:solidFill>
                  <a:srgbClr val="0891B2"/>
                </a:solidFill>
                <a:latin typeface="Trebuchet MS"/>
              </a:rPr>
              <a:t>Salary Actuals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1587" y="2167128"/>
            <a:ext cx="5295747" cy="3465576"/>
          </a:xfrm>
          <a:prstGeom prst="rect">
            <a:avLst/>
          </a:prstGeom>
          <a:noFill/>
        </p:spPr>
        <p:txBody>
          <a:bodyPr wrap="square" lIns="36576" rIns="36576" tIns="25603" bIns="25603">
            <a:spAutoFit/>
          </a:bodyPr>
          <a:lstStyle/>
          <a:p>
            <a:pPr>
              <a:spcAft>
                <a:spcPts val="800"/>
              </a:spcAft>
              <a:buChar char="•"/>
              <a:defRPr sz="2100" b="0">
                <a:solidFill>
                  <a:srgbClr val="111827"/>
                </a:solidFill>
                <a:latin typeface="Calibri"/>
              </a:defRPr>
            </a:pPr>
            <a:r>
              <a:rPr sz="2100" b="0">
                <a:solidFill>
                  <a:srgbClr val="111827"/>
                </a:solidFill>
                <a:latin typeface="Calibri"/>
              </a:rPr>
              <a:t>Actual Expenditure: $423,053,067.00</a:t>
            </a:r>
          </a:p>
          <a:p>
            <a:pPr>
              <a:spcAft>
                <a:spcPts val="800"/>
              </a:spcAft>
              <a:buChar char="•"/>
              <a:defRPr sz="2100" b="0">
                <a:solidFill>
                  <a:srgbClr val="111827"/>
                </a:solidFill>
                <a:latin typeface="Calibri"/>
              </a:defRPr>
            </a:pPr>
            <a:r>
              <a:rPr sz="2100" b="0">
                <a:solidFill>
                  <a:srgbClr val="111827"/>
                </a:solidFill>
                <a:latin typeface="Calibri"/>
              </a:rPr>
              <a:t>Variance: $261,688,419.31</a:t>
            </a:r>
          </a:p>
          <a:p>
            <a:pPr>
              <a:spcAft>
                <a:spcPts val="800"/>
              </a:spcAft>
              <a:buChar char="•"/>
              <a:defRPr sz="2100" b="0">
                <a:solidFill>
                  <a:srgbClr val="111827"/>
                </a:solidFill>
                <a:latin typeface="Calibri"/>
              </a:defRPr>
            </a:pPr>
            <a:r>
              <a:rPr sz="2100" b="0">
                <a:solidFill>
                  <a:srgbClr val="111827"/>
                </a:solidFill>
                <a:latin typeface="Calibri"/>
              </a:rPr>
              <a:t>Variance Pct: 38.22%</a:t>
            </a:r>
          </a:p>
        </p:txBody>
      </p:sp>
      <p:sp>
        <p:nvSpPr>
          <p:cNvPr id="8" name="Rectangle 7"/>
          <p:cNvSpPr/>
          <p:nvPr/>
        </p:nvSpPr>
        <p:spPr>
          <a:xfrm>
            <a:off x="6077559" y="1435608"/>
            <a:ext cx="36576" cy="421538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5888736"/>
            <a:ext cx="9905695" cy="5486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5888736"/>
            <a:ext cx="7315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62456" y="5925312"/>
            <a:ext cx="9539935" cy="475488"/>
          </a:xfrm>
          <a:prstGeom prst="rect">
            <a:avLst/>
          </a:prstGeom>
          <a:noFill/>
        </p:spPr>
        <p:txBody>
          <a:bodyPr wrap="square" lIns="36576" rIns="36576" tIns="25603" bIns="25603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rPr sz="1600" b="1">
                <a:solidFill>
                  <a:srgbClr val="FFFFFF"/>
                </a:solidFill>
                <a:latin typeface="Calibri"/>
              </a:rPr>
              <a:t>Status: Under Budget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528816"/>
            <a:ext cx="9601200" cy="256032"/>
          </a:xfrm>
          <a:prstGeom prst="rect">
            <a:avLst/>
          </a:prstGeom>
          <a:noFill/>
        </p:spPr>
        <p:txBody>
          <a:bodyPr wrap="none" lIns="0" rIns="0" tIns="9144" bIns="9144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Calibri"/>
              </a:defRPr>
            </a:pPr>
            <a:r>
              <a:rPr sz="1000" b="0">
                <a:solidFill>
                  <a:srgbClr val="4B5563"/>
                </a:solidFill>
                <a:latin typeface="Calibri"/>
              </a:rPr>
              <a:t>Sources: department_budgets_fy2026.pdf; HR_ANALYTICS__PUBLIC__EMPLOYEES.copy.sql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863840" cy="56692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Trebuchet MS"/>
              </a:defRPr>
            </a:pPr>
            <a:r>
              <a:rPr sz="2800" b="1">
                <a:solidFill>
                  <a:srgbClr val="111827"/>
                </a:solidFill>
                <a:latin typeface="Trebuchet MS"/>
              </a:rPr>
              <a:t>Продажи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8229600" cy="31089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400" b="0">
                <a:solidFill>
                  <a:srgbClr val="4B5563"/>
                </a:solidFill>
                <a:latin typeface="Calibri"/>
              </a:defRPr>
            </a:pPr>
            <a:r>
              <a:rPr sz="1400" b="0">
                <a:solidFill>
                  <a:srgbClr val="4B5563"/>
                </a:solidFill>
                <a:latin typeface="Calibri"/>
              </a:rPr>
              <a:t>FY2026 budget vs salary actuals | Under Budget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80744"/>
            <a:ext cx="5295747" cy="6583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2800" b="1">
                <a:solidFill>
                  <a:srgbClr val="2563EB"/>
                </a:solidFill>
                <a:latin typeface="Trebuchet MS"/>
              </a:defRPr>
            </a:pPr>
            <a:r>
              <a:rPr sz="2800" b="1">
                <a:solidFill>
                  <a:srgbClr val="2563EB"/>
                </a:solidFill>
                <a:latin typeface="Trebuchet MS"/>
              </a:rPr>
              <a:t>Approved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167128"/>
            <a:ext cx="5295747" cy="3465576"/>
          </a:xfrm>
          <a:prstGeom prst="rect">
            <a:avLst/>
          </a:prstGeom>
          <a:noFill/>
        </p:spPr>
        <p:txBody>
          <a:bodyPr wrap="square" lIns="36576" rIns="36576" tIns="25603" bIns="25603">
            <a:spAutoFit/>
          </a:bodyPr>
          <a:lstStyle/>
          <a:p>
            <a:pPr>
              <a:spcAft>
                <a:spcPts val="800"/>
              </a:spcAft>
              <a:buChar char="•"/>
              <a:defRPr sz="2200" b="0">
                <a:solidFill>
                  <a:srgbClr val="111827"/>
                </a:solidFill>
                <a:latin typeface="Calibri"/>
              </a:defRPr>
            </a:pPr>
            <a:r>
              <a:rPr sz="2200" b="0">
                <a:solidFill>
                  <a:srgbClr val="111827"/>
                </a:solidFill>
                <a:latin typeface="Calibri"/>
              </a:rPr>
              <a:t>Approved Budget: $642,575,220.92</a:t>
            </a:r>
          </a:p>
          <a:p>
            <a:pPr>
              <a:spcAft>
                <a:spcPts val="800"/>
              </a:spcAft>
              <a:buChar char="•"/>
              <a:defRPr sz="2200" b="0">
                <a:solidFill>
                  <a:srgbClr val="111827"/>
                </a:solidFill>
                <a:latin typeface="Calibri"/>
              </a:defRPr>
            </a:pPr>
            <a:r>
              <a:rPr sz="2200" b="0">
                <a:solidFill>
                  <a:srgbClr val="111827"/>
                </a:solidFill>
                <a:latin typeface="Calibri"/>
              </a:rPr>
              <a:t>Headcount: 7,232</a:t>
            </a:r>
          </a:p>
          <a:p>
            <a:pPr>
              <a:spcAft>
                <a:spcPts val="800"/>
              </a:spcAft>
              <a:buChar char="•"/>
              <a:defRPr sz="2200" b="0">
                <a:solidFill>
                  <a:srgbClr val="111827"/>
                </a:solidFill>
                <a:latin typeface="Calibri"/>
              </a:defRPr>
            </a:pPr>
            <a:r>
              <a:rPr sz="2200" b="0">
                <a:solidFill>
                  <a:srgbClr val="111827"/>
                </a:solidFill>
                <a:latin typeface="Calibri"/>
              </a:rPr>
              <a:t>Avg Salary: $58,864.79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1587" y="1380744"/>
            <a:ext cx="5295747" cy="6583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2800" b="1">
                <a:solidFill>
                  <a:srgbClr val="0891B2"/>
                </a:solidFill>
                <a:latin typeface="Trebuchet MS"/>
              </a:defRPr>
            </a:pPr>
            <a:r>
              <a:rPr sz="2800" b="1">
                <a:solidFill>
                  <a:srgbClr val="0891B2"/>
                </a:solidFill>
                <a:latin typeface="Trebuchet MS"/>
              </a:rPr>
              <a:t>Salary Actuals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1587" y="2167128"/>
            <a:ext cx="5295747" cy="3465576"/>
          </a:xfrm>
          <a:prstGeom prst="rect">
            <a:avLst/>
          </a:prstGeom>
          <a:noFill/>
        </p:spPr>
        <p:txBody>
          <a:bodyPr wrap="square" lIns="36576" rIns="36576" tIns="25603" bIns="25603">
            <a:spAutoFit/>
          </a:bodyPr>
          <a:lstStyle/>
          <a:p>
            <a:pPr>
              <a:spcAft>
                <a:spcPts val="800"/>
              </a:spcAft>
              <a:buChar char="•"/>
              <a:defRPr sz="2100" b="0">
                <a:solidFill>
                  <a:srgbClr val="111827"/>
                </a:solidFill>
                <a:latin typeface="Calibri"/>
              </a:defRPr>
            </a:pPr>
            <a:r>
              <a:rPr sz="2100" b="0">
                <a:solidFill>
                  <a:srgbClr val="111827"/>
                </a:solidFill>
                <a:latin typeface="Calibri"/>
              </a:rPr>
              <a:t>Actual Expenditure: $425,710,161.00</a:t>
            </a:r>
          </a:p>
          <a:p>
            <a:pPr>
              <a:spcAft>
                <a:spcPts val="800"/>
              </a:spcAft>
              <a:buChar char="•"/>
              <a:defRPr sz="2100" b="0">
                <a:solidFill>
                  <a:srgbClr val="111827"/>
                </a:solidFill>
                <a:latin typeface="Calibri"/>
              </a:defRPr>
            </a:pPr>
            <a:r>
              <a:rPr sz="2100" b="0">
                <a:solidFill>
                  <a:srgbClr val="111827"/>
                </a:solidFill>
                <a:latin typeface="Calibri"/>
              </a:rPr>
              <a:t>Variance: $216,865,059.92</a:t>
            </a:r>
          </a:p>
          <a:p>
            <a:pPr>
              <a:spcAft>
                <a:spcPts val="800"/>
              </a:spcAft>
              <a:buChar char="•"/>
              <a:defRPr sz="2100" b="0">
                <a:solidFill>
                  <a:srgbClr val="111827"/>
                </a:solidFill>
                <a:latin typeface="Calibri"/>
              </a:defRPr>
            </a:pPr>
            <a:r>
              <a:rPr sz="2100" b="0">
                <a:solidFill>
                  <a:srgbClr val="111827"/>
                </a:solidFill>
                <a:latin typeface="Calibri"/>
              </a:rPr>
              <a:t>Variance Pct: 33.75%</a:t>
            </a:r>
          </a:p>
        </p:txBody>
      </p:sp>
      <p:sp>
        <p:nvSpPr>
          <p:cNvPr id="8" name="Rectangle 7"/>
          <p:cNvSpPr/>
          <p:nvPr/>
        </p:nvSpPr>
        <p:spPr>
          <a:xfrm>
            <a:off x="6077559" y="1435608"/>
            <a:ext cx="36576" cy="421538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5888736"/>
            <a:ext cx="9905695" cy="5486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5888736"/>
            <a:ext cx="7315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62456" y="5925312"/>
            <a:ext cx="9539935" cy="475488"/>
          </a:xfrm>
          <a:prstGeom prst="rect">
            <a:avLst/>
          </a:prstGeom>
          <a:noFill/>
        </p:spPr>
        <p:txBody>
          <a:bodyPr wrap="square" lIns="36576" rIns="36576" tIns="25603" bIns="25603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rPr sz="1600" b="1">
                <a:solidFill>
                  <a:srgbClr val="FFFFFF"/>
                </a:solidFill>
                <a:latin typeface="Calibri"/>
              </a:rPr>
              <a:t>Status: Under Budget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528816"/>
            <a:ext cx="9601200" cy="256032"/>
          </a:xfrm>
          <a:prstGeom prst="rect">
            <a:avLst/>
          </a:prstGeom>
          <a:noFill/>
        </p:spPr>
        <p:txBody>
          <a:bodyPr wrap="none" lIns="0" rIns="0" tIns="9144" bIns="9144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Calibri"/>
              </a:defRPr>
            </a:pPr>
            <a:r>
              <a:rPr sz="1000" b="0">
                <a:solidFill>
                  <a:srgbClr val="4B5563"/>
                </a:solidFill>
                <a:latin typeface="Calibri"/>
              </a:rPr>
              <a:t>Sources: department_budgets_fy2026.pdf; HR_ANALYTICS__PUBLIC__EMPLOYEES.copy.sql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863840" cy="56692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Trebuchet MS"/>
              </a:defRPr>
            </a:pPr>
            <a:r>
              <a:rPr sz="2800" b="1">
                <a:solidFill>
                  <a:srgbClr val="111827"/>
                </a:solidFill>
                <a:latin typeface="Trebuchet MS"/>
              </a:rPr>
              <a:t>Финансы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8229600" cy="31089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400" b="0">
                <a:solidFill>
                  <a:srgbClr val="4B5563"/>
                </a:solidFill>
                <a:latin typeface="Calibri"/>
              </a:defRPr>
            </a:pPr>
            <a:r>
              <a:rPr sz="1400" b="0">
                <a:solidFill>
                  <a:srgbClr val="4B5563"/>
                </a:solidFill>
                <a:latin typeface="Calibri"/>
              </a:rPr>
              <a:t>FY2026 budget vs salary actuals | Under Budget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80744"/>
            <a:ext cx="5295747" cy="6583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2800" b="1">
                <a:solidFill>
                  <a:srgbClr val="2563EB"/>
                </a:solidFill>
                <a:latin typeface="Trebuchet MS"/>
              </a:defRPr>
            </a:pPr>
            <a:r>
              <a:rPr sz="2800" b="1">
                <a:solidFill>
                  <a:srgbClr val="2563EB"/>
                </a:solidFill>
                <a:latin typeface="Trebuchet MS"/>
              </a:rPr>
              <a:t>Approved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167128"/>
            <a:ext cx="5295747" cy="3465576"/>
          </a:xfrm>
          <a:prstGeom prst="rect">
            <a:avLst/>
          </a:prstGeom>
          <a:noFill/>
        </p:spPr>
        <p:txBody>
          <a:bodyPr wrap="square" lIns="36576" rIns="36576" tIns="25603" bIns="25603">
            <a:spAutoFit/>
          </a:bodyPr>
          <a:lstStyle/>
          <a:p>
            <a:pPr>
              <a:spcAft>
                <a:spcPts val="800"/>
              </a:spcAft>
              <a:buChar char="•"/>
              <a:defRPr sz="2200" b="0">
                <a:solidFill>
                  <a:srgbClr val="111827"/>
                </a:solidFill>
                <a:latin typeface="Calibri"/>
              </a:defRPr>
            </a:pPr>
            <a:r>
              <a:rPr sz="2200" b="0">
                <a:solidFill>
                  <a:srgbClr val="111827"/>
                </a:solidFill>
                <a:latin typeface="Calibri"/>
              </a:rPr>
              <a:t>Approved Budget: $616,980,984.11</a:t>
            </a:r>
          </a:p>
          <a:p>
            <a:pPr>
              <a:spcAft>
                <a:spcPts val="800"/>
              </a:spcAft>
              <a:buChar char="•"/>
              <a:defRPr sz="2200" b="0">
                <a:solidFill>
                  <a:srgbClr val="111827"/>
                </a:solidFill>
                <a:latin typeface="Calibri"/>
              </a:defRPr>
            </a:pPr>
            <a:r>
              <a:rPr sz="2200" b="0">
                <a:solidFill>
                  <a:srgbClr val="111827"/>
                </a:solidFill>
                <a:latin typeface="Calibri"/>
              </a:rPr>
              <a:t>Headcount: 7,148</a:t>
            </a:r>
          </a:p>
          <a:p>
            <a:pPr>
              <a:spcAft>
                <a:spcPts val="800"/>
              </a:spcAft>
              <a:buChar char="•"/>
              <a:defRPr sz="2200" b="0">
                <a:solidFill>
                  <a:srgbClr val="111827"/>
                </a:solidFill>
                <a:latin typeface="Calibri"/>
              </a:defRPr>
            </a:pPr>
            <a:r>
              <a:rPr sz="2200" b="0">
                <a:solidFill>
                  <a:srgbClr val="111827"/>
                </a:solidFill>
                <a:latin typeface="Calibri"/>
              </a:rPr>
              <a:t>Avg Salary: $57,878.19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1587" y="1380744"/>
            <a:ext cx="5295747" cy="6583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2800" b="1">
                <a:solidFill>
                  <a:srgbClr val="0891B2"/>
                </a:solidFill>
                <a:latin typeface="Trebuchet MS"/>
              </a:defRPr>
            </a:pPr>
            <a:r>
              <a:rPr sz="2800" b="1">
                <a:solidFill>
                  <a:srgbClr val="0891B2"/>
                </a:solidFill>
                <a:latin typeface="Trebuchet MS"/>
              </a:rPr>
              <a:t>Salary Actuals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1587" y="2167128"/>
            <a:ext cx="5295747" cy="3465576"/>
          </a:xfrm>
          <a:prstGeom prst="rect">
            <a:avLst/>
          </a:prstGeom>
          <a:noFill/>
        </p:spPr>
        <p:txBody>
          <a:bodyPr wrap="square" lIns="36576" rIns="36576" tIns="25603" bIns="25603">
            <a:spAutoFit/>
          </a:bodyPr>
          <a:lstStyle/>
          <a:p>
            <a:pPr>
              <a:spcAft>
                <a:spcPts val="800"/>
              </a:spcAft>
              <a:buChar char="•"/>
              <a:defRPr sz="2100" b="0">
                <a:solidFill>
                  <a:srgbClr val="111827"/>
                </a:solidFill>
                <a:latin typeface="Calibri"/>
              </a:defRPr>
            </a:pPr>
            <a:r>
              <a:rPr sz="2100" b="0">
                <a:solidFill>
                  <a:srgbClr val="111827"/>
                </a:solidFill>
                <a:latin typeface="Calibri"/>
              </a:rPr>
              <a:t>Actual Expenditure: $413,713,333.00</a:t>
            </a:r>
          </a:p>
          <a:p>
            <a:pPr>
              <a:spcAft>
                <a:spcPts val="800"/>
              </a:spcAft>
              <a:buChar char="•"/>
              <a:defRPr sz="2100" b="0">
                <a:solidFill>
                  <a:srgbClr val="111827"/>
                </a:solidFill>
                <a:latin typeface="Calibri"/>
              </a:defRPr>
            </a:pPr>
            <a:r>
              <a:rPr sz="2100" b="0">
                <a:solidFill>
                  <a:srgbClr val="111827"/>
                </a:solidFill>
                <a:latin typeface="Calibri"/>
              </a:rPr>
              <a:t>Variance: $203,267,651.11</a:t>
            </a:r>
          </a:p>
          <a:p>
            <a:pPr>
              <a:spcAft>
                <a:spcPts val="800"/>
              </a:spcAft>
              <a:buChar char="•"/>
              <a:defRPr sz="2100" b="0">
                <a:solidFill>
                  <a:srgbClr val="111827"/>
                </a:solidFill>
                <a:latin typeface="Calibri"/>
              </a:defRPr>
            </a:pPr>
            <a:r>
              <a:rPr sz="2100" b="0">
                <a:solidFill>
                  <a:srgbClr val="111827"/>
                </a:solidFill>
                <a:latin typeface="Calibri"/>
              </a:rPr>
              <a:t>Variance Pct: 32.95%</a:t>
            </a:r>
          </a:p>
        </p:txBody>
      </p:sp>
      <p:sp>
        <p:nvSpPr>
          <p:cNvPr id="8" name="Rectangle 7"/>
          <p:cNvSpPr/>
          <p:nvPr/>
        </p:nvSpPr>
        <p:spPr>
          <a:xfrm>
            <a:off x="6077559" y="1435608"/>
            <a:ext cx="36576" cy="421538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5888736"/>
            <a:ext cx="9905695" cy="5486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5888736"/>
            <a:ext cx="7315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62456" y="5925312"/>
            <a:ext cx="9539935" cy="475488"/>
          </a:xfrm>
          <a:prstGeom prst="rect">
            <a:avLst/>
          </a:prstGeom>
          <a:noFill/>
        </p:spPr>
        <p:txBody>
          <a:bodyPr wrap="square" lIns="36576" rIns="36576" tIns="25603" bIns="25603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rPr sz="1600" b="1">
                <a:solidFill>
                  <a:srgbClr val="FFFFFF"/>
                </a:solidFill>
                <a:latin typeface="Calibri"/>
              </a:rPr>
              <a:t>Status: Under Budget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528816"/>
            <a:ext cx="9601200" cy="256032"/>
          </a:xfrm>
          <a:prstGeom prst="rect">
            <a:avLst/>
          </a:prstGeom>
          <a:noFill/>
        </p:spPr>
        <p:txBody>
          <a:bodyPr wrap="none" lIns="0" rIns="0" tIns="9144" bIns="9144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Calibri"/>
              </a:defRPr>
            </a:pPr>
            <a:r>
              <a:rPr sz="1000" b="0">
                <a:solidFill>
                  <a:srgbClr val="4B5563"/>
                </a:solidFill>
                <a:latin typeface="Calibri"/>
              </a:rPr>
              <a:t>Sources: department_budgets_fy2026.pdf; HR_ANALYTICS__PUBLIC__EMPLOYEES.copy.sql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863840" cy="56692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Trebuchet MS"/>
              </a:defRPr>
            </a:pPr>
            <a:r>
              <a:rPr sz="2800" b="1">
                <a:solidFill>
                  <a:srgbClr val="111827"/>
                </a:solidFill>
                <a:latin typeface="Trebuchet MS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8229600" cy="31089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400" b="0">
                <a:solidFill>
                  <a:srgbClr val="4B5563"/>
                </a:solidFill>
                <a:latin typeface="Calibri"/>
              </a:defRPr>
            </a:pPr>
            <a:r>
              <a:rPr sz="1400" b="0">
                <a:solidFill>
                  <a:srgbClr val="4B5563"/>
                </a:solidFill>
                <a:latin typeface="Calibri"/>
              </a:rPr>
              <a:t>Variance extremes for leadership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80744"/>
            <a:ext cx="5295747" cy="6583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2800" b="1">
                <a:solidFill>
                  <a:srgbClr val="2563EB"/>
                </a:solidFill>
                <a:latin typeface="Trebuchet MS"/>
              </a:defRPr>
            </a:pPr>
            <a:r>
              <a:rPr sz="2800" b="1">
                <a:solidFill>
                  <a:srgbClr val="2563EB"/>
                </a:solidFill>
                <a:latin typeface="Trebuchet MS"/>
              </a:rPr>
              <a:t>Most Under Budget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167128"/>
            <a:ext cx="5295747" cy="3465576"/>
          </a:xfrm>
          <a:prstGeom prst="rect">
            <a:avLst/>
          </a:prstGeom>
          <a:noFill/>
        </p:spPr>
        <p:txBody>
          <a:bodyPr wrap="square" lIns="36576" rIns="36576" tIns="25603" bIns="25603">
            <a:spAutoFit/>
          </a:bodyPr>
          <a:lstStyle/>
          <a:p>
            <a:pPr>
              <a:spcAft>
                <a:spcPts val="800"/>
              </a:spcAft>
              <a:buChar char="•"/>
              <a:defRPr sz="2100" b="0">
                <a:solidFill>
                  <a:srgbClr val="111827"/>
                </a:solidFill>
                <a:latin typeface="Calibri"/>
              </a:defRPr>
            </a:pPr>
            <a:r>
              <a:rPr sz="2100" b="0">
                <a:solidFill>
                  <a:srgbClr val="111827"/>
                </a:solidFill>
                <a:latin typeface="Calibri"/>
              </a:rPr>
              <a:t>НИОКР</a:t>
            </a:r>
          </a:p>
          <a:p>
            <a:pPr>
              <a:spcAft>
                <a:spcPts val="800"/>
              </a:spcAft>
              <a:buChar char="•"/>
              <a:defRPr sz="2100" b="0">
                <a:solidFill>
                  <a:srgbClr val="111827"/>
                </a:solidFill>
                <a:latin typeface="Calibri"/>
              </a:defRPr>
            </a:pPr>
            <a:r>
              <a:rPr sz="2100" b="0">
                <a:solidFill>
                  <a:srgbClr val="111827"/>
                </a:solidFill>
                <a:latin typeface="Calibri"/>
              </a:rPr>
              <a:t>Approved Budget: $715,914,847.42</a:t>
            </a:r>
          </a:p>
          <a:p>
            <a:pPr>
              <a:spcAft>
                <a:spcPts val="800"/>
              </a:spcAft>
              <a:buChar char="•"/>
              <a:defRPr sz="2100" b="0">
                <a:solidFill>
                  <a:srgbClr val="111827"/>
                </a:solidFill>
                <a:latin typeface="Calibri"/>
              </a:defRPr>
            </a:pPr>
            <a:r>
              <a:rPr sz="2100" b="0">
                <a:solidFill>
                  <a:srgbClr val="111827"/>
                </a:solidFill>
                <a:latin typeface="Calibri"/>
              </a:rPr>
              <a:t>Actual Expenditure: $410,147,671.00</a:t>
            </a:r>
          </a:p>
          <a:p>
            <a:pPr>
              <a:spcAft>
                <a:spcPts val="800"/>
              </a:spcAft>
              <a:buChar char="•"/>
              <a:defRPr sz="2100" b="0">
                <a:solidFill>
                  <a:srgbClr val="111827"/>
                </a:solidFill>
                <a:latin typeface="Calibri"/>
              </a:defRPr>
            </a:pPr>
            <a:r>
              <a:rPr sz="2100" b="0">
                <a:solidFill>
                  <a:srgbClr val="111827"/>
                </a:solidFill>
                <a:latin typeface="Calibri"/>
              </a:rPr>
              <a:t>Variance: $305,767,176.42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1587" y="1380744"/>
            <a:ext cx="5295747" cy="6583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2800" b="1">
                <a:solidFill>
                  <a:srgbClr val="0891B2"/>
                </a:solidFill>
                <a:latin typeface="Trebuchet MS"/>
              </a:defRPr>
            </a:pPr>
            <a:r>
              <a:rPr sz="2800" b="1">
                <a:solidFill>
                  <a:srgbClr val="0891B2"/>
                </a:solidFill>
                <a:latin typeface="Trebuchet MS"/>
              </a:rPr>
              <a:t>Most Over Budget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1587" y="2167128"/>
            <a:ext cx="5295747" cy="3465576"/>
          </a:xfrm>
          <a:prstGeom prst="rect">
            <a:avLst/>
          </a:prstGeom>
          <a:noFill/>
        </p:spPr>
        <p:txBody>
          <a:bodyPr wrap="square" lIns="36576" rIns="36576" tIns="25603" bIns="25603">
            <a:spAutoFit/>
          </a:bodyPr>
          <a:lstStyle/>
          <a:p>
            <a:pPr>
              <a:spcAft>
                <a:spcPts val="800"/>
              </a:spcAft>
              <a:buChar char="•"/>
              <a:defRPr sz="2100" b="0">
                <a:solidFill>
                  <a:srgbClr val="111827"/>
                </a:solidFill>
                <a:latin typeface="Calibri"/>
              </a:defRPr>
            </a:pPr>
            <a:r>
              <a:rPr sz="2100" b="0">
                <a:solidFill>
                  <a:srgbClr val="111827"/>
                </a:solidFill>
                <a:latin typeface="Calibri"/>
              </a:rPr>
              <a:t>Операции</a:t>
            </a:r>
          </a:p>
          <a:p>
            <a:pPr>
              <a:spcAft>
                <a:spcPts val="800"/>
              </a:spcAft>
              <a:buChar char="•"/>
              <a:defRPr sz="2100" b="0">
                <a:solidFill>
                  <a:srgbClr val="111827"/>
                </a:solidFill>
                <a:latin typeface="Calibri"/>
              </a:defRPr>
            </a:pPr>
            <a:r>
              <a:rPr sz="2100" b="0">
                <a:solidFill>
                  <a:srgbClr val="111827"/>
                </a:solidFill>
                <a:latin typeface="Calibri"/>
              </a:rPr>
              <a:t>Approved Budget: $572,668,189.63</a:t>
            </a:r>
          </a:p>
          <a:p>
            <a:pPr>
              <a:spcAft>
                <a:spcPts val="800"/>
              </a:spcAft>
              <a:buChar char="•"/>
              <a:defRPr sz="2100" b="0">
                <a:solidFill>
                  <a:srgbClr val="111827"/>
                </a:solidFill>
                <a:latin typeface="Calibri"/>
              </a:defRPr>
            </a:pPr>
            <a:r>
              <a:rPr sz="2100" b="0">
                <a:solidFill>
                  <a:srgbClr val="111827"/>
                </a:solidFill>
                <a:latin typeface="Calibri"/>
              </a:rPr>
              <a:t>Actual Expenditure: $411,598,247.00</a:t>
            </a:r>
          </a:p>
          <a:p>
            <a:pPr>
              <a:spcAft>
                <a:spcPts val="800"/>
              </a:spcAft>
              <a:buChar char="•"/>
              <a:defRPr sz="2100" b="0">
                <a:solidFill>
                  <a:srgbClr val="111827"/>
                </a:solidFill>
                <a:latin typeface="Calibri"/>
              </a:defRPr>
            </a:pPr>
            <a:r>
              <a:rPr sz="2100" b="0">
                <a:solidFill>
                  <a:srgbClr val="111827"/>
                </a:solidFill>
                <a:latin typeface="Calibri"/>
              </a:rPr>
              <a:t>Variance: $161,069,942.63</a:t>
            </a:r>
          </a:p>
        </p:txBody>
      </p:sp>
      <p:sp>
        <p:nvSpPr>
          <p:cNvPr id="8" name="Rectangle 7"/>
          <p:cNvSpPr/>
          <p:nvPr/>
        </p:nvSpPr>
        <p:spPr>
          <a:xfrm>
            <a:off x="6077559" y="1435608"/>
            <a:ext cx="36576" cy="421538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5888736"/>
            <a:ext cx="9905695" cy="5486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5888736"/>
            <a:ext cx="7315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62456" y="5925312"/>
            <a:ext cx="9539935" cy="475488"/>
          </a:xfrm>
          <a:prstGeom prst="rect">
            <a:avLst/>
          </a:prstGeom>
          <a:noFill/>
        </p:spPr>
        <p:txBody>
          <a:bodyPr wrap="square" lIns="36576" rIns="36576" tIns="25603" bIns="25603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rPr sz="1600" b="1">
                <a:solidFill>
                  <a:srgbClr val="FFFFFF"/>
                </a:solidFill>
                <a:latin typeface="Calibri"/>
              </a:rPr>
              <a:t>All 7 departments are under budget.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528816"/>
            <a:ext cx="9601200" cy="256032"/>
          </a:xfrm>
          <a:prstGeom prst="rect">
            <a:avLst/>
          </a:prstGeom>
          <a:noFill/>
        </p:spPr>
        <p:txBody>
          <a:bodyPr wrap="none" lIns="0" rIns="0" tIns="9144" bIns="9144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Calibri"/>
              </a:defRPr>
            </a:pPr>
            <a:r>
              <a:rPr sz="1000" b="0">
                <a:solidFill>
                  <a:srgbClr val="4B5563"/>
                </a:solidFill>
                <a:latin typeface="Calibri"/>
              </a:rPr>
              <a:t>Sources: department_budgets_fy2026.pdf; HR_ANALYTICS__PUBLIC__EMPLOYEES.copy.sql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