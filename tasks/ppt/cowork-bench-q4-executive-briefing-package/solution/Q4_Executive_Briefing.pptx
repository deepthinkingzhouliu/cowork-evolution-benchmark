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ative teal circle"/>
          <p:cNvSpPr/>
          <p:nvPr/>
        </p:nvSpPr>
        <p:spPr>
          <a:xfrm>
            <a:off x="9288000" y="-1152000"/>
            <a:ext cx="4320000" cy="4320000"/>
          </a:xfrm>
          <a:prstGeom prst="ellipse">
            <a:avLst/>
          </a:prstGeom>
          <a:solidFill>
            <a:srgbClr val="1B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rative cyan circle"/>
          <p:cNvSpPr/>
          <p:nvPr/>
        </p:nvSpPr>
        <p:spPr>
          <a:xfrm>
            <a:off x="10512000" y="4031999"/>
            <a:ext cx="2664000" cy="2664000"/>
          </a:xfrm>
          <a:prstGeom prst="ellipse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 accent line"/>
          <p:cNvSpPr/>
          <p:nvPr/>
        </p:nvSpPr>
        <p:spPr>
          <a:xfrm>
            <a:off x="846000" y="1458000"/>
            <a:ext cx="810000" cy="57600"/>
          </a:xfrm>
          <a:prstGeom prst="rect">
            <a:avLst/>
          </a:prstGeom>
          <a:solidFill>
            <a:srgbClr val="E5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yebrow"/>
          <p:cNvSpPr txBox="1"/>
          <p:nvPr/>
        </p:nvSpPr>
        <p:spPr>
          <a:xfrm>
            <a:off x="846000" y="972000"/>
            <a:ext cx="4680000" cy="251999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FD0D5"/>
                </a:solidFill>
                <a:latin typeface="Liberation Sans"/>
              </a:rPr>
              <a:t>QUARTERLY LEADERSHIP REVIEW</a:t>
            </a:r>
          </a:p>
        </p:txBody>
      </p:sp>
      <p:sp>
        <p:nvSpPr>
          <p:cNvPr id="6" name="Main title"/>
          <p:cNvSpPr txBox="1"/>
          <p:nvPr/>
        </p:nvSpPr>
        <p:spPr>
          <a:xfrm>
            <a:off x="846000" y="1638000"/>
            <a:ext cx="8640000" cy="1530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FFFFFF"/>
                </a:solidFill>
                <a:latin typeface="Liberation Sans"/>
              </a:rPr>
              <a:t>Q4 2024 Sales
Executive Briefing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846000" y="3311999"/>
            <a:ext cx="5400000" cy="30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7EEF4"/>
                </a:solidFill>
                <a:latin typeface="Liberation Sans"/>
              </a:rPr>
              <a:t>October – December 2024</a:t>
            </a:r>
          </a:p>
        </p:txBody>
      </p:sp>
      <p:sp>
        <p:nvSpPr>
          <p:cNvPr id="8" name="Period chip"/>
          <p:cNvSpPr/>
          <p:nvPr/>
        </p:nvSpPr>
        <p:spPr>
          <a:xfrm>
            <a:off x="846000" y="4518000"/>
            <a:ext cx="2610000" cy="468000"/>
          </a:xfrm>
          <a:prstGeom prst="roundRect">
            <a:avLst/>
          </a:prstGeom>
          <a:solidFill>
            <a:srgbClr val="1B4563"/>
          </a:solidFill>
          <a:ln w="15240">
            <a:solidFill>
              <a:srgbClr val="1A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eriod chip text"/>
          <p:cNvSpPr txBox="1"/>
          <p:nvPr/>
        </p:nvSpPr>
        <p:spPr>
          <a:xfrm>
            <a:off x="972000" y="4579200"/>
            <a:ext cx="2358000" cy="331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Liberation Sans"/>
              </a:rPr>
              <a:t>REGION &amp; SEGMENT VIEW</a:t>
            </a:r>
          </a:p>
        </p:txBody>
      </p:sp>
      <p:sp>
        <p:nvSpPr>
          <p:cNvPr id="10" name="Source line"/>
          <p:cNvSpPr txBox="1"/>
          <p:nvPr/>
        </p:nvSpPr>
        <p:spPr>
          <a:xfrm>
            <a:off x="846000" y="5993999"/>
            <a:ext cx="684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A8BBC9"/>
                </a:solidFill>
                <a:latin typeface="Liberation Sans"/>
              </a:rPr>
              <a:t>Source: Cowork-Bench SALES_DW snapshot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ckground"/>
          <p:cNvSpPr/>
          <p:nvPr/>
        </p:nvSpPr>
        <p:spPr>
          <a:xfrm>
            <a:off x="0" y="0"/>
            <a:ext cx="12192119" cy="737999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 accent"/>
          <p:cNvSpPr/>
          <p:nvPr/>
        </p:nvSpPr>
        <p:spPr>
          <a:xfrm>
            <a:off x="0" y="0"/>
            <a:ext cx="100800" cy="737999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378000" y="108000"/>
            <a:ext cx="9720000" cy="439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52000" y="136800"/>
            <a:ext cx="576000" cy="34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FD0D5"/>
                </a:solidFill>
                <a:latin typeface="Liberation Sans"/>
              </a:rPr>
              <a:t>02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396000" y="954000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AA6A6"/>
                </a:solidFill>
                <a:latin typeface="Liberation Sans"/>
              </a:rPr>
              <a:t>REGIONAL PERFORMANCE</a:t>
            </a:r>
          </a:p>
        </p:txBody>
      </p:sp>
      <p:sp>
        <p:nvSpPr>
          <p:cNvPr id="7" name="Orders card"/>
          <p:cNvSpPr/>
          <p:nvPr/>
        </p:nvSpPr>
        <p:spPr>
          <a:xfrm>
            <a:off x="396000" y="1447199"/>
            <a:ext cx="3150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ders accent"/>
          <p:cNvSpPr/>
          <p:nvPr/>
        </p:nvSpPr>
        <p:spPr>
          <a:xfrm>
            <a:off x="396000" y="1447199"/>
            <a:ext cx="79200" cy="149400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ders label"/>
          <p:cNvSpPr txBox="1"/>
          <p:nvPr/>
        </p:nvSpPr>
        <p:spPr>
          <a:xfrm>
            <a:off x="630000" y="1627199"/>
            <a:ext cx="2718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ORDERS</a:t>
            </a:r>
          </a:p>
        </p:txBody>
      </p:sp>
      <p:sp>
        <p:nvSpPr>
          <p:cNvPr id="10" name="Orders value"/>
          <p:cNvSpPr txBox="1"/>
          <p:nvPr/>
        </p:nvSpPr>
        <p:spPr>
          <a:xfrm>
            <a:off x="630000" y="1915199"/>
            <a:ext cx="2718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538</a:t>
            </a:r>
          </a:p>
        </p:txBody>
      </p:sp>
      <p:sp>
        <p:nvSpPr>
          <p:cNvPr id="11" name="Revenue card"/>
          <p:cNvSpPr/>
          <p:nvPr/>
        </p:nvSpPr>
        <p:spPr>
          <a:xfrm>
            <a:off x="3708000" y="1447199"/>
            <a:ext cx="3438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enue accent"/>
          <p:cNvSpPr/>
          <p:nvPr/>
        </p:nvSpPr>
        <p:spPr>
          <a:xfrm>
            <a:off x="3708000" y="1447199"/>
            <a:ext cx="79200" cy="1494000"/>
          </a:xfrm>
          <a:prstGeom prst="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nue label"/>
          <p:cNvSpPr txBox="1"/>
          <p:nvPr/>
        </p:nvSpPr>
        <p:spPr>
          <a:xfrm>
            <a:off x="3942000" y="1627199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REVENUE</a:t>
            </a:r>
          </a:p>
        </p:txBody>
      </p:sp>
      <p:sp>
        <p:nvSpPr>
          <p:cNvPr id="14" name="Revenue value"/>
          <p:cNvSpPr txBox="1"/>
          <p:nvPr/>
        </p:nvSpPr>
        <p:spPr>
          <a:xfrm>
            <a:off x="3942000" y="1915199"/>
            <a:ext cx="3006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$78,879.15</a:t>
            </a:r>
          </a:p>
        </p:txBody>
      </p:sp>
      <p:sp>
        <p:nvSpPr>
          <p:cNvPr id="15" name="Revenue share callout"/>
          <p:cNvSpPr/>
          <p:nvPr/>
        </p:nvSpPr>
        <p:spPr>
          <a:xfrm>
            <a:off x="396000" y="3258000"/>
            <a:ext cx="6750000" cy="168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enue share label"/>
          <p:cNvSpPr txBox="1"/>
          <p:nvPr/>
        </p:nvSpPr>
        <p:spPr>
          <a:xfrm>
            <a:off x="630000" y="34631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SHARE OF Q4 REVENUE</a:t>
            </a:r>
          </a:p>
        </p:txBody>
      </p:sp>
      <p:sp>
        <p:nvSpPr>
          <p:cNvPr id="17" name="Revenue share value"/>
          <p:cNvSpPr txBox="1"/>
          <p:nvPr/>
        </p:nvSpPr>
        <p:spPr>
          <a:xfrm>
            <a:off x="630000" y="3787200"/>
            <a:ext cx="1800000" cy="48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1AA6A6"/>
                </a:solidFill>
                <a:latin typeface="Liberation Sans"/>
              </a:rPr>
              <a:t>19.2%</a:t>
            </a:r>
          </a:p>
        </p:txBody>
      </p:sp>
      <p:sp>
        <p:nvSpPr>
          <p:cNvPr id="18" name="Average order label"/>
          <p:cNvSpPr txBox="1"/>
          <p:nvPr/>
        </p:nvSpPr>
        <p:spPr>
          <a:xfrm>
            <a:off x="2934000" y="3636000"/>
            <a:ext cx="180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A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19" name="Average order value"/>
          <p:cNvSpPr txBox="1"/>
          <p:nvPr/>
        </p:nvSpPr>
        <p:spPr>
          <a:xfrm>
            <a:off x="2934000" y="3880800"/>
            <a:ext cx="2160000" cy="37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A"/>
                </a:solidFill>
                <a:latin typeface="Liberation Sans"/>
              </a:rPr>
              <a:t>$146.62</a:t>
            </a:r>
          </a:p>
        </p:txBody>
      </p:sp>
      <p:sp>
        <p:nvSpPr>
          <p:cNvPr id="20" name="Metric definition"/>
          <p:cNvSpPr txBox="1"/>
          <p:nvPr/>
        </p:nvSpPr>
        <p:spPr>
          <a:xfrm>
            <a:off x="2934000" y="4276800"/>
            <a:ext cx="180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6788A"/>
                </a:solidFill>
                <a:latin typeface="Liberation Sans"/>
              </a:rPr>
              <a:t>Revenue ÷ orders</a:t>
            </a:r>
          </a:p>
        </p:txBody>
      </p:sp>
      <p:sp>
        <p:nvSpPr>
          <p:cNvPr id="21" name="Regional comparison panel"/>
          <p:cNvSpPr/>
          <p:nvPr/>
        </p:nvSpPr>
        <p:spPr>
          <a:xfrm>
            <a:off x="7433999" y="1447199"/>
            <a:ext cx="3978000" cy="349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gional comparison heading"/>
          <p:cNvSpPr txBox="1"/>
          <p:nvPr/>
        </p:nvSpPr>
        <p:spPr>
          <a:xfrm>
            <a:off x="7632000" y="1598399"/>
            <a:ext cx="358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A"/>
                </a:solidFill>
                <a:latin typeface="Liberation Sans"/>
              </a:rPr>
              <a:t>Q4 revenue by region</a:t>
            </a:r>
          </a:p>
        </p:txBody>
      </p:sp>
      <p:sp>
        <p:nvSpPr>
          <p:cNvPr id="23" name="Comparison label 1"/>
          <p:cNvSpPr txBox="1"/>
          <p:nvPr/>
        </p:nvSpPr>
        <p:spPr>
          <a:xfrm>
            <a:off x="7632000" y="19692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B2633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24" name="Comparison track 1"/>
          <p:cNvSpPr/>
          <p:nvPr/>
        </p:nvSpPr>
        <p:spPr>
          <a:xfrm>
            <a:off x="9252000" y="1987199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mparison bar 1"/>
          <p:cNvSpPr/>
          <p:nvPr/>
        </p:nvSpPr>
        <p:spPr>
          <a:xfrm>
            <a:off x="9252000" y="1987199"/>
            <a:ext cx="1344214" cy="136800"/>
          </a:xfrm>
          <a:prstGeom prst="round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value 1"/>
          <p:cNvSpPr txBox="1"/>
          <p:nvPr/>
        </p:nvSpPr>
        <p:spPr>
          <a:xfrm>
            <a:off x="10764000" y="1958399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$78,879</a:t>
            </a:r>
          </a:p>
        </p:txBody>
      </p:sp>
      <p:sp>
        <p:nvSpPr>
          <p:cNvPr id="27" name="Comparison label 2"/>
          <p:cNvSpPr txBox="1"/>
          <p:nvPr/>
        </p:nvSpPr>
        <p:spPr>
          <a:xfrm>
            <a:off x="7632000" y="24948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8" name="Comparison track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mparison bar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value 2"/>
          <p:cNvSpPr txBox="1"/>
          <p:nvPr/>
        </p:nvSpPr>
        <p:spPr>
          <a:xfrm>
            <a:off x="10764000" y="24840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$88,725</a:t>
            </a:r>
          </a:p>
        </p:txBody>
      </p:sp>
      <p:sp>
        <p:nvSpPr>
          <p:cNvPr id="31" name="Comparison label 3"/>
          <p:cNvSpPr txBox="1"/>
          <p:nvPr/>
        </p:nvSpPr>
        <p:spPr>
          <a:xfrm>
            <a:off x="7632000" y="30204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Европа</a:t>
            </a:r>
          </a:p>
        </p:txBody>
      </p:sp>
      <p:sp>
        <p:nvSpPr>
          <p:cNvPr id="32" name="Comparison track 3"/>
          <p:cNvSpPr/>
          <p:nvPr/>
        </p:nvSpPr>
        <p:spPr>
          <a:xfrm>
            <a:off x="9252000" y="30384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mparison bar 3"/>
          <p:cNvSpPr/>
          <p:nvPr/>
        </p:nvSpPr>
        <p:spPr>
          <a:xfrm>
            <a:off x="9252000" y="3038400"/>
            <a:ext cx="1436703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value 3"/>
          <p:cNvSpPr txBox="1"/>
          <p:nvPr/>
        </p:nvSpPr>
        <p:spPr>
          <a:xfrm>
            <a:off x="10764000" y="30096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$84,306</a:t>
            </a:r>
          </a:p>
        </p:txBody>
      </p:sp>
      <p:sp>
        <p:nvSpPr>
          <p:cNvPr id="35" name="Comparison label 4"/>
          <p:cNvSpPr txBox="1"/>
          <p:nvPr/>
        </p:nvSpPr>
        <p:spPr>
          <a:xfrm>
            <a:off x="7632000" y="35460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36" name="Comparison track 4"/>
          <p:cNvSpPr/>
          <p:nvPr/>
        </p:nvSpPr>
        <p:spPr>
          <a:xfrm>
            <a:off x="9252000" y="35640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mparison bar 4"/>
          <p:cNvSpPr/>
          <p:nvPr/>
        </p:nvSpPr>
        <p:spPr>
          <a:xfrm>
            <a:off x="9252000" y="3564000"/>
            <a:ext cx="1336607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value 4"/>
          <p:cNvSpPr txBox="1"/>
          <p:nvPr/>
        </p:nvSpPr>
        <p:spPr>
          <a:xfrm>
            <a:off x="10764000" y="35352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$78,433</a:t>
            </a:r>
          </a:p>
        </p:txBody>
      </p:sp>
      <p:sp>
        <p:nvSpPr>
          <p:cNvPr id="39" name="Comparison label 5"/>
          <p:cNvSpPr txBox="1"/>
          <p:nvPr/>
        </p:nvSpPr>
        <p:spPr>
          <a:xfrm>
            <a:off x="7632000" y="4071599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40" name="Comparison track 5"/>
          <p:cNvSpPr/>
          <p:nvPr/>
        </p:nvSpPr>
        <p:spPr>
          <a:xfrm>
            <a:off x="9252000" y="40896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parison bar 5"/>
          <p:cNvSpPr/>
          <p:nvPr/>
        </p:nvSpPr>
        <p:spPr>
          <a:xfrm>
            <a:off x="9252000" y="4089600"/>
            <a:ext cx="1389116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mparison value 5"/>
          <p:cNvSpPr txBox="1"/>
          <p:nvPr/>
        </p:nvSpPr>
        <p:spPr>
          <a:xfrm>
            <a:off x="10764000" y="40608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$81,514</a:t>
            </a:r>
          </a:p>
        </p:txBody>
      </p:sp>
      <p:sp>
        <p:nvSpPr>
          <p:cNvPr id="43" name="Footer"/>
          <p:cNvSpPr txBox="1"/>
          <p:nvPr/>
        </p:nvSpPr>
        <p:spPr>
          <a:xfrm>
            <a:off x="396000" y="6343200"/>
            <a:ext cx="43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A"/>
                </a:solidFill>
                <a:latin typeface="Liberation Sans"/>
              </a:rPr>
              <a:t>Q4 2024 • Executive briefing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ckground"/>
          <p:cNvSpPr/>
          <p:nvPr/>
        </p:nvSpPr>
        <p:spPr>
          <a:xfrm>
            <a:off x="0" y="0"/>
            <a:ext cx="12192119" cy="737999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 accent"/>
          <p:cNvSpPr/>
          <p:nvPr/>
        </p:nvSpPr>
        <p:spPr>
          <a:xfrm>
            <a:off x="0" y="0"/>
            <a:ext cx="100800" cy="737999"/>
          </a:xfrm>
          <a:prstGeom prst="rect">
            <a:avLst/>
          </a:prstGeom>
          <a:solidFill>
            <a:srgbClr val="3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378000" y="108000"/>
            <a:ext cx="9720000" cy="439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52000" y="136800"/>
            <a:ext cx="576000" cy="34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FD0D5"/>
                </a:solidFill>
                <a:latin typeface="Liberation Sans"/>
              </a:rPr>
              <a:t>03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396000" y="954000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3D79A8"/>
                </a:solidFill>
                <a:latin typeface="Liberation Sans"/>
              </a:rPr>
              <a:t>REGIONAL PERFORMANCE</a:t>
            </a:r>
          </a:p>
        </p:txBody>
      </p:sp>
      <p:sp>
        <p:nvSpPr>
          <p:cNvPr id="7" name="Orders card"/>
          <p:cNvSpPr/>
          <p:nvPr/>
        </p:nvSpPr>
        <p:spPr>
          <a:xfrm>
            <a:off x="396000" y="1447199"/>
            <a:ext cx="3150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ders accent"/>
          <p:cNvSpPr/>
          <p:nvPr/>
        </p:nvSpPr>
        <p:spPr>
          <a:xfrm>
            <a:off x="396000" y="1447199"/>
            <a:ext cx="79200" cy="1494000"/>
          </a:xfrm>
          <a:prstGeom prst="rect">
            <a:avLst/>
          </a:prstGeom>
          <a:solidFill>
            <a:srgbClr val="3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ders label"/>
          <p:cNvSpPr txBox="1"/>
          <p:nvPr/>
        </p:nvSpPr>
        <p:spPr>
          <a:xfrm>
            <a:off x="630000" y="1627199"/>
            <a:ext cx="2718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ORDERS</a:t>
            </a:r>
          </a:p>
        </p:txBody>
      </p:sp>
      <p:sp>
        <p:nvSpPr>
          <p:cNvPr id="10" name="Orders value"/>
          <p:cNvSpPr txBox="1"/>
          <p:nvPr/>
        </p:nvSpPr>
        <p:spPr>
          <a:xfrm>
            <a:off x="630000" y="1915199"/>
            <a:ext cx="2718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486</a:t>
            </a:r>
          </a:p>
        </p:txBody>
      </p:sp>
      <p:sp>
        <p:nvSpPr>
          <p:cNvPr id="11" name="Revenue card"/>
          <p:cNvSpPr/>
          <p:nvPr/>
        </p:nvSpPr>
        <p:spPr>
          <a:xfrm>
            <a:off x="3708000" y="1447199"/>
            <a:ext cx="3438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enue accent"/>
          <p:cNvSpPr/>
          <p:nvPr/>
        </p:nvSpPr>
        <p:spPr>
          <a:xfrm>
            <a:off x="3708000" y="1447199"/>
            <a:ext cx="79200" cy="1494000"/>
          </a:xfrm>
          <a:prstGeom prst="rect">
            <a:avLst/>
          </a:prstGeom>
          <a:solidFill>
            <a:srgbClr val="3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nue label"/>
          <p:cNvSpPr txBox="1"/>
          <p:nvPr/>
        </p:nvSpPr>
        <p:spPr>
          <a:xfrm>
            <a:off x="3942000" y="1627199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REVENUE</a:t>
            </a:r>
          </a:p>
        </p:txBody>
      </p:sp>
      <p:sp>
        <p:nvSpPr>
          <p:cNvPr id="14" name="Revenue value"/>
          <p:cNvSpPr txBox="1"/>
          <p:nvPr/>
        </p:nvSpPr>
        <p:spPr>
          <a:xfrm>
            <a:off x="3942000" y="1915199"/>
            <a:ext cx="3006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$88,724.86</a:t>
            </a:r>
          </a:p>
        </p:txBody>
      </p:sp>
      <p:sp>
        <p:nvSpPr>
          <p:cNvPr id="15" name="Revenue share callout"/>
          <p:cNvSpPr/>
          <p:nvPr/>
        </p:nvSpPr>
        <p:spPr>
          <a:xfrm>
            <a:off x="396000" y="3258000"/>
            <a:ext cx="6750000" cy="168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enue share label"/>
          <p:cNvSpPr txBox="1"/>
          <p:nvPr/>
        </p:nvSpPr>
        <p:spPr>
          <a:xfrm>
            <a:off x="630000" y="34631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SHARE OF Q4 REVENUE</a:t>
            </a:r>
          </a:p>
        </p:txBody>
      </p:sp>
      <p:sp>
        <p:nvSpPr>
          <p:cNvPr id="17" name="Revenue share value"/>
          <p:cNvSpPr txBox="1"/>
          <p:nvPr/>
        </p:nvSpPr>
        <p:spPr>
          <a:xfrm>
            <a:off x="630000" y="3787200"/>
            <a:ext cx="1800000" cy="48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3D79A8"/>
                </a:solidFill>
                <a:latin typeface="Liberation Sans"/>
              </a:rPr>
              <a:t>21.5%</a:t>
            </a:r>
          </a:p>
        </p:txBody>
      </p:sp>
      <p:sp>
        <p:nvSpPr>
          <p:cNvPr id="18" name="Average order label"/>
          <p:cNvSpPr txBox="1"/>
          <p:nvPr/>
        </p:nvSpPr>
        <p:spPr>
          <a:xfrm>
            <a:off x="2934000" y="3636000"/>
            <a:ext cx="180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A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19" name="Average order value"/>
          <p:cNvSpPr txBox="1"/>
          <p:nvPr/>
        </p:nvSpPr>
        <p:spPr>
          <a:xfrm>
            <a:off x="2934000" y="3880800"/>
            <a:ext cx="2160000" cy="37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A"/>
                </a:solidFill>
                <a:latin typeface="Liberation Sans"/>
              </a:rPr>
              <a:t>$182.56</a:t>
            </a:r>
          </a:p>
        </p:txBody>
      </p:sp>
      <p:sp>
        <p:nvSpPr>
          <p:cNvPr id="20" name="Metric definition"/>
          <p:cNvSpPr txBox="1"/>
          <p:nvPr/>
        </p:nvSpPr>
        <p:spPr>
          <a:xfrm>
            <a:off x="2934000" y="4276800"/>
            <a:ext cx="180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6788A"/>
                </a:solidFill>
                <a:latin typeface="Liberation Sans"/>
              </a:rPr>
              <a:t>Revenue ÷ orders</a:t>
            </a:r>
          </a:p>
        </p:txBody>
      </p:sp>
      <p:sp>
        <p:nvSpPr>
          <p:cNvPr id="21" name="Regional comparison panel"/>
          <p:cNvSpPr/>
          <p:nvPr/>
        </p:nvSpPr>
        <p:spPr>
          <a:xfrm>
            <a:off x="7433999" y="1447199"/>
            <a:ext cx="3978000" cy="349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gional comparison heading"/>
          <p:cNvSpPr txBox="1"/>
          <p:nvPr/>
        </p:nvSpPr>
        <p:spPr>
          <a:xfrm>
            <a:off x="7632000" y="1598399"/>
            <a:ext cx="358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A"/>
                </a:solidFill>
                <a:latin typeface="Liberation Sans"/>
              </a:rPr>
              <a:t>Q4 revenue by region</a:t>
            </a:r>
          </a:p>
        </p:txBody>
      </p:sp>
      <p:sp>
        <p:nvSpPr>
          <p:cNvPr id="23" name="Comparison label 1"/>
          <p:cNvSpPr txBox="1"/>
          <p:nvPr/>
        </p:nvSpPr>
        <p:spPr>
          <a:xfrm>
            <a:off x="7632000" y="19692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24" name="Comparison track 1"/>
          <p:cNvSpPr/>
          <p:nvPr/>
        </p:nvSpPr>
        <p:spPr>
          <a:xfrm>
            <a:off x="9252000" y="1987199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mparison bar 1"/>
          <p:cNvSpPr/>
          <p:nvPr/>
        </p:nvSpPr>
        <p:spPr>
          <a:xfrm>
            <a:off x="9252000" y="1987199"/>
            <a:ext cx="1344214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value 1"/>
          <p:cNvSpPr txBox="1"/>
          <p:nvPr/>
        </p:nvSpPr>
        <p:spPr>
          <a:xfrm>
            <a:off x="10764000" y="1958399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$78,879</a:t>
            </a:r>
          </a:p>
        </p:txBody>
      </p:sp>
      <p:sp>
        <p:nvSpPr>
          <p:cNvPr id="27" name="Comparison label 2"/>
          <p:cNvSpPr txBox="1"/>
          <p:nvPr/>
        </p:nvSpPr>
        <p:spPr>
          <a:xfrm>
            <a:off x="7632000" y="24948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B2633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8" name="Comparison track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mparison bar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3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value 2"/>
          <p:cNvSpPr txBox="1"/>
          <p:nvPr/>
        </p:nvSpPr>
        <p:spPr>
          <a:xfrm>
            <a:off x="10764000" y="24840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$88,725</a:t>
            </a:r>
          </a:p>
        </p:txBody>
      </p:sp>
      <p:sp>
        <p:nvSpPr>
          <p:cNvPr id="31" name="Comparison label 3"/>
          <p:cNvSpPr txBox="1"/>
          <p:nvPr/>
        </p:nvSpPr>
        <p:spPr>
          <a:xfrm>
            <a:off x="7632000" y="30204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Европа</a:t>
            </a:r>
          </a:p>
        </p:txBody>
      </p:sp>
      <p:sp>
        <p:nvSpPr>
          <p:cNvPr id="32" name="Comparison track 3"/>
          <p:cNvSpPr/>
          <p:nvPr/>
        </p:nvSpPr>
        <p:spPr>
          <a:xfrm>
            <a:off x="9252000" y="30384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mparison bar 3"/>
          <p:cNvSpPr/>
          <p:nvPr/>
        </p:nvSpPr>
        <p:spPr>
          <a:xfrm>
            <a:off x="9252000" y="3038400"/>
            <a:ext cx="1436703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value 3"/>
          <p:cNvSpPr txBox="1"/>
          <p:nvPr/>
        </p:nvSpPr>
        <p:spPr>
          <a:xfrm>
            <a:off x="10764000" y="30096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$84,306</a:t>
            </a:r>
          </a:p>
        </p:txBody>
      </p:sp>
      <p:sp>
        <p:nvSpPr>
          <p:cNvPr id="35" name="Comparison label 4"/>
          <p:cNvSpPr txBox="1"/>
          <p:nvPr/>
        </p:nvSpPr>
        <p:spPr>
          <a:xfrm>
            <a:off x="7632000" y="35460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36" name="Comparison track 4"/>
          <p:cNvSpPr/>
          <p:nvPr/>
        </p:nvSpPr>
        <p:spPr>
          <a:xfrm>
            <a:off x="9252000" y="35640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mparison bar 4"/>
          <p:cNvSpPr/>
          <p:nvPr/>
        </p:nvSpPr>
        <p:spPr>
          <a:xfrm>
            <a:off x="9252000" y="3564000"/>
            <a:ext cx="1336607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value 4"/>
          <p:cNvSpPr txBox="1"/>
          <p:nvPr/>
        </p:nvSpPr>
        <p:spPr>
          <a:xfrm>
            <a:off x="10764000" y="35352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$78,433</a:t>
            </a:r>
          </a:p>
        </p:txBody>
      </p:sp>
      <p:sp>
        <p:nvSpPr>
          <p:cNvPr id="39" name="Comparison label 5"/>
          <p:cNvSpPr txBox="1"/>
          <p:nvPr/>
        </p:nvSpPr>
        <p:spPr>
          <a:xfrm>
            <a:off x="7632000" y="4071599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40" name="Comparison track 5"/>
          <p:cNvSpPr/>
          <p:nvPr/>
        </p:nvSpPr>
        <p:spPr>
          <a:xfrm>
            <a:off x="9252000" y="40896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parison bar 5"/>
          <p:cNvSpPr/>
          <p:nvPr/>
        </p:nvSpPr>
        <p:spPr>
          <a:xfrm>
            <a:off x="9252000" y="4089600"/>
            <a:ext cx="1389116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mparison value 5"/>
          <p:cNvSpPr txBox="1"/>
          <p:nvPr/>
        </p:nvSpPr>
        <p:spPr>
          <a:xfrm>
            <a:off x="10764000" y="40608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$81,514</a:t>
            </a:r>
          </a:p>
        </p:txBody>
      </p:sp>
      <p:sp>
        <p:nvSpPr>
          <p:cNvPr id="43" name="Footer"/>
          <p:cNvSpPr txBox="1"/>
          <p:nvPr/>
        </p:nvSpPr>
        <p:spPr>
          <a:xfrm>
            <a:off x="396000" y="6343200"/>
            <a:ext cx="43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A"/>
                </a:solidFill>
                <a:latin typeface="Liberation Sans"/>
              </a:rPr>
              <a:t>Q4 2024 • Executive briefing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ckground"/>
          <p:cNvSpPr/>
          <p:nvPr/>
        </p:nvSpPr>
        <p:spPr>
          <a:xfrm>
            <a:off x="0" y="0"/>
            <a:ext cx="12192119" cy="737999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 accent"/>
          <p:cNvSpPr/>
          <p:nvPr/>
        </p:nvSpPr>
        <p:spPr>
          <a:xfrm>
            <a:off x="0" y="0"/>
            <a:ext cx="100800" cy="737999"/>
          </a:xfrm>
          <a:prstGeom prst="rect">
            <a:avLst/>
          </a:prstGeom>
          <a:solidFill>
            <a:srgbClr val="6A7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378000" y="108000"/>
            <a:ext cx="9720000" cy="439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iberation Sans"/>
              </a:rPr>
              <a:t>Европа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52000" y="136800"/>
            <a:ext cx="576000" cy="34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FD0D5"/>
                </a:solidFill>
                <a:latin typeface="Liberation Sans"/>
              </a:rPr>
              <a:t>04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396000" y="954000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A79C5"/>
                </a:solidFill>
                <a:latin typeface="Liberation Sans"/>
              </a:rPr>
              <a:t>REGIONAL PERFORMANCE</a:t>
            </a:r>
          </a:p>
        </p:txBody>
      </p:sp>
      <p:sp>
        <p:nvSpPr>
          <p:cNvPr id="7" name="Orders card"/>
          <p:cNvSpPr/>
          <p:nvPr/>
        </p:nvSpPr>
        <p:spPr>
          <a:xfrm>
            <a:off x="396000" y="1447199"/>
            <a:ext cx="3150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ders accent"/>
          <p:cNvSpPr/>
          <p:nvPr/>
        </p:nvSpPr>
        <p:spPr>
          <a:xfrm>
            <a:off x="396000" y="1447199"/>
            <a:ext cx="79200" cy="1494000"/>
          </a:xfrm>
          <a:prstGeom prst="rect">
            <a:avLst/>
          </a:prstGeom>
          <a:solidFill>
            <a:srgbClr val="6A7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ders label"/>
          <p:cNvSpPr txBox="1"/>
          <p:nvPr/>
        </p:nvSpPr>
        <p:spPr>
          <a:xfrm>
            <a:off x="630000" y="1627199"/>
            <a:ext cx="2718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ORDERS</a:t>
            </a:r>
          </a:p>
        </p:txBody>
      </p:sp>
      <p:sp>
        <p:nvSpPr>
          <p:cNvPr id="10" name="Orders value"/>
          <p:cNvSpPr txBox="1"/>
          <p:nvPr/>
        </p:nvSpPr>
        <p:spPr>
          <a:xfrm>
            <a:off x="630000" y="1915199"/>
            <a:ext cx="2718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528</a:t>
            </a:r>
          </a:p>
        </p:txBody>
      </p:sp>
      <p:sp>
        <p:nvSpPr>
          <p:cNvPr id="11" name="Revenue card"/>
          <p:cNvSpPr/>
          <p:nvPr/>
        </p:nvSpPr>
        <p:spPr>
          <a:xfrm>
            <a:off x="3708000" y="1447199"/>
            <a:ext cx="3438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enue accent"/>
          <p:cNvSpPr/>
          <p:nvPr/>
        </p:nvSpPr>
        <p:spPr>
          <a:xfrm>
            <a:off x="3708000" y="1447199"/>
            <a:ext cx="79200" cy="1494000"/>
          </a:xfrm>
          <a:prstGeom prst="rect">
            <a:avLst/>
          </a:prstGeom>
          <a:solidFill>
            <a:srgbClr val="6A7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nue label"/>
          <p:cNvSpPr txBox="1"/>
          <p:nvPr/>
        </p:nvSpPr>
        <p:spPr>
          <a:xfrm>
            <a:off x="3942000" y="1627199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REVENUE</a:t>
            </a:r>
          </a:p>
        </p:txBody>
      </p:sp>
      <p:sp>
        <p:nvSpPr>
          <p:cNvPr id="14" name="Revenue value"/>
          <p:cNvSpPr txBox="1"/>
          <p:nvPr/>
        </p:nvSpPr>
        <p:spPr>
          <a:xfrm>
            <a:off x="3942000" y="1915199"/>
            <a:ext cx="3006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$84,306.43</a:t>
            </a:r>
          </a:p>
        </p:txBody>
      </p:sp>
      <p:sp>
        <p:nvSpPr>
          <p:cNvPr id="15" name="Revenue share callout"/>
          <p:cNvSpPr/>
          <p:nvPr/>
        </p:nvSpPr>
        <p:spPr>
          <a:xfrm>
            <a:off x="396000" y="3258000"/>
            <a:ext cx="6750000" cy="168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enue share label"/>
          <p:cNvSpPr txBox="1"/>
          <p:nvPr/>
        </p:nvSpPr>
        <p:spPr>
          <a:xfrm>
            <a:off x="630000" y="34631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SHARE OF Q4 REVENUE</a:t>
            </a:r>
          </a:p>
        </p:txBody>
      </p:sp>
      <p:sp>
        <p:nvSpPr>
          <p:cNvPr id="17" name="Revenue share value"/>
          <p:cNvSpPr txBox="1"/>
          <p:nvPr/>
        </p:nvSpPr>
        <p:spPr>
          <a:xfrm>
            <a:off x="630000" y="3787200"/>
            <a:ext cx="1800000" cy="48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6A79C5"/>
                </a:solidFill>
                <a:latin typeface="Liberation Sans"/>
              </a:rPr>
              <a:t>20.5%</a:t>
            </a:r>
          </a:p>
        </p:txBody>
      </p:sp>
      <p:sp>
        <p:nvSpPr>
          <p:cNvPr id="18" name="Average order label"/>
          <p:cNvSpPr txBox="1"/>
          <p:nvPr/>
        </p:nvSpPr>
        <p:spPr>
          <a:xfrm>
            <a:off x="2934000" y="3636000"/>
            <a:ext cx="180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A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19" name="Average order value"/>
          <p:cNvSpPr txBox="1"/>
          <p:nvPr/>
        </p:nvSpPr>
        <p:spPr>
          <a:xfrm>
            <a:off x="2934000" y="3880800"/>
            <a:ext cx="2160000" cy="37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A"/>
                </a:solidFill>
                <a:latin typeface="Liberation Sans"/>
              </a:rPr>
              <a:t>$159.67</a:t>
            </a:r>
          </a:p>
        </p:txBody>
      </p:sp>
      <p:sp>
        <p:nvSpPr>
          <p:cNvPr id="20" name="Metric definition"/>
          <p:cNvSpPr txBox="1"/>
          <p:nvPr/>
        </p:nvSpPr>
        <p:spPr>
          <a:xfrm>
            <a:off x="2934000" y="4276800"/>
            <a:ext cx="180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6788A"/>
                </a:solidFill>
                <a:latin typeface="Liberation Sans"/>
              </a:rPr>
              <a:t>Revenue ÷ orders</a:t>
            </a:r>
          </a:p>
        </p:txBody>
      </p:sp>
      <p:sp>
        <p:nvSpPr>
          <p:cNvPr id="21" name="Regional comparison panel"/>
          <p:cNvSpPr/>
          <p:nvPr/>
        </p:nvSpPr>
        <p:spPr>
          <a:xfrm>
            <a:off x="7433999" y="1447199"/>
            <a:ext cx="3978000" cy="349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gional comparison heading"/>
          <p:cNvSpPr txBox="1"/>
          <p:nvPr/>
        </p:nvSpPr>
        <p:spPr>
          <a:xfrm>
            <a:off x="7632000" y="1598399"/>
            <a:ext cx="358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A"/>
                </a:solidFill>
                <a:latin typeface="Liberation Sans"/>
              </a:rPr>
              <a:t>Q4 revenue by region</a:t>
            </a:r>
          </a:p>
        </p:txBody>
      </p:sp>
      <p:sp>
        <p:nvSpPr>
          <p:cNvPr id="23" name="Comparison label 1"/>
          <p:cNvSpPr txBox="1"/>
          <p:nvPr/>
        </p:nvSpPr>
        <p:spPr>
          <a:xfrm>
            <a:off x="7632000" y="19692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24" name="Comparison track 1"/>
          <p:cNvSpPr/>
          <p:nvPr/>
        </p:nvSpPr>
        <p:spPr>
          <a:xfrm>
            <a:off x="9252000" y="1987199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mparison bar 1"/>
          <p:cNvSpPr/>
          <p:nvPr/>
        </p:nvSpPr>
        <p:spPr>
          <a:xfrm>
            <a:off x="9252000" y="1987199"/>
            <a:ext cx="1344214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value 1"/>
          <p:cNvSpPr txBox="1"/>
          <p:nvPr/>
        </p:nvSpPr>
        <p:spPr>
          <a:xfrm>
            <a:off x="10764000" y="1958399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$78,879</a:t>
            </a:r>
          </a:p>
        </p:txBody>
      </p:sp>
      <p:sp>
        <p:nvSpPr>
          <p:cNvPr id="27" name="Comparison label 2"/>
          <p:cNvSpPr txBox="1"/>
          <p:nvPr/>
        </p:nvSpPr>
        <p:spPr>
          <a:xfrm>
            <a:off x="7632000" y="24948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8" name="Comparison track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mparison bar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value 2"/>
          <p:cNvSpPr txBox="1"/>
          <p:nvPr/>
        </p:nvSpPr>
        <p:spPr>
          <a:xfrm>
            <a:off x="10764000" y="24840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$88,725</a:t>
            </a:r>
          </a:p>
        </p:txBody>
      </p:sp>
      <p:sp>
        <p:nvSpPr>
          <p:cNvPr id="31" name="Comparison label 3"/>
          <p:cNvSpPr txBox="1"/>
          <p:nvPr/>
        </p:nvSpPr>
        <p:spPr>
          <a:xfrm>
            <a:off x="7632000" y="30204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B2633"/>
                </a:solidFill>
                <a:latin typeface="Liberation Sans"/>
              </a:rPr>
              <a:t>Европа</a:t>
            </a:r>
          </a:p>
        </p:txBody>
      </p:sp>
      <p:sp>
        <p:nvSpPr>
          <p:cNvPr id="32" name="Comparison track 3"/>
          <p:cNvSpPr/>
          <p:nvPr/>
        </p:nvSpPr>
        <p:spPr>
          <a:xfrm>
            <a:off x="9252000" y="30384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mparison bar 3"/>
          <p:cNvSpPr/>
          <p:nvPr/>
        </p:nvSpPr>
        <p:spPr>
          <a:xfrm>
            <a:off x="9252000" y="3038400"/>
            <a:ext cx="1436703" cy="136800"/>
          </a:xfrm>
          <a:prstGeom prst="roundRect">
            <a:avLst/>
          </a:prstGeom>
          <a:solidFill>
            <a:srgbClr val="6A79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value 3"/>
          <p:cNvSpPr txBox="1"/>
          <p:nvPr/>
        </p:nvSpPr>
        <p:spPr>
          <a:xfrm>
            <a:off x="10764000" y="30096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$84,306</a:t>
            </a:r>
          </a:p>
        </p:txBody>
      </p:sp>
      <p:sp>
        <p:nvSpPr>
          <p:cNvPr id="35" name="Comparison label 4"/>
          <p:cNvSpPr txBox="1"/>
          <p:nvPr/>
        </p:nvSpPr>
        <p:spPr>
          <a:xfrm>
            <a:off x="7632000" y="35460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36" name="Comparison track 4"/>
          <p:cNvSpPr/>
          <p:nvPr/>
        </p:nvSpPr>
        <p:spPr>
          <a:xfrm>
            <a:off x="9252000" y="35640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mparison bar 4"/>
          <p:cNvSpPr/>
          <p:nvPr/>
        </p:nvSpPr>
        <p:spPr>
          <a:xfrm>
            <a:off x="9252000" y="3564000"/>
            <a:ext cx="1336607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value 4"/>
          <p:cNvSpPr txBox="1"/>
          <p:nvPr/>
        </p:nvSpPr>
        <p:spPr>
          <a:xfrm>
            <a:off x="10764000" y="35352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$78,433</a:t>
            </a:r>
          </a:p>
        </p:txBody>
      </p:sp>
      <p:sp>
        <p:nvSpPr>
          <p:cNvPr id="39" name="Comparison label 5"/>
          <p:cNvSpPr txBox="1"/>
          <p:nvPr/>
        </p:nvSpPr>
        <p:spPr>
          <a:xfrm>
            <a:off x="7632000" y="4071599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40" name="Comparison track 5"/>
          <p:cNvSpPr/>
          <p:nvPr/>
        </p:nvSpPr>
        <p:spPr>
          <a:xfrm>
            <a:off x="9252000" y="40896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parison bar 5"/>
          <p:cNvSpPr/>
          <p:nvPr/>
        </p:nvSpPr>
        <p:spPr>
          <a:xfrm>
            <a:off x="9252000" y="4089600"/>
            <a:ext cx="1389116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mparison value 5"/>
          <p:cNvSpPr txBox="1"/>
          <p:nvPr/>
        </p:nvSpPr>
        <p:spPr>
          <a:xfrm>
            <a:off x="10764000" y="40608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$81,514</a:t>
            </a:r>
          </a:p>
        </p:txBody>
      </p:sp>
      <p:sp>
        <p:nvSpPr>
          <p:cNvPr id="43" name="Footer"/>
          <p:cNvSpPr txBox="1"/>
          <p:nvPr/>
        </p:nvSpPr>
        <p:spPr>
          <a:xfrm>
            <a:off x="396000" y="6343200"/>
            <a:ext cx="43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A"/>
                </a:solidFill>
                <a:latin typeface="Liberation Sans"/>
              </a:rPr>
              <a:t>Q4 2024 • Executive briefing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ckground"/>
          <p:cNvSpPr/>
          <p:nvPr/>
        </p:nvSpPr>
        <p:spPr>
          <a:xfrm>
            <a:off x="0" y="0"/>
            <a:ext cx="12192119" cy="737999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 accent"/>
          <p:cNvSpPr/>
          <p:nvPr/>
        </p:nvSpPr>
        <p:spPr>
          <a:xfrm>
            <a:off x="0" y="0"/>
            <a:ext cx="100800" cy="737999"/>
          </a:xfrm>
          <a:prstGeom prst="rect">
            <a:avLst/>
          </a:prstGeom>
          <a:solidFill>
            <a:srgbClr val="D4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378000" y="108000"/>
            <a:ext cx="9720000" cy="439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52000" y="136800"/>
            <a:ext cx="576000" cy="34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FD0D5"/>
                </a:solidFill>
                <a:latin typeface="Liberation Sans"/>
              </a:rPr>
              <a:t>05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396000" y="954000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4855A"/>
                </a:solidFill>
                <a:latin typeface="Liberation Sans"/>
              </a:rPr>
              <a:t>REGIONAL PERFORMANCE</a:t>
            </a:r>
          </a:p>
        </p:txBody>
      </p:sp>
      <p:sp>
        <p:nvSpPr>
          <p:cNvPr id="7" name="Orders card"/>
          <p:cNvSpPr/>
          <p:nvPr/>
        </p:nvSpPr>
        <p:spPr>
          <a:xfrm>
            <a:off x="396000" y="1447199"/>
            <a:ext cx="3150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ders accent"/>
          <p:cNvSpPr/>
          <p:nvPr/>
        </p:nvSpPr>
        <p:spPr>
          <a:xfrm>
            <a:off x="396000" y="1447199"/>
            <a:ext cx="79200" cy="1494000"/>
          </a:xfrm>
          <a:prstGeom prst="rect">
            <a:avLst/>
          </a:prstGeom>
          <a:solidFill>
            <a:srgbClr val="D4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ders label"/>
          <p:cNvSpPr txBox="1"/>
          <p:nvPr/>
        </p:nvSpPr>
        <p:spPr>
          <a:xfrm>
            <a:off x="630000" y="1627199"/>
            <a:ext cx="2718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ORDERS</a:t>
            </a:r>
          </a:p>
        </p:txBody>
      </p:sp>
      <p:sp>
        <p:nvSpPr>
          <p:cNvPr id="10" name="Orders value"/>
          <p:cNvSpPr txBox="1"/>
          <p:nvPr/>
        </p:nvSpPr>
        <p:spPr>
          <a:xfrm>
            <a:off x="630000" y="1915199"/>
            <a:ext cx="2718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472</a:t>
            </a:r>
          </a:p>
        </p:txBody>
      </p:sp>
      <p:sp>
        <p:nvSpPr>
          <p:cNvPr id="11" name="Revenue card"/>
          <p:cNvSpPr/>
          <p:nvPr/>
        </p:nvSpPr>
        <p:spPr>
          <a:xfrm>
            <a:off x="3708000" y="1447199"/>
            <a:ext cx="3438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enue accent"/>
          <p:cNvSpPr/>
          <p:nvPr/>
        </p:nvSpPr>
        <p:spPr>
          <a:xfrm>
            <a:off x="3708000" y="1447199"/>
            <a:ext cx="79200" cy="1494000"/>
          </a:xfrm>
          <a:prstGeom prst="rect">
            <a:avLst/>
          </a:prstGeom>
          <a:solidFill>
            <a:srgbClr val="D4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nue label"/>
          <p:cNvSpPr txBox="1"/>
          <p:nvPr/>
        </p:nvSpPr>
        <p:spPr>
          <a:xfrm>
            <a:off x="3942000" y="1627199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REVENUE</a:t>
            </a:r>
          </a:p>
        </p:txBody>
      </p:sp>
      <p:sp>
        <p:nvSpPr>
          <p:cNvPr id="14" name="Revenue value"/>
          <p:cNvSpPr txBox="1"/>
          <p:nvPr/>
        </p:nvSpPr>
        <p:spPr>
          <a:xfrm>
            <a:off x="3942000" y="1915199"/>
            <a:ext cx="3006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$78,432.77</a:t>
            </a:r>
          </a:p>
        </p:txBody>
      </p:sp>
      <p:sp>
        <p:nvSpPr>
          <p:cNvPr id="15" name="Revenue share callout"/>
          <p:cNvSpPr/>
          <p:nvPr/>
        </p:nvSpPr>
        <p:spPr>
          <a:xfrm>
            <a:off x="396000" y="3258000"/>
            <a:ext cx="6750000" cy="168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enue share label"/>
          <p:cNvSpPr txBox="1"/>
          <p:nvPr/>
        </p:nvSpPr>
        <p:spPr>
          <a:xfrm>
            <a:off x="630000" y="34631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SHARE OF Q4 REVENUE</a:t>
            </a:r>
          </a:p>
        </p:txBody>
      </p:sp>
      <p:sp>
        <p:nvSpPr>
          <p:cNvPr id="17" name="Revenue share value"/>
          <p:cNvSpPr txBox="1"/>
          <p:nvPr/>
        </p:nvSpPr>
        <p:spPr>
          <a:xfrm>
            <a:off x="630000" y="3787200"/>
            <a:ext cx="1800000" cy="48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D4855A"/>
                </a:solidFill>
                <a:latin typeface="Liberation Sans"/>
              </a:rPr>
              <a:t>19.0%</a:t>
            </a:r>
          </a:p>
        </p:txBody>
      </p:sp>
      <p:sp>
        <p:nvSpPr>
          <p:cNvPr id="18" name="Average order label"/>
          <p:cNvSpPr txBox="1"/>
          <p:nvPr/>
        </p:nvSpPr>
        <p:spPr>
          <a:xfrm>
            <a:off x="2934000" y="3636000"/>
            <a:ext cx="180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A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19" name="Average order value"/>
          <p:cNvSpPr txBox="1"/>
          <p:nvPr/>
        </p:nvSpPr>
        <p:spPr>
          <a:xfrm>
            <a:off x="2934000" y="3880800"/>
            <a:ext cx="2160000" cy="37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A"/>
                </a:solidFill>
                <a:latin typeface="Liberation Sans"/>
              </a:rPr>
              <a:t>$166.17</a:t>
            </a:r>
          </a:p>
        </p:txBody>
      </p:sp>
      <p:sp>
        <p:nvSpPr>
          <p:cNvPr id="20" name="Metric definition"/>
          <p:cNvSpPr txBox="1"/>
          <p:nvPr/>
        </p:nvSpPr>
        <p:spPr>
          <a:xfrm>
            <a:off x="2934000" y="4276800"/>
            <a:ext cx="180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6788A"/>
                </a:solidFill>
                <a:latin typeface="Liberation Sans"/>
              </a:rPr>
              <a:t>Revenue ÷ orders</a:t>
            </a:r>
          </a:p>
        </p:txBody>
      </p:sp>
      <p:sp>
        <p:nvSpPr>
          <p:cNvPr id="21" name="Regional comparison panel"/>
          <p:cNvSpPr/>
          <p:nvPr/>
        </p:nvSpPr>
        <p:spPr>
          <a:xfrm>
            <a:off x="7433999" y="1447199"/>
            <a:ext cx="3978000" cy="349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gional comparison heading"/>
          <p:cNvSpPr txBox="1"/>
          <p:nvPr/>
        </p:nvSpPr>
        <p:spPr>
          <a:xfrm>
            <a:off x="7632000" y="1598399"/>
            <a:ext cx="358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A"/>
                </a:solidFill>
                <a:latin typeface="Liberation Sans"/>
              </a:rPr>
              <a:t>Q4 revenue by region</a:t>
            </a:r>
          </a:p>
        </p:txBody>
      </p:sp>
      <p:sp>
        <p:nvSpPr>
          <p:cNvPr id="23" name="Comparison label 1"/>
          <p:cNvSpPr txBox="1"/>
          <p:nvPr/>
        </p:nvSpPr>
        <p:spPr>
          <a:xfrm>
            <a:off x="7632000" y="19692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24" name="Comparison track 1"/>
          <p:cNvSpPr/>
          <p:nvPr/>
        </p:nvSpPr>
        <p:spPr>
          <a:xfrm>
            <a:off x="9252000" y="1987199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mparison bar 1"/>
          <p:cNvSpPr/>
          <p:nvPr/>
        </p:nvSpPr>
        <p:spPr>
          <a:xfrm>
            <a:off x="9252000" y="1987199"/>
            <a:ext cx="1344214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value 1"/>
          <p:cNvSpPr txBox="1"/>
          <p:nvPr/>
        </p:nvSpPr>
        <p:spPr>
          <a:xfrm>
            <a:off x="10764000" y="1958399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$78,879</a:t>
            </a:r>
          </a:p>
        </p:txBody>
      </p:sp>
      <p:sp>
        <p:nvSpPr>
          <p:cNvPr id="27" name="Comparison label 2"/>
          <p:cNvSpPr txBox="1"/>
          <p:nvPr/>
        </p:nvSpPr>
        <p:spPr>
          <a:xfrm>
            <a:off x="7632000" y="24948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8" name="Comparison track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mparison bar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value 2"/>
          <p:cNvSpPr txBox="1"/>
          <p:nvPr/>
        </p:nvSpPr>
        <p:spPr>
          <a:xfrm>
            <a:off x="10764000" y="24840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$88,725</a:t>
            </a:r>
          </a:p>
        </p:txBody>
      </p:sp>
      <p:sp>
        <p:nvSpPr>
          <p:cNvPr id="31" name="Comparison label 3"/>
          <p:cNvSpPr txBox="1"/>
          <p:nvPr/>
        </p:nvSpPr>
        <p:spPr>
          <a:xfrm>
            <a:off x="7632000" y="30204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Европа</a:t>
            </a:r>
          </a:p>
        </p:txBody>
      </p:sp>
      <p:sp>
        <p:nvSpPr>
          <p:cNvPr id="32" name="Comparison track 3"/>
          <p:cNvSpPr/>
          <p:nvPr/>
        </p:nvSpPr>
        <p:spPr>
          <a:xfrm>
            <a:off x="9252000" y="30384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mparison bar 3"/>
          <p:cNvSpPr/>
          <p:nvPr/>
        </p:nvSpPr>
        <p:spPr>
          <a:xfrm>
            <a:off x="9252000" y="3038400"/>
            <a:ext cx="1436703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value 3"/>
          <p:cNvSpPr txBox="1"/>
          <p:nvPr/>
        </p:nvSpPr>
        <p:spPr>
          <a:xfrm>
            <a:off x="10764000" y="30096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$84,306</a:t>
            </a:r>
          </a:p>
        </p:txBody>
      </p:sp>
      <p:sp>
        <p:nvSpPr>
          <p:cNvPr id="35" name="Comparison label 4"/>
          <p:cNvSpPr txBox="1"/>
          <p:nvPr/>
        </p:nvSpPr>
        <p:spPr>
          <a:xfrm>
            <a:off x="7632000" y="35460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B2633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36" name="Comparison track 4"/>
          <p:cNvSpPr/>
          <p:nvPr/>
        </p:nvSpPr>
        <p:spPr>
          <a:xfrm>
            <a:off x="9252000" y="35640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mparison bar 4"/>
          <p:cNvSpPr/>
          <p:nvPr/>
        </p:nvSpPr>
        <p:spPr>
          <a:xfrm>
            <a:off x="9252000" y="3564000"/>
            <a:ext cx="1336607" cy="136800"/>
          </a:xfrm>
          <a:prstGeom prst="roundRect">
            <a:avLst/>
          </a:prstGeom>
          <a:solidFill>
            <a:srgbClr val="D4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value 4"/>
          <p:cNvSpPr txBox="1"/>
          <p:nvPr/>
        </p:nvSpPr>
        <p:spPr>
          <a:xfrm>
            <a:off x="10764000" y="35352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$78,433</a:t>
            </a:r>
          </a:p>
        </p:txBody>
      </p:sp>
      <p:sp>
        <p:nvSpPr>
          <p:cNvPr id="39" name="Comparison label 5"/>
          <p:cNvSpPr txBox="1"/>
          <p:nvPr/>
        </p:nvSpPr>
        <p:spPr>
          <a:xfrm>
            <a:off x="7632000" y="4071599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40" name="Comparison track 5"/>
          <p:cNvSpPr/>
          <p:nvPr/>
        </p:nvSpPr>
        <p:spPr>
          <a:xfrm>
            <a:off x="9252000" y="40896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parison bar 5"/>
          <p:cNvSpPr/>
          <p:nvPr/>
        </p:nvSpPr>
        <p:spPr>
          <a:xfrm>
            <a:off x="9252000" y="4089600"/>
            <a:ext cx="1389116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mparison value 5"/>
          <p:cNvSpPr txBox="1"/>
          <p:nvPr/>
        </p:nvSpPr>
        <p:spPr>
          <a:xfrm>
            <a:off x="10764000" y="40608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$81,514</a:t>
            </a:r>
          </a:p>
        </p:txBody>
      </p:sp>
      <p:sp>
        <p:nvSpPr>
          <p:cNvPr id="43" name="Footer"/>
          <p:cNvSpPr txBox="1"/>
          <p:nvPr/>
        </p:nvSpPr>
        <p:spPr>
          <a:xfrm>
            <a:off x="396000" y="6343200"/>
            <a:ext cx="43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A"/>
                </a:solidFill>
                <a:latin typeface="Liberation Sans"/>
              </a:rPr>
              <a:t>Q4 2024 • Executive briefing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ckground"/>
          <p:cNvSpPr/>
          <p:nvPr/>
        </p:nvSpPr>
        <p:spPr>
          <a:xfrm>
            <a:off x="0" y="0"/>
            <a:ext cx="12192119" cy="737999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ader accent"/>
          <p:cNvSpPr/>
          <p:nvPr/>
        </p:nvSpPr>
        <p:spPr>
          <a:xfrm>
            <a:off x="0" y="0"/>
            <a:ext cx="100800" cy="737999"/>
          </a:xfrm>
          <a:prstGeom prst="rect">
            <a:avLst/>
          </a:prstGeom>
          <a:solidFill>
            <a:srgbClr val="2E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378000" y="108000"/>
            <a:ext cx="9720000" cy="439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11052000" y="136800"/>
            <a:ext cx="576000" cy="34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FD0D5"/>
                </a:solidFill>
                <a:latin typeface="Liberation Sans"/>
              </a:rPr>
              <a:t>06</a:t>
            </a:r>
          </a:p>
        </p:txBody>
      </p:sp>
      <p:sp>
        <p:nvSpPr>
          <p:cNvPr id="6" name="Section label"/>
          <p:cNvSpPr txBox="1"/>
          <p:nvPr/>
        </p:nvSpPr>
        <p:spPr>
          <a:xfrm>
            <a:off x="396000" y="954000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974"/>
                </a:solidFill>
                <a:latin typeface="Liberation Sans"/>
              </a:rPr>
              <a:t>REGIONAL PERFORMANCE</a:t>
            </a:r>
          </a:p>
        </p:txBody>
      </p:sp>
      <p:sp>
        <p:nvSpPr>
          <p:cNvPr id="7" name="Orders card"/>
          <p:cNvSpPr/>
          <p:nvPr/>
        </p:nvSpPr>
        <p:spPr>
          <a:xfrm>
            <a:off x="396000" y="1447199"/>
            <a:ext cx="3150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rders accent"/>
          <p:cNvSpPr/>
          <p:nvPr/>
        </p:nvSpPr>
        <p:spPr>
          <a:xfrm>
            <a:off x="396000" y="1447199"/>
            <a:ext cx="79200" cy="1494000"/>
          </a:xfrm>
          <a:prstGeom prst="rect">
            <a:avLst/>
          </a:prstGeom>
          <a:solidFill>
            <a:srgbClr val="2E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ders label"/>
          <p:cNvSpPr txBox="1"/>
          <p:nvPr/>
        </p:nvSpPr>
        <p:spPr>
          <a:xfrm>
            <a:off x="630000" y="1627199"/>
            <a:ext cx="2718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ORDERS</a:t>
            </a:r>
          </a:p>
        </p:txBody>
      </p:sp>
      <p:sp>
        <p:nvSpPr>
          <p:cNvPr id="10" name="Orders value"/>
          <p:cNvSpPr txBox="1"/>
          <p:nvPr/>
        </p:nvSpPr>
        <p:spPr>
          <a:xfrm>
            <a:off x="630000" y="1915199"/>
            <a:ext cx="2718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555</a:t>
            </a:r>
          </a:p>
        </p:txBody>
      </p:sp>
      <p:sp>
        <p:nvSpPr>
          <p:cNvPr id="11" name="Revenue card"/>
          <p:cNvSpPr/>
          <p:nvPr/>
        </p:nvSpPr>
        <p:spPr>
          <a:xfrm>
            <a:off x="3708000" y="1447199"/>
            <a:ext cx="3438000" cy="14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venue accent"/>
          <p:cNvSpPr/>
          <p:nvPr/>
        </p:nvSpPr>
        <p:spPr>
          <a:xfrm>
            <a:off x="3708000" y="1447199"/>
            <a:ext cx="79200" cy="1494000"/>
          </a:xfrm>
          <a:prstGeom prst="rect">
            <a:avLst/>
          </a:prstGeom>
          <a:solidFill>
            <a:srgbClr val="2E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venue label"/>
          <p:cNvSpPr txBox="1"/>
          <p:nvPr/>
        </p:nvSpPr>
        <p:spPr>
          <a:xfrm>
            <a:off x="3942000" y="1627199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REVENUE</a:t>
            </a:r>
          </a:p>
        </p:txBody>
      </p:sp>
      <p:sp>
        <p:nvSpPr>
          <p:cNvPr id="14" name="Revenue value"/>
          <p:cNvSpPr txBox="1"/>
          <p:nvPr/>
        </p:nvSpPr>
        <p:spPr>
          <a:xfrm>
            <a:off x="3942000" y="1915199"/>
            <a:ext cx="3006000" cy="612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2304A"/>
                </a:solidFill>
                <a:latin typeface="Liberation Sans"/>
              </a:rPr>
              <a:t>$81,513.97</a:t>
            </a:r>
          </a:p>
        </p:txBody>
      </p:sp>
      <p:sp>
        <p:nvSpPr>
          <p:cNvPr id="15" name="Revenue share callout"/>
          <p:cNvSpPr/>
          <p:nvPr/>
        </p:nvSpPr>
        <p:spPr>
          <a:xfrm>
            <a:off x="396000" y="3258000"/>
            <a:ext cx="6750000" cy="168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enue share label"/>
          <p:cNvSpPr txBox="1"/>
          <p:nvPr/>
        </p:nvSpPr>
        <p:spPr>
          <a:xfrm>
            <a:off x="630000" y="34631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88A"/>
                </a:solidFill>
                <a:latin typeface="Liberation Sans"/>
              </a:rPr>
              <a:t>SHARE OF Q4 REVENUE</a:t>
            </a:r>
          </a:p>
        </p:txBody>
      </p:sp>
      <p:sp>
        <p:nvSpPr>
          <p:cNvPr id="17" name="Revenue share value"/>
          <p:cNvSpPr txBox="1"/>
          <p:nvPr/>
        </p:nvSpPr>
        <p:spPr>
          <a:xfrm>
            <a:off x="630000" y="3787200"/>
            <a:ext cx="1800000" cy="486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E9974"/>
                </a:solidFill>
                <a:latin typeface="Liberation Sans"/>
              </a:rPr>
              <a:t>19.8%</a:t>
            </a:r>
          </a:p>
        </p:txBody>
      </p:sp>
      <p:sp>
        <p:nvSpPr>
          <p:cNvPr id="18" name="Average order label"/>
          <p:cNvSpPr txBox="1"/>
          <p:nvPr/>
        </p:nvSpPr>
        <p:spPr>
          <a:xfrm>
            <a:off x="2934000" y="3636000"/>
            <a:ext cx="180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88A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19" name="Average order value"/>
          <p:cNvSpPr txBox="1"/>
          <p:nvPr/>
        </p:nvSpPr>
        <p:spPr>
          <a:xfrm>
            <a:off x="2934000" y="3880800"/>
            <a:ext cx="2160000" cy="37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304A"/>
                </a:solidFill>
                <a:latin typeface="Liberation Sans"/>
              </a:rPr>
              <a:t>$146.87</a:t>
            </a:r>
          </a:p>
        </p:txBody>
      </p:sp>
      <p:sp>
        <p:nvSpPr>
          <p:cNvPr id="20" name="Metric definition"/>
          <p:cNvSpPr txBox="1"/>
          <p:nvPr/>
        </p:nvSpPr>
        <p:spPr>
          <a:xfrm>
            <a:off x="2934000" y="4276800"/>
            <a:ext cx="180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66788A"/>
                </a:solidFill>
                <a:latin typeface="Liberation Sans"/>
              </a:rPr>
              <a:t>Revenue ÷ orders</a:t>
            </a:r>
          </a:p>
        </p:txBody>
      </p:sp>
      <p:sp>
        <p:nvSpPr>
          <p:cNvPr id="21" name="Regional comparison panel"/>
          <p:cNvSpPr/>
          <p:nvPr/>
        </p:nvSpPr>
        <p:spPr>
          <a:xfrm>
            <a:off x="7433999" y="1447199"/>
            <a:ext cx="3978000" cy="349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gional comparison heading"/>
          <p:cNvSpPr txBox="1"/>
          <p:nvPr/>
        </p:nvSpPr>
        <p:spPr>
          <a:xfrm>
            <a:off x="7632000" y="1598399"/>
            <a:ext cx="358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2304A"/>
                </a:solidFill>
                <a:latin typeface="Liberation Sans"/>
              </a:rPr>
              <a:t>Q4 revenue by region</a:t>
            </a:r>
          </a:p>
        </p:txBody>
      </p:sp>
      <p:sp>
        <p:nvSpPr>
          <p:cNvPr id="23" name="Comparison label 1"/>
          <p:cNvSpPr txBox="1"/>
          <p:nvPr/>
        </p:nvSpPr>
        <p:spPr>
          <a:xfrm>
            <a:off x="7632000" y="19692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24" name="Comparison track 1"/>
          <p:cNvSpPr/>
          <p:nvPr/>
        </p:nvSpPr>
        <p:spPr>
          <a:xfrm>
            <a:off x="9252000" y="1987199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mparison bar 1"/>
          <p:cNvSpPr/>
          <p:nvPr/>
        </p:nvSpPr>
        <p:spPr>
          <a:xfrm>
            <a:off x="9252000" y="1987199"/>
            <a:ext cx="1344214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mparison value 1"/>
          <p:cNvSpPr txBox="1"/>
          <p:nvPr/>
        </p:nvSpPr>
        <p:spPr>
          <a:xfrm>
            <a:off x="10764000" y="1958399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$78,879</a:t>
            </a:r>
          </a:p>
        </p:txBody>
      </p:sp>
      <p:sp>
        <p:nvSpPr>
          <p:cNvPr id="27" name="Comparison label 2"/>
          <p:cNvSpPr txBox="1"/>
          <p:nvPr/>
        </p:nvSpPr>
        <p:spPr>
          <a:xfrm>
            <a:off x="7632000" y="24948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8" name="Comparison track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mparison bar 2"/>
          <p:cNvSpPr/>
          <p:nvPr/>
        </p:nvSpPr>
        <p:spPr>
          <a:xfrm>
            <a:off x="9252000" y="2512800"/>
            <a:ext cx="1512000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mparison value 2"/>
          <p:cNvSpPr txBox="1"/>
          <p:nvPr/>
        </p:nvSpPr>
        <p:spPr>
          <a:xfrm>
            <a:off x="10764000" y="24840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$88,725</a:t>
            </a:r>
          </a:p>
        </p:txBody>
      </p:sp>
      <p:sp>
        <p:nvSpPr>
          <p:cNvPr id="31" name="Comparison label 3"/>
          <p:cNvSpPr txBox="1"/>
          <p:nvPr/>
        </p:nvSpPr>
        <p:spPr>
          <a:xfrm>
            <a:off x="7632000" y="30204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Европа</a:t>
            </a:r>
          </a:p>
        </p:txBody>
      </p:sp>
      <p:sp>
        <p:nvSpPr>
          <p:cNvPr id="32" name="Comparison track 3"/>
          <p:cNvSpPr/>
          <p:nvPr/>
        </p:nvSpPr>
        <p:spPr>
          <a:xfrm>
            <a:off x="9252000" y="30384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mparison bar 3"/>
          <p:cNvSpPr/>
          <p:nvPr/>
        </p:nvSpPr>
        <p:spPr>
          <a:xfrm>
            <a:off x="9252000" y="3038400"/>
            <a:ext cx="1436703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mparison value 3"/>
          <p:cNvSpPr txBox="1"/>
          <p:nvPr/>
        </p:nvSpPr>
        <p:spPr>
          <a:xfrm>
            <a:off x="10764000" y="30096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$84,306</a:t>
            </a:r>
          </a:p>
        </p:txBody>
      </p:sp>
      <p:sp>
        <p:nvSpPr>
          <p:cNvPr id="35" name="Comparison label 4"/>
          <p:cNvSpPr txBox="1"/>
          <p:nvPr/>
        </p:nvSpPr>
        <p:spPr>
          <a:xfrm>
            <a:off x="7632000" y="3546000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66788A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36" name="Comparison track 4"/>
          <p:cNvSpPr/>
          <p:nvPr/>
        </p:nvSpPr>
        <p:spPr>
          <a:xfrm>
            <a:off x="9252000" y="35640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mparison bar 4"/>
          <p:cNvSpPr/>
          <p:nvPr/>
        </p:nvSpPr>
        <p:spPr>
          <a:xfrm>
            <a:off x="9252000" y="3564000"/>
            <a:ext cx="1336607" cy="136800"/>
          </a:xfrm>
          <a:prstGeom prst="roundRect">
            <a:avLst/>
          </a:prstGeom>
          <a:solidFill>
            <a:srgbClr val="C7D3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mparison value 4"/>
          <p:cNvSpPr txBox="1"/>
          <p:nvPr/>
        </p:nvSpPr>
        <p:spPr>
          <a:xfrm>
            <a:off x="10764000" y="35352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$78,433</a:t>
            </a:r>
          </a:p>
        </p:txBody>
      </p:sp>
      <p:sp>
        <p:nvSpPr>
          <p:cNvPr id="39" name="Comparison label 5"/>
          <p:cNvSpPr txBox="1"/>
          <p:nvPr/>
        </p:nvSpPr>
        <p:spPr>
          <a:xfrm>
            <a:off x="7632000" y="4071599"/>
            <a:ext cx="16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B2633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40" name="Comparison track 5"/>
          <p:cNvSpPr/>
          <p:nvPr/>
        </p:nvSpPr>
        <p:spPr>
          <a:xfrm>
            <a:off x="9252000" y="4089600"/>
            <a:ext cx="1512000" cy="136800"/>
          </a:xfrm>
          <a:prstGeom prst="roundRect">
            <a:avLst/>
          </a:prstGeom>
          <a:solidFill>
            <a:srgbClr val="E7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omparison bar 5"/>
          <p:cNvSpPr/>
          <p:nvPr/>
        </p:nvSpPr>
        <p:spPr>
          <a:xfrm>
            <a:off x="9252000" y="4089600"/>
            <a:ext cx="1389116" cy="136800"/>
          </a:xfrm>
          <a:prstGeom prst="roundRect">
            <a:avLst/>
          </a:prstGeom>
          <a:solidFill>
            <a:srgbClr val="2E9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omparison value 5"/>
          <p:cNvSpPr txBox="1"/>
          <p:nvPr/>
        </p:nvSpPr>
        <p:spPr>
          <a:xfrm>
            <a:off x="10764000" y="4060800"/>
            <a:ext cx="45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0">
                <a:solidFill>
                  <a:srgbClr val="66788A"/>
                </a:solidFill>
                <a:latin typeface="Liberation Sans"/>
              </a:rPr>
              <a:t>$81,514</a:t>
            </a:r>
          </a:p>
        </p:txBody>
      </p:sp>
      <p:sp>
        <p:nvSpPr>
          <p:cNvPr id="43" name="Footer"/>
          <p:cNvSpPr txBox="1"/>
          <p:nvPr/>
        </p:nvSpPr>
        <p:spPr>
          <a:xfrm>
            <a:off x="396000" y="6343200"/>
            <a:ext cx="43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88A"/>
                </a:solidFill>
                <a:latin typeface="Liberation Sans"/>
              </a:rPr>
              <a:t>Q4 2024 • Executive briefing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ummary eyebrow"/>
          <p:cNvSpPr txBox="1"/>
          <p:nvPr/>
        </p:nvSpPr>
        <p:spPr>
          <a:xfrm>
            <a:off x="774000" y="413999"/>
            <a:ext cx="288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FD0D5"/>
                </a:solidFill>
                <a:latin typeface="Liberation Sans"/>
              </a:rPr>
              <a:t>QUARTER CLOSE</a:t>
            </a:r>
          </a:p>
        </p:txBody>
      </p:sp>
      <p:sp>
        <p:nvSpPr>
          <p:cNvPr id="3" name="Summary title"/>
          <p:cNvSpPr txBox="1"/>
          <p:nvPr/>
        </p:nvSpPr>
        <p:spPr>
          <a:xfrm>
            <a:off x="774000" y="737999"/>
            <a:ext cx="6480000" cy="46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Liberation Sans"/>
              </a:rPr>
              <a:t>Q4 2024 Summary</a:t>
            </a:r>
          </a:p>
        </p:txBody>
      </p:sp>
      <p:sp>
        <p:nvSpPr>
          <p:cNvPr id="4" name="Summary accent line"/>
          <p:cNvSpPr/>
          <p:nvPr/>
        </p:nvSpPr>
        <p:spPr>
          <a:xfrm>
            <a:off x="774000" y="1339200"/>
            <a:ext cx="720000" cy="50400"/>
          </a:xfrm>
          <a:prstGeom prst="rect">
            <a:avLst/>
          </a:prstGeom>
          <a:solidFill>
            <a:srgbClr val="E5A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otal orders card"/>
          <p:cNvSpPr/>
          <p:nvPr/>
        </p:nvSpPr>
        <p:spPr>
          <a:xfrm>
            <a:off x="774000" y="1710000"/>
            <a:ext cx="3078000" cy="1530000"/>
          </a:xfrm>
          <a:prstGeom prst="roundRect">
            <a:avLst/>
          </a:prstGeom>
          <a:solidFill>
            <a:srgbClr val="1B4563"/>
          </a:solidFill>
          <a:ln w="12700">
            <a:solidFill>
              <a:srgbClr val="41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otal orders label"/>
          <p:cNvSpPr txBox="1"/>
          <p:nvPr/>
        </p:nvSpPr>
        <p:spPr>
          <a:xfrm>
            <a:off x="990000" y="1890000"/>
            <a:ext cx="2592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D0D5"/>
                </a:solidFill>
                <a:latin typeface="Liberation Sans"/>
              </a:rPr>
              <a:t>TOTAL ORDERS</a:t>
            </a:r>
          </a:p>
        </p:txBody>
      </p:sp>
      <p:sp>
        <p:nvSpPr>
          <p:cNvPr id="7" name="Total orders value"/>
          <p:cNvSpPr txBox="1"/>
          <p:nvPr/>
        </p:nvSpPr>
        <p:spPr>
          <a:xfrm>
            <a:off x="990000" y="2196000"/>
            <a:ext cx="2592000" cy="55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Liberation Sans"/>
              </a:rPr>
              <a:t>2,579</a:t>
            </a:r>
          </a:p>
        </p:txBody>
      </p:sp>
      <p:sp>
        <p:nvSpPr>
          <p:cNvPr id="8" name="Total revenue card"/>
          <p:cNvSpPr/>
          <p:nvPr/>
        </p:nvSpPr>
        <p:spPr>
          <a:xfrm>
            <a:off x="4031999" y="1710000"/>
            <a:ext cx="3726000" cy="1530000"/>
          </a:xfrm>
          <a:prstGeom prst="roundRect">
            <a:avLst/>
          </a:prstGeom>
          <a:solidFill>
            <a:srgbClr val="1B4563"/>
          </a:solidFill>
          <a:ln w="12700">
            <a:solidFill>
              <a:srgbClr val="4162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tal revenue label"/>
          <p:cNvSpPr txBox="1"/>
          <p:nvPr/>
        </p:nvSpPr>
        <p:spPr>
          <a:xfrm>
            <a:off x="4248000" y="1890000"/>
            <a:ext cx="3240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D0D5"/>
                </a:solidFill>
                <a:latin typeface="Liberation Sans"/>
              </a:rPr>
              <a:t>TOTAL REVENUE</a:t>
            </a:r>
          </a:p>
        </p:txBody>
      </p:sp>
      <p:sp>
        <p:nvSpPr>
          <p:cNvPr id="10" name="Total revenue value"/>
          <p:cNvSpPr txBox="1"/>
          <p:nvPr/>
        </p:nvSpPr>
        <p:spPr>
          <a:xfrm>
            <a:off x="4248000" y="2196000"/>
            <a:ext cx="3240000" cy="55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Liberation Sans"/>
              </a:rPr>
              <a:t>$411,857.18</a:t>
            </a:r>
          </a:p>
        </p:txBody>
      </p:sp>
      <p:sp>
        <p:nvSpPr>
          <p:cNvPr id="11" name="Top region card"/>
          <p:cNvSpPr/>
          <p:nvPr/>
        </p:nvSpPr>
        <p:spPr>
          <a:xfrm>
            <a:off x="7938000" y="1710000"/>
            <a:ext cx="3474000" cy="1530000"/>
          </a:xfrm>
          <a:prstGeom prst="roundRect">
            <a:avLst/>
          </a:prstGeom>
          <a:solidFill>
            <a:srgbClr val="1A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op region label"/>
          <p:cNvSpPr txBox="1"/>
          <p:nvPr/>
        </p:nvSpPr>
        <p:spPr>
          <a:xfrm>
            <a:off x="8153999" y="1890000"/>
            <a:ext cx="3006000" cy="234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FFFFFF"/>
                </a:solidFill>
                <a:latin typeface="Liberation Sans"/>
              </a:rPr>
              <a:t>HIGHEST REVENUE REGION</a:t>
            </a:r>
          </a:p>
        </p:txBody>
      </p:sp>
      <p:sp>
        <p:nvSpPr>
          <p:cNvPr id="13" name="Top region name"/>
          <p:cNvSpPr txBox="1"/>
          <p:nvPr/>
        </p:nvSpPr>
        <p:spPr>
          <a:xfrm>
            <a:off x="8153999" y="2167200"/>
            <a:ext cx="3006000" cy="413999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14" name="Top region revenue"/>
          <p:cNvSpPr txBox="1"/>
          <p:nvPr/>
        </p:nvSpPr>
        <p:spPr>
          <a:xfrm>
            <a:off x="8153999" y="2620800"/>
            <a:ext cx="3006000" cy="244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Liberation Sans"/>
              </a:rPr>
              <a:t>$88,724.86</a:t>
            </a:r>
          </a:p>
        </p:txBody>
      </p:sp>
      <p:sp>
        <p:nvSpPr>
          <p:cNvPr id="15" name="Regional detail heading"/>
          <p:cNvSpPr txBox="1"/>
          <p:nvPr/>
        </p:nvSpPr>
        <p:spPr>
          <a:xfrm>
            <a:off x="774000" y="3671999"/>
            <a:ext cx="2880000" cy="2232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FD0D5"/>
                </a:solidFill>
                <a:latin typeface="Liberation Sans"/>
              </a:rPr>
              <a:t>REGIONAL DETAIL</a:t>
            </a:r>
          </a:p>
        </p:txBody>
      </p:sp>
      <p:sp>
        <p:nvSpPr>
          <p:cNvPr id="16" name="Summary row fill 1"/>
          <p:cNvSpPr/>
          <p:nvPr/>
        </p:nvSpPr>
        <p:spPr>
          <a:xfrm>
            <a:off x="774000" y="3978000"/>
            <a:ext cx="10638000" cy="331200"/>
          </a:xfrm>
          <a:prstGeom prst="rect">
            <a:avLst/>
          </a:prstGeom>
          <a:solidFill>
            <a:srgbClr val="1B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ummary region 1"/>
          <p:cNvSpPr txBox="1"/>
          <p:nvPr/>
        </p:nvSpPr>
        <p:spPr>
          <a:xfrm>
            <a:off x="917999" y="4014000"/>
            <a:ext cx="504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FFFFFF"/>
                </a:solidFill>
                <a:latin typeface="Liberation Sans"/>
              </a:rPr>
              <a:t>Азиатско-Тихоокеанский регион</a:t>
            </a:r>
          </a:p>
        </p:txBody>
      </p:sp>
      <p:sp>
        <p:nvSpPr>
          <p:cNvPr id="18" name="Summary orders 1"/>
          <p:cNvSpPr txBox="1"/>
          <p:nvPr/>
        </p:nvSpPr>
        <p:spPr>
          <a:xfrm>
            <a:off x="6192000" y="4014000"/>
            <a:ext cx="180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E7EEF4"/>
                </a:solidFill>
                <a:latin typeface="Liberation Sans"/>
              </a:rPr>
              <a:t>538 orders</a:t>
            </a:r>
          </a:p>
        </p:txBody>
      </p:sp>
      <p:sp>
        <p:nvSpPr>
          <p:cNvPr id="19" name="Summary revenue 1"/>
          <p:cNvSpPr txBox="1"/>
          <p:nvPr/>
        </p:nvSpPr>
        <p:spPr>
          <a:xfrm>
            <a:off x="8694000" y="4014000"/>
            <a:ext cx="2466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$78,879.15</a:t>
            </a:r>
          </a:p>
        </p:txBody>
      </p:sp>
      <p:sp>
        <p:nvSpPr>
          <p:cNvPr id="20" name="Summary region 2"/>
          <p:cNvSpPr txBox="1"/>
          <p:nvPr/>
        </p:nvSpPr>
        <p:spPr>
          <a:xfrm>
            <a:off x="917999" y="4384800"/>
            <a:ext cx="504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Ближний Восток</a:t>
            </a:r>
          </a:p>
        </p:txBody>
      </p:sp>
      <p:sp>
        <p:nvSpPr>
          <p:cNvPr id="21" name="Summary orders 2"/>
          <p:cNvSpPr txBox="1"/>
          <p:nvPr/>
        </p:nvSpPr>
        <p:spPr>
          <a:xfrm>
            <a:off x="6192000" y="4384800"/>
            <a:ext cx="180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E7EEF4"/>
                </a:solidFill>
                <a:latin typeface="Liberation Sans"/>
              </a:rPr>
              <a:t>486 orders</a:t>
            </a:r>
          </a:p>
        </p:txBody>
      </p:sp>
      <p:sp>
        <p:nvSpPr>
          <p:cNvPr id="22" name="Summary revenue 2"/>
          <p:cNvSpPr txBox="1"/>
          <p:nvPr/>
        </p:nvSpPr>
        <p:spPr>
          <a:xfrm>
            <a:off x="8694000" y="4384800"/>
            <a:ext cx="2466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$88,724.86</a:t>
            </a:r>
          </a:p>
        </p:txBody>
      </p:sp>
      <p:sp>
        <p:nvSpPr>
          <p:cNvPr id="23" name="Summary row fill 3"/>
          <p:cNvSpPr/>
          <p:nvPr/>
        </p:nvSpPr>
        <p:spPr>
          <a:xfrm>
            <a:off x="774000" y="4719600"/>
            <a:ext cx="10638000" cy="331200"/>
          </a:xfrm>
          <a:prstGeom prst="rect">
            <a:avLst/>
          </a:prstGeom>
          <a:solidFill>
            <a:srgbClr val="1B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ummary region 3"/>
          <p:cNvSpPr txBox="1"/>
          <p:nvPr/>
        </p:nvSpPr>
        <p:spPr>
          <a:xfrm>
            <a:off x="917999" y="4755600"/>
            <a:ext cx="504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FFFFFF"/>
                </a:solidFill>
                <a:latin typeface="Liberation Sans"/>
              </a:rPr>
              <a:t>Европа</a:t>
            </a:r>
          </a:p>
        </p:txBody>
      </p:sp>
      <p:sp>
        <p:nvSpPr>
          <p:cNvPr id="25" name="Summary orders 3"/>
          <p:cNvSpPr txBox="1"/>
          <p:nvPr/>
        </p:nvSpPr>
        <p:spPr>
          <a:xfrm>
            <a:off x="6192000" y="4755600"/>
            <a:ext cx="180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E7EEF4"/>
                </a:solidFill>
                <a:latin typeface="Liberation Sans"/>
              </a:rPr>
              <a:t>528 orders</a:t>
            </a:r>
          </a:p>
        </p:txBody>
      </p:sp>
      <p:sp>
        <p:nvSpPr>
          <p:cNvPr id="26" name="Summary revenue 3"/>
          <p:cNvSpPr txBox="1"/>
          <p:nvPr/>
        </p:nvSpPr>
        <p:spPr>
          <a:xfrm>
            <a:off x="8694000" y="4755600"/>
            <a:ext cx="2466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$84,306.43</a:t>
            </a:r>
          </a:p>
        </p:txBody>
      </p:sp>
      <p:sp>
        <p:nvSpPr>
          <p:cNvPr id="27" name="Summary region 4"/>
          <p:cNvSpPr txBox="1"/>
          <p:nvPr/>
        </p:nvSpPr>
        <p:spPr>
          <a:xfrm>
            <a:off x="917999" y="5126400"/>
            <a:ext cx="504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FFFFFF"/>
                </a:solidFill>
                <a:latin typeface="Liberation Sans"/>
              </a:rPr>
              <a:t>Латинская Америка</a:t>
            </a:r>
          </a:p>
        </p:txBody>
      </p:sp>
      <p:sp>
        <p:nvSpPr>
          <p:cNvPr id="28" name="Summary orders 4"/>
          <p:cNvSpPr txBox="1"/>
          <p:nvPr/>
        </p:nvSpPr>
        <p:spPr>
          <a:xfrm>
            <a:off x="6192000" y="5126400"/>
            <a:ext cx="180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E7EEF4"/>
                </a:solidFill>
                <a:latin typeface="Liberation Sans"/>
              </a:rPr>
              <a:t>472 orders</a:t>
            </a:r>
          </a:p>
        </p:txBody>
      </p:sp>
      <p:sp>
        <p:nvSpPr>
          <p:cNvPr id="29" name="Summary revenue 4"/>
          <p:cNvSpPr txBox="1"/>
          <p:nvPr/>
        </p:nvSpPr>
        <p:spPr>
          <a:xfrm>
            <a:off x="8694000" y="5126400"/>
            <a:ext cx="2466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$78,432.77</a:t>
            </a:r>
          </a:p>
        </p:txBody>
      </p:sp>
      <p:sp>
        <p:nvSpPr>
          <p:cNvPr id="30" name="Summary row fill 5"/>
          <p:cNvSpPr/>
          <p:nvPr/>
        </p:nvSpPr>
        <p:spPr>
          <a:xfrm>
            <a:off x="774000" y="5461200"/>
            <a:ext cx="10638000" cy="331200"/>
          </a:xfrm>
          <a:prstGeom prst="rect">
            <a:avLst/>
          </a:prstGeom>
          <a:solidFill>
            <a:srgbClr val="1B4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ummary region 5"/>
          <p:cNvSpPr txBox="1"/>
          <p:nvPr/>
        </p:nvSpPr>
        <p:spPr>
          <a:xfrm>
            <a:off x="917999" y="5497200"/>
            <a:ext cx="504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FFFFFF"/>
                </a:solidFill>
                <a:latin typeface="Liberation Sans"/>
              </a:rPr>
              <a:t>Северная Америка</a:t>
            </a:r>
          </a:p>
        </p:txBody>
      </p:sp>
      <p:sp>
        <p:nvSpPr>
          <p:cNvPr id="32" name="Summary orders 5"/>
          <p:cNvSpPr txBox="1"/>
          <p:nvPr/>
        </p:nvSpPr>
        <p:spPr>
          <a:xfrm>
            <a:off x="6192000" y="5497200"/>
            <a:ext cx="1800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0">
                <a:solidFill>
                  <a:srgbClr val="E7EEF4"/>
                </a:solidFill>
                <a:latin typeface="Liberation Sans"/>
              </a:rPr>
              <a:t>555 orders</a:t>
            </a:r>
          </a:p>
        </p:txBody>
      </p:sp>
      <p:sp>
        <p:nvSpPr>
          <p:cNvPr id="33" name="Summary revenue 5"/>
          <p:cNvSpPr txBox="1"/>
          <p:nvPr/>
        </p:nvSpPr>
        <p:spPr>
          <a:xfrm>
            <a:off x="8694000" y="5497200"/>
            <a:ext cx="2466000" cy="2088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FFFFFF"/>
                </a:solidFill>
                <a:latin typeface="Liberation Sans"/>
              </a:rPr>
              <a:t>$81,513.97</a:t>
            </a:r>
          </a:p>
        </p:txBody>
      </p:sp>
      <p:sp>
        <p:nvSpPr>
          <p:cNvPr id="34" name="Summary source"/>
          <p:cNvSpPr txBox="1"/>
          <p:nvPr/>
        </p:nvSpPr>
        <p:spPr>
          <a:xfrm>
            <a:off x="774000" y="6246000"/>
            <a:ext cx="7920000" cy="198000"/>
          </a:xfrm>
          <a:prstGeom prst="rect">
            <a:avLst/>
          </a:prstGeom>
          <a:noFill/>
        </p:spPr>
        <p:txBody>
          <a:bodyPr wrap="square" anchor="ctr" lIns="28800" rIns="28800" tIns="18000" bIns="180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A8BBC9"/>
                </a:solidFill>
                <a:latin typeface="Liberation Sans"/>
              </a:rPr>
              <a:t>Source: Q4 orders joined to customer region and 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