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ocess-group-background"/>
          <p:cNvSpPr/>
          <p:nvPr/>
        </p:nvSpPr>
        <p:spPr>
          <a:xfrm>
            <a:off x="3851999" y="2160000"/>
            <a:ext cx="4478400" cy="252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rocess-title-background"/>
          <p:cNvSpPr/>
          <p:nvPr/>
        </p:nvSpPr>
        <p:spPr>
          <a:xfrm>
            <a:off x="3851999" y="2160000"/>
            <a:ext cx="4478400" cy="288000"/>
          </a:xfrm>
          <a:prstGeom prst="roundRect">
            <a:avLst/>
          </a:prstGeom>
          <a:solidFill>
            <a:srgbClr val="06716B"/>
          </a:solidFill>
          <a:ln w="9525">
            <a:solidFill>
              <a:srgbClr val="0671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cess-title"/>
          <p:cNvSpPr txBox="1"/>
          <p:nvPr/>
        </p:nvSpPr>
        <p:spPr>
          <a:xfrm>
            <a:off x="3977999" y="2181600"/>
            <a:ext cx="4226400" cy="2340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imSun"/>
              </a:rPr>
              <a:t>工业园中水回用处理流程与水质保障路径</a:t>
            </a:r>
          </a:p>
        </p:txBody>
      </p:sp>
      <p:sp>
        <p:nvSpPr>
          <p:cNvPr id="5" name="process-body-frame"/>
          <p:cNvSpPr/>
          <p:nvPr/>
        </p:nvSpPr>
        <p:spPr>
          <a:xfrm>
            <a:off x="3898800" y="2440800"/>
            <a:ext cx="4384800" cy="2095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cess-band-1"/>
          <p:cNvSpPr/>
          <p:nvPr/>
        </p:nvSpPr>
        <p:spPr>
          <a:xfrm>
            <a:off x="3960000" y="2466000"/>
            <a:ext cx="396000" cy="1702800"/>
          </a:xfrm>
          <a:prstGeom prst="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ep-box-1"/>
          <p:cNvSpPr/>
          <p:nvPr/>
        </p:nvSpPr>
        <p:spPr>
          <a:xfrm>
            <a:off x="4003199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ep-number-circle-1"/>
          <p:cNvSpPr/>
          <p:nvPr/>
        </p:nvSpPr>
        <p:spPr>
          <a:xfrm>
            <a:off x="4107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-number-1"/>
          <p:cNvSpPr txBox="1"/>
          <p:nvPr/>
        </p:nvSpPr>
        <p:spPr>
          <a:xfrm>
            <a:off x="4107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step-label-1"/>
          <p:cNvSpPr txBox="1"/>
          <p:nvPr/>
        </p:nvSpPr>
        <p:spPr>
          <a:xfrm>
            <a:off x="4031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厂
区
综
合
废
水
收
集</a:t>
            </a:r>
          </a:p>
        </p:txBody>
      </p:sp>
      <p:sp>
        <p:nvSpPr>
          <p:cNvPr id="11" name="process-band-2"/>
          <p:cNvSpPr/>
          <p:nvPr/>
        </p:nvSpPr>
        <p:spPr>
          <a:xfrm>
            <a:off x="4392000" y="2466000"/>
            <a:ext cx="396000" cy="170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-box-2"/>
          <p:cNvSpPr/>
          <p:nvPr/>
        </p:nvSpPr>
        <p:spPr>
          <a:xfrm>
            <a:off x="4435199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-number-circle-2"/>
          <p:cNvSpPr/>
          <p:nvPr/>
        </p:nvSpPr>
        <p:spPr>
          <a:xfrm>
            <a:off x="4539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-number-2"/>
          <p:cNvSpPr txBox="1"/>
          <p:nvPr/>
        </p:nvSpPr>
        <p:spPr>
          <a:xfrm>
            <a:off x="4539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step-label-2"/>
          <p:cNvSpPr txBox="1"/>
          <p:nvPr/>
        </p:nvSpPr>
        <p:spPr>
          <a:xfrm>
            <a:off x="4463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粗
格
栅
与
调
节
井</a:t>
            </a:r>
          </a:p>
        </p:txBody>
      </p:sp>
      <p:cxnSp>
        <p:nvCxnSpPr>
          <p:cNvPr id="16" name="step-arrow-1"/>
          <p:cNvCxnSpPr/>
          <p:nvPr/>
        </p:nvCxnSpPr>
        <p:spPr>
          <a:xfrm>
            <a:off x="4323599" y="3236400"/>
            <a:ext cx="100801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cess-band-3"/>
          <p:cNvSpPr/>
          <p:nvPr/>
        </p:nvSpPr>
        <p:spPr>
          <a:xfrm>
            <a:off x="4824000" y="2466000"/>
            <a:ext cx="396000" cy="1702800"/>
          </a:xfrm>
          <a:prstGeom prst="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-box-3"/>
          <p:cNvSpPr/>
          <p:nvPr/>
        </p:nvSpPr>
        <p:spPr>
          <a:xfrm>
            <a:off x="4867200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-number-circle-3"/>
          <p:cNvSpPr/>
          <p:nvPr/>
        </p:nvSpPr>
        <p:spPr>
          <a:xfrm>
            <a:off x="4971600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-number-3"/>
          <p:cNvSpPr txBox="1"/>
          <p:nvPr/>
        </p:nvSpPr>
        <p:spPr>
          <a:xfrm>
            <a:off x="4971600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1" name="step-label-3"/>
          <p:cNvSpPr txBox="1"/>
          <p:nvPr/>
        </p:nvSpPr>
        <p:spPr>
          <a:xfrm>
            <a:off x="4896000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p
H
均
衡
池</a:t>
            </a:r>
          </a:p>
        </p:txBody>
      </p:sp>
      <p:cxnSp>
        <p:nvCxnSpPr>
          <p:cNvPr id="22" name="step-arrow-2"/>
          <p:cNvCxnSpPr/>
          <p:nvPr/>
        </p:nvCxnSpPr>
        <p:spPr>
          <a:xfrm>
            <a:off x="4755600" y="3236400"/>
            <a:ext cx="100800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cess-band-4"/>
          <p:cNvSpPr/>
          <p:nvPr/>
        </p:nvSpPr>
        <p:spPr>
          <a:xfrm>
            <a:off x="5256000" y="2466000"/>
            <a:ext cx="396000" cy="170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-box-4"/>
          <p:cNvSpPr/>
          <p:nvPr/>
        </p:nvSpPr>
        <p:spPr>
          <a:xfrm>
            <a:off x="5299200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-number-circle-4"/>
          <p:cNvSpPr/>
          <p:nvPr/>
        </p:nvSpPr>
        <p:spPr>
          <a:xfrm>
            <a:off x="5403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ep-number-4"/>
          <p:cNvSpPr txBox="1"/>
          <p:nvPr/>
        </p:nvSpPr>
        <p:spPr>
          <a:xfrm>
            <a:off x="5403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7" name="step-label-4"/>
          <p:cNvSpPr txBox="1"/>
          <p:nvPr/>
        </p:nvSpPr>
        <p:spPr>
          <a:xfrm>
            <a:off x="5328000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混
凝
沉
淀
池</a:t>
            </a:r>
          </a:p>
        </p:txBody>
      </p:sp>
      <p:cxnSp>
        <p:nvCxnSpPr>
          <p:cNvPr id="28" name="step-arrow-3"/>
          <p:cNvCxnSpPr/>
          <p:nvPr/>
        </p:nvCxnSpPr>
        <p:spPr>
          <a:xfrm>
            <a:off x="5187599" y="3236400"/>
            <a:ext cx="100801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cess-band-5"/>
          <p:cNvSpPr/>
          <p:nvPr/>
        </p:nvSpPr>
        <p:spPr>
          <a:xfrm>
            <a:off x="5688000" y="2466000"/>
            <a:ext cx="396000" cy="1702800"/>
          </a:xfrm>
          <a:prstGeom prst="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ep-box-5"/>
          <p:cNvSpPr/>
          <p:nvPr/>
        </p:nvSpPr>
        <p:spPr>
          <a:xfrm>
            <a:off x="5731199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ep-number-circle-5"/>
          <p:cNvSpPr/>
          <p:nvPr/>
        </p:nvSpPr>
        <p:spPr>
          <a:xfrm>
            <a:off x="5835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ep-number-5"/>
          <p:cNvSpPr txBox="1"/>
          <p:nvPr/>
        </p:nvSpPr>
        <p:spPr>
          <a:xfrm>
            <a:off x="5835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3" name="step-label-5"/>
          <p:cNvSpPr txBox="1"/>
          <p:nvPr/>
        </p:nvSpPr>
        <p:spPr>
          <a:xfrm>
            <a:off x="5759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多
介
质
过
滤
器</a:t>
            </a:r>
          </a:p>
        </p:txBody>
      </p:sp>
      <p:cxnSp>
        <p:nvCxnSpPr>
          <p:cNvPr id="34" name="step-arrow-4"/>
          <p:cNvCxnSpPr/>
          <p:nvPr/>
        </p:nvCxnSpPr>
        <p:spPr>
          <a:xfrm>
            <a:off x="5619599" y="3236400"/>
            <a:ext cx="100801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rocess-band-6"/>
          <p:cNvSpPr/>
          <p:nvPr/>
        </p:nvSpPr>
        <p:spPr>
          <a:xfrm>
            <a:off x="6119999" y="2466000"/>
            <a:ext cx="396000" cy="170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ep-box-6"/>
          <p:cNvSpPr/>
          <p:nvPr/>
        </p:nvSpPr>
        <p:spPr>
          <a:xfrm>
            <a:off x="6163199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ep-number-circle-6"/>
          <p:cNvSpPr/>
          <p:nvPr/>
        </p:nvSpPr>
        <p:spPr>
          <a:xfrm>
            <a:off x="6267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ep-number-6"/>
          <p:cNvSpPr txBox="1"/>
          <p:nvPr/>
        </p:nvSpPr>
        <p:spPr>
          <a:xfrm>
            <a:off x="6267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9" name="step-label-6"/>
          <p:cNvSpPr txBox="1"/>
          <p:nvPr/>
        </p:nvSpPr>
        <p:spPr>
          <a:xfrm>
            <a:off x="6191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活
性
炭
吸
附
塔</a:t>
            </a:r>
          </a:p>
        </p:txBody>
      </p:sp>
      <p:cxnSp>
        <p:nvCxnSpPr>
          <p:cNvPr id="40" name="step-arrow-5"/>
          <p:cNvCxnSpPr/>
          <p:nvPr/>
        </p:nvCxnSpPr>
        <p:spPr>
          <a:xfrm>
            <a:off x="6051600" y="3236400"/>
            <a:ext cx="100799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process-band-7"/>
          <p:cNvSpPr/>
          <p:nvPr/>
        </p:nvSpPr>
        <p:spPr>
          <a:xfrm>
            <a:off x="6552000" y="2466000"/>
            <a:ext cx="396000" cy="1702800"/>
          </a:xfrm>
          <a:prstGeom prst="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ep-box-7"/>
          <p:cNvSpPr/>
          <p:nvPr/>
        </p:nvSpPr>
        <p:spPr>
          <a:xfrm>
            <a:off x="6595200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ep-number-circle-7"/>
          <p:cNvSpPr/>
          <p:nvPr/>
        </p:nvSpPr>
        <p:spPr>
          <a:xfrm>
            <a:off x="6699600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ep-number-7"/>
          <p:cNvSpPr txBox="1"/>
          <p:nvPr/>
        </p:nvSpPr>
        <p:spPr>
          <a:xfrm>
            <a:off x="6699600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45" name="step-label-7"/>
          <p:cNvSpPr txBox="1"/>
          <p:nvPr/>
        </p:nvSpPr>
        <p:spPr>
          <a:xfrm>
            <a:off x="6623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超
滤
膜
组
件</a:t>
            </a:r>
          </a:p>
        </p:txBody>
      </p:sp>
      <p:cxnSp>
        <p:nvCxnSpPr>
          <p:cNvPr id="46" name="step-arrow-6"/>
          <p:cNvCxnSpPr/>
          <p:nvPr/>
        </p:nvCxnSpPr>
        <p:spPr>
          <a:xfrm>
            <a:off x="6483600" y="3236400"/>
            <a:ext cx="100800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process-band-8"/>
          <p:cNvSpPr/>
          <p:nvPr/>
        </p:nvSpPr>
        <p:spPr>
          <a:xfrm>
            <a:off x="6983999" y="2466000"/>
            <a:ext cx="396000" cy="170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ep-box-8"/>
          <p:cNvSpPr/>
          <p:nvPr/>
        </p:nvSpPr>
        <p:spPr>
          <a:xfrm>
            <a:off x="7027200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tep-number-circle-8"/>
          <p:cNvSpPr/>
          <p:nvPr/>
        </p:nvSpPr>
        <p:spPr>
          <a:xfrm>
            <a:off x="7131600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ep-number-8"/>
          <p:cNvSpPr txBox="1"/>
          <p:nvPr/>
        </p:nvSpPr>
        <p:spPr>
          <a:xfrm>
            <a:off x="7131600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51" name="step-label-8"/>
          <p:cNvSpPr txBox="1"/>
          <p:nvPr/>
        </p:nvSpPr>
        <p:spPr>
          <a:xfrm>
            <a:off x="7055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消
毒
接
触
池</a:t>
            </a:r>
          </a:p>
        </p:txBody>
      </p:sp>
      <p:cxnSp>
        <p:nvCxnSpPr>
          <p:cNvPr id="52" name="step-arrow-7"/>
          <p:cNvCxnSpPr/>
          <p:nvPr/>
        </p:nvCxnSpPr>
        <p:spPr>
          <a:xfrm>
            <a:off x="6915600" y="3236400"/>
            <a:ext cx="100799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process-band-9"/>
          <p:cNvSpPr/>
          <p:nvPr/>
        </p:nvSpPr>
        <p:spPr>
          <a:xfrm>
            <a:off x="7415999" y="2466000"/>
            <a:ext cx="396000" cy="1702800"/>
          </a:xfrm>
          <a:prstGeom prst="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ep-box-9"/>
          <p:cNvSpPr/>
          <p:nvPr/>
        </p:nvSpPr>
        <p:spPr>
          <a:xfrm>
            <a:off x="7459200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tep-number-circle-9"/>
          <p:cNvSpPr/>
          <p:nvPr/>
        </p:nvSpPr>
        <p:spPr>
          <a:xfrm>
            <a:off x="7563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tep-number-9"/>
          <p:cNvSpPr txBox="1"/>
          <p:nvPr/>
        </p:nvSpPr>
        <p:spPr>
          <a:xfrm>
            <a:off x="7563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57" name="step-label-9"/>
          <p:cNvSpPr txBox="1"/>
          <p:nvPr/>
        </p:nvSpPr>
        <p:spPr>
          <a:xfrm>
            <a:off x="7487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回
用
清
水
池</a:t>
            </a:r>
          </a:p>
        </p:txBody>
      </p:sp>
      <p:cxnSp>
        <p:nvCxnSpPr>
          <p:cNvPr id="58" name="step-arrow-8"/>
          <p:cNvCxnSpPr/>
          <p:nvPr/>
        </p:nvCxnSpPr>
        <p:spPr>
          <a:xfrm>
            <a:off x="7347600" y="3236400"/>
            <a:ext cx="100799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rocess-band-10"/>
          <p:cNvSpPr/>
          <p:nvPr/>
        </p:nvSpPr>
        <p:spPr>
          <a:xfrm>
            <a:off x="7847999" y="2466000"/>
            <a:ext cx="396000" cy="170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tep-box-10"/>
          <p:cNvSpPr/>
          <p:nvPr/>
        </p:nvSpPr>
        <p:spPr>
          <a:xfrm>
            <a:off x="7891199" y="2764800"/>
            <a:ext cx="309600" cy="943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tep-number-circle-10"/>
          <p:cNvSpPr/>
          <p:nvPr/>
        </p:nvSpPr>
        <p:spPr>
          <a:xfrm>
            <a:off x="7995599" y="2822400"/>
            <a:ext cx="100800" cy="100800"/>
          </a:xfrm>
          <a:prstGeom prst="ellipse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tep-number-10"/>
          <p:cNvSpPr txBox="1"/>
          <p:nvPr/>
        </p:nvSpPr>
        <p:spPr>
          <a:xfrm>
            <a:off x="7995599" y="2822400"/>
            <a:ext cx="1008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63" name="step-label-10"/>
          <p:cNvSpPr txBox="1"/>
          <p:nvPr/>
        </p:nvSpPr>
        <p:spPr>
          <a:xfrm>
            <a:off x="7919999" y="2955599"/>
            <a:ext cx="251999" cy="712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SimSun"/>
              </a:rPr>
              <a:t>冷
却
补
水
系
统</a:t>
            </a:r>
          </a:p>
        </p:txBody>
      </p:sp>
      <p:cxnSp>
        <p:nvCxnSpPr>
          <p:cNvPr id="64" name="step-arrow-9"/>
          <p:cNvCxnSpPr/>
          <p:nvPr/>
        </p:nvCxnSpPr>
        <p:spPr>
          <a:xfrm>
            <a:off x="7779600" y="3236400"/>
            <a:ext cx="100799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aux-box-酸碱调节"/>
          <p:cNvSpPr/>
          <p:nvPr/>
        </p:nvSpPr>
        <p:spPr>
          <a:xfrm>
            <a:off x="4770000" y="3823200"/>
            <a:ext cx="450000" cy="151200"/>
          </a:xfrm>
          <a:prstGeom prst="roundRect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ux-flask"/>
          <p:cNvSpPr/>
          <p:nvPr/>
        </p:nvSpPr>
        <p:spPr>
          <a:xfrm>
            <a:off x="4798800" y="3870000"/>
            <a:ext cx="79200" cy="86400"/>
          </a:xfrm>
          <a:prstGeom prst="triangle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ux-flask-neck"/>
          <p:cNvSpPr/>
          <p:nvPr/>
        </p:nvSpPr>
        <p:spPr>
          <a:xfrm>
            <a:off x="4824000" y="3841200"/>
            <a:ext cx="28800" cy="43200"/>
          </a:xfrm>
          <a:prstGeom prst="rect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ux-label-酸碱调节"/>
          <p:cNvSpPr txBox="1"/>
          <p:nvPr/>
        </p:nvSpPr>
        <p:spPr>
          <a:xfrm>
            <a:off x="4896000" y="3830400"/>
            <a:ext cx="306000" cy="136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06716B"/>
                </a:solidFill>
                <a:latin typeface="SimSun"/>
              </a:rPr>
              <a:t>酸碱调节</a:t>
            </a:r>
          </a:p>
        </p:txBody>
      </p:sp>
      <p:cxnSp>
        <p:nvCxnSpPr>
          <p:cNvPr id="69" name="aux-link-酸碱调节"/>
          <p:cNvCxnSpPr/>
          <p:nvPr/>
        </p:nvCxnSpPr>
        <p:spPr>
          <a:xfrm flipV="1">
            <a:off x="5022000" y="3672000"/>
            <a:ext cx="0" cy="151200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aux-box-PAC/PAM投加"/>
          <p:cNvSpPr/>
          <p:nvPr/>
        </p:nvSpPr>
        <p:spPr>
          <a:xfrm>
            <a:off x="5256000" y="3823200"/>
            <a:ext cx="496799" cy="151200"/>
          </a:xfrm>
          <a:prstGeom prst="roundRect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ux-flask"/>
          <p:cNvSpPr/>
          <p:nvPr/>
        </p:nvSpPr>
        <p:spPr>
          <a:xfrm>
            <a:off x="5284800" y="3870000"/>
            <a:ext cx="79200" cy="86400"/>
          </a:xfrm>
          <a:prstGeom prst="triangle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ux-flask-neck"/>
          <p:cNvSpPr/>
          <p:nvPr/>
        </p:nvSpPr>
        <p:spPr>
          <a:xfrm>
            <a:off x="5310000" y="3841200"/>
            <a:ext cx="28800" cy="43200"/>
          </a:xfrm>
          <a:prstGeom prst="rect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ux-label-PAC/PAM投加"/>
          <p:cNvSpPr txBox="1"/>
          <p:nvPr/>
        </p:nvSpPr>
        <p:spPr>
          <a:xfrm>
            <a:off x="5382000" y="3830400"/>
            <a:ext cx="352799" cy="136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06716B"/>
                </a:solidFill>
                <a:latin typeface="SimSun"/>
              </a:rPr>
              <a:t>PAC/PAM投加</a:t>
            </a:r>
          </a:p>
        </p:txBody>
      </p:sp>
      <p:cxnSp>
        <p:nvCxnSpPr>
          <p:cNvPr id="74" name="aux-link-PAC/PAM投加"/>
          <p:cNvCxnSpPr/>
          <p:nvPr/>
        </p:nvCxnSpPr>
        <p:spPr>
          <a:xfrm flipV="1">
            <a:off x="5453999" y="3672000"/>
            <a:ext cx="0" cy="151200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aux-box-核心净化单元"/>
          <p:cNvSpPr/>
          <p:nvPr/>
        </p:nvSpPr>
        <p:spPr>
          <a:xfrm>
            <a:off x="6210000" y="3823200"/>
            <a:ext cx="558000" cy="151200"/>
          </a:xfrm>
          <a:prstGeom prst="roundRect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aux-drop"/>
          <p:cNvSpPr/>
          <p:nvPr/>
        </p:nvSpPr>
        <p:spPr>
          <a:xfrm>
            <a:off x="6238799" y="3841200"/>
            <a:ext cx="86400" cy="115200"/>
          </a:xfrm>
          <a:prstGeom prst="teardrop">
            <a:avLst/>
          </a:prstGeom>
          <a:solidFill>
            <a:srgbClr val="F2F8FC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ux-label-核心净化单元"/>
          <p:cNvSpPr txBox="1"/>
          <p:nvPr/>
        </p:nvSpPr>
        <p:spPr>
          <a:xfrm>
            <a:off x="6336000" y="3830400"/>
            <a:ext cx="413999" cy="136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06716B"/>
                </a:solidFill>
                <a:latin typeface="SimSun"/>
              </a:rPr>
              <a:t>核心净化单元</a:t>
            </a:r>
          </a:p>
        </p:txBody>
      </p:sp>
      <p:cxnSp>
        <p:nvCxnSpPr>
          <p:cNvPr id="78" name="aux-link-核心净化单元"/>
          <p:cNvCxnSpPr/>
          <p:nvPr/>
        </p:nvCxnSpPr>
        <p:spPr>
          <a:xfrm flipV="1">
            <a:off x="6750000" y="3672000"/>
            <a:ext cx="0" cy="151200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aux-box-次氯酸钠投加"/>
          <p:cNvSpPr/>
          <p:nvPr/>
        </p:nvSpPr>
        <p:spPr>
          <a:xfrm>
            <a:off x="6840000" y="3823200"/>
            <a:ext cx="583200" cy="151200"/>
          </a:xfrm>
          <a:prstGeom prst="roundRect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ux-shield"/>
          <p:cNvSpPr/>
          <p:nvPr/>
        </p:nvSpPr>
        <p:spPr>
          <a:xfrm>
            <a:off x="6868799" y="3841200"/>
            <a:ext cx="90000" cy="108000"/>
          </a:xfrm>
          <a:prstGeom prst="homePlate">
            <a:avLst/>
          </a:prstGeom>
          <a:solidFill>
            <a:srgbClr val="F0F8F3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-+"/>
          <p:cNvSpPr txBox="1"/>
          <p:nvPr/>
        </p:nvSpPr>
        <p:spPr>
          <a:xfrm>
            <a:off x="6879600" y="3852000"/>
            <a:ext cx="68400" cy="720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078B81"/>
                </a:solidFill>
                <a:latin typeface="SimSun"/>
              </a:rPr>
              <a:t>+</a:t>
            </a:r>
          </a:p>
        </p:txBody>
      </p:sp>
      <p:sp>
        <p:nvSpPr>
          <p:cNvPr id="82" name="aux-label-次氯酸钠投加"/>
          <p:cNvSpPr txBox="1"/>
          <p:nvPr/>
        </p:nvSpPr>
        <p:spPr>
          <a:xfrm>
            <a:off x="6966000" y="3830400"/>
            <a:ext cx="439200" cy="136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0">
                <a:solidFill>
                  <a:srgbClr val="06716B"/>
                </a:solidFill>
                <a:latin typeface="SimSun"/>
              </a:rPr>
              <a:t>次氯酸钠投加</a:t>
            </a:r>
          </a:p>
        </p:txBody>
      </p:sp>
      <p:cxnSp>
        <p:nvCxnSpPr>
          <p:cNvPr id="83" name="aux-link-次氯酸钠投加"/>
          <p:cNvCxnSpPr/>
          <p:nvPr/>
        </p:nvCxnSpPr>
        <p:spPr>
          <a:xfrm flipV="1">
            <a:off x="7182000" y="3672000"/>
            <a:ext cx="0" cy="151200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green-reuse-box"/>
          <p:cNvSpPr/>
          <p:nvPr/>
        </p:nvSpPr>
        <p:spPr>
          <a:xfrm>
            <a:off x="7290000" y="3996000"/>
            <a:ext cx="827999" cy="19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reen-reuse-leaf"/>
          <p:cNvSpPr/>
          <p:nvPr/>
        </p:nvSpPr>
        <p:spPr>
          <a:xfrm rot="2700000">
            <a:off x="7351200" y="4031999"/>
            <a:ext cx="90000" cy="115200"/>
          </a:xfrm>
          <a:prstGeom prst="teardrop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green-reuse-label"/>
          <p:cNvSpPr txBox="1"/>
          <p:nvPr/>
        </p:nvSpPr>
        <p:spPr>
          <a:xfrm>
            <a:off x="7459200" y="4017600"/>
            <a:ext cx="619200" cy="1512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30" b="1">
                <a:solidFill>
                  <a:srgbClr val="111111"/>
                </a:solidFill>
                <a:latin typeface="SimSun"/>
              </a:rPr>
              <a:t>绿化与冲洗回用</a:t>
            </a:r>
          </a:p>
        </p:txBody>
      </p:sp>
      <p:cxnSp>
        <p:nvCxnSpPr>
          <p:cNvPr id="87" name="clear-pool-down-arrow"/>
          <p:cNvCxnSpPr/>
          <p:nvPr/>
        </p:nvCxnSpPr>
        <p:spPr>
          <a:xfrm>
            <a:off x="7613999" y="3708000"/>
            <a:ext cx="0" cy="28800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abnormal-return-horizontal"/>
          <p:cNvCxnSpPr/>
          <p:nvPr/>
        </p:nvCxnSpPr>
        <p:spPr>
          <a:xfrm flipH="1">
            <a:off x="4589999" y="4111200"/>
            <a:ext cx="2970001" cy="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abnormal-return-up"/>
          <p:cNvCxnSpPr/>
          <p:nvPr/>
        </p:nvCxnSpPr>
        <p:spPr>
          <a:xfrm flipV="1">
            <a:off x="4589999" y="3708000"/>
            <a:ext cx="0" cy="403200"/>
          </a:xfrm>
          <a:prstGeom prst="line">
            <a:avLst/>
          </a:prstGeom>
          <a:ln w="9525">
            <a:solidFill>
              <a:srgbClr val="0B3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abnormal-return-label-bg"/>
          <p:cNvSpPr/>
          <p:nvPr/>
        </p:nvSpPr>
        <p:spPr>
          <a:xfrm>
            <a:off x="5670000" y="4031999"/>
            <a:ext cx="360000" cy="129600"/>
          </a:xfrm>
          <a:prstGeom prst="roundRect">
            <a:avLst/>
          </a:prstGeom>
          <a:solidFill>
            <a:srgbClr val="0B3E78"/>
          </a:solidFill>
          <a:ln w="9525">
            <a:solidFill>
              <a:srgbClr val="0B3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bnormal-return-label"/>
          <p:cNvSpPr txBox="1"/>
          <p:nvPr/>
        </p:nvSpPr>
        <p:spPr>
          <a:xfrm>
            <a:off x="5670000" y="4031999"/>
            <a:ext cx="360000" cy="1296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80" b="1">
                <a:solidFill>
                  <a:srgbClr val="FFFFFF"/>
                </a:solidFill>
                <a:latin typeface="SimSun"/>
              </a:rPr>
              <a:t>异常回流</a:t>
            </a:r>
          </a:p>
        </p:txBody>
      </p:sp>
      <p:sp>
        <p:nvSpPr>
          <p:cNvPr id="92" name="assurance-footer"/>
          <p:cNvSpPr/>
          <p:nvPr/>
        </p:nvSpPr>
        <p:spPr>
          <a:xfrm>
            <a:off x="3952799" y="4276800"/>
            <a:ext cx="4276800" cy="273600"/>
          </a:xfrm>
          <a:prstGeom prst="roundRect">
            <a:avLst/>
          </a:prstGeom>
          <a:solidFill>
            <a:srgbClr val="F2F8FC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footer-separator"/>
          <p:cNvCxnSpPr/>
          <p:nvPr/>
        </p:nvCxnSpPr>
        <p:spPr>
          <a:xfrm>
            <a:off x="5022000" y="4319999"/>
            <a:ext cx="0" cy="187201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footer-separator"/>
          <p:cNvCxnSpPr/>
          <p:nvPr/>
        </p:nvCxnSpPr>
        <p:spPr>
          <a:xfrm>
            <a:off x="6091199" y="4319999"/>
            <a:ext cx="0" cy="187201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footer-separator"/>
          <p:cNvCxnSpPr/>
          <p:nvPr/>
        </p:nvCxnSpPr>
        <p:spPr>
          <a:xfrm>
            <a:off x="7160400" y="4319999"/>
            <a:ext cx="0" cy="187201"/>
          </a:xfrm>
          <a:prstGeom prst="line">
            <a:avLst/>
          </a:prstGeom>
          <a:ln w="9525">
            <a:solidFill>
              <a:srgbClr val="078B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ooter-shield"/>
          <p:cNvSpPr/>
          <p:nvPr/>
        </p:nvSpPr>
        <p:spPr>
          <a:xfrm>
            <a:off x="4050000" y="4258800"/>
            <a:ext cx="122400" cy="151200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-+"/>
          <p:cNvSpPr txBox="1"/>
          <p:nvPr/>
        </p:nvSpPr>
        <p:spPr>
          <a:xfrm>
            <a:off x="4071600" y="4287600"/>
            <a:ext cx="79200" cy="720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1">
                <a:solidFill>
                  <a:srgbClr val="078B81"/>
                </a:solidFill>
                <a:latin typeface="SimSun"/>
              </a:rPr>
              <a:t>+</a:t>
            </a:r>
          </a:p>
        </p:txBody>
      </p:sp>
      <p:sp>
        <p:nvSpPr>
          <p:cNvPr id="98" name="text-全过程在线监测"/>
          <p:cNvSpPr txBox="1"/>
          <p:nvPr/>
        </p:nvSpPr>
        <p:spPr>
          <a:xfrm>
            <a:off x="4222800" y="4240800"/>
            <a:ext cx="774000" cy="118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0B3E78"/>
                </a:solidFill>
                <a:latin typeface="SimSun"/>
              </a:rPr>
              <a:t>全过程在线监测</a:t>
            </a:r>
          </a:p>
        </p:txBody>
      </p:sp>
      <p:sp>
        <p:nvSpPr>
          <p:cNvPr id="99" name="text-pH/浊度/余氯/电导率"/>
          <p:cNvSpPr txBox="1"/>
          <p:nvPr/>
        </p:nvSpPr>
        <p:spPr>
          <a:xfrm>
            <a:off x="4222800" y="4356000"/>
            <a:ext cx="7740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" b="0">
                <a:solidFill>
                  <a:srgbClr val="5E6770"/>
                </a:solidFill>
                <a:latin typeface="SimSun"/>
              </a:rPr>
              <a:t>pH/浊度/余氯/电导率</a:t>
            </a:r>
          </a:p>
        </p:txBody>
      </p:sp>
      <p:sp>
        <p:nvSpPr>
          <p:cNvPr id="100" name="footer-clipboard"/>
          <p:cNvSpPr/>
          <p:nvPr/>
        </p:nvSpPr>
        <p:spPr>
          <a:xfrm>
            <a:off x="5112000" y="4273200"/>
            <a:ext cx="115200" cy="136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ooter-clip"/>
          <p:cNvSpPr/>
          <p:nvPr/>
        </p:nvSpPr>
        <p:spPr>
          <a:xfrm>
            <a:off x="5148000" y="4258800"/>
            <a:ext cx="43200" cy="32400"/>
          </a:xfrm>
          <a:prstGeom prst="roundRect">
            <a:avLst/>
          </a:prstGeom>
          <a:solidFill>
            <a:srgbClr val="078B81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line-101"/>
          <p:cNvCxnSpPr/>
          <p:nvPr/>
        </p:nvCxnSpPr>
        <p:spPr>
          <a:xfrm>
            <a:off x="5140800" y="4320000"/>
            <a:ext cx="61200" cy="0"/>
          </a:xfrm>
          <a:prstGeom prst="line">
            <a:avLst/>
          </a:prstGeom>
          <a:ln w="6350">
            <a:solidFill>
              <a:srgbClr val="078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ne-102"/>
          <p:cNvCxnSpPr/>
          <p:nvPr/>
        </p:nvCxnSpPr>
        <p:spPr>
          <a:xfrm>
            <a:off x="5140800" y="4356000"/>
            <a:ext cx="61200" cy="0"/>
          </a:xfrm>
          <a:prstGeom prst="line">
            <a:avLst/>
          </a:prstGeom>
          <a:ln w="6350">
            <a:solidFill>
              <a:srgbClr val="078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-水质达标保障"/>
          <p:cNvSpPr txBox="1"/>
          <p:nvPr/>
        </p:nvSpPr>
        <p:spPr>
          <a:xfrm>
            <a:off x="5284800" y="4240800"/>
            <a:ext cx="774000" cy="118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0B3E78"/>
                </a:solidFill>
                <a:latin typeface="SimSun"/>
              </a:rPr>
              <a:t>水质达标保障</a:t>
            </a:r>
          </a:p>
        </p:txBody>
      </p:sp>
      <p:sp>
        <p:nvSpPr>
          <p:cNvPr id="105" name="text-满足回用水质标准"/>
          <p:cNvSpPr txBox="1"/>
          <p:nvPr/>
        </p:nvSpPr>
        <p:spPr>
          <a:xfrm>
            <a:off x="5284800" y="4356000"/>
            <a:ext cx="7740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" b="0">
                <a:solidFill>
                  <a:srgbClr val="5E6770"/>
                </a:solidFill>
                <a:latin typeface="SimSun"/>
              </a:rPr>
              <a:t>满足回用水质标准</a:t>
            </a:r>
          </a:p>
        </p:txBody>
      </p:sp>
      <p:sp>
        <p:nvSpPr>
          <p:cNvPr id="106" name="footer-gear"/>
          <p:cNvSpPr/>
          <p:nvPr/>
        </p:nvSpPr>
        <p:spPr>
          <a:xfrm>
            <a:off x="6184800" y="4258800"/>
            <a:ext cx="144000" cy="144000"/>
          </a:xfrm>
          <a:prstGeom prst="gear6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ooter-gear-hole"/>
          <p:cNvSpPr/>
          <p:nvPr/>
        </p:nvSpPr>
        <p:spPr>
          <a:xfrm>
            <a:off x="6235200" y="4309200"/>
            <a:ext cx="43200" cy="4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-设备定期维护"/>
          <p:cNvSpPr txBox="1"/>
          <p:nvPr/>
        </p:nvSpPr>
        <p:spPr>
          <a:xfrm>
            <a:off x="6357600" y="4240800"/>
            <a:ext cx="774000" cy="118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0B3E78"/>
                </a:solidFill>
                <a:latin typeface="SimSun"/>
              </a:rPr>
              <a:t>设备定期维护</a:t>
            </a:r>
          </a:p>
        </p:txBody>
      </p:sp>
      <p:sp>
        <p:nvSpPr>
          <p:cNvPr id="109" name="text-保障系统稳定运行"/>
          <p:cNvSpPr txBox="1"/>
          <p:nvPr/>
        </p:nvSpPr>
        <p:spPr>
          <a:xfrm>
            <a:off x="6357600" y="4356000"/>
            <a:ext cx="7740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" b="0">
                <a:solidFill>
                  <a:srgbClr val="5E6770"/>
                </a:solidFill>
                <a:latin typeface="SimSun"/>
              </a:rPr>
              <a:t>保障系统稳定运行</a:t>
            </a:r>
          </a:p>
        </p:txBody>
      </p:sp>
      <p:sp>
        <p:nvSpPr>
          <p:cNvPr id="110" name="footer-document"/>
          <p:cNvSpPr/>
          <p:nvPr/>
        </p:nvSpPr>
        <p:spPr>
          <a:xfrm>
            <a:off x="7253999" y="4258800"/>
            <a:ext cx="122400" cy="151200"/>
          </a:xfrm>
          <a:prstGeom prst="foldedCorner">
            <a:avLst/>
          </a:prstGeom>
          <a:solidFill>
            <a:srgbClr val="FFFFFF"/>
          </a:solidFill>
          <a:ln w="9525">
            <a:solidFill>
              <a:srgbClr val="078B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line-110"/>
          <p:cNvCxnSpPr/>
          <p:nvPr/>
        </p:nvCxnSpPr>
        <p:spPr>
          <a:xfrm>
            <a:off x="7279200" y="4309200"/>
            <a:ext cx="64799" cy="0"/>
          </a:xfrm>
          <a:prstGeom prst="line">
            <a:avLst/>
          </a:prstGeom>
          <a:ln w="6350">
            <a:solidFill>
              <a:srgbClr val="078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line-111"/>
          <p:cNvCxnSpPr/>
          <p:nvPr/>
        </p:nvCxnSpPr>
        <p:spPr>
          <a:xfrm>
            <a:off x="7279200" y="4341600"/>
            <a:ext cx="64799" cy="0"/>
          </a:xfrm>
          <a:prstGeom prst="line">
            <a:avLst/>
          </a:prstGeom>
          <a:ln w="6350">
            <a:solidFill>
              <a:srgbClr val="078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line-112"/>
          <p:cNvCxnSpPr/>
          <p:nvPr/>
        </p:nvCxnSpPr>
        <p:spPr>
          <a:xfrm>
            <a:off x="7279200" y="4374000"/>
            <a:ext cx="64799" cy="0"/>
          </a:xfrm>
          <a:prstGeom prst="line">
            <a:avLst/>
          </a:prstGeom>
          <a:ln w="6350">
            <a:solidFill>
              <a:srgbClr val="078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-数据记录追溯"/>
          <p:cNvSpPr txBox="1"/>
          <p:nvPr/>
        </p:nvSpPr>
        <p:spPr>
          <a:xfrm>
            <a:off x="7426800" y="4240800"/>
            <a:ext cx="774000" cy="118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" b="1">
                <a:solidFill>
                  <a:srgbClr val="0B3E78"/>
                </a:solidFill>
                <a:latin typeface="SimSun"/>
              </a:rPr>
              <a:t>数据记录追溯</a:t>
            </a:r>
          </a:p>
        </p:txBody>
      </p:sp>
      <p:sp>
        <p:nvSpPr>
          <p:cNvPr id="115" name="text-管理可视化、可追溯"/>
          <p:cNvSpPr txBox="1"/>
          <p:nvPr/>
        </p:nvSpPr>
        <p:spPr>
          <a:xfrm>
            <a:off x="7426800" y="4356000"/>
            <a:ext cx="774000" cy="100800"/>
          </a:xfrm>
          <a:prstGeom prst="rect">
            <a:avLst/>
          </a:prstGeom>
          <a:noFill/>
        </p:spPr>
        <p:txBody>
          <a:bodyPr wrap="none" anchor="ctr" lIns="3600" rIns="3600" tIns="3600" bIns="360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00" b="0">
                <a:solidFill>
                  <a:srgbClr val="5E6770"/>
                </a:solidFill>
                <a:latin typeface="SimSun"/>
              </a:rPr>
              <a:t>管理可视化、可追溯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