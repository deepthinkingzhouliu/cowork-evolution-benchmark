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41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7200900" cy="10184130"/>
  <p:notesSz cx="10184130" cy="72009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3" Type="http://schemas.openxmlformats.org/officeDocument/2006/relationships/notesSlide" Target="../notesSlides/notesSlide1.xml"/><Relationship Id="rId42" Type="http://schemas.openxmlformats.org/officeDocument/2006/relationships/slideLayout" Target="../slideLayouts/slideLayout1.xml"/><Relationship Id="rId41" Type="http://schemas.openxmlformats.org/officeDocument/2006/relationships/image" Target="../media/image41.svg"/><Relationship Id="rId40" Type="http://schemas.openxmlformats.org/officeDocument/2006/relationships/image" Target="../media/image40.png"/><Relationship Id="rId4" Type="http://schemas.openxmlformats.org/officeDocument/2006/relationships/image" Target="../media/image4.sv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svg"/><Relationship Id="rId36" Type="http://schemas.openxmlformats.org/officeDocument/2006/relationships/image" Target="../media/image36.png"/><Relationship Id="rId35" Type="http://schemas.openxmlformats.org/officeDocument/2006/relationships/image" Target="../media/image35.svg"/><Relationship Id="rId34" Type="http://schemas.openxmlformats.org/officeDocument/2006/relationships/image" Target="../media/image34.png"/><Relationship Id="rId33" Type="http://schemas.openxmlformats.org/officeDocument/2006/relationships/image" Target="../media/image33.svg"/><Relationship Id="rId32" Type="http://schemas.openxmlformats.org/officeDocument/2006/relationships/image" Target="../media/image32.png"/><Relationship Id="rId31" Type="http://schemas.openxmlformats.org/officeDocument/2006/relationships/image" Target="../media/image31.sv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svg"/><Relationship Id="rId28" Type="http://schemas.openxmlformats.org/officeDocument/2006/relationships/image" Target="../media/image28.png"/><Relationship Id="rId27" Type="http://schemas.openxmlformats.org/officeDocument/2006/relationships/image" Target="../media/image27.svg"/><Relationship Id="rId26" Type="http://schemas.openxmlformats.org/officeDocument/2006/relationships/image" Target="../media/image26.png"/><Relationship Id="rId25" Type="http://schemas.openxmlformats.org/officeDocument/2006/relationships/image" Target="../media/image25.svg"/><Relationship Id="rId24" Type="http://schemas.openxmlformats.org/officeDocument/2006/relationships/image" Target="../media/image24.png"/><Relationship Id="rId23" Type="http://schemas.openxmlformats.org/officeDocument/2006/relationships/image" Target="../media/image23.svg"/><Relationship Id="rId22" Type="http://schemas.openxmlformats.org/officeDocument/2006/relationships/image" Target="../media/image22.png"/><Relationship Id="rId21" Type="http://schemas.openxmlformats.org/officeDocument/2006/relationships/image" Target="../media/image21.svg"/><Relationship Id="rId20" Type="http://schemas.openxmlformats.org/officeDocument/2006/relationships/image" Target="../media/image20.png"/><Relationship Id="rId2" Type="http://schemas.openxmlformats.org/officeDocument/2006/relationships/image" Target="../media/image2.svg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200900" cy="101841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01168"/>
            <a:ext cx="192024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4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技术路线图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43891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C52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PCOS持续性排卵障碍机制研究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2340864" y="237744"/>
            <a:ext cx="4434840" cy="29260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2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代谢异常 → 核内转录调控 → 表观遗传持续化 → 排卵执行偏离</a:t>
            </a:r>
            <a:endParaRPr lang="en-US" sz="102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624" y="960120"/>
            <a:ext cx="1051560" cy="4937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4048" y="1014984"/>
            <a:ext cx="11430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0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提出问题</a:t>
            </a:r>
            <a:endParaRPr lang="en-US" sz="870" dirty="0"/>
          </a:p>
        </p:txBody>
      </p:sp>
      <p:sp>
        <p:nvSpPr>
          <p:cNvPr id="8" name="Text 4"/>
          <p:cNvSpPr/>
          <p:nvPr/>
        </p:nvSpPr>
        <p:spPr>
          <a:xfrm>
            <a:off x="365760" y="1197864"/>
            <a:ext cx="1170432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临床表型归纳</a:t>
            </a:r>
            <a:endParaRPr lang="en-US" sz="68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9032" y="1097280"/>
            <a:ext cx="338328" cy="14630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19072" y="960120"/>
            <a:ext cx="1051560" cy="4937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82496" y="1014984"/>
            <a:ext cx="11430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0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界定问题</a:t>
            </a:r>
            <a:endParaRPr lang="en-US" sz="870" dirty="0"/>
          </a:p>
        </p:txBody>
      </p:sp>
      <p:sp>
        <p:nvSpPr>
          <p:cNvPr id="12" name="Text 6"/>
          <p:cNvSpPr/>
          <p:nvPr/>
        </p:nvSpPr>
        <p:spPr>
          <a:xfrm>
            <a:off x="1664208" y="1197864"/>
            <a:ext cx="1170432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黄体化启动时窗</a:t>
            </a:r>
            <a:endParaRPr lang="en-US" sz="68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97480" y="1097280"/>
            <a:ext cx="338328" cy="14630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17520" y="960120"/>
            <a:ext cx="1051560" cy="49377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980944" y="1014984"/>
            <a:ext cx="11430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0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解析问题</a:t>
            </a:r>
            <a:endParaRPr lang="en-US" sz="870" dirty="0"/>
          </a:p>
        </p:txBody>
      </p:sp>
      <p:sp>
        <p:nvSpPr>
          <p:cNvPr id="16" name="Text 8"/>
          <p:cNvSpPr/>
          <p:nvPr/>
        </p:nvSpPr>
        <p:spPr>
          <a:xfrm>
            <a:off x="2962656" y="1197864"/>
            <a:ext cx="1170432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代谢—转录耦合</a:t>
            </a:r>
            <a:endParaRPr lang="en-US" sz="68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95928" y="1097280"/>
            <a:ext cx="338328" cy="146304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15968" y="960120"/>
            <a:ext cx="1051560" cy="493776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279392" y="1014984"/>
            <a:ext cx="11430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0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验证机制</a:t>
            </a:r>
            <a:endParaRPr lang="en-US" sz="870" dirty="0"/>
          </a:p>
        </p:txBody>
      </p:sp>
      <p:sp>
        <p:nvSpPr>
          <p:cNvPr id="20" name="Text 10"/>
          <p:cNvSpPr/>
          <p:nvPr/>
        </p:nvSpPr>
        <p:spPr>
          <a:xfrm>
            <a:off x="4261104" y="1197864"/>
            <a:ext cx="1170432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轴向干预救援</a:t>
            </a:r>
            <a:endParaRPr lang="en-US" sz="68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4376" y="1097280"/>
            <a:ext cx="338328" cy="146304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14416" y="960120"/>
            <a:ext cx="1051560" cy="493776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577840" y="1014984"/>
            <a:ext cx="11430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0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凝练意义</a:t>
            </a:r>
            <a:endParaRPr lang="en-US" sz="870" dirty="0"/>
          </a:p>
        </p:txBody>
      </p:sp>
      <p:sp>
        <p:nvSpPr>
          <p:cNvPr id="24" name="Text 12"/>
          <p:cNvSpPr/>
          <p:nvPr/>
        </p:nvSpPr>
        <p:spPr>
          <a:xfrm>
            <a:off x="5559552" y="1197864"/>
            <a:ext cx="1170432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靶点与策略</a:t>
            </a:r>
            <a:endParaRPr lang="en-US" sz="68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886200" y="1627632"/>
            <a:ext cx="2578608" cy="107899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3977640" y="1701292"/>
            <a:ext cx="420624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7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</a:t>
            </a:r>
            <a:endParaRPr lang="en-US" sz="1200" dirty="0"/>
          </a:p>
        </p:txBody>
      </p:sp>
      <p:sp>
        <p:nvSpPr>
          <p:cNvPr id="27" name="Text 14"/>
          <p:cNvSpPr/>
          <p:nvPr/>
        </p:nvSpPr>
        <p:spPr>
          <a:xfrm>
            <a:off x="4315968" y="1701292"/>
            <a:ext cx="27432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737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临床问题</a:t>
            </a:r>
            <a:endParaRPr lang="en-US" sz="1220" dirty="0"/>
          </a:p>
        </p:txBody>
      </p:sp>
      <p:sp>
        <p:nvSpPr>
          <p:cNvPr id="28" name="Text 15"/>
          <p:cNvSpPr/>
          <p:nvPr/>
        </p:nvSpPr>
        <p:spPr>
          <a:xfrm>
            <a:off x="4069080" y="1920240"/>
            <a:ext cx="2280285" cy="62357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738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PCOS患者排卵窗口延迟，卵泡成熟与激素峰值不同步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738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体重、胰岛素抵抗改善后，周期性排卵仍不足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738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同一促排方案下卵泡反应差异大，缺少可解释的标志</a:t>
            </a:r>
            <a:endParaRPr lang="en-US" sz="86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1208" y="1956816"/>
            <a:ext cx="2852928" cy="1152144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603123" y="2113026"/>
            <a:ext cx="420624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35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</a:t>
            </a:r>
            <a:endParaRPr lang="en-US" sz="1200" dirty="0"/>
          </a:p>
        </p:txBody>
      </p:sp>
      <p:sp>
        <p:nvSpPr>
          <p:cNvPr id="31" name="Text 17"/>
          <p:cNvSpPr/>
          <p:nvPr/>
        </p:nvSpPr>
        <p:spPr>
          <a:xfrm>
            <a:off x="905256" y="2094611"/>
            <a:ext cx="30175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6B35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科学假说</a:t>
            </a:r>
            <a:endParaRPr lang="en-US" sz="1220" dirty="0"/>
          </a:p>
        </p:txBody>
      </p:sp>
      <p:sp>
        <p:nvSpPr>
          <p:cNvPr id="32" name="Text 18"/>
          <p:cNvSpPr/>
          <p:nvPr/>
        </p:nvSpPr>
        <p:spPr>
          <a:xfrm>
            <a:off x="661670" y="2322830"/>
            <a:ext cx="2616835" cy="8483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3A2B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色氨酸代谢失衡可能触发 ATF4 依赖的核内应激转录网络，抬高颗粒细胞黄体化启动阈值；若表观开放状态被持续重塑，排卵执行程序将长期偏离并形成促排反应异质性。</a:t>
            </a:r>
            <a:endParaRPr lang="en-US" sz="86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0352" y="3310128"/>
            <a:ext cx="6199632" cy="65836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393192" y="3465576"/>
            <a:ext cx="64465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443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核心判断：颗粒细胞黄体化启动阈值异常，是持续性排卵障碍由“代谢扰动”走向“程序失序”的关键节点。</a:t>
            </a:r>
            <a:endParaRPr lang="en-US" sz="930" dirty="0"/>
          </a:p>
        </p:txBody>
      </p:sp>
      <p:sp>
        <p:nvSpPr>
          <p:cNvPr id="35" name="Text 20"/>
          <p:cNvSpPr/>
          <p:nvPr/>
        </p:nvSpPr>
        <p:spPr>
          <a:xfrm>
            <a:off x="457200" y="4069080"/>
            <a:ext cx="2743200" cy="3017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43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研究方法与技术路线</a:t>
            </a:r>
            <a:endParaRPr lang="en-US" sz="14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2064" y="4498848"/>
            <a:ext cx="2761488" cy="987552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03504" y="4544568"/>
            <a:ext cx="420624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38" name="Text 22"/>
          <p:cNvSpPr/>
          <p:nvPr/>
        </p:nvSpPr>
        <p:spPr>
          <a:xfrm>
            <a:off x="896112" y="4544568"/>
            <a:ext cx="29260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F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研究内容一：关键病理事件界定</a:t>
            </a:r>
            <a:endParaRPr lang="en-US" sz="1220" dirty="0"/>
          </a:p>
        </p:txBody>
      </p:sp>
      <p:sp>
        <p:nvSpPr>
          <p:cNvPr id="39" name="Text 23"/>
          <p:cNvSpPr/>
          <p:nvPr/>
        </p:nvSpPr>
        <p:spPr>
          <a:xfrm>
            <a:off x="521462" y="5020183"/>
            <a:ext cx="3072384" cy="69494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73A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临床分层与样本库建立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73A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LH/hCG刺激模型构建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73A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黄体化基因：STAR / CYP11A1 / LHCGR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73A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排卵执行因子：COX2 / PTX3 / HAS2</a:t>
            </a:r>
            <a:endParaRPr lang="en-US" sz="86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12064" y="5715000"/>
            <a:ext cx="2761488" cy="987552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03504" y="5760720"/>
            <a:ext cx="420624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E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42" name="Text 25"/>
          <p:cNvSpPr/>
          <p:nvPr/>
        </p:nvSpPr>
        <p:spPr>
          <a:xfrm>
            <a:off x="896112" y="5760720"/>
            <a:ext cx="29260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53E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研究内容二：色氨酸代谢异常定位</a:t>
            </a:r>
            <a:endParaRPr lang="en-US" sz="1220" dirty="0"/>
          </a:p>
        </p:txBody>
      </p:sp>
      <p:sp>
        <p:nvSpPr>
          <p:cNvPr id="43" name="Text 26"/>
          <p:cNvSpPr/>
          <p:nvPr/>
        </p:nvSpPr>
        <p:spPr>
          <a:xfrm>
            <a:off x="438912" y="6080760"/>
            <a:ext cx="3072384" cy="69494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B3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卵泡液与颗粒细胞代谢组检测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B3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筛选差异代谢物并锁定关键节点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B3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重点观察：IA及相关吲哚类代谢物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B3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建立代谢物—黄体化表型关联</a:t>
            </a:r>
            <a:endParaRPr lang="en-US" sz="86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12064" y="6931152"/>
            <a:ext cx="2761488" cy="987552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03504" y="6976872"/>
            <a:ext cx="420624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32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46" name="Text 28"/>
          <p:cNvSpPr/>
          <p:nvPr/>
        </p:nvSpPr>
        <p:spPr>
          <a:xfrm>
            <a:off x="896112" y="6976872"/>
            <a:ext cx="29260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5532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研究内容三：ATF4核内调控解析</a:t>
            </a:r>
            <a:endParaRPr lang="en-US" sz="1220" dirty="0"/>
          </a:p>
        </p:txBody>
      </p:sp>
      <p:sp>
        <p:nvSpPr>
          <p:cNvPr id="47" name="Text 29"/>
          <p:cNvSpPr/>
          <p:nvPr/>
        </p:nvSpPr>
        <p:spPr>
          <a:xfrm>
            <a:off x="548640" y="7461250"/>
            <a:ext cx="2176780" cy="72517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332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ATF4表达、磷酸化与核定位检测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332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核/胞分离与免疫荧光验证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332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ChIP-qPCR / CUT&amp;Tag定位靶基因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332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解析“代谢异常—核内转录”桥梁</a:t>
            </a:r>
            <a:endParaRPr lang="en-US" sz="860" dirty="0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886200" y="4498848"/>
            <a:ext cx="2761488" cy="987552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3977640" y="4544568"/>
            <a:ext cx="420624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C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50" name="Text 31"/>
          <p:cNvSpPr/>
          <p:nvPr/>
        </p:nvSpPr>
        <p:spPr>
          <a:xfrm>
            <a:off x="4270248" y="4544568"/>
            <a:ext cx="29260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8A4C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研究内容四：表观遗传持续化机制</a:t>
            </a:r>
            <a:endParaRPr lang="en-US" sz="1220" dirty="0"/>
          </a:p>
        </p:txBody>
      </p:sp>
      <p:sp>
        <p:nvSpPr>
          <p:cNvPr id="51" name="Text 32"/>
          <p:cNvSpPr/>
          <p:nvPr/>
        </p:nvSpPr>
        <p:spPr>
          <a:xfrm>
            <a:off x="3813048" y="5020183"/>
            <a:ext cx="3072384" cy="69494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4534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H3K4me3与H3K27ac开放状态检测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4534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关键位点：STAR / COX2 / PTX3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4534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刺激撤除后恢复观察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4534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判断程序异常是否具备持续化特征</a:t>
            </a:r>
            <a:endParaRPr lang="en-US" sz="860" dirty="0"/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886200" y="5715000"/>
            <a:ext cx="2761488" cy="987552"/>
          </a:xfrm>
          <a:prstGeom prst="rect">
            <a:avLst/>
          </a:prstGeom>
        </p:spPr>
      </p:pic>
      <p:sp>
        <p:nvSpPr>
          <p:cNvPr id="53" name="Text 33"/>
          <p:cNvSpPr/>
          <p:nvPr/>
        </p:nvSpPr>
        <p:spPr>
          <a:xfrm>
            <a:off x="3977640" y="5760720"/>
            <a:ext cx="420624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200" dirty="0"/>
          </a:p>
        </p:txBody>
      </p:sp>
      <p:sp>
        <p:nvSpPr>
          <p:cNvPr id="54" name="Text 34"/>
          <p:cNvSpPr/>
          <p:nvPr/>
        </p:nvSpPr>
        <p:spPr>
          <a:xfrm>
            <a:off x="4270248" y="5760720"/>
            <a:ext cx="29260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D6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研究内容五：轴向因果验证</a:t>
            </a:r>
            <a:endParaRPr lang="en-US" sz="1220" dirty="0"/>
          </a:p>
        </p:txBody>
      </p:sp>
      <p:sp>
        <p:nvSpPr>
          <p:cNvPr id="55" name="Text 35"/>
          <p:cNvSpPr/>
          <p:nvPr/>
        </p:nvSpPr>
        <p:spPr>
          <a:xfrm>
            <a:off x="3886073" y="6245225"/>
            <a:ext cx="3072384" cy="69494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73B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IA梯度干预与时间窗干预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73B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ATF4沉默/过表达与救援实验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73B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表观修饰干预与逆转观察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73B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形成“IA—ATF4—表观遗传”证据链</a:t>
            </a:r>
            <a:endParaRPr lang="en-US" sz="860" dirty="0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886200" y="6931152"/>
            <a:ext cx="2761488" cy="987552"/>
          </a:xfrm>
          <a:prstGeom prst="rect">
            <a:avLst/>
          </a:prstGeom>
        </p:spPr>
      </p:pic>
      <p:sp>
        <p:nvSpPr>
          <p:cNvPr id="57" name="Text 36"/>
          <p:cNvSpPr/>
          <p:nvPr/>
        </p:nvSpPr>
        <p:spPr>
          <a:xfrm>
            <a:off x="3977640" y="6976872"/>
            <a:ext cx="420624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27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200" dirty="0"/>
          </a:p>
        </p:txBody>
      </p:sp>
      <p:sp>
        <p:nvSpPr>
          <p:cNvPr id="58" name="Text 37"/>
          <p:cNvSpPr/>
          <p:nvPr/>
        </p:nvSpPr>
        <p:spPr>
          <a:xfrm>
            <a:off x="4270248" y="6976872"/>
            <a:ext cx="29260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8B27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预期结果与科学意义</a:t>
            </a:r>
            <a:endParaRPr lang="en-US" sz="1220" dirty="0"/>
          </a:p>
        </p:txBody>
      </p:sp>
      <p:sp>
        <p:nvSpPr>
          <p:cNvPr id="59" name="Text 38"/>
          <p:cNvSpPr/>
          <p:nvPr/>
        </p:nvSpPr>
        <p:spPr>
          <a:xfrm>
            <a:off x="3813048" y="7461377"/>
            <a:ext cx="3072384" cy="69494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4429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揭示PCOS持续性排卵障碍的新病理机制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4429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建立“代谢异常—核内调控—程序启动失败”框架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4429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提出可分层评估的促排反应预测标志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4429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为靶向代谢—表观干预提供实验依据</a:t>
            </a:r>
            <a:endParaRPr lang="en-US" sz="860" dirty="0"/>
          </a:p>
        </p:txBody>
      </p:sp>
      <p:pic>
        <p:nvPicPr>
          <p:cNvPr id="60" name="Image 19" descr="preencoded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264408" y="4828032"/>
            <a:ext cx="502920" cy="201168"/>
          </a:xfrm>
          <a:prstGeom prst="rect">
            <a:avLst/>
          </a:prstGeom>
        </p:spPr>
      </p:pic>
      <p:pic>
        <p:nvPicPr>
          <p:cNvPr id="61" name="Image 20" descr="preencoded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264408" y="6044184"/>
            <a:ext cx="502920" cy="201168"/>
          </a:xfrm>
          <a:prstGeom prst="rect">
            <a:avLst/>
          </a:prstGeom>
        </p:spPr>
      </p:pic>
      <p:pic>
        <p:nvPicPr>
          <p:cNvPr id="62" name="Image 21" descr="preencoded.png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264408" y="7260336"/>
            <a:ext cx="502920" cy="201168"/>
          </a:xfrm>
          <a:prstGeom prst="rect">
            <a:avLst/>
          </a:prstGeom>
        </p:spPr>
      </p:pic>
      <p:pic>
        <p:nvPicPr>
          <p:cNvPr id="63" name="Image 22" descr="preencoded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48640" y="8247888"/>
            <a:ext cx="6163056" cy="676656"/>
          </a:xfrm>
          <a:prstGeom prst="rect">
            <a:avLst/>
          </a:prstGeom>
        </p:spPr>
      </p:pic>
      <p:sp>
        <p:nvSpPr>
          <p:cNvPr id="64" name="Text 39"/>
          <p:cNvSpPr/>
          <p:nvPr/>
        </p:nvSpPr>
        <p:spPr>
          <a:xfrm>
            <a:off x="384048" y="8421624"/>
            <a:ext cx="64465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263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因果链验证：IA干预  ·  ATF4干预  ·  表观修饰干预  ·  救援实验  ·  表型恢复观察</a:t>
            </a:r>
            <a:endParaRPr lang="en-US" sz="940" dirty="0"/>
          </a:p>
        </p:txBody>
      </p:sp>
      <p:sp>
        <p:nvSpPr>
          <p:cNvPr id="65" name="Text 40"/>
          <p:cNvSpPr/>
          <p:nvPr/>
        </p:nvSpPr>
        <p:spPr>
          <a:xfrm>
            <a:off x="658368" y="9162288"/>
            <a:ext cx="5897880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465C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输出目标：从临床异质性出发，锁定可验证、可干预、可转化的排卵障碍机制节点。</a:t>
            </a:r>
            <a:endParaRPr lang="en-US" sz="930" dirty="0"/>
          </a:p>
        </p:txBody>
      </p:sp>
      <p:sp>
        <p:nvSpPr>
          <p:cNvPr id="66" name="Text 41"/>
          <p:cNvSpPr/>
          <p:nvPr/>
        </p:nvSpPr>
        <p:spPr>
          <a:xfrm>
            <a:off x="658368" y="9537192"/>
            <a:ext cx="5897880" cy="2377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8390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所有流程框为背景图片；研究内容以可编辑文本框单独叠加，并故意略大于底层流程框。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</Words>
  <Application>WPS 演示</Application>
  <PresentationFormat>On-screen Show (16:9)</PresentationFormat>
  <Paragraphs>104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