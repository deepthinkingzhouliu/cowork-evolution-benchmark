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94360"/>
            <a:ext cx="56692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1">
                <a:solidFill>
                  <a:srgbClr val="16ACBE"/>
                </a:solidFill>
                <a:latin typeface="Aptos"/>
              </a:rPr>
              <a:t>CUSTOMER MEETING BRIEF  /  OPENHANDS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97280"/>
            <a:ext cx="7040880" cy="1133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500" b="1">
                <a:solidFill>
                  <a:srgbClr val="FFFFFF"/>
                </a:solidFill>
                <a:latin typeface="Aptos"/>
              </a:rPr>
              <a:t>OpenHands Agent
Capability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51176"/>
            <a:ext cx="6583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5D1DF"/>
                </a:solidFill>
                <a:latin typeface="Aptos"/>
              </a:rPr>
              <a:t>A source-bounded view of the benchmark evaluation surface.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35808"/>
            <a:ext cx="70408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CBE"/>
                </a:solidFill>
                <a:latin typeface="Aptos"/>
              </a:rPr>
              <a:t>Potential customer discussion  ·  frozen GitLab evaluation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096512"/>
            <a:ext cx="3401568" cy="1234440"/>
          </a:xfrm>
          <a:prstGeom prst="roundRect">
            <a:avLst/>
          </a:prstGeom>
          <a:solidFill>
            <a:srgbClr val="172B43"/>
          </a:solidFill>
          <a:ln>
            <a:solidFill>
              <a:srgbClr val="2F4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4096512"/>
            <a:ext cx="54864" cy="1234440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4288536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4846320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3174D8"/>
                </a:solidFill>
                <a:latin typeface="Aptos"/>
              </a:rPr>
              <a:t>TASK DOMAINS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096512"/>
            <a:ext cx="3401568" cy="1234440"/>
          </a:xfrm>
          <a:prstGeom prst="roundRect">
            <a:avLst/>
          </a:prstGeom>
          <a:solidFill>
            <a:srgbClr val="172B43"/>
          </a:solidFill>
          <a:ln>
            <a:solidFill>
              <a:srgbClr val="2F4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4096512"/>
            <a:ext cx="54864" cy="1234440"/>
          </a:xfrm>
          <a:prstGeom prst="rect">
            <a:avLst/>
          </a:prstGeom>
          <a:solidFill>
            <a:srgbClr val="179169"/>
          </a:solidFill>
          <a:ln>
            <a:solidFill>
              <a:srgbClr val="17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4288536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846320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179169"/>
                </a:solidFill>
                <a:latin typeface="Aptos"/>
              </a:rPr>
              <a:t>BENCHMARK ENTRIES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9872" y="4096512"/>
            <a:ext cx="3401568" cy="1234440"/>
          </a:xfrm>
          <a:prstGeom prst="roundRect">
            <a:avLst/>
          </a:prstGeom>
          <a:solidFill>
            <a:srgbClr val="172B43"/>
          </a:solidFill>
          <a:ln>
            <a:solidFill>
              <a:srgbClr val="2F4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19872" y="4096512"/>
            <a:ext cx="54864" cy="1234440"/>
          </a:xfrm>
          <a:prstGeom prst="rect">
            <a:avLst/>
          </a:prstGeom>
          <a:solidFill>
            <a:srgbClr val="DF8B15"/>
          </a:solidFill>
          <a:ln>
            <a:solidFill>
              <a:srgbClr val="DF8B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4288536"/>
            <a:ext cx="27432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4846320"/>
            <a:ext cx="27432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30" b="1">
                <a:solidFill>
                  <a:srgbClr val="DF8B15"/>
                </a:solidFill>
                <a:latin typeface="Aptos"/>
              </a:rPr>
              <a:t>PERFORMANCE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788152"/>
            <a:ext cx="105156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B9C5D5"/>
                </a:solidFill>
                <a:latin typeface="Aptos"/>
              </a:rPr>
              <a:t>Inventory coverage is not measured performance. No score, success rate, model version, or comparative ranking is present in the source.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241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A9B7C8"/>
                </a:solidFill>
                <a:latin typeface="Aptos"/>
              </a:rPr>
              <a:t>Source: OpenHands_Evaluation_Snapshot.json  ·  upstream evaluator @ 98b68ef8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9B7C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2834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3174D8"/>
                </a:solidFill>
                <a:latin typeface="Aptos"/>
              </a:rPr>
              <a:t>CAPABILITY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987552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900" b="1">
                <a:solidFill>
                  <a:srgbClr val="0C1B2A"/>
                </a:solidFill>
                <a:latin typeface="Aptos"/>
              </a:rPr>
              <a:t>Three domains. One evidence boundary.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7863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667384"/>
                </a:solidFill>
                <a:latin typeface="Aptos"/>
              </a:rPr>
              <a:t>The source supplies category membership and names—not performance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64208"/>
            <a:ext cx="10972800" cy="18288"/>
          </a:xfrm>
          <a:prstGeom prst="rect">
            <a:avLst/>
          </a:prstGeom>
          <a:solidFill>
            <a:srgbClr val="DFE6ED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3438144" cy="25420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2057400"/>
            <a:ext cx="3438144" cy="7315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50008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317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88920"/>
            <a:ext cx="2926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C1B2A"/>
                </a:solidFill>
                <a:latin typeface="Aptos"/>
              </a:rPr>
              <a:t>Software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84448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3174D8"/>
                </a:solidFill>
                <a:latin typeface="Aptos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39" y="3712463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67384"/>
                </a:solidFill>
                <a:latin typeface="Aptos"/>
              </a:rPr>
              <a:t>BENCHMARK ENTRIES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57400"/>
            <a:ext cx="3438144" cy="25420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057400"/>
            <a:ext cx="3438144" cy="73152"/>
          </a:xfrm>
          <a:prstGeom prst="rect">
            <a:avLst/>
          </a:prstGeom>
          <a:solidFill>
            <a:srgbClr val="16ACBE"/>
          </a:solidFill>
          <a:ln>
            <a:solidFill>
              <a:srgbClr val="16A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1144" y="2350008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CBE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2788920"/>
            <a:ext cx="2926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C1B2A"/>
                </a:solidFill>
                <a:latin typeface="Aptos"/>
              </a:rPr>
              <a:t>Web Browsing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3584448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16ACBE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76672" y="3712463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67384"/>
                </a:solidFill>
                <a:latin typeface="Aptos"/>
              </a:rPr>
              <a:t>BENCHMARK ENTRIES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28432" y="2057400"/>
            <a:ext cx="3438144" cy="25420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28432" y="2057400"/>
            <a:ext cx="3438144" cy="73152"/>
          </a:xfrm>
          <a:prstGeom prst="rect">
            <a:avLst/>
          </a:prstGeom>
          <a:solidFill>
            <a:srgbClr val="7A5AD6"/>
          </a:solidFill>
          <a:ln>
            <a:solidFill>
              <a:srgbClr val="7A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66176" y="2350008"/>
            <a:ext cx="4572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7A5AD6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2788920"/>
            <a:ext cx="292608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C1B2A"/>
                </a:solidFill>
                <a:latin typeface="Aptos"/>
              </a:rPr>
              <a:t>Misc. Assistance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3584448"/>
            <a:ext cx="914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700" b="1">
                <a:solidFill>
                  <a:srgbClr val="7A5AD6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61704" y="3712463"/>
            <a:ext cx="2057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50" b="1">
                <a:solidFill>
                  <a:srgbClr val="667384"/>
                </a:solidFill>
                <a:latin typeface="Aptos"/>
              </a:rPr>
              <a:t>BENCHMARK ENTRIES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001768"/>
            <a:ext cx="10844784" cy="859536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184648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3174D8"/>
                </a:solidFill>
                <a:latin typeface="Aptos"/>
              </a:rPr>
              <a:t>Customer-safe statement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148072"/>
            <a:ext cx="8321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0C1B2A"/>
                </a:solidFill>
                <a:latin typeface="Aptos"/>
              </a:rPr>
              <a:t>OpenHands maintains evaluation entries across Software Engineering, Web Browsing, and Misc. Assistance in the frozen repository snapshot.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10241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384"/>
                </a:solidFill>
                <a:latin typeface="Aptos"/>
              </a:rPr>
              <a:t>Source: OpenHands_Evaluation_Snapshot.json  ·  upstream evaluator @ 98b68ef8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3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3174D8"/>
                </a:solidFill>
                <a:latin typeface="Aptos"/>
              </a:rPr>
              <a:t>DOMAIN 01  /  FROZEN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8686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0C1B2A"/>
                </a:solidFill>
                <a:latin typeface="Aptos"/>
              </a:rPr>
              <a:t>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5669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1">
                <a:solidFill>
                  <a:srgbClr val="667384"/>
                </a:solidFill>
                <a:latin typeface="Aptos"/>
              </a:rPr>
              <a:t>UPSTREAM EVALUATOR ANCHOR  ·  software engineer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10972800" cy="18288"/>
          </a:xfrm>
          <a:prstGeom prst="rect">
            <a:avLst/>
          </a:prstGeom>
          <a:solidFill>
            <a:srgbClr val="DFE6ED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93392"/>
            <a:ext cx="54864" cy="71323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39696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174D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121408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SWE-Bench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441448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1993392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5" y="1993392"/>
            <a:ext cx="54864" cy="71323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139696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174D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3" y="2121408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HumanEvalFix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3" y="2441448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43784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843784"/>
            <a:ext cx="54864" cy="71323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90088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174D8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2971800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BIRD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5" y="3291840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2843784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5" y="2843784"/>
            <a:ext cx="54864" cy="71323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990088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174D8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3" y="2971800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BioCoder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3" y="3291840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94176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694176"/>
            <a:ext cx="54864" cy="71323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3840480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174D8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5" y="3822191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ML-Bench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5" y="4142232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5" y="3694176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5" y="3694176"/>
            <a:ext cx="54864" cy="71323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3840480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174D8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3" y="3822191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API-Bench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3" y="4142232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44568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8368" y="4544568"/>
            <a:ext cx="54864" cy="71323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7" y="4690872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174D8"/>
                </a:solidFill>
                <a:latin typeface="Aptos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25295" y="4672584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ToolQA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5295" y="4992624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63055" y="4544568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63055" y="4544568"/>
            <a:ext cx="54864" cy="713232"/>
          </a:xfrm>
          <a:prstGeom prst="rect">
            <a:avLst/>
          </a:prstGeom>
          <a:solidFill>
            <a:srgbClr val="3174D8"/>
          </a:solidFill>
          <a:ln>
            <a:solidFill>
              <a:srgbClr val="317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45936" y="4690872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3174D8"/>
                </a:solidFill>
                <a:latin typeface="Aptos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3" y="4672584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AiderBench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9983" y="4992624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8368" y="5577840"/>
            <a:ext cx="10844784" cy="676656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5724144"/>
            <a:ext cx="10287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3174D8"/>
                </a:solidFill>
                <a:latin typeface="Aptos"/>
              </a:rPr>
              <a:t>What this establishes: 8 benchmark entries are grouped under Software Engineering by the upstream evaluator.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" y="5971032"/>
            <a:ext cx="10287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667384"/>
                </a:solidFill>
                <a:latin typeface="Aptos"/>
              </a:rPr>
              <a:t>What it does not establish: pass rate, model version, score, ranking, or customer outcome.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6510528"/>
            <a:ext cx="10241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384"/>
                </a:solidFill>
                <a:latin typeface="Aptos"/>
              </a:rPr>
              <a:t>Source: OpenHands_Evaluation_Snapshot.json  ·  upstream evaluator @ 98b68ef8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3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16ACBE"/>
                </a:solidFill>
                <a:latin typeface="Aptos"/>
              </a:rPr>
              <a:t>DOMAIN 02  /  FROZEN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8686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0C1B2A"/>
                </a:solidFill>
                <a:latin typeface="Aptos"/>
              </a:rPr>
              <a:t>Web Browsing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5669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1">
                <a:solidFill>
                  <a:srgbClr val="667384"/>
                </a:solidFill>
                <a:latin typeface="Aptos"/>
              </a:rPr>
              <a:t>UPSTREAM EVALUATOR ANCHOR  ·  web browsing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10972800" cy="18288"/>
          </a:xfrm>
          <a:prstGeom prst="rect">
            <a:avLst/>
          </a:prstGeom>
          <a:solidFill>
            <a:srgbClr val="DFE6ED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67712" y="1993392"/>
            <a:ext cx="75895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67712" y="1993392"/>
            <a:ext cx="54864" cy="713232"/>
          </a:xfrm>
          <a:prstGeom prst="rect">
            <a:avLst/>
          </a:prstGeom>
          <a:solidFill>
            <a:srgbClr val="16ACBE"/>
          </a:solidFill>
          <a:ln>
            <a:solidFill>
              <a:srgbClr val="16A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50592" y="2139696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6ACBE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21408"/>
            <a:ext cx="68762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WebArena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2441448"/>
            <a:ext cx="687628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67712" y="2843784"/>
            <a:ext cx="758952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67712" y="2843784"/>
            <a:ext cx="54864" cy="713232"/>
          </a:xfrm>
          <a:prstGeom prst="rect">
            <a:avLst/>
          </a:prstGeom>
          <a:solidFill>
            <a:srgbClr val="16ACBE"/>
          </a:solidFill>
          <a:ln>
            <a:solidFill>
              <a:srgbClr val="16AC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0592" y="2990088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16ACBE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2971800"/>
            <a:ext cx="6876288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MiniWoB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91840"/>
            <a:ext cx="6876288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77056"/>
            <a:ext cx="10844784" cy="676656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023360"/>
            <a:ext cx="10287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3174D8"/>
                </a:solidFill>
                <a:latin typeface="Aptos"/>
              </a:rPr>
              <a:t>What this establishes: 2 benchmark entries are grouped under Web Browsing by the upstream evaluator.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270248"/>
            <a:ext cx="10287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667384"/>
                </a:solidFill>
                <a:latin typeface="Aptos"/>
              </a:rPr>
              <a:t>What it does not establish: pass rate, model version, score, ranking, or customer outcome.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241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384"/>
                </a:solidFill>
                <a:latin typeface="Aptos"/>
              </a:rPr>
              <a:t>Source: OpenHands_Evaluation_Snapshot.json  ·  upstream evaluator @ 98b68ef8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3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3035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69" b="1">
                <a:solidFill>
                  <a:srgbClr val="7A5AD6"/>
                </a:solidFill>
                <a:latin typeface="Aptos"/>
              </a:rPr>
              <a:t>DOMAIN 03  /  FROZEN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58368"/>
            <a:ext cx="8686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0C1B2A"/>
                </a:solidFill>
                <a:latin typeface="Aptos"/>
              </a:rPr>
              <a:t>Misc. Assistance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5669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1">
                <a:solidFill>
                  <a:srgbClr val="667384"/>
                </a:solidFill>
                <a:latin typeface="Aptos"/>
              </a:rPr>
              <a:t>UPSTREAM EVALUATOR ANCHOR  ·  misc assistance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27632"/>
            <a:ext cx="10972800" cy="18288"/>
          </a:xfrm>
          <a:prstGeom prst="rect">
            <a:avLst/>
          </a:prstGeom>
          <a:solidFill>
            <a:srgbClr val="DFE6ED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993392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993392"/>
            <a:ext cx="54864" cy="713232"/>
          </a:xfrm>
          <a:prstGeom prst="rect">
            <a:avLst/>
          </a:prstGeom>
          <a:solidFill>
            <a:srgbClr val="7A5AD6"/>
          </a:solidFill>
          <a:ln>
            <a:solidFill>
              <a:srgbClr val="7A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39696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A5AD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25295" y="2121408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GAIA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5295" y="2441448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5" y="1993392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5" y="1993392"/>
            <a:ext cx="54864" cy="713232"/>
          </a:xfrm>
          <a:prstGeom prst="rect">
            <a:avLst/>
          </a:prstGeom>
          <a:solidFill>
            <a:srgbClr val="7A5AD6"/>
          </a:solidFill>
          <a:ln>
            <a:solidFill>
              <a:srgbClr val="7A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5936" y="2139696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A5AD6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9983" y="2121408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GPQA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983" y="2441448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43784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843784"/>
            <a:ext cx="54864" cy="713232"/>
          </a:xfrm>
          <a:prstGeom prst="rect">
            <a:avLst/>
          </a:prstGeom>
          <a:solidFill>
            <a:srgbClr val="7A5AD6"/>
          </a:solidFill>
          <a:ln>
            <a:solidFill>
              <a:srgbClr val="7A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2990088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A5AD6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5" y="2971800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AgentBench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5" y="3291840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2843784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5" y="2843784"/>
            <a:ext cx="54864" cy="713232"/>
          </a:xfrm>
          <a:prstGeom prst="rect">
            <a:avLst/>
          </a:prstGeom>
          <a:solidFill>
            <a:srgbClr val="7A5AD6"/>
          </a:solidFill>
          <a:ln>
            <a:solidFill>
              <a:srgbClr val="7A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5936" y="2990088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A5AD6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3" y="2971800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MINT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9983" y="3291840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694176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" y="3694176"/>
            <a:ext cx="54864" cy="713232"/>
          </a:xfrm>
          <a:prstGeom prst="rect">
            <a:avLst/>
          </a:prstGeom>
          <a:solidFill>
            <a:srgbClr val="7A5AD6"/>
          </a:solidFill>
          <a:ln>
            <a:solidFill>
              <a:srgbClr val="7A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3840480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A5AD6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25295" y="3822191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EDA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25295" y="4142232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63055" y="3694176"/>
            <a:ext cx="5230368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FE6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5" y="3694176"/>
            <a:ext cx="54864" cy="713232"/>
          </a:xfrm>
          <a:prstGeom prst="rect">
            <a:avLst/>
          </a:prstGeom>
          <a:solidFill>
            <a:srgbClr val="7A5AD6"/>
          </a:solidFill>
          <a:ln>
            <a:solidFill>
              <a:srgbClr val="7A5A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45936" y="3840480"/>
            <a:ext cx="34747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7A5AD6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9983" y="3822191"/>
            <a:ext cx="4517136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0C1B2A"/>
                </a:solidFill>
                <a:latin typeface="Aptos"/>
              </a:rPr>
              <a:t>ProofWriter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3" y="4142232"/>
            <a:ext cx="4517136" cy="128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670" b="1">
                <a:solidFill>
                  <a:srgbClr val="667384"/>
                </a:solidFill>
                <a:latin typeface="Aptos"/>
              </a:rPr>
              <a:t>EVALUATION ENTRY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727448"/>
            <a:ext cx="10844784" cy="676656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4873752"/>
            <a:ext cx="10287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3174D8"/>
                </a:solidFill>
                <a:latin typeface="Aptos"/>
              </a:rPr>
              <a:t>What this establishes: 6 benchmark entries are grouped under Misc. Assistance by the upstream evaluator.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" y="5120640"/>
            <a:ext cx="10287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19" b="0">
                <a:solidFill>
                  <a:srgbClr val="667384"/>
                </a:solidFill>
                <a:latin typeface="Aptos"/>
              </a:rPr>
              <a:t>What it does not establish: pass rate, model version, score, ranking, or customer outcome.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10241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667384"/>
                </a:solidFill>
                <a:latin typeface="Aptos"/>
              </a:rPr>
              <a:t>Source: OpenHands_Evaluation_Snapshot.json  ·  upstream evaluator @ 98b68ef8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673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3840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6ACBE"/>
                </a:solidFill>
                <a:latin typeface="Aptos"/>
              </a:rPr>
              <a:t>EVIDENCE &amp;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5760720" cy="9875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Keep the claim
inside the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23160"/>
            <a:ext cx="1828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1">
                <a:solidFill>
                  <a:srgbClr val="16ACBE"/>
                </a:solidFill>
                <a:latin typeface="Aptos"/>
              </a:rPr>
              <a:t>Evaluation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8892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http://the-agent-company.com:8929/root/openhands/-/tree/main/evaluation?ref_type=heads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383280"/>
            <a:ext cx="6949440" cy="1490472"/>
          </a:xfrm>
          <a:prstGeom prst="roundRect">
            <a:avLst/>
          </a:prstGeom>
          <a:solidFill>
            <a:srgbClr val="172B43"/>
          </a:solidFill>
          <a:ln>
            <a:solidFill>
              <a:srgbClr val="2F4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639312"/>
            <a:ext cx="19202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DF8B15"/>
                </a:solidFill>
                <a:latin typeface="Aptos"/>
              </a:rPr>
              <a:t>Evidence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014215"/>
            <a:ext cx="635508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Names + domain membership only. No scores, success rates, versions, rankings, or customer outcomes.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82127" y="3383280"/>
            <a:ext cx="3621024" cy="1490472"/>
          </a:xfrm>
          <a:prstGeom prst="roundRect">
            <a:avLst/>
          </a:prstGeom>
          <a:solidFill>
            <a:srgbClr val="172B43"/>
          </a:solidFill>
          <a:ln>
            <a:solidFill>
              <a:srgbClr val="2F4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3639312"/>
            <a:ext cx="20116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>
                <a:solidFill>
                  <a:srgbClr val="179169"/>
                </a:solidFill>
                <a:latin typeface="Aptos"/>
              </a:rPr>
              <a:t>Offline handoff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3986784"/>
            <a:ext cx="29260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openhands_intro.pptx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4325112"/>
            <a:ext cx="29260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BDC9D8"/>
                </a:solidFill>
                <a:latin typeface="Aptos"/>
              </a:rPr>
              <a:t>Huang Jie  ·  RocketChat 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330952"/>
            <a:ext cx="7315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6ACBE"/>
                </a:solidFill>
                <a:latin typeface="Aptos"/>
              </a:rPr>
              <a:t>No live network side effect is claimed.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687568"/>
            <a:ext cx="54864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B9C5D5"/>
                </a:solidFill>
                <a:latin typeface="Aptos"/>
              </a:rPr>
              <a:t>Delivery status: not_executed_offline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1024128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720" b="0">
                <a:solidFill>
                  <a:srgbClr val="A9B7C8"/>
                </a:solidFill>
                <a:latin typeface="Aptos"/>
              </a:rPr>
              <a:t>Source: OpenHands_Evaluation_Snapshot.json  ·  upstream evaluator @ 98b68ef8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0528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A9B7C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