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Capabilities</c:v>
                </c:pt>
              </c:strCache>
            </c:strRef>
          </c:tx>
          <c:spPr>
            <a:solidFill>
              <a:srgbClr val="1772D0"/>
            </a:solidFill>
          </c:spPr>
          <c:cat>
            <c:strRef>
              <c:f>Sheet1!$A$2:$A$5</c:f>
              <c:strCache>
                <c:ptCount val="4"/>
                <c:pt idx="0">
                  <c:v>Parity</c:v>
                </c:pt>
                <c:pt idx="1">
                  <c:v>Behind</c:v>
                </c:pt>
                <c:pt idx="2">
                  <c:v>Ahead</c:v>
                </c:pt>
                <c:pt idx="3">
                  <c:v>Gap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5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85216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B8CF"/>
                </a:solidFill>
                <a:latin typeface="Aptos"/>
              </a:rPr>
              <a:t>COMPETITIVE RESPONSE  /  27 JAN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71323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StrataCorp v4
Competitive Response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6583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FD8E3"/>
                </a:solidFill>
                <a:latin typeface="Aptos"/>
              </a:rPr>
              <a:t>Tracker + analyst note + field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84464" y="868680"/>
            <a:ext cx="3200400" cy="2286000"/>
          </a:xfrm>
          <a:prstGeom prst="roundRect">
            <a:avLst/>
          </a:prstGeom>
          <a:solidFill>
            <a:srgbClr val="133652"/>
          </a:solidFill>
          <a:ln>
            <a:solidFill>
              <a:srgbClr val="2A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261872"/>
            <a:ext cx="25603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MIXED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90195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9C7DC"/>
                </a:solidFill>
                <a:latin typeface="Aptos"/>
              </a:rPr>
              <a:t>COMPETITIVE POSTURE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395728"/>
            <a:ext cx="1755648" cy="310896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436876"/>
            <a:ext cx="17556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434840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434840"/>
            <a:ext cx="64008" cy="1005840"/>
          </a:xfrm>
          <a:prstGeom prst="rect">
            <a:avLst/>
          </a:prstGeom>
          <a:solidFill>
            <a:srgbClr val="1772D0"/>
          </a:solidFill>
          <a:ln>
            <a:solidFill>
              <a:srgbClr val="177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581144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B1F33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074920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TRACKED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434840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4434840"/>
            <a:ext cx="64008" cy="100584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4581144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5074920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BEHIND / GAP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4434840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4434840"/>
            <a:ext cx="64008" cy="1005840"/>
          </a:xfrm>
          <a:prstGeom prst="rect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581144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5074920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CLEAR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52160"/>
            <a:ext cx="5669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CFD8E3"/>
                </a:solidFill>
                <a:latin typeface="Aptos"/>
              </a:rPr>
              <a:t>Delivery: strategy@company.example.com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9B8C9"/>
                </a:solidFill>
                <a:latin typeface="Aptos"/>
              </a:rPr>
              <a:t>AutomationBench 1115  ·  Multi-source snapshot 2026-01-27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9B8C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772D0"/>
                </a:solidFill>
                <a:latin typeface="Aptos"/>
              </a:rPr>
              <a:t>PORTFOLIO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1F33"/>
                </a:solidFill>
                <a:latin typeface="Aptos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11000232" cy="18288"/>
          </a:xfrm>
          <a:prstGeom prst="rect">
            <a:avLst/>
          </a:prstGeom>
          <a:solidFill>
            <a:srgbClr val="E4E7E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389888"/>
          <a:ext cx="54864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444752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"/>
              </a:rPr>
              <a:t>Headline moves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901952"/>
            <a:ext cx="475488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901952"/>
            <a:ext cx="64008" cy="758952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201168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Aptos"/>
              </a:rPr>
              <a:t>AI-Powered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8048" y="201168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D92D20"/>
                </a:solidFill>
                <a:latin typeface="Aptos"/>
              </a:rPr>
              <a:t>P0 Behind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2322576"/>
            <a:ext cx="41148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Native GPT-4 integration; 3x faster 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816352"/>
            <a:ext cx="475488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2816352"/>
            <a:ext cx="64008" cy="758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92608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Aptos"/>
              </a:rPr>
              <a:t>Native 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292608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Aptos"/>
              </a:rPr>
              <a:t>P1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236976"/>
            <a:ext cx="41148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New v4 app; beta users rate it 4.2/5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730752"/>
            <a:ext cx="475488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730752"/>
            <a:ext cx="64008" cy="758952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384048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Aptos"/>
              </a:rPr>
              <a:t>Embedded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384048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D92D20"/>
                </a:solidFill>
                <a:latin typeface="Aptos"/>
              </a:rPr>
              <a:t>P1 Behind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4151376"/>
            <a:ext cx="41148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DataViz Co. acquisition now GA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645152"/>
            <a:ext cx="475488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4645152"/>
            <a:ext cx="64008" cy="758952"/>
          </a:xfrm>
          <a:prstGeom prst="rect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475488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Aptos"/>
              </a:rPr>
              <a:t>Custom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475488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7A673"/>
                </a:solidFill>
                <a:latin typeface="Aptos"/>
              </a:rPr>
              <a:t>P1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5065776"/>
            <a:ext cx="41148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Our strongest counter-position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AutomationBench 1115  ·  Multi-source snapshot 2026-01-27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772D0"/>
                </a:solidFill>
                <a:latin typeface="Aptos"/>
              </a:rPr>
              <a:t>COMPETITIVE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1F33"/>
                </a:solidFill>
                <a:latin typeface="Aptos"/>
              </a:rPr>
              <a:t>Capability-by-capability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11000232" cy="18288"/>
          </a:xfrm>
          <a:prstGeom prst="rect">
            <a:avLst/>
          </a:prstGeom>
          <a:solidFill>
            <a:srgbClr val="E4E7E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53312"/>
          <a:ext cx="1106424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783080"/>
                <a:gridCol w="1325880"/>
                <a:gridCol w="1005840"/>
                <a:gridCol w="685800"/>
                <a:gridCol w="4023360"/>
              </a:tblGrid>
              <a:tr h="5029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FEATURE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STRATACORP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GAP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PRIORITY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Real-time Collaboration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667085"/>
                          </a:solidFill>
                          <a:latin typeface="Aptos"/>
                        </a:rPr>
                        <a:t>Parity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P2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AI-Powered Insights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Yes (new in v4)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Beta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D92D20"/>
                          </a:solidFill>
                          <a:latin typeface="Aptos"/>
                        </a:rPr>
                        <a:t>Behind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P0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Their implementation uses GPT-4 integration natively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Custom Workflows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7A673"/>
                          </a:solidFill>
                          <a:latin typeface="Aptos"/>
                        </a:rPr>
                        <a:t>Ahead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P1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SSO / Enterprise Auth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667085"/>
                          </a:solidFill>
                          <a:latin typeface="Aptos"/>
                        </a:rPr>
                        <a:t>Parity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P3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Native Mobile App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Yes (new in v4)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59E0B"/>
                          </a:solidFill>
                          <a:latin typeface="Aptos"/>
                        </a:rPr>
                        <a:t>Gap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P1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Our mobile roadmap is Q3 2026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Embedded Analytics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D92D20"/>
                          </a:solidFill>
                          <a:latin typeface="Aptos"/>
                        </a:rPr>
                        <a:t>Behind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475569"/>
                          </a:solidFill>
                          <a:latin typeface="Aptos"/>
                        </a:rPr>
                        <a:t>P1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ptos"/>
                        </a:rPr>
                        <a:t>They acquired DataViz Co. for this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AutomationBench 1115  ·  Multi-source snapshot 2026-01-27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772D0"/>
                </a:solidFill>
                <a:latin typeface="Aptos"/>
              </a:rPr>
              <a:t>ANALYST + FIELD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1F33"/>
                </a:solidFill>
                <a:latin typeface="Aptos"/>
              </a:rPr>
              <a:t>What the market is telling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11000232" cy="18288"/>
          </a:xfrm>
          <a:prstGeom prst="rect">
            <a:avLst/>
          </a:prstGeom>
          <a:solidFill>
            <a:srgbClr val="E4E7E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230368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682496"/>
            <a:ext cx="1417320" cy="310896"/>
          </a:xfrm>
          <a:prstGeom prst="roundRect">
            <a:avLst/>
          </a:prstGeom>
          <a:solidFill>
            <a:srgbClr val="6947C6"/>
          </a:solidFill>
          <a:ln>
            <a:solidFill>
              <a:srgbClr val="694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23644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ANALYST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94560"/>
            <a:ext cx="2057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760"/>
            <a:ext cx="2057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faster report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194560"/>
            <a:ext cx="2057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4.2/5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651760"/>
            <a:ext cx="2057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mobile beta 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55848"/>
            <a:ext cx="2057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15-20%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813048"/>
            <a:ext cx="2057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mid-market undercut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3355848"/>
            <a:ext cx="2057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12 vs 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3813048"/>
            <a:ext cx="2057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workflow trigger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690872"/>
            <a:ext cx="4526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Aptos"/>
              </a:rPr>
              <a:t>Pricing: Starter $29/user/mo  ·  Pro $79/user/mo  ·  Enterprise custom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376672"/>
            <a:ext cx="4526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947C6"/>
                </a:solidFill>
                <a:latin typeface="Aptos"/>
              </a:rPr>
              <a:t>Embedded Analytics is now GA via DataViz Co.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1417320"/>
            <a:ext cx="5257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4" y="1682496"/>
            <a:ext cx="1417320" cy="310896"/>
          </a:xfrm>
          <a:prstGeom prst="roundRect">
            <a:avLst/>
          </a:prstGeom>
          <a:solidFill>
            <a:srgbClr val="1772D0"/>
          </a:solidFill>
          <a:ln>
            <a:solidFill>
              <a:srgbClr val="177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1723644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 / SLACK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194560"/>
            <a:ext cx="4251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Aptos"/>
              </a:rPr>
              <a:t>Meridian Corp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542032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30% Pro discount to switch  ·  ~$45K ARR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194560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Jordan Mills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273552"/>
            <a:ext cx="4251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Aptos"/>
              </a:rPr>
              <a:t>Mobile urgency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621024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Two prospects raised the app; one called it a deciding factor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3273552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Casey Park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352544"/>
            <a:ext cx="4251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Aptos"/>
              </a:rPr>
              <a:t>NovaTech win-back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700016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Likes AI insights; custom workflows are 'basically nonexistent'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435254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Dana Reeves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458968"/>
            <a:ext cx="4297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7A673"/>
                </a:solidFill>
                <a:latin typeface="Aptos"/>
              </a:rPr>
              <a:t>NovaTech may return if we ship our AI module.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AutomationBench 1115  ·  Multi-source snapshot 2026-01-27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772D0"/>
                </a:solidFill>
                <a:latin typeface="Aptos"/>
              </a:rPr>
              <a:t>ACTION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1F33"/>
                </a:solidFill>
                <a:latin typeface="Aptos"/>
              </a:rPr>
              <a:t>Recommended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11000232" cy="18288"/>
          </a:xfrm>
          <a:prstGeom prst="rect">
            <a:avLst/>
          </a:prstGeom>
          <a:solidFill>
            <a:srgbClr val="E4E7E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6812280" cy="841248"/>
          </a:xfrm>
          <a:prstGeom prst="roundRect">
            <a:avLst/>
          </a:prstGeom>
          <a:solidFill>
            <a:srgbClr val="F7F9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55064"/>
            <a:ext cx="749808" cy="310896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96212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563624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tos"/>
              </a:rPr>
              <a:t>AI-Powered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2" y="1563624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Prepare battle cards; accelerate credible AI module proof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41448"/>
            <a:ext cx="6812280" cy="841248"/>
          </a:xfrm>
          <a:prstGeom prst="roundRect">
            <a:avLst/>
          </a:prstGeom>
          <a:solidFill>
            <a:srgbClr val="F7F9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679191"/>
            <a:ext cx="749808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720339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2587752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tos"/>
              </a:rPr>
              <a:t>Native Mobile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587752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Give field teams a clear roadmap story for the Q3 2026 mobile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65576"/>
            <a:ext cx="6812280" cy="841248"/>
          </a:xfrm>
          <a:prstGeom prst="roundRect">
            <a:avLst/>
          </a:prstGeom>
          <a:solidFill>
            <a:srgbClr val="F7F9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3703320"/>
            <a:ext cx="749808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44468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61188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tos"/>
              </a:rPr>
              <a:t>Embedded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611880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Equip RFP teams to answer the DataViz Co. / GA differentiator.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489704"/>
            <a:ext cx="6812280" cy="841248"/>
          </a:xfrm>
          <a:prstGeom prst="roundRect">
            <a:avLst/>
          </a:prstGeom>
          <a:solidFill>
            <a:srgbClr val="F7F9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4727448"/>
            <a:ext cx="749808" cy="310896"/>
          </a:xfrm>
          <a:prstGeom prst="roundRect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768596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DEFEND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63600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tos"/>
              </a:rPr>
              <a:t>Custom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9352" y="4636008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Lead with our workflow advantage and customer success stories.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5552" y="1417320"/>
            <a:ext cx="3566160" cy="391363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1755648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Pipeline watchlist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33172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2B8CF"/>
                </a:solidFill>
                <a:latin typeface="Aptos"/>
              </a:rPr>
              <a:t>Meridian Corp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688336"/>
            <a:ext cx="2697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D5DEE8"/>
                </a:solidFill>
                <a:latin typeface="Aptos"/>
              </a:rPr>
              <a:t>Defend ~$45K ARR opportunity against a 30% Pro discount.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493008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2B8CF"/>
                </a:solidFill>
                <a:latin typeface="Aptos"/>
              </a:rPr>
              <a:t>NovaTech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840480"/>
            <a:ext cx="2697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D5DEE8"/>
                </a:solidFill>
                <a:latin typeface="Aptos"/>
              </a:rPr>
              <a:t>Win-back signal depends on AI module credibility; emphasize workflow advantage.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800600"/>
            <a:ext cx="2697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A9B8C9"/>
                </a:solidFill>
                <a:latin typeface="Aptos"/>
              </a:rPr>
              <a:t>Owner: Strategy + Product Marketing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AutomationBench 1115  ·  Multi-source snapshot 2026-01-27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B8CF"/>
                </a:solidFill>
                <a:latin typeface="Aptos"/>
              </a:rPr>
              <a:t>PRICING GOVERNANCE  /  CONTROLLED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6492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Capture the pricing signal.
Do not bypass approval.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59152"/>
            <a:ext cx="1938528" cy="1097280"/>
          </a:xfrm>
          <a:prstGeom prst="roundRect">
            <a:avLst/>
          </a:prstGeom>
          <a:solidFill>
            <a:srgbClr val="133652"/>
          </a:solidFill>
          <a:ln>
            <a:solidFill>
              <a:srgbClr val="2A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587752"/>
            <a:ext cx="1600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9C7DC"/>
                </a:solidFill>
                <a:latin typeface="Aptos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44368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$29/user/mo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5" y="2359152"/>
            <a:ext cx="1938528" cy="1097280"/>
          </a:xfrm>
          <a:prstGeom prst="roundRect">
            <a:avLst/>
          </a:prstGeom>
          <a:solidFill>
            <a:srgbClr val="133652"/>
          </a:solidFill>
          <a:ln>
            <a:solidFill>
              <a:srgbClr val="2A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2587752"/>
            <a:ext cx="1600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9C7DC"/>
                </a:solidFill>
                <a:latin typeface="Aptos"/>
              </a:rPr>
              <a:t>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944368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$79/user/mo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359152"/>
            <a:ext cx="1938528" cy="1097280"/>
          </a:xfrm>
          <a:prstGeom prst="roundRect">
            <a:avLst/>
          </a:prstGeom>
          <a:solidFill>
            <a:srgbClr val="133652"/>
          </a:solidFill>
          <a:ln>
            <a:solidFill>
              <a:srgbClr val="2A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8655" y="2587752"/>
            <a:ext cx="1600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9C7DC"/>
                </a:solidFill>
                <a:latin typeface="Aptos"/>
              </a:rPr>
              <a:t>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655" y="2944368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custom pricing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22191"/>
            <a:ext cx="6400800" cy="1298448"/>
          </a:xfrm>
          <a:prstGeom prst="roundRect">
            <a:avLst/>
          </a:prstGeom>
          <a:solidFill>
            <a:srgbClr val="2C202C"/>
          </a:solidFill>
          <a:ln>
            <a:solidFill>
              <a:srgbClr val="6F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5760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B4AB"/>
                </a:solidFill>
                <a:latin typeface="Aptos"/>
              </a:rPr>
              <a:t>DO NOT directly change the pricing comparison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72000"/>
            <a:ext cx="5715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E8D7D9"/>
                </a:solidFill>
                <a:latin typeface="Aptos"/>
              </a:rPr>
              <a:t>Pricing Committee approval is required; reviews occur every Wednesday.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932688"/>
            <a:ext cx="379476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1261872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772D0"/>
                </a:solidFill>
                <a:latin typeface="Aptos"/>
              </a:rPr>
              <a:t>NEXT CONTROLLED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1719072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B1F33"/>
                </a:solidFill>
                <a:latin typeface="Aptos"/>
              </a:rPr>
              <a:t>Open HubSpot ticket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2331720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Subject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651760"/>
            <a:ext cx="29260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D2939"/>
                </a:solidFill>
                <a:latin typeface="Aptos"/>
              </a:rPr>
              <a:t>Pricing Page Update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3355848"/>
            <a:ext cx="1737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Description must include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3675887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StrataCorp tiers, exact prices, and comparison-page changes requested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4526280"/>
            <a:ext cx="1188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Deliver brief 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4828032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772D0"/>
                </a:solidFill>
                <a:latin typeface="Aptos"/>
              </a:rPr>
              <a:t>strategy@company.example.com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9B8C9"/>
                </a:solidFill>
                <a:latin typeface="Aptos"/>
              </a:rPr>
              <a:t>AutomationBench 1115  ·  Multi-source snapshot 2026-01-27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9B8C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