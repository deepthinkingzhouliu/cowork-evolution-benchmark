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59" r:id="rId1"/>
  </p:sldMasterIdLst>
  <p:notesMasterIdLst>
    <p:notesMasterId r:id="rId12"/>
  </p:notesMasterIdLst>
  <p:sldIdLst>
    <p:sldId id="256" r:id="rId2"/>
    <p:sldId id="257" r:id="rId4"/>
    <p:sldId id="258" r:id="rId5"/>
    <p:sldId id="259" r:id="rId6"/>
    <p:sldId id="260" r:id="rId7"/>
    <p:sldId id="261" r:id="rId8"/>
    <p:sldId id="262" r:id="rId9"/>
    <p:sldId id="263" r:id="rId10"/>
    <p:sldId id="264" r:id="rId11"/>
  </p:sldIdLst>
  <p:sldSz cx="9144000" cy="5143500" type="screen16x9"/>
  <p:notesSz cx="6858000" cy="9144000"/>
  <p:embeddedFontLst>
    <p:embeddedFont>
      <p:font typeface="Bangers" pitchFamily="2" charset="77"/>
      <p:regular r:id="rId13"/>
    </p:embeddedFont>
    <p:embeddedFont>
      <p:font typeface="Comic Neue" panose="02000000000000000000" pitchFamily="2" charset="0"/>
      <p:regular r:id="rId14"/>
      <p:bold r:id="rId15"/>
      <p:italic r:id="rId16"/>
      <p:boldItalic r:id="rId17"/>
    </p:embeddedFont>
    <p:embeddedFont>
      <p:font typeface="Londrina Shadow" pitchFamily="2" charset="77"/>
      <p:regular r:id="rId18"/>
    </p:embeddedFont>
    <p:embeddedFont>
      <p:font typeface="Permanent Marker" panose="02000000000000000000" pitchFamily="2"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890"/>
  </p:normalViewPr>
  <p:slideViewPr>
    <p:cSldViewPr snapToGrid="0">
      <p:cViewPr varScale="1">
        <p:scale>
          <a:sx n="117" d="100"/>
          <a:sy n="117" d="100"/>
        </p:scale>
        <p:origin x="202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c84d15ad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c84d15ad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transitions fit within one of the five choices comics creators make (according to McCloud). </a:t>
            </a:r>
          </a:p>
          <a:p>
            <a:pPr marL="0" lvl="0" indent="0" algn="l" rtl="0">
              <a:spcBef>
                <a:spcPts val="0"/>
              </a:spcBef>
              <a:spcAft>
                <a:spcPts val="0"/>
              </a:spcAft>
              <a:buNone/>
            </a:pPr>
            <a:r>
              <a:rPr lang="en-US" dirty="0"/>
              <a:t>The five choices he lists are choices of: moment, frame, image, word, and flow. See “Chapter One: Writing with Images” in McCloud’s book </a:t>
            </a:r>
            <a:r>
              <a:rPr lang="en-US" i="1" dirty="0"/>
              <a:t>Making Comics</a:t>
            </a:r>
            <a:r>
              <a:rPr lang="en-US" dirty="0"/>
              <a:t> for more information.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c84d15ad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c84d15ad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can see multiple examples of moment to moment panel transitions here on pages 115 and 116 of </a:t>
            </a:r>
            <a:r>
              <a:rPr lang="en-US" i="1" dirty="0"/>
              <a:t>The Magic Fish. </a:t>
            </a:r>
          </a:p>
          <a:p>
            <a:pPr marL="0" lvl="0" indent="0" algn="l" rtl="0">
              <a:spcBef>
                <a:spcPts val="0"/>
              </a:spcBef>
              <a:spcAft>
                <a:spcPts val="0"/>
              </a:spcAft>
              <a:buNone/>
            </a:pPr>
            <a:r>
              <a:rPr lang="en-US" dirty="0"/>
              <a:t>If you follow the progression of the roses in the vase as they fall, or the phone as it drops, or even as </a:t>
            </a:r>
            <a:r>
              <a:rPr lang="en-US" dirty="0" err="1"/>
              <a:t>Tién</a:t>
            </a:r>
            <a:r>
              <a:rPr lang="en-US" dirty="0"/>
              <a:t> slowly puts down the photo he’s holding, we can see moment to moment transitions.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moment to moment transitions act to slow down time for the reader. They help build tension in the story. In this scene, Helen is answering a phone call and learning that her mother has died. </a:t>
            </a:r>
            <a:r>
              <a:rPr lang="en-US" dirty="0" err="1"/>
              <a:t>Tién</a:t>
            </a:r>
            <a:r>
              <a:rPr lang="en-US" dirty="0"/>
              <a:t> sense something is wrong, and somehow, the flowers are knocked over in Helen’s reaction to the news.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c84d15ad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c84d15ad8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again, on page 115 we can see Tien progressing through a series of actions as he views the photo, hears something (presumably his mom’s phone conversation), puts the photo down as he wonders what is the matter, and finally enters the room where his mom is on the phone.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c84d15ad8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c84d15ad8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can see Helen speaking with her aunt in Vietnam (page 164). The first panel on the page (left) shows the two talking as they sit next to each other. The second panel (top right) focuses on Helen as she asks a questions. The following panel (bottom right) shows Helen’s aunt responding.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transition from one character to another (in panels two and three) allows the reader to feel like they are part of the conversation instead of a distant viewer of the conversation (as shown in the first panel). Panels two and three allow the reader to gain a closer connection to the characters and thus make the reader more invested in the issue at hand.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 how panel two has Helen looking to the right, while panel three has her aunt looking to the left. The directional focus of the characters in the scene helps remind the reader that they are talking to each other. If both of the characters were looking in the same direction, it might confuse the reader. Or it might show that one character isn’t wanting to discuss something (they can’t look the other person in the eye).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c84d15ad8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c84d15ad8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Scene to scene transitions help to progress the story quickly or to transition from one scene or storyline to another. </a:t>
            </a:r>
          </a:p>
          <a:p>
            <a:pPr marL="0" lvl="0" indent="0" algn="l" rtl="0">
              <a:spcBef>
                <a:spcPts val="0"/>
              </a:spcBef>
              <a:spcAft>
                <a:spcPts val="0"/>
              </a:spcAft>
              <a:buNone/>
            </a:pPr>
            <a:r>
              <a:rPr lang="en-US" dirty="0"/>
              <a:t>In this scene we can see a montage showing the reader Helen’s progress as she travels home to bury her mother. The panels start at the top (left) with a plane flying through the air. Panel two (middle top) shows Helen sitting and the words help us realize that she’s waiting for her next plane. So time has progressed between these two panels. Next we see another plane in panel three (top left), close up this time, and we can make the assumption that time has passed again and now Helen is boarding her next flight in transit to her destination. Panels 4-7 help us see her progress as she gets a ticket, waits, and finally catches a van to bring her to her aunt.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By using scene to scene transitions in this sequence, Nguyen is able to speed time up while allowing the reader to see how Helen’s journey was full of difficulties.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c84d15ad8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c84d15ad8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again is the scene where Tien’s Mother answers the phone to find out her mother has died (pages 114-115). On the left (</a:t>
            </a:r>
            <a:r>
              <a:rPr lang="en-US" dirty="0" err="1"/>
              <a:t>pg</a:t>
            </a:r>
            <a:r>
              <a:rPr lang="en-US" dirty="0"/>
              <a:t> 114) we can see Helen reacting to the phone </a:t>
            </a:r>
            <a:r>
              <a:rPr lang="en-US" dirty="0" err="1"/>
              <a:t>rining</a:t>
            </a:r>
            <a:r>
              <a:rPr lang="en-US" dirty="0"/>
              <a:t> while </a:t>
            </a:r>
            <a:r>
              <a:rPr lang="en-US" dirty="0" err="1"/>
              <a:t>Tién</a:t>
            </a:r>
            <a:r>
              <a:rPr lang="en-US" dirty="0"/>
              <a:t> is focused on the picture in his backpack. Over the course of the two pages, the panels transitioning between </a:t>
            </a:r>
            <a:r>
              <a:rPr lang="en-US" dirty="0" err="1"/>
              <a:t>Tién</a:t>
            </a:r>
            <a:r>
              <a:rPr lang="en-US" dirty="0"/>
              <a:t>, the picture, some stars, the conversation in the other room (“Hell?” word bubble), </a:t>
            </a:r>
            <a:r>
              <a:rPr lang="en-US" dirty="0" err="1"/>
              <a:t>Tién</a:t>
            </a:r>
            <a:r>
              <a:rPr lang="en-US" dirty="0"/>
              <a:t> closely analyzing the picture, a vase of roses starting to fall, </a:t>
            </a:r>
            <a:r>
              <a:rPr lang="en-US" dirty="0" err="1"/>
              <a:t>Tién</a:t>
            </a:r>
            <a:r>
              <a:rPr lang="en-US" dirty="0"/>
              <a:t> noticing something is wrong, </a:t>
            </a:r>
            <a:r>
              <a:rPr lang="en-US" dirty="0" err="1"/>
              <a:t>Tién</a:t>
            </a:r>
            <a:r>
              <a:rPr lang="en-US" dirty="0"/>
              <a:t> (in the bottom left panel of page 115) swelling to double the size in relation to the rest of the panels (why?), the flowers and water spilling out of the vase, and finally </a:t>
            </a:r>
            <a:r>
              <a:rPr lang="en-US" dirty="0" err="1"/>
              <a:t>Tién</a:t>
            </a:r>
            <a:r>
              <a:rPr lang="en-US" dirty="0"/>
              <a:t> entering the next room tentatively.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mood between these two pages shifts from happy and loving (perhaps signified by the stars which tend to come up whenever one of the character’s loves something) to uncertain and concerning. The shift from photo, to character to object (the aspect to aspect transitions) help the reader see the change in mood and tone.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c84d15ad8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c84d15ad8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first page of </a:t>
            </a:r>
            <a:r>
              <a:rPr lang="en-US" i="1" dirty="0"/>
              <a:t>The Magic Fish. </a:t>
            </a:r>
            <a:r>
              <a:rPr lang="en-US" dirty="0"/>
              <a:t>In these first three establishing panels. The reader is exposed to three different storylines, even though they don’t realize it yet. By tossing the reader into these three seemingly unconnected panels, Nguyen is starting to establish the rules of reading this graphic novel. He never directly tells the reader how to interpret the three colors in the course of the story, but by giving them establishing panels </a:t>
            </a:r>
            <a:r>
              <a:rPr lang="en-US" dirty="0" err="1"/>
              <a:t>liekt</a:t>
            </a:r>
            <a:r>
              <a:rPr lang="en-US" dirty="0"/>
              <a:t> this, he starts the work of explaining it through context. As the storylines continue, the reader will come to see that red signifies the present, yellow the past, and purple the fairy tales.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Panel one is a close up of </a:t>
            </a:r>
            <a:r>
              <a:rPr lang="en-US" dirty="0" err="1"/>
              <a:t>Tién’s</a:t>
            </a:r>
            <a:r>
              <a:rPr lang="en-US" dirty="0"/>
              <a:t> hands on a book as he sits next to his mother on a bus. Panel two shows birds flying amongst the clouds, and panel three shows a girl from the “</a:t>
            </a:r>
            <a:r>
              <a:rPr lang="en-US" dirty="0" err="1"/>
              <a:t>Tattercoats</a:t>
            </a:r>
            <a:r>
              <a:rPr lang="en-US" dirty="0"/>
              <a:t>” story walking through the woods.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narrative word bubbles (shown in two rectangle boxes) adds some context, explaining that things change as we go from place to place, but for the reader nothing here makes sense just yet.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c84d15ad8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c84d15ad8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Instructions:</a:t>
            </a:r>
          </a:p>
          <a:p>
            <a:pPr marL="457200" lvl="0" indent="-298450" algn="l" rtl="0">
              <a:spcBef>
                <a:spcPts val="0"/>
              </a:spcBef>
              <a:spcAft>
                <a:spcPts val="0"/>
              </a:spcAft>
              <a:buSzPts val="1100"/>
              <a:buAutoNum type="arabicPeriod"/>
            </a:pPr>
            <a:r>
              <a:rPr lang="en-US" dirty="0"/>
              <a:t>Have groups break up and discuss this. Give them time to review it at the end of class, at home, and then at the start of the next class.</a:t>
            </a:r>
          </a:p>
          <a:p>
            <a:pPr marL="457200" lvl="0" indent="-298450" algn="l" rtl="0">
              <a:spcBef>
                <a:spcPts val="0"/>
              </a:spcBef>
              <a:spcAft>
                <a:spcPts val="0"/>
              </a:spcAft>
              <a:buSzPts val="1100"/>
              <a:buAutoNum type="arabicPeriod"/>
            </a:pPr>
            <a:r>
              <a:rPr lang="en-US" dirty="0"/>
              <a:t>Have them pick a page, create notes on that page, and then pick a representative from the group to share with the class.</a:t>
            </a:r>
          </a:p>
          <a:p>
            <a:pPr marL="457200" lvl="0" indent="-298450" algn="l" rtl="0">
              <a:spcBef>
                <a:spcPts val="0"/>
              </a:spcBef>
              <a:spcAft>
                <a:spcPts val="0"/>
              </a:spcAft>
              <a:buSzPts val="1100"/>
              <a:buAutoNum type="arabicPeriod"/>
            </a:pPr>
            <a:r>
              <a:rPr lang="en-US" dirty="0"/>
              <a:t>Display each group’s page on the screen as they come up to point out their finding.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Clr>
                <a:schemeClr val="dk1"/>
              </a:buClr>
              <a:buSzPts val="1100"/>
              <a:buFont typeface="Arial"/>
              <a:buNone/>
            </a:pPr>
            <a:r>
              <a:rPr lang="en" sz="5900" b="1">
                <a:solidFill>
                  <a:srgbClr val="1155CC"/>
                </a:solidFill>
                <a:latin typeface="Londrina Shadow"/>
                <a:ea typeface="Londrina Shadow"/>
                <a:cs typeface="Londrina Shadow"/>
                <a:sym typeface="Londrina Shadow"/>
              </a:rPr>
              <a:t>Panel to Panel Transitions in Comics</a:t>
            </a:r>
            <a:endParaRPr sz="5900" b="1">
              <a:solidFill>
                <a:srgbClr val="1155CC"/>
              </a:solidFill>
              <a:latin typeface="Londrina Shadow"/>
              <a:ea typeface="Londrina Shadow"/>
              <a:cs typeface="Londrina Shadow"/>
              <a:sym typeface="Londrina Shadow"/>
            </a:endParaRPr>
          </a:p>
        </p:txBody>
      </p:sp>
      <p:sp>
        <p:nvSpPr>
          <p:cNvPr id="55" name="Google Shape;55;p13"/>
          <p:cNvSpPr txBox="1">
            <a:spLocks noGrp="1"/>
          </p:cNvSpPr>
          <p:nvPr>
            <p:ph type="subTitle" idx="1"/>
          </p:nvPr>
        </p:nvSpPr>
        <p:spPr>
          <a:xfrm>
            <a:off x="311700" y="2834125"/>
            <a:ext cx="8520600" cy="1541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dk1"/>
                </a:solidFill>
                <a:latin typeface="Permanent Marker"/>
                <a:ea typeface="Permanent Marker"/>
                <a:cs typeface="Permanent Marker"/>
                <a:sym typeface="Permanent Marker"/>
              </a:rPr>
              <a:t>With examples from: </a:t>
            </a:r>
            <a:endParaRPr>
              <a:solidFill>
                <a:schemeClr val="dk1"/>
              </a:solidFill>
              <a:latin typeface="Permanent Marker"/>
              <a:ea typeface="Permanent Marker"/>
              <a:cs typeface="Permanent Marker"/>
              <a:sym typeface="Permanent Marker"/>
            </a:endParaRPr>
          </a:p>
          <a:p>
            <a:pPr marL="0" lvl="0" indent="0" algn="ctr" rtl="0">
              <a:spcBef>
                <a:spcPts val="0"/>
              </a:spcBef>
              <a:spcAft>
                <a:spcPts val="0"/>
              </a:spcAft>
              <a:buNone/>
            </a:pPr>
            <a:r>
              <a:rPr lang="en" i="1">
                <a:solidFill>
                  <a:srgbClr val="274E13"/>
                </a:solidFill>
                <a:latin typeface="Permanent Marker"/>
                <a:ea typeface="Permanent Marker"/>
                <a:cs typeface="Permanent Marker"/>
                <a:sym typeface="Permanent Marker"/>
              </a:rPr>
              <a:t>THe Magic Fish </a:t>
            </a:r>
            <a:endParaRPr i="1">
              <a:solidFill>
                <a:srgbClr val="274E13"/>
              </a:solidFill>
              <a:latin typeface="Permanent Marker"/>
              <a:ea typeface="Permanent Marker"/>
              <a:cs typeface="Permanent Marker"/>
              <a:sym typeface="Permanent Marker"/>
            </a:endParaRPr>
          </a:p>
          <a:p>
            <a:pPr marL="0" lvl="0" indent="0" algn="ctr" rtl="0">
              <a:spcBef>
                <a:spcPts val="0"/>
              </a:spcBef>
              <a:spcAft>
                <a:spcPts val="0"/>
              </a:spcAft>
              <a:buClr>
                <a:schemeClr val="dk1"/>
              </a:buClr>
              <a:buSzPct val="39285"/>
              <a:buFont typeface="Arial"/>
              <a:buNone/>
            </a:pPr>
            <a:r>
              <a:rPr lang="en" i="1">
                <a:latin typeface="Permanent Marker"/>
                <a:ea typeface="Permanent Marker"/>
                <a:cs typeface="Permanent Marker"/>
                <a:sym typeface="Permanent Marker"/>
              </a:rPr>
              <a:t>by Trung Le Nguyen</a:t>
            </a:r>
            <a:endParaRPr i="1">
              <a:latin typeface="Permanent Marker"/>
              <a:ea typeface="Permanent Marker"/>
              <a:cs typeface="Permanent Marker"/>
              <a:sym typeface="Permanent Marker"/>
            </a:endParaRPr>
          </a:p>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1730"/>
              <a:buFont typeface="Arial"/>
              <a:buNone/>
            </a:pPr>
            <a:r>
              <a:rPr lang="en" sz="3120">
                <a:solidFill>
                  <a:srgbClr val="1C4587"/>
                </a:solidFill>
                <a:latin typeface="Bangers"/>
                <a:ea typeface="Bangers"/>
                <a:cs typeface="Bangers"/>
                <a:sym typeface="Bangers"/>
              </a:rPr>
              <a:t>Panel to Panel Transitions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6002" b="1">
                <a:solidFill>
                  <a:schemeClr val="dk1"/>
                </a:solidFill>
                <a:latin typeface="Comic Neue"/>
                <a:ea typeface="Comic Neue"/>
                <a:cs typeface="Comic Neue"/>
                <a:sym typeface="Comic Neue"/>
              </a:rPr>
              <a:t>According to Scott McCloud* there are six basic types of panel to panel transitions found in comics:</a:t>
            </a:r>
            <a:endParaRPr sz="6002" b="1">
              <a:solidFill>
                <a:schemeClr val="dk1"/>
              </a:solidFill>
              <a:latin typeface="Comic Neue"/>
              <a:ea typeface="Comic Neue"/>
              <a:cs typeface="Comic Neue"/>
              <a:sym typeface="Comic Neue"/>
            </a:endParaRPr>
          </a:p>
          <a:p>
            <a:pPr marL="457200" lvl="0" indent="-352482" algn="l" rtl="0">
              <a:spcBef>
                <a:spcPts val="120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Moment to Moment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Action to Action</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Subject to Subject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Scene to Scene</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Aspect to Aspect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Non Sequitur</a:t>
            </a:r>
            <a:endParaRPr sz="6002" b="1">
              <a:solidFill>
                <a:schemeClr val="dk1"/>
              </a:solidFill>
              <a:latin typeface="Comic Neue"/>
              <a:ea typeface="Comic Neue"/>
              <a:cs typeface="Comic Neue"/>
              <a:sym typeface="Comic Neue"/>
            </a:endParaRPr>
          </a:p>
          <a:p>
            <a:pPr marL="0" lvl="0" indent="0" algn="l" rtl="0">
              <a:lnSpc>
                <a:spcPct val="100000"/>
              </a:lnSpc>
              <a:spcBef>
                <a:spcPts val="1200"/>
              </a:spcBef>
              <a:spcAft>
                <a:spcPts val="1200"/>
              </a:spcAft>
              <a:buClr>
                <a:schemeClr val="dk1"/>
              </a:buClr>
              <a:buSzPts val="358"/>
              <a:buFont typeface="Arial"/>
              <a:buNone/>
            </a:pPr>
            <a:r>
              <a:rPr lang="en" sz="6802" b="1">
                <a:solidFill>
                  <a:schemeClr val="dk1"/>
                </a:solidFill>
                <a:latin typeface="Comic Neue"/>
                <a:ea typeface="Comic Neue"/>
                <a:cs typeface="Comic Neue"/>
                <a:sym typeface="Comic Neue"/>
              </a:rPr>
              <a:t>*</a:t>
            </a:r>
            <a:r>
              <a:rPr lang="en" sz="3900">
                <a:solidFill>
                  <a:schemeClr val="dk1"/>
                </a:solidFill>
              </a:rPr>
              <a:t>See Scott McCloud’s book </a:t>
            </a:r>
            <a:r>
              <a:rPr lang="en" sz="3900" u="sng">
                <a:solidFill>
                  <a:schemeClr val="dk1"/>
                </a:solidFill>
              </a:rPr>
              <a:t>Understanding Comics</a:t>
            </a:r>
            <a:r>
              <a:rPr lang="en" sz="3900">
                <a:solidFill>
                  <a:schemeClr val="dk1"/>
                </a:solidFill>
              </a:rPr>
              <a:t> pages 70-89 for information on transitions.</a:t>
            </a:r>
            <a:br>
              <a:rPr lang="en" sz="3900">
                <a:solidFill>
                  <a:schemeClr val="dk1"/>
                </a:solidFill>
              </a:rPr>
            </a:br>
            <a:r>
              <a:rPr lang="en" sz="3900">
                <a:solidFill>
                  <a:schemeClr val="dk1"/>
                </a:solidFill>
              </a:rPr>
              <a:t>   See Scott McCloud’s book </a:t>
            </a:r>
            <a:r>
              <a:rPr lang="en" sz="3900" i="1">
                <a:solidFill>
                  <a:schemeClr val="dk1"/>
                </a:solidFill>
              </a:rPr>
              <a:t>Making Comics</a:t>
            </a:r>
            <a:r>
              <a:rPr lang="en" sz="3900">
                <a:solidFill>
                  <a:schemeClr val="dk1"/>
                </a:solidFill>
              </a:rPr>
              <a:t> pages 15-17 for information on transitions.</a:t>
            </a:r>
            <a:endParaRPr sz="6802" b="1">
              <a:solidFill>
                <a:schemeClr val="dk1"/>
              </a:solidFill>
              <a:latin typeface="Comic Neue"/>
              <a:ea typeface="Comic Neue"/>
              <a:cs typeface="Comic Neue"/>
              <a:sym typeface="Comic Neue"/>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120">
                <a:solidFill>
                  <a:srgbClr val="1C4587"/>
                </a:solidFill>
                <a:latin typeface="Bangers"/>
                <a:ea typeface="Bangers"/>
                <a:cs typeface="Bangers"/>
                <a:sym typeface="Bangers"/>
              </a:rPr>
              <a:t>Moment To Moment Transitions</a:t>
            </a:r>
            <a:endParaRPr/>
          </a:p>
        </p:txBody>
      </p:sp>
      <p:sp>
        <p:nvSpPr>
          <p:cNvPr id="67" name="Google Shape;67;p15"/>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2800" b="1" dirty="0">
                <a:solidFill>
                  <a:schemeClr val="dk1"/>
                </a:solidFill>
                <a:latin typeface="Comic Neue"/>
                <a:ea typeface="Comic Neue"/>
                <a:cs typeface="Comic Neue"/>
                <a:sym typeface="Comic Neue"/>
              </a:rPr>
              <a:t>Moment to Moment transitions concentrate on an </a:t>
            </a:r>
            <a:r>
              <a:rPr lang="en" sz="2800" b="1" u="sng" dirty="0">
                <a:solidFill>
                  <a:schemeClr val="dk1"/>
                </a:solidFill>
                <a:latin typeface="Comic Neue"/>
                <a:ea typeface="Comic Neue"/>
                <a:cs typeface="Comic Neue"/>
                <a:sym typeface="Comic Neue"/>
              </a:rPr>
              <a:t>action</a:t>
            </a:r>
            <a:r>
              <a:rPr lang="en" sz="2800" b="1" dirty="0">
                <a:solidFill>
                  <a:schemeClr val="dk1"/>
                </a:solidFill>
                <a:latin typeface="Comic Neue"/>
                <a:ea typeface="Comic Neue"/>
                <a:cs typeface="Comic Neue"/>
                <a:sym typeface="Comic Neue"/>
              </a:rPr>
              <a:t> they progress through a series of moments. </a:t>
            </a:r>
            <a:endParaRPr sz="2800"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1200"/>
              </a:spcAft>
              <a:buNone/>
            </a:pPr>
            <a:endParaRPr sz="6002" b="1" dirty="0">
              <a:solidFill>
                <a:schemeClr val="dk1"/>
              </a:solidFill>
              <a:latin typeface="Comic Neue"/>
              <a:ea typeface="Comic Neue"/>
              <a:cs typeface="Comic Neue"/>
              <a:sym typeface="Comic Neue"/>
            </a:endParaRPr>
          </a:p>
        </p:txBody>
      </p:sp>
      <p:pic>
        <p:nvPicPr>
          <p:cNvPr id="68" name="Google Shape;68;p15"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075997" y="2222263"/>
            <a:ext cx="2076032" cy="2807210"/>
          </a:xfrm>
          <a:prstGeom prst="rect">
            <a:avLst/>
          </a:prstGeom>
          <a:noFill/>
          <a:ln>
            <a:noFill/>
          </a:ln>
        </p:spPr>
      </p:pic>
      <p:pic>
        <p:nvPicPr>
          <p:cNvPr id="69" name="Google Shape;69;p15" descr="scene from The Magic Fish"/>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892390" y="2222263"/>
            <a:ext cx="2076031" cy="2807210"/>
          </a:xfrm>
          <a:prstGeom prst="rect">
            <a:avLst/>
          </a:prstGeom>
          <a:noFill/>
          <a:ln>
            <a:noFill/>
          </a:ln>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Action to Action Transitions</a:t>
            </a:r>
            <a:endParaRPr>
              <a:solidFill>
                <a:srgbClr val="1C4587"/>
              </a:solidFill>
              <a:latin typeface="Bangers"/>
              <a:ea typeface="Bangers"/>
              <a:cs typeface="Bangers"/>
              <a:sym typeface="Bangers"/>
            </a:endParaRPr>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Action to action transitions occur when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person or thing is portrayed in a series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of actions.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76" name="Google Shape;76;p16"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58451" y="134138"/>
            <a:ext cx="3249348" cy="4875223"/>
          </a:xfrm>
          <a:prstGeom prst="rect">
            <a:avLst/>
          </a:prstGeom>
          <a:noFill/>
          <a:ln>
            <a:noFill/>
          </a:ln>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Subject to Subject Transitions	</a:t>
            </a:r>
            <a:endParaRPr>
              <a:solidFill>
                <a:srgbClr val="1C4587"/>
              </a:solidFill>
              <a:latin typeface="Bangers"/>
              <a:ea typeface="Bangers"/>
              <a:cs typeface="Bangers"/>
              <a:sym typeface="Bangers"/>
            </a:endParaRPr>
          </a:p>
        </p:txBody>
      </p:sp>
      <p:sp>
        <p:nvSpPr>
          <p:cNvPr id="82" name="Google Shape;82;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In a subject to subject transition we see panels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change the focus from one subject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to another as a scene progresses. </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83" name="Google Shape;83;p17"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399875" y="1528025"/>
            <a:ext cx="4077624" cy="3354898"/>
          </a:xfrm>
          <a:prstGeom prst="rect">
            <a:avLst/>
          </a:prstGeom>
          <a:noFill/>
          <a:ln>
            <a:noFill/>
          </a:ln>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Scene to scene Transitions</a:t>
            </a:r>
            <a:endParaRPr>
              <a:solidFill>
                <a:srgbClr val="1C4587"/>
              </a:solidFill>
              <a:latin typeface="Bangers"/>
              <a:ea typeface="Bangers"/>
              <a:cs typeface="Bangers"/>
              <a:sym typeface="Bangers"/>
            </a:endParaRPr>
          </a:p>
        </p:txBody>
      </p:sp>
      <p:sp>
        <p:nvSpPr>
          <p:cNvPr id="89" name="Google Shape;89;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Panel transitions from scene to scene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show the reader how the story progresses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through various spaces, settings and times.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90" name="Google Shape;90;p18"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51774" y="51050"/>
            <a:ext cx="3327399" cy="5018076"/>
          </a:xfrm>
          <a:prstGeom prst="rect">
            <a:avLst/>
          </a:prstGeom>
          <a:noFill/>
          <a:ln>
            <a:noFill/>
          </a:ln>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Aspect to Aspect Transitions</a:t>
            </a:r>
            <a:endParaRPr>
              <a:solidFill>
                <a:srgbClr val="1C4587"/>
              </a:solidFill>
              <a:latin typeface="Bangers"/>
              <a:ea typeface="Bangers"/>
              <a:cs typeface="Bangers"/>
              <a:sym typeface="Bangers"/>
            </a:endParaRPr>
          </a:p>
        </p:txBody>
      </p:sp>
      <p:sp>
        <p:nvSpPr>
          <p:cNvPr id="96" name="Google Shape;96;p19"/>
          <p:cNvSpPr txBox="1">
            <a:spLocks noGrp="1"/>
          </p:cNvSpPr>
          <p:nvPr>
            <p:ph type="body" idx="1"/>
          </p:nvPr>
        </p:nvSpPr>
        <p:spPr>
          <a:xfrm>
            <a:off x="311700" y="1152475"/>
            <a:ext cx="1869600" cy="3416400"/>
          </a:xfrm>
          <a:prstGeom prst="rect">
            <a:avLst/>
          </a:prstGeom>
        </p:spPr>
        <p:txBody>
          <a:bodyPr spcFirstLastPara="1" wrap="square" lIns="91425" tIns="91425" rIns="91425" bIns="91425" anchor="t" anchorCtr="0">
            <a:normAutofit fontScale="77500" lnSpcReduction="10000"/>
          </a:bodyPr>
          <a:lstStyle/>
          <a:p>
            <a:pPr marL="0" lvl="0" indent="0" algn="l" rtl="0">
              <a:spcBef>
                <a:spcPts val="0"/>
              </a:spcBef>
              <a:spcAft>
                <a:spcPts val="1200"/>
              </a:spcAft>
              <a:buNone/>
            </a:pPr>
            <a:r>
              <a:rPr lang="en" sz="2300" b="1">
                <a:solidFill>
                  <a:schemeClr val="dk1"/>
                </a:solidFill>
                <a:latin typeface="Comic Neue"/>
                <a:ea typeface="Comic Neue"/>
                <a:cs typeface="Comic Neue"/>
                <a:sym typeface="Comic Neue"/>
              </a:rPr>
              <a:t>Aspect to aspect transitions move the reader’s attention from one aspect of a scene or place to another in order to convey a certain tone or mood.</a:t>
            </a:r>
            <a:endParaRPr sz="2300" b="1">
              <a:solidFill>
                <a:schemeClr val="dk1"/>
              </a:solidFill>
              <a:latin typeface="Comic Neue"/>
              <a:ea typeface="Comic Neue"/>
              <a:cs typeface="Comic Neue"/>
              <a:sym typeface="Comic Neue"/>
            </a:endParaRPr>
          </a:p>
        </p:txBody>
      </p:sp>
      <p:sp>
        <p:nvSpPr>
          <p:cNvPr id="97" name="Google Shape;97;p19"/>
          <p:cNvSpPr txBox="1">
            <a:spLocks noGrp="1"/>
          </p:cNvSpPr>
          <p:nvPr>
            <p:ph type="body" idx="2"/>
          </p:nvPr>
        </p:nvSpPr>
        <p:spPr>
          <a:xfrm>
            <a:off x="4832400" y="1970650"/>
            <a:ext cx="2951100" cy="3718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8" name="Google Shape;98;p19"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750849" y="941950"/>
            <a:ext cx="5822925" cy="3966224"/>
          </a:xfrm>
          <a:prstGeom prst="rect">
            <a:avLst/>
          </a:prstGeom>
          <a:noFill/>
          <a:ln>
            <a:noFill/>
          </a:ln>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Non Sequitur Transitions</a:t>
            </a:r>
            <a:endParaRPr>
              <a:solidFill>
                <a:srgbClr val="1C4587"/>
              </a:solidFill>
              <a:latin typeface="Bangers"/>
              <a:ea typeface="Bangers"/>
              <a:cs typeface="Bangers"/>
              <a:sym typeface="Bangers"/>
            </a:endParaRPr>
          </a:p>
        </p:txBody>
      </p:sp>
      <p:sp>
        <p:nvSpPr>
          <p:cNvPr id="104" name="Google Shape;104;p20"/>
          <p:cNvSpPr txBox="1">
            <a:spLocks noGrp="1"/>
          </p:cNvSpPr>
          <p:nvPr>
            <p:ph type="body" idx="1"/>
          </p:nvPr>
        </p:nvSpPr>
        <p:spPr>
          <a:xfrm>
            <a:off x="311700" y="1152475"/>
            <a:ext cx="4137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These transitions tend to be an unrelated sequence of characters, scenes, and objects. The relationship between the images is up to the reader to discern in order to find meaning or to detect mood or tone.</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105" name="Google Shape;105;p20"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65200" y="223098"/>
            <a:ext cx="3303499" cy="4920402"/>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1089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Group Activity: Transitions and empathy / Identification</a:t>
            </a:r>
            <a:endParaRPr>
              <a:solidFill>
                <a:srgbClr val="1C4587"/>
              </a:solidFill>
              <a:latin typeface="Bangers"/>
              <a:ea typeface="Bangers"/>
              <a:cs typeface="Bangers"/>
              <a:sym typeface="Bangers"/>
            </a:endParaRPr>
          </a:p>
        </p:txBody>
      </p:sp>
      <p:sp>
        <p:nvSpPr>
          <p:cNvPr id="111" name="Google Shape;111;p21"/>
          <p:cNvSpPr txBox="1">
            <a:spLocks noGrp="1"/>
          </p:cNvSpPr>
          <p:nvPr>
            <p:ph type="body" idx="1"/>
          </p:nvPr>
        </p:nvSpPr>
        <p:spPr>
          <a:xfrm>
            <a:off x="311700" y="582525"/>
            <a:ext cx="4398000" cy="4424700"/>
          </a:xfrm>
          <a:prstGeom prst="rect">
            <a:avLst/>
          </a:prstGeom>
        </p:spPr>
        <p:txBody>
          <a:bodyPr spcFirstLastPara="1" wrap="square" lIns="91425" tIns="91425" rIns="91425" bIns="91425" anchor="t" anchorCtr="0">
            <a:noAutofit/>
          </a:bodyPr>
          <a:lstStyle/>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Review this image from pg. 28</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Identify the transitions </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Discuss why Nguyen might have transitioned between the panels in these ways.</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the transitions make the reader’s feel?</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you think Helen is feeling in the past and the present as it’s represented on the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universal message is Nguyen developing with this story and this particular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How does the use of transitions between the three storylines here help the reader empathize with Helen (an immigrant)?</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Find another page/s in The Magic Fish where you can see Nguyen using a sequence of images in a way that helps the reader identify with Tién as he struggles with his sexuality.</a:t>
            </a:r>
            <a:endParaRPr sz="1500" b="1">
              <a:solidFill>
                <a:schemeClr val="dk1"/>
              </a:solidFill>
              <a:latin typeface="Comic Neue"/>
              <a:ea typeface="Comic Neue"/>
              <a:cs typeface="Comic Neue"/>
              <a:sym typeface="Comic Neue"/>
            </a:endParaRPr>
          </a:p>
        </p:txBody>
      </p:sp>
      <p:pic>
        <p:nvPicPr>
          <p:cNvPr id="112" name="Google Shape;112;p21"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02281" y="566400"/>
            <a:ext cx="3550421" cy="4424699"/>
          </a:xfrm>
          <a:prstGeom prst="rect">
            <a:avLst/>
          </a:prstGeom>
          <a:noFill/>
          <a:ln>
            <a:noFill/>
          </a:ln>
        </p:spPr>
      </p:pic>
    </p:spTree>
  </p:cSld>
  <p:clrMapOvr>
    <a:masterClrMapping/>
  </p:clrMapOvr>
  <p:transition spd="slow">
    <p:wipe/>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1528</Words>
  <Application>Microsoft Macintosh PowerPoint</Application>
  <PresentationFormat>On-screen Show (16:9)</PresentationFormat>
  <Paragraphs>70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Londrina Shadow</vt:lpstr>
      <vt:lpstr>Comic Neue</vt:lpstr>
      <vt:lpstr>Permanent Marker</vt:lpstr>
      <vt:lpstr>Bangers</vt:lpstr>
      <vt:lpstr>Arial</vt:lpstr>
      <vt:lpstr>Simple Light</vt:lpstr>
      <vt:lpstr>Panel to Panel Transitions in Comics</vt:lpstr>
      <vt:lpstr>Panel to Panel Transitions</vt:lpstr>
      <vt:lpstr>Moment To Moment Transitions</vt:lpstr>
      <vt:lpstr>Action to Action Transitions</vt:lpstr>
      <vt:lpstr>Subject to Subject Transitions </vt:lpstr>
      <vt:lpstr>Scene to scene Transitions</vt:lpstr>
      <vt:lpstr>Aspect to Aspect Transitions</vt:lpstr>
      <vt:lpstr>Non Sequitur Transitions</vt:lpstr>
      <vt:lpstr>Group Activity: Transitions and empathy / Identification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Panel to Panel Transitions in Comics</dc:title>
  <cp:lastModifiedBy>Michael Ofengenden</cp:lastModifiedBy>
  <cp:revision>5</cp:revision>
  <dcterms:modified xsi:type="dcterms:W3CDTF">2025-09-02T07:08:19Z</dcterms:modified>
</cp:coreProperties>
</file>