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7814"/>
    <a:srgbClr val="168B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046720" cy="5029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智慧仓储运营主体治理演进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8412480" cy="292608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从共同设立到职责分工，再到合规与数据治理闭环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3807440" y="475488"/>
            <a:ext cx="3840480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A1AC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CONFIDENTIAL STRUCTURE MAP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18842" y="2139696"/>
            <a:ext cx="1828800" cy="758952"/>
          </a:xfrm>
          <a:prstGeom prst="roundRect">
            <a:avLst>
              <a:gd name="adj" fmla="val 9639"/>
            </a:avLst>
          </a:prstGeom>
          <a:solidFill>
            <a:srgbClr val="DDE9FF"/>
          </a:solidFill>
          <a:ln w="16510">
            <a:solidFill>
              <a:srgbClr val="3768B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2021年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多方共同搭建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运营主体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165592" y="2139696"/>
            <a:ext cx="1828800" cy="758952"/>
          </a:xfrm>
          <a:prstGeom prst="roundRect">
            <a:avLst>
              <a:gd name="adj" fmla="val 9639"/>
            </a:avLst>
          </a:prstGeom>
          <a:solidFill>
            <a:srgbClr val="DDF4F1"/>
          </a:solidFill>
          <a:ln w="16510">
            <a:solidFill>
              <a:srgbClr val="168B8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2023年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管理负责人调整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职能重新划分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4154912" y="2139696"/>
            <a:ext cx="1828800" cy="758952"/>
          </a:xfrm>
          <a:prstGeom prst="roundRect">
            <a:avLst>
              <a:gd name="adj" fmla="val 9639"/>
            </a:avLst>
          </a:prstGeom>
          <a:solidFill>
            <a:srgbClr val="FFF0D4"/>
          </a:solidFill>
          <a:ln w="16510">
            <a:solidFill>
              <a:srgbClr val="B8781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2025年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引入合规与数据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治理机制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5212080" cy="6309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3970">
            <a:solidFill>
              <a:srgbClr val="B8C2D0"/>
            </a:solidFill>
            <a:prstDash val="solid"/>
          </a:ln>
          <a:effectLst>
            <a:outerShdw blurRad="25400" dist="50800" dir="2700000" algn="bl" rotWithShape="0">
              <a:srgbClr val="CBD4E1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063240"/>
            <a:ext cx="5212080" cy="109728"/>
          </a:xfrm>
          <a:prstGeom prst="rect">
            <a:avLst/>
          </a:prstGeom>
          <a:solidFill>
            <a:srgbClr val="3768B3"/>
          </a:solidFill>
          <a:ln w="12700">
            <a:solidFill>
              <a:srgbClr val="3768B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46120"/>
            <a:ext cx="4754880" cy="34747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阶段一｜设立与资源导入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8680" y="3630168"/>
            <a:ext cx="4754880" cy="237744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778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股权出资、资产接入、运营试点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3063240"/>
            <a:ext cx="5212080" cy="6309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3970">
            <a:solidFill>
              <a:srgbClr val="B8C2D0"/>
            </a:solidFill>
            <a:prstDash val="solid"/>
          </a:ln>
          <a:effectLst>
            <a:outerShdw blurRad="25400" dist="50800" dir="2700000" algn="bl" rotWithShape="0">
              <a:srgbClr val="CBD4E1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3063240"/>
            <a:ext cx="5212080" cy="109728"/>
          </a:xfrm>
          <a:prstGeom prst="rect">
            <a:avLst/>
          </a:prstGeom>
          <a:solidFill>
            <a:srgbClr val="168B8B"/>
          </a:solidFill>
          <a:ln w="12700">
            <a:solidFill>
              <a:srgbClr val="168B8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246120"/>
            <a:ext cx="4754880" cy="34747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阶段二｜职责调整与运营分层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766560" y="3630168"/>
            <a:ext cx="4754880" cy="237744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778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新增财务风控，负责人改任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2435840" y="3063240"/>
            <a:ext cx="5212080" cy="6309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3970">
            <a:solidFill>
              <a:srgbClr val="B8C2D0"/>
            </a:solidFill>
            <a:prstDash val="solid"/>
          </a:ln>
          <a:effectLst>
            <a:outerShdw blurRad="25400" dist="50800" dir="2700000" algn="bl" rotWithShape="0">
              <a:srgbClr val="CBD4E1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435840" y="3063240"/>
            <a:ext cx="5212080" cy="109728"/>
          </a:xfrm>
          <a:prstGeom prst="rect">
            <a:avLst/>
          </a:prstGeom>
          <a:solidFill>
            <a:srgbClr val="B87814"/>
          </a:solidFill>
          <a:ln w="12700">
            <a:solidFill>
              <a:srgbClr val="B8781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664440" y="3246120"/>
            <a:ext cx="4754880" cy="34747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阶段三｜治理闭环与权限分离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2664440" y="3630168"/>
            <a:ext cx="4754880" cy="237744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77839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董事会、经营层、监督岗相互制衡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947672" y="5056632"/>
            <a:ext cx="0" cy="246888"/>
          </a:xfrm>
          <a:prstGeom prst="line">
            <a:avLst/>
          </a:prstGeom>
          <a:noFill/>
          <a:ln w="13970">
            <a:solidFill>
              <a:srgbClr val="3768B3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4507992" y="5056632"/>
            <a:ext cx="0" cy="246888"/>
          </a:xfrm>
          <a:prstGeom prst="line">
            <a:avLst/>
          </a:prstGeom>
          <a:noFill/>
          <a:ln w="13970">
            <a:solidFill>
              <a:srgbClr val="3768B3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947672" y="5303520"/>
            <a:ext cx="2560320" cy="0"/>
          </a:xfrm>
          <a:prstGeom prst="line">
            <a:avLst/>
          </a:prstGeom>
          <a:noFill/>
          <a:ln w="13970">
            <a:solidFill>
              <a:srgbClr val="3768B3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3337560" y="5303520"/>
            <a:ext cx="0" cy="265176"/>
          </a:xfrm>
          <a:prstGeom prst="line">
            <a:avLst/>
          </a:prstGeom>
          <a:noFill/>
          <a:ln w="13970">
            <a:solidFill>
              <a:srgbClr val="3768B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337560" y="6382512"/>
            <a:ext cx="0" cy="704088"/>
          </a:xfrm>
          <a:prstGeom prst="line">
            <a:avLst/>
          </a:prstGeom>
          <a:noFill/>
          <a:ln w="15240">
            <a:solidFill>
              <a:srgbClr val="6E7C8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37560" y="7781544"/>
            <a:ext cx="0" cy="512064"/>
          </a:xfrm>
          <a:prstGeom prst="line">
            <a:avLst/>
          </a:prstGeom>
          <a:noFill/>
          <a:ln w="15240">
            <a:solidFill>
              <a:srgbClr val="6E7C8D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051560" y="4206240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DDE9FF"/>
          </a:solidFill>
          <a:ln w="12700">
            <a:solidFill>
              <a:srgbClr val="3768B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林远航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持股 65%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发起投资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3611880" y="4206240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E2F4EB"/>
          </a:solidFill>
          <a:ln w="12700">
            <a:solidFill>
              <a:srgbClr val="33866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周予安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持股 35%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产业资源</a:t>
            </a:r>
            <a:endParaRPr lang="en-US" sz="1260" dirty="0"/>
          </a:p>
        </p:txBody>
      </p:sp>
      <p:sp>
        <p:nvSpPr>
          <p:cNvPr id="33" name="Text 31"/>
          <p:cNvSpPr/>
          <p:nvPr/>
        </p:nvSpPr>
        <p:spPr>
          <a:xfrm>
            <a:off x="2075688" y="5605272"/>
            <a:ext cx="2514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7780">
            <a:solidFill>
              <a:srgbClr val="1D27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澜江智仓科技有限公司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平台运营主体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1600200" y="7132320"/>
            <a:ext cx="347472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AAB5C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仓配试点小组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接入订单、库位、车辆数据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298448" y="8348472"/>
            <a:ext cx="4078224" cy="713232"/>
          </a:xfrm>
          <a:prstGeom prst="roundRect">
            <a:avLst>
              <a:gd name="adj" fmla="val 10256"/>
            </a:avLst>
          </a:prstGeom>
          <a:solidFill>
            <a:srgbClr val="F5F7FA"/>
          </a:solidFill>
          <a:ln w="12700">
            <a:solidFill>
              <a:srgbClr val="C2CAD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初始职责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林远航：执行董事 / 经理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周予安：渠道协同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7754112" y="4919472"/>
            <a:ext cx="0" cy="301752"/>
          </a:xfrm>
          <a:prstGeom prst="line">
            <a:avLst/>
          </a:prstGeom>
          <a:noFill/>
          <a:ln w="13970">
            <a:solidFill>
              <a:srgbClr val="168B8B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10524744" y="4919472"/>
            <a:ext cx="0" cy="301752"/>
          </a:xfrm>
          <a:prstGeom prst="line">
            <a:avLst/>
          </a:prstGeom>
          <a:noFill/>
          <a:ln w="13970">
            <a:solidFill>
              <a:srgbClr val="168B8B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7754112" y="5221224"/>
            <a:ext cx="2770632" cy="0"/>
          </a:xfrm>
          <a:prstGeom prst="line">
            <a:avLst/>
          </a:prstGeom>
          <a:noFill/>
          <a:ln w="13970">
            <a:solidFill>
              <a:srgbClr val="168B8B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9171432" y="5221224"/>
            <a:ext cx="0" cy="292608"/>
          </a:xfrm>
          <a:prstGeom prst="line">
            <a:avLst/>
          </a:prstGeom>
          <a:noFill/>
          <a:ln w="13970">
            <a:solidFill>
              <a:srgbClr val="168B8B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171432" y="6263640"/>
            <a:ext cx="0" cy="612648"/>
          </a:xfrm>
          <a:prstGeom prst="line">
            <a:avLst/>
          </a:prstGeom>
          <a:noFill/>
          <a:ln w="15240">
            <a:solidFill>
              <a:srgbClr val="6E7C8D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171432" y="7671816"/>
            <a:ext cx="0" cy="512064"/>
          </a:xfrm>
          <a:prstGeom prst="line">
            <a:avLst/>
          </a:prstGeom>
          <a:noFill/>
          <a:ln w="15240">
            <a:solidFill>
              <a:srgbClr val="6E7C8D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595360" y="7690104"/>
            <a:ext cx="27432" cy="0"/>
          </a:xfrm>
          <a:prstGeom prst="line">
            <a:avLst/>
          </a:prstGeom>
          <a:noFill/>
          <a:ln w="12700">
            <a:solidFill>
              <a:srgbClr val="AD4E66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6949440" y="4142232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DDE9FF"/>
          </a:solidFill>
          <a:ln w="12700">
            <a:solidFill>
              <a:srgbClr val="3768B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林远航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持股 55%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董事长</a:t>
            </a:r>
            <a:endParaRPr lang="en-US" sz="1230" dirty="0"/>
          </a:p>
        </p:txBody>
      </p:sp>
      <p:sp>
        <p:nvSpPr>
          <p:cNvPr id="44" name="Text 42"/>
          <p:cNvSpPr/>
          <p:nvPr/>
        </p:nvSpPr>
        <p:spPr>
          <a:xfrm>
            <a:off x="9720072" y="4142232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DDF4F1"/>
          </a:solidFill>
          <a:ln w="12700">
            <a:solidFill>
              <a:srgbClr val="168B8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周予安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持股 30%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总经理</a:t>
            </a:r>
            <a:endParaRPr lang="en-US" sz="1230" dirty="0"/>
          </a:p>
        </p:txBody>
      </p:sp>
      <p:sp>
        <p:nvSpPr>
          <p:cNvPr id="45" name="Text 43"/>
          <p:cNvSpPr/>
          <p:nvPr/>
        </p:nvSpPr>
        <p:spPr>
          <a:xfrm>
            <a:off x="7964424" y="5550408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7780">
            <a:solidFill>
              <a:srgbClr val="1D27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澜江智仓科技有限公司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运营管理中心</a:t>
            </a:r>
            <a:endParaRPr lang="en-US" sz="1260" dirty="0"/>
          </a:p>
        </p:txBody>
      </p:sp>
      <p:sp>
        <p:nvSpPr>
          <p:cNvPr id="46" name="Text 44"/>
          <p:cNvSpPr/>
          <p:nvPr/>
        </p:nvSpPr>
        <p:spPr>
          <a:xfrm>
            <a:off x="6949440" y="7296912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F8E3E8"/>
          </a:solidFill>
          <a:ln w="12700">
            <a:solidFill>
              <a:srgbClr val="AD4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许知澜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持股 15%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财务风控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659368" y="6922008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AAB5C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日常运营链路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订单调度 → 仓储履约 → 异常复盘</a:t>
            </a:r>
            <a:endParaRPr lang="en-US" sz="1130" dirty="0"/>
          </a:p>
        </p:txBody>
      </p:sp>
      <p:sp>
        <p:nvSpPr>
          <p:cNvPr id="48" name="Text 46"/>
          <p:cNvSpPr/>
          <p:nvPr/>
        </p:nvSpPr>
        <p:spPr>
          <a:xfrm>
            <a:off x="7141464" y="8229600"/>
            <a:ext cx="4069080" cy="758952"/>
          </a:xfrm>
          <a:prstGeom prst="roundRect">
            <a:avLst>
              <a:gd name="adj" fmla="val 9639"/>
            </a:avLst>
          </a:prstGeom>
          <a:solidFill>
            <a:srgbClr val="F5F7FA"/>
          </a:solidFill>
          <a:ln w="12700">
            <a:solidFill>
              <a:srgbClr val="C2CAD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调整后职责</a:t>
            </a:r>
            <a:endParaRPr lang="en-US" sz="1090" dirty="0"/>
          </a:p>
          <a:p>
            <a:pPr marL="0" indent="0" algn="l">
              <a:buNone/>
            </a:pPr>
            <a:r>
              <a:rPr lang="en-US" sz="109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周予安负责经营执行</a:t>
            </a:r>
            <a:endParaRPr lang="en-US" sz="1090" dirty="0"/>
          </a:p>
          <a:p>
            <a:pPr marL="0" indent="0" algn="l">
              <a:buNone/>
            </a:pPr>
            <a:r>
              <a:rPr lang="en-US" sz="109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许知澜负责预算、合同与付款复核</a:t>
            </a:r>
            <a:endParaRPr lang="en-US" sz="1090" dirty="0"/>
          </a:p>
        </p:txBody>
      </p:sp>
      <p:sp>
        <p:nvSpPr>
          <p:cNvPr id="49" name="Shape 47"/>
          <p:cNvSpPr/>
          <p:nvPr/>
        </p:nvSpPr>
        <p:spPr>
          <a:xfrm>
            <a:off x="15041880" y="4919472"/>
            <a:ext cx="0" cy="548640"/>
          </a:xfrm>
          <a:prstGeom prst="line">
            <a:avLst/>
          </a:prstGeom>
          <a:noFill/>
          <a:ln w="15240">
            <a:solidFill>
              <a:srgbClr val="B87814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5041880" y="6309360"/>
            <a:ext cx="0" cy="338328"/>
          </a:xfrm>
          <a:prstGeom prst="line">
            <a:avLst/>
          </a:prstGeom>
          <a:noFill/>
          <a:ln w="13970">
            <a:solidFill>
              <a:srgbClr val="6E7C8D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13670280" y="6647688"/>
            <a:ext cx="2743200" cy="0"/>
          </a:xfrm>
          <a:prstGeom prst="line">
            <a:avLst/>
          </a:prstGeom>
          <a:noFill/>
          <a:ln w="13970">
            <a:solidFill>
              <a:srgbClr val="6E7C8D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13670280" y="6647688"/>
            <a:ext cx="0" cy="283464"/>
          </a:xfrm>
          <a:prstGeom prst="line">
            <a:avLst/>
          </a:prstGeom>
          <a:noFill/>
          <a:ln w="13970">
            <a:solidFill>
              <a:srgbClr val="6E7C8D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6413480" y="6647688"/>
            <a:ext cx="0" cy="283464"/>
          </a:xfrm>
          <a:prstGeom prst="line">
            <a:avLst/>
          </a:prstGeom>
          <a:noFill/>
          <a:ln w="13970">
            <a:solidFill>
              <a:srgbClr val="6E7C8D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3670280" y="7754112"/>
            <a:ext cx="0" cy="356616"/>
          </a:xfrm>
          <a:prstGeom prst="line">
            <a:avLst/>
          </a:prstGeom>
          <a:noFill/>
          <a:ln w="13970">
            <a:solidFill>
              <a:srgbClr val="6B57B7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13670280" y="8110728"/>
            <a:ext cx="2743200" cy="0"/>
          </a:xfrm>
          <a:prstGeom prst="line">
            <a:avLst/>
          </a:prstGeom>
          <a:noFill/>
          <a:ln w="13970">
            <a:solidFill>
              <a:srgbClr val="6B57B7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15041880" y="7909560"/>
            <a:ext cx="0" cy="201168"/>
          </a:xfrm>
          <a:prstGeom prst="line">
            <a:avLst/>
          </a:prstGeom>
          <a:noFill/>
          <a:ln w="13970">
            <a:solidFill>
              <a:srgbClr val="6B57B7"/>
            </a:solidFill>
            <a:prstDash val="solid"/>
            <a:headEnd type="none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13789152" y="4133088"/>
            <a:ext cx="2505456" cy="749808"/>
          </a:xfrm>
          <a:prstGeom prst="roundRect">
            <a:avLst>
              <a:gd name="adj" fmla="val 9756"/>
            </a:avLst>
          </a:prstGeom>
          <a:solidFill>
            <a:srgbClr val="FFF0D4"/>
          </a:solidFill>
          <a:ln w="12700">
            <a:solidFill>
              <a:srgbClr val="B8781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董事会决策层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战略审批 / 重大合同</a:t>
            </a:r>
            <a:endParaRPr lang="en-US" sz="1220" dirty="0"/>
          </a:p>
        </p:txBody>
      </p:sp>
      <p:sp>
        <p:nvSpPr>
          <p:cNvPr id="58" name="Text 56"/>
          <p:cNvSpPr/>
          <p:nvPr/>
        </p:nvSpPr>
        <p:spPr>
          <a:xfrm>
            <a:off x="13780008" y="5513832"/>
            <a:ext cx="252374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7780">
            <a:solidFill>
              <a:srgbClr val="1D27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澜江智仓科技有限公司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统一授权与流程留痕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12847320" y="6976872"/>
            <a:ext cx="1645920" cy="749808"/>
          </a:xfrm>
          <a:prstGeom prst="roundRect">
            <a:avLst>
              <a:gd name="adj" fmla="val 9756"/>
            </a:avLst>
          </a:prstGeom>
          <a:solidFill>
            <a:srgbClr val="DDF4F1"/>
          </a:solidFill>
          <a:ln w="12700">
            <a:solidFill>
              <a:srgbClr val="168B8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经营执行线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周予安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总经理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5590520" y="6976872"/>
            <a:ext cx="1645920" cy="749808"/>
          </a:xfrm>
          <a:prstGeom prst="roundRect">
            <a:avLst>
              <a:gd name="adj" fmla="val 9756"/>
            </a:avLst>
          </a:prstGeom>
          <a:solidFill>
            <a:srgbClr val="F8E3E8"/>
          </a:solidFill>
          <a:ln w="12700">
            <a:solidFill>
              <a:srgbClr val="AD4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监督复核线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许知澜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监事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3853160" y="795528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E9E4FF"/>
          </a:solidFill>
          <a:ln w="12700">
            <a:solidFill>
              <a:srgbClr val="6B57B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数据权限岗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陈屿舟</a:t>
            </a:r>
            <a:endParaRPr lang="en-US" sz="1170" dirty="0"/>
          </a:p>
          <a:p>
            <a:pPr marL="0" indent="0" algn="ctr">
              <a:buNone/>
            </a:pPr>
            <a:r>
              <a:rPr lang="en-US" sz="1170" b="1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账号、日志、接口审核</a:t>
            </a:r>
            <a:endParaRPr lang="en-US" sz="1170" dirty="0"/>
          </a:p>
        </p:txBody>
      </p:sp>
      <p:sp>
        <p:nvSpPr>
          <p:cNvPr id="62" name="Text 60"/>
          <p:cNvSpPr/>
          <p:nvPr/>
        </p:nvSpPr>
        <p:spPr>
          <a:xfrm>
            <a:off x="13030200" y="8833104"/>
            <a:ext cx="4023360" cy="384048"/>
          </a:xfrm>
          <a:prstGeom prst="roundRect">
            <a:avLst>
              <a:gd name="adj" fmla="val 19048"/>
            </a:avLst>
          </a:prstGeom>
          <a:solidFill>
            <a:srgbClr val="F5F7FA"/>
          </a:solidFill>
          <a:ln w="12700">
            <a:solidFill>
              <a:srgbClr val="C2CAD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闭环机制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1D27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决策授权 → 经营执行 → 资金复核 → 数据留痕</a:t>
            </a:r>
            <a:endParaRPr lang="en-US" sz="1070" dirty="0"/>
          </a:p>
        </p:txBody>
      </p:sp>
      <p:sp>
        <p:nvSpPr>
          <p:cNvPr id="63" name="Shape 61"/>
          <p:cNvSpPr/>
          <p:nvPr/>
        </p:nvSpPr>
        <p:spPr>
          <a:xfrm>
            <a:off x="640080" y="9829800"/>
            <a:ext cx="17007840" cy="0"/>
          </a:xfrm>
          <a:prstGeom prst="line">
            <a:avLst/>
          </a:prstGeom>
          <a:noFill/>
          <a:ln w="12700">
            <a:solidFill>
              <a:srgbClr val="D5DCE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800" y="9902952"/>
            <a:ext cx="10515600" cy="201168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AA6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资料用途：内部架构讨论｜组织名称、比例、职责和时间节点均采用公开版业务设定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6779240" y="9829800"/>
            <a:ext cx="777240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9AA6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50" dirty="0"/>
          </a:p>
        </p:txBody>
      </p:sp>
      <p:sp>
        <p:nvSpPr>
          <p:cNvPr id="66" name="矩形 65"/>
          <p:cNvSpPr/>
          <p:nvPr/>
        </p:nvSpPr>
        <p:spPr>
          <a:xfrm>
            <a:off x="3154680" y="1572895"/>
            <a:ext cx="457200" cy="3314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8851265" y="1572895"/>
            <a:ext cx="457200" cy="331470"/>
          </a:xfrm>
          <a:prstGeom prst="rect">
            <a:avLst/>
          </a:prstGeom>
          <a:solidFill>
            <a:srgbClr val="168B8B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4813280" y="1572895"/>
            <a:ext cx="457200" cy="331470"/>
          </a:xfrm>
          <a:prstGeom prst="rect">
            <a:avLst/>
          </a:prstGeom>
          <a:solidFill>
            <a:srgbClr val="B8781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0" name="直接连接符 69"/>
          <p:cNvCxnSpPr>
            <a:stCxn id="66" idx="3"/>
          </p:cNvCxnSpPr>
          <p:nvPr/>
        </p:nvCxnSpPr>
        <p:spPr>
          <a:xfrm>
            <a:off x="3611880" y="1738630"/>
            <a:ext cx="5239385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>
            <a:stCxn id="67" idx="3"/>
            <a:endCxn id="69" idx="1"/>
          </p:cNvCxnSpPr>
          <p:nvPr/>
        </p:nvCxnSpPr>
        <p:spPr>
          <a:xfrm>
            <a:off x="9308465" y="1738630"/>
            <a:ext cx="5504815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</Words>
  <Application>WPS 演示</Application>
  <PresentationFormat>On-screen Show (16:9)</PresentationFormat>
  <Paragraphs>95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Noto Sans CJK SC</vt:lpstr>
      <vt:lpstr>FFont-Family</vt:lpstr>
      <vt:lpstr>Noto Sans CJK SC</vt:lpstr>
      <vt:lpstr>Noto Sans CJK SC</vt:lpstr>
      <vt:lpstr>微软雅黑</vt:lpstr>
      <vt:lpstr>Arial Unicode MS</vt:lpstr>
      <vt:lpstr>等线</vt:lpstr>
      <vt:lpstr>MingLiU-ExtB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/>
</file>