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824000" cy="7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ultivariate-card"/>
          <p:cNvSpPr/>
          <p:nvPr/>
        </p:nvSpPr>
        <p:spPr>
          <a:xfrm>
            <a:off x="216000" y="1800000"/>
            <a:ext cx="1800000" cy="2232000"/>
          </a:xfrm>
          <a:prstGeom prst="roundRect">
            <a:avLst/>
          </a:prstGeom>
          <a:solidFill>
            <a:srgbClr val="EFF9F7"/>
          </a:solidFill>
          <a:ln w="15240">
            <a:solidFill>
              <a:srgbClr val="159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ultivariate-title"/>
          <p:cNvSpPr txBox="1"/>
          <p:nvPr/>
        </p:nvSpPr>
        <p:spPr>
          <a:xfrm>
            <a:off x="450000" y="1962000"/>
            <a:ext cx="1332000" cy="432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159B98"/>
                </a:solidFill>
                <a:latin typeface="Arial"/>
              </a:rPr>
              <a:t>Multivariate
Time Series</a:t>
            </a:r>
          </a:p>
        </p:txBody>
      </p:sp>
      <p:cxnSp>
        <p:nvCxnSpPr>
          <p:cNvPr id="4" name="timeseries-grid"/>
          <p:cNvCxnSpPr/>
          <p:nvPr/>
        </p:nvCxnSpPr>
        <p:spPr>
          <a:xfrm>
            <a:off x="4860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imeseries-grid"/>
          <p:cNvCxnSpPr/>
          <p:nvPr/>
        </p:nvCxnSpPr>
        <p:spPr>
          <a:xfrm>
            <a:off x="7092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imeseries-grid"/>
          <p:cNvCxnSpPr/>
          <p:nvPr/>
        </p:nvCxnSpPr>
        <p:spPr>
          <a:xfrm>
            <a:off x="9324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imeseries-grid"/>
          <p:cNvCxnSpPr/>
          <p:nvPr/>
        </p:nvCxnSpPr>
        <p:spPr>
          <a:xfrm>
            <a:off x="11556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imeseries-grid"/>
          <p:cNvCxnSpPr/>
          <p:nvPr/>
        </p:nvCxnSpPr>
        <p:spPr>
          <a:xfrm>
            <a:off x="13788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imeseries-grid"/>
          <p:cNvCxnSpPr/>
          <p:nvPr/>
        </p:nvCxnSpPr>
        <p:spPr>
          <a:xfrm>
            <a:off x="1602000" y="2520000"/>
            <a:ext cx="0" cy="1241999"/>
          </a:xfrm>
          <a:prstGeom prst="line">
            <a:avLst/>
          </a:prstGeom>
          <a:ln w="8890">
            <a:solidFill>
              <a:srgbClr val="BFC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imeseries-line"/>
          <p:cNvCxnSpPr/>
          <p:nvPr/>
        </p:nvCxnSpPr>
        <p:spPr>
          <a:xfrm flipV="1">
            <a:off x="486000" y="2700000"/>
            <a:ext cx="223200" cy="180000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imeseries-line"/>
          <p:cNvCxnSpPr/>
          <p:nvPr/>
        </p:nvCxnSpPr>
        <p:spPr>
          <a:xfrm>
            <a:off x="709200" y="2700000"/>
            <a:ext cx="223200" cy="72000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imeseries-line"/>
          <p:cNvCxnSpPr/>
          <p:nvPr/>
        </p:nvCxnSpPr>
        <p:spPr>
          <a:xfrm>
            <a:off x="932400" y="2772000"/>
            <a:ext cx="223200" cy="179999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imeseries-line"/>
          <p:cNvCxnSpPr/>
          <p:nvPr/>
        </p:nvCxnSpPr>
        <p:spPr>
          <a:xfrm flipV="1">
            <a:off x="1155600" y="2898000"/>
            <a:ext cx="223200" cy="53999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timeseries-line"/>
          <p:cNvCxnSpPr/>
          <p:nvPr/>
        </p:nvCxnSpPr>
        <p:spPr>
          <a:xfrm flipV="1">
            <a:off x="1378800" y="2754000"/>
            <a:ext cx="223200" cy="144000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imeseries-line"/>
          <p:cNvCxnSpPr/>
          <p:nvPr/>
        </p:nvCxnSpPr>
        <p:spPr>
          <a:xfrm>
            <a:off x="1602000" y="2754000"/>
            <a:ext cx="223200" cy="25200"/>
          </a:xfrm>
          <a:prstGeom prst="line">
            <a:avLst/>
          </a:prstGeom>
          <a:ln w="1778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imeseries-line"/>
          <p:cNvCxnSpPr/>
          <p:nvPr/>
        </p:nvCxnSpPr>
        <p:spPr>
          <a:xfrm>
            <a:off x="486000" y="2934000"/>
            <a:ext cx="223200" cy="144000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timeseries-line"/>
          <p:cNvCxnSpPr/>
          <p:nvPr/>
        </p:nvCxnSpPr>
        <p:spPr>
          <a:xfrm>
            <a:off x="709200" y="3078000"/>
            <a:ext cx="223200" cy="18000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timeseries-line"/>
          <p:cNvCxnSpPr/>
          <p:nvPr/>
        </p:nvCxnSpPr>
        <p:spPr>
          <a:xfrm flipV="1">
            <a:off x="932400" y="2951999"/>
            <a:ext cx="223200" cy="144001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imeseries-line"/>
          <p:cNvCxnSpPr/>
          <p:nvPr/>
        </p:nvCxnSpPr>
        <p:spPr>
          <a:xfrm>
            <a:off x="1155600" y="2951999"/>
            <a:ext cx="223200" cy="126001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imeseries-line"/>
          <p:cNvCxnSpPr/>
          <p:nvPr/>
        </p:nvCxnSpPr>
        <p:spPr>
          <a:xfrm flipV="1">
            <a:off x="1378800" y="3041999"/>
            <a:ext cx="223200" cy="36001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series-line"/>
          <p:cNvCxnSpPr/>
          <p:nvPr/>
        </p:nvCxnSpPr>
        <p:spPr>
          <a:xfrm flipV="1">
            <a:off x="1602000" y="2718000"/>
            <a:ext cx="223200" cy="323999"/>
          </a:xfrm>
          <a:prstGeom prst="line">
            <a:avLst/>
          </a:prstGeom>
          <a:ln w="1778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series-line"/>
          <p:cNvCxnSpPr/>
          <p:nvPr/>
        </p:nvCxnSpPr>
        <p:spPr>
          <a:xfrm flipV="1">
            <a:off x="486000" y="3114000"/>
            <a:ext cx="223200" cy="126000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series-line"/>
          <p:cNvCxnSpPr/>
          <p:nvPr/>
        </p:nvCxnSpPr>
        <p:spPr>
          <a:xfrm>
            <a:off x="709200" y="3114000"/>
            <a:ext cx="223200" cy="36000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series-line"/>
          <p:cNvCxnSpPr/>
          <p:nvPr/>
        </p:nvCxnSpPr>
        <p:spPr>
          <a:xfrm>
            <a:off x="932400" y="3150000"/>
            <a:ext cx="223200" cy="144000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series-line"/>
          <p:cNvCxnSpPr/>
          <p:nvPr/>
        </p:nvCxnSpPr>
        <p:spPr>
          <a:xfrm flipV="1">
            <a:off x="1155600" y="3168000"/>
            <a:ext cx="223200" cy="126000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series-line"/>
          <p:cNvCxnSpPr/>
          <p:nvPr/>
        </p:nvCxnSpPr>
        <p:spPr>
          <a:xfrm flipV="1">
            <a:off x="1378800" y="3131999"/>
            <a:ext cx="223200" cy="36001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series-line"/>
          <p:cNvCxnSpPr/>
          <p:nvPr/>
        </p:nvCxnSpPr>
        <p:spPr>
          <a:xfrm>
            <a:off x="1602000" y="3131999"/>
            <a:ext cx="223200" cy="126001"/>
          </a:xfrm>
          <a:prstGeom prst="line">
            <a:avLst/>
          </a:prstGeom>
          <a:ln w="17780">
            <a:solidFill>
              <a:srgbClr val="8B6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series-line"/>
          <p:cNvCxnSpPr/>
          <p:nvPr/>
        </p:nvCxnSpPr>
        <p:spPr>
          <a:xfrm flipV="1">
            <a:off x="486000" y="3491999"/>
            <a:ext cx="223200" cy="108001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series-line"/>
          <p:cNvCxnSpPr/>
          <p:nvPr/>
        </p:nvCxnSpPr>
        <p:spPr>
          <a:xfrm>
            <a:off x="709200" y="3491999"/>
            <a:ext cx="223200" cy="90000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series-line"/>
          <p:cNvCxnSpPr/>
          <p:nvPr/>
        </p:nvCxnSpPr>
        <p:spPr>
          <a:xfrm flipV="1">
            <a:off x="932400" y="3474000"/>
            <a:ext cx="223200" cy="107999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series-line"/>
          <p:cNvCxnSpPr/>
          <p:nvPr/>
        </p:nvCxnSpPr>
        <p:spPr>
          <a:xfrm>
            <a:off x="1155600" y="3474000"/>
            <a:ext cx="223200" cy="72000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series-line"/>
          <p:cNvCxnSpPr/>
          <p:nvPr/>
        </p:nvCxnSpPr>
        <p:spPr>
          <a:xfrm flipV="1">
            <a:off x="1378800" y="3401999"/>
            <a:ext cx="223200" cy="144001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series-line"/>
          <p:cNvCxnSpPr/>
          <p:nvPr/>
        </p:nvCxnSpPr>
        <p:spPr>
          <a:xfrm>
            <a:off x="1602000" y="3401999"/>
            <a:ext cx="223200" cy="162001"/>
          </a:xfrm>
          <a:prstGeom prst="line">
            <a:avLst/>
          </a:prstGeom>
          <a:ln w="17780">
            <a:solidFill>
              <a:srgbClr val="3F9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-33"/>
          <p:cNvCxnSpPr/>
          <p:nvPr/>
        </p:nvCxnSpPr>
        <p:spPr>
          <a:xfrm>
            <a:off x="450000" y="3780000"/>
            <a:ext cx="1295999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equence-encoder-frame"/>
          <p:cNvSpPr/>
          <p:nvPr/>
        </p:nvSpPr>
        <p:spPr>
          <a:xfrm>
            <a:off x="3006000" y="558000"/>
            <a:ext cx="2286000" cy="17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B9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-1. Sequence Encoder"/>
          <p:cNvSpPr txBox="1"/>
          <p:nvPr/>
        </p:nvSpPr>
        <p:spPr>
          <a:xfrm>
            <a:off x="3041999" y="234000"/>
            <a:ext cx="216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159B98"/>
                </a:solidFill>
                <a:latin typeface="Arial"/>
              </a:rPr>
              <a:t>1. Sequence Encoder</a:t>
            </a:r>
          </a:p>
        </p:txBody>
      </p:sp>
      <p:sp>
        <p:nvSpPr>
          <p:cNvPr id="37" name="gru-1"/>
          <p:cNvSpPr/>
          <p:nvPr/>
        </p:nvSpPr>
        <p:spPr>
          <a:xfrm>
            <a:off x="3204000" y="737999"/>
            <a:ext cx="1872000" cy="612000"/>
          </a:xfrm>
          <a:prstGeom prst="roundRect">
            <a:avLst/>
          </a:prstGeom>
          <a:solidFill>
            <a:srgbClr val="EFF9F7"/>
          </a:solidFill>
          <a:ln w="12700">
            <a:solidFill>
              <a:srgbClr val="159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300" b="1">
                <a:solidFill>
                  <a:srgbClr val="181818"/>
                </a:solidFill>
                <a:latin typeface="Arial"/>
              </a:rPr>
              <a:t>Gated Recurrent
Unit</a:t>
            </a:r>
          </a:p>
        </p:txBody>
      </p:sp>
      <p:sp>
        <p:nvSpPr>
          <p:cNvPr id="38" name="gru-2"/>
          <p:cNvSpPr/>
          <p:nvPr/>
        </p:nvSpPr>
        <p:spPr>
          <a:xfrm>
            <a:off x="3204000" y="1494000"/>
            <a:ext cx="1872000" cy="612000"/>
          </a:xfrm>
          <a:prstGeom prst="roundRect">
            <a:avLst/>
          </a:prstGeom>
          <a:solidFill>
            <a:srgbClr val="EFF9F7"/>
          </a:solidFill>
          <a:ln w="12700">
            <a:solidFill>
              <a:srgbClr val="159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300" b="1">
                <a:solidFill>
                  <a:srgbClr val="181818"/>
                </a:solidFill>
                <a:latin typeface="Arial"/>
              </a:rPr>
              <a:t>Gated Recurrent
Unit</a:t>
            </a:r>
          </a:p>
        </p:txBody>
      </p:sp>
      <p:sp>
        <p:nvSpPr>
          <p:cNvPr id="39" name="pattern-encoder-frame"/>
          <p:cNvSpPr/>
          <p:nvPr/>
        </p:nvSpPr>
        <p:spPr>
          <a:xfrm>
            <a:off x="3006000" y="2898000"/>
            <a:ext cx="2160000" cy="1890000"/>
          </a:xfrm>
          <a:prstGeom prst="roundRect">
            <a:avLst/>
          </a:prstGeom>
          <a:solidFill>
            <a:srgbClr val="F7F2FC"/>
          </a:solidFill>
          <a:ln w="13970">
            <a:solidFill>
              <a:srgbClr val="8B65C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2. Pattern Encoder"/>
          <p:cNvSpPr txBox="1"/>
          <p:nvPr/>
        </p:nvSpPr>
        <p:spPr>
          <a:xfrm>
            <a:off x="3078000" y="2951999"/>
            <a:ext cx="2015999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8B65C2"/>
                </a:solidFill>
                <a:latin typeface="Arial"/>
              </a:rPr>
              <a:t>2. Pattern Encoder</a:t>
            </a:r>
          </a:p>
        </p:txBody>
      </p:sp>
      <p:sp>
        <p:nvSpPr>
          <p:cNvPr id="41" name="embedding-cell"/>
          <p:cNvSpPr/>
          <p:nvPr/>
        </p:nvSpPr>
        <p:spPr>
          <a:xfrm>
            <a:off x="3510000" y="3401999"/>
            <a:ext cx="270000" cy="259200"/>
          </a:xfrm>
          <a:prstGeom prst="rect">
            <a:avLst/>
          </a:prstGeom>
          <a:solidFill>
            <a:srgbClr val="E8DDF7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mbedding-cell"/>
          <p:cNvSpPr/>
          <p:nvPr/>
        </p:nvSpPr>
        <p:spPr>
          <a:xfrm>
            <a:off x="3780000" y="3401999"/>
            <a:ext cx="270000" cy="259200"/>
          </a:xfrm>
          <a:prstGeom prst="rect">
            <a:avLst/>
          </a:prstGeom>
          <a:solidFill>
            <a:srgbClr val="F9F6FC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mbedding-cell"/>
          <p:cNvSpPr/>
          <p:nvPr/>
        </p:nvSpPr>
        <p:spPr>
          <a:xfrm>
            <a:off x="4050000" y="3401999"/>
            <a:ext cx="270000" cy="259200"/>
          </a:xfrm>
          <a:prstGeom prst="rect">
            <a:avLst/>
          </a:prstGeom>
          <a:solidFill>
            <a:srgbClr val="B99ADD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mbedding-cell"/>
          <p:cNvSpPr/>
          <p:nvPr/>
        </p:nvSpPr>
        <p:spPr>
          <a:xfrm>
            <a:off x="4320000" y="3401999"/>
            <a:ext cx="270000" cy="259200"/>
          </a:xfrm>
          <a:prstGeom prst="rect">
            <a:avLst/>
          </a:prstGeom>
          <a:solidFill>
            <a:srgbClr val="E8DDF7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mbedding-cell"/>
          <p:cNvSpPr/>
          <p:nvPr/>
        </p:nvSpPr>
        <p:spPr>
          <a:xfrm>
            <a:off x="4590000" y="3401999"/>
            <a:ext cx="270000" cy="259200"/>
          </a:xfrm>
          <a:prstGeom prst="rect">
            <a:avLst/>
          </a:prstGeom>
          <a:solidFill>
            <a:srgbClr val="F9F6FC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mbedding-cell"/>
          <p:cNvSpPr/>
          <p:nvPr/>
        </p:nvSpPr>
        <p:spPr>
          <a:xfrm>
            <a:off x="3510000" y="3661200"/>
            <a:ext cx="270000" cy="259200"/>
          </a:xfrm>
          <a:prstGeom prst="rect">
            <a:avLst/>
          </a:prstGeom>
          <a:solidFill>
            <a:srgbClr val="B99ADD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mbedding-cell"/>
          <p:cNvSpPr/>
          <p:nvPr/>
        </p:nvSpPr>
        <p:spPr>
          <a:xfrm>
            <a:off x="3780000" y="3661200"/>
            <a:ext cx="270000" cy="259200"/>
          </a:xfrm>
          <a:prstGeom prst="rect">
            <a:avLst/>
          </a:prstGeom>
          <a:solidFill>
            <a:srgbClr val="E8DDF7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mbedding-cell"/>
          <p:cNvSpPr/>
          <p:nvPr/>
        </p:nvSpPr>
        <p:spPr>
          <a:xfrm>
            <a:off x="4050000" y="3661200"/>
            <a:ext cx="270000" cy="259200"/>
          </a:xfrm>
          <a:prstGeom prst="rect">
            <a:avLst/>
          </a:prstGeom>
          <a:solidFill>
            <a:srgbClr val="F9F6FC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mbedding-cell"/>
          <p:cNvSpPr/>
          <p:nvPr/>
        </p:nvSpPr>
        <p:spPr>
          <a:xfrm>
            <a:off x="4320000" y="3661200"/>
            <a:ext cx="270000" cy="259200"/>
          </a:xfrm>
          <a:prstGeom prst="rect">
            <a:avLst/>
          </a:prstGeom>
          <a:solidFill>
            <a:srgbClr val="B99ADD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mbedding-cell"/>
          <p:cNvSpPr/>
          <p:nvPr/>
        </p:nvSpPr>
        <p:spPr>
          <a:xfrm>
            <a:off x="4590000" y="3661200"/>
            <a:ext cx="270000" cy="259200"/>
          </a:xfrm>
          <a:prstGeom prst="rect">
            <a:avLst/>
          </a:prstGeom>
          <a:solidFill>
            <a:srgbClr val="E8DDF7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mbedding-cell"/>
          <p:cNvSpPr/>
          <p:nvPr/>
        </p:nvSpPr>
        <p:spPr>
          <a:xfrm>
            <a:off x="3510000" y="3920399"/>
            <a:ext cx="270000" cy="259200"/>
          </a:xfrm>
          <a:prstGeom prst="rect">
            <a:avLst/>
          </a:prstGeom>
          <a:solidFill>
            <a:srgbClr val="F9F6FC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mbedding-cell"/>
          <p:cNvSpPr/>
          <p:nvPr/>
        </p:nvSpPr>
        <p:spPr>
          <a:xfrm>
            <a:off x="3780000" y="3920399"/>
            <a:ext cx="270000" cy="259200"/>
          </a:xfrm>
          <a:prstGeom prst="rect">
            <a:avLst/>
          </a:prstGeom>
          <a:solidFill>
            <a:srgbClr val="B99ADD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mbedding-cell"/>
          <p:cNvSpPr/>
          <p:nvPr/>
        </p:nvSpPr>
        <p:spPr>
          <a:xfrm>
            <a:off x="4050000" y="3920399"/>
            <a:ext cx="270000" cy="259200"/>
          </a:xfrm>
          <a:prstGeom prst="rect">
            <a:avLst/>
          </a:prstGeom>
          <a:solidFill>
            <a:srgbClr val="E8DDF7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mbedding-cell"/>
          <p:cNvSpPr/>
          <p:nvPr/>
        </p:nvSpPr>
        <p:spPr>
          <a:xfrm>
            <a:off x="4320000" y="3920399"/>
            <a:ext cx="270000" cy="259200"/>
          </a:xfrm>
          <a:prstGeom prst="rect">
            <a:avLst/>
          </a:prstGeom>
          <a:solidFill>
            <a:srgbClr val="F9F6FC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mbedding-cell"/>
          <p:cNvSpPr/>
          <p:nvPr/>
        </p:nvSpPr>
        <p:spPr>
          <a:xfrm>
            <a:off x="4590000" y="3920399"/>
            <a:ext cx="270000" cy="259200"/>
          </a:xfrm>
          <a:prstGeom prst="rect">
            <a:avLst/>
          </a:prstGeom>
          <a:solidFill>
            <a:srgbClr val="B99ADD"/>
          </a:solidFill>
          <a:ln w="7620">
            <a:solidFill>
              <a:srgbClr val="8B6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-Temporal&#10;Embedding"/>
          <p:cNvSpPr txBox="1"/>
          <p:nvPr/>
        </p:nvSpPr>
        <p:spPr>
          <a:xfrm>
            <a:off x="3600000" y="4230000"/>
            <a:ext cx="1368000" cy="396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81818"/>
                </a:solidFill>
                <a:latin typeface="Arial"/>
              </a:rPr>
              <a:t>Temporal
Embedding</a:t>
            </a:r>
          </a:p>
        </p:txBody>
      </p:sp>
      <p:sp>
        <p:nvSpPr>
          <p:cNvPr id="57" name="fusion-frame"/>
          <p:cNvSpPr/>
          <p:nvPr/>
        </p:nvSpPr>
        <p:spPr>
          <a:xfrm>
            <a:off x="5813999" y="594000"/>
            <a:ext cx="5418000" cy="280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781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-3. Fusion &amp; Representati"/>
          <p:cNvSpPr txBox="1"/>
          <p:nvPr/>
        </p:nvSpPr>
        <p:spPr>
          <a:xfrm>
            <a:off x="6426000" y="244800"/>
            <a:ext cx="4212000" cy="27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F07817"/>
                </a:solidFill>
                <a:latin typeface="Arial"/>
              </a:rPr>
              <a:t>3. Fusion &amp; Representation Learning</a:t>
            </a:r>
          </a:p>
        </p:txBody>
      </p:sp>
      <p:sp>
        <p:nvSpPr>
          <p:cNvPr id="59" name="fusion-card-1"/>
          <p:cNvSpPr/>
          <p:nvPr/>
        </p:nvSpPr>
        <p:spPr>
          <a:xfrm>
            <a:off x="5993999" y="917999"/>
            <a:ext cx="1080000" cy="205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/>
            </a:r>
          </a:p>
        </p:txBody>
      </p:sp>
      <p:sp>
        <p:nvSpPr>
          <p:cNvPr id="60" name="fusion-card-title-1"/>
          <p:cNvSpPr txBox="1"/>
          <p:nvPr/>
        </p:nvSpPr>
        <p:spPr>
          <a:xfrm>
            <a:off x="6058799" y="1026000"/>
            <a:ext cx="950400" cy="36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Arial"/>
              </a:rPr>
              <a:t>Concatenate</a:t>
            </a:r>
          </a:p>
        </p:txBody>
      </p:sp>
      <p:sp>
        <p:nvSpPr>
          <p:cNvPr id="61" name="fusion-card-2"/>
          <p:cNvSpPr/>
          <p:nvPr/>
        </p:nvSpPr>
        <p:spPr>
          <a:xfrm>
            <a:off x="7326000" y="917999"/>
            <a:ext cx="1080000" cy="205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/>
            </a:r>
          </a:p>
        </p:txBody>
      </p:sp>
      <p:sp>
        <p:nvSpPr>
          <p:cNvPr id="62" name="fusion-card-title-2"/>
          <p:cNvSpPr txBox="1"/>
          <p:nvPr/>
        </p:nvSpPr>
        <p:spPr>
          <a:xfrm>
            <a:off x="7390800" y="1026000"/>
            <a:ext cx="950400" cy="36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Arial"/>
              </a:rPr>
              <a:t>Self-Attention
Block</a:t>
            </a:r>
          </a:p>
        </p:txBody>
      </p:sp>
      <p:cxnSp>
        <p:nvCxnSpPr>
          <p:cNvPr id="63" name="fusion-arrow"/>
          <p:cNvCxnSpPr/>
          <p:nvPr/>
        </p:nvCxnSpPr>
        <p:spPr>
          <a:xfrm>
            <a:off x="7092000" y="1908000"/>
            <a:ext cx="198000" cy="0"/>
          </a:xfrm>
          <a:prstGeom prst="line">
            <a:avLst/>
          </a:prstGeom>
          <a:ln w="1651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usion-card-3"/>
          <p:cNvSpPr/>
          <p:nvPr/>
        </p:nvSpPr>
        <p:spPr>
          <a:xfrm>
            <a:off x="8676000" y="917999"/>
            <a:ext cx="1080000" cy="205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/>
            </a:r>
          </a:p>
        </p:txBody>
      </p:sp>
      <p:sp>
        <p:nvSpPr>
          <p:cNvPr id="65" name="fusion-card-title-3"/>
          <p:cNvSpPr txBox="1"/>
          <p:nvPr/>
        </p:nvSpPr>
        <p:spPr>
          <a:xfrm>
            <a:off x="8740800" y="1026000"/>
            <a:ext cx="950400" cy="36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Arial"/>
              </a:rPr>
              <a:t>Feed-Forward
Network</a:t>
            </a:r>
          </a:p>
        </p:txBody>
      </p:sp>
      <p:cxnSp>
        <p:nvCxnSpPr>
          <p:cNvPr id="66" name="fusion-arrow"/>
          <p:cNvCxnSpPr/>
          <p:nvPr/>
        </p:nvCxnSpPr>
        <p:spPr>
          <a:xfrm>
            <a:off x="8442000" y="1908000"/>
            <a:ext cx="198000" cy="0"/>
          </a:xfrm>
          <a:prstGeom prst="line">
            <a:avLst/>
          </a:prstGeom>
          <a:ln w="1651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usion-card-4"/>
          <p:cNvSpPr/>
          <p:nvPr/>
        </p:nvSpPr>
        <p:spPr>
          <a:xfrm>
            <a:off x="10026000" y="917999"/>
            <a:ext cx="1080000" cy="205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/>
            </a:r>
          </a:p>
        </p:txBody>
      </p:sp>
      <p:sp>
        <p:nvSpPr>
          <p:cNvPr id="68" name="fusion-card-title-4"/>
          <p:cNvSpPr txBox="1"/>
          <p:nvPr/>
        </p:nvSpPr>
        <p:spPr>
          <a:xfrm>
            <a:off x="10090800" y="1026000"/>
            <a:ext cx="950400" cy="36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Arial"/>
              </a:rPr>
              <a:t>Layer
Normalization</a:t>
            </a:r>
          </a:p>
        </p:txBody>
      </p:sp>
      <p:cxnSp>
        <p:nvCxnSpPr>
          <p:cNvPr id="69" name="fusion-arrow"/>
          <p:cNvCxnSpPr/>
          <p:nvPr/>
        </p:nvCxnSpPr>
        <p:spPr>
          <a:xfrm>
            <a:off x="9792000" y="1908000"/>
            <a:ext cx="198000" cy="0"/>
          </a:xfrm>
          <a:prstGeom prst="line">
            <a:avLst/>
          </a:prstGeom>
          <a:ln w="1651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oncat-cell"/>
          <p:cNvSpPr/>
          <p:nvPr/>
        </p:nvSpPr>
        <p:spPr>
          <a:xfrm>
            <a:off x="6318000" y="1655999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oncat-cell"/>
          <p:cNvSpPr/>
          <p:nvPr/>
        </p:nvSpPr>
        <p:spPr>
          <a:xfrm>
            <a:off x="6516000" y="1655999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cat-join"/>
          <p:cNvCxnSpPr/>
          <p:nvPr/>
        </p:nvCxnSpPr>
        <p:spPr>
          <a:xfrm>
            <a:off x="6498000" y="1749599"/>
            <a:ext cx="25200" cy="0"/>
          </a:xfrm>
          <a:prstGeom prst="line">
            <a:avLst/>
          </a:prstGeom>
          <a:ln w="762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oncat-cell"/>
          <p:cNvSpPr/>
          <p:nvPr/>
        </p:nvSpPr>
        <p:spPr>
          <a:xfrm>
            <a:off x="6318000" y="18648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oncat-cell"/>
          <p:cNvSpPr/>
          <p:nvPr/>
        </p:nvSpPr>
        <p:spPr>
          <a:xfrm>
            <a:off x="6516000" y="18648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cat-join"/>
          <p:cNvCxnSpPr/>
          <p:nvPr/>
        </p:nvCxnSpPr>
        <p:spPr>
          <a:xfrm>
            <a:off x="6498000" y="1958399"/>
            <a:ext cx="25200" cy="0"/>
          </a:xfrm>
          <a:prstGeom prst="line">
            <a:avLst/>
          </a:prstGeom>
          <a:ln w="762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oncat-cell"/>
          <p:cNvSpPr/>
          <p:nvPr/>
        </p:nvSpPr>
        <p:spPr>
          <a:xfrm>
            <a:off x="6318000" y="20736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oncat-cell"/>
          <p:cNvSpPr/>
          <p:nvPr/>
        </p:nvSpPr>
        <p:spPr>
          <a:xfrm>
            <a:off x="6516000" y="20736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cat-join"/>
          <p:cNvCxnSpPr/>
          <p:nvPr/>
        </p:nvCxnSpPr>
        <p:spPr>
          <a:xfrm>
            <a:off x="6498000" y="2167200"/>
            <a:ext cx="25200" cy="0"/>
          </a:xfrm>
          <a:prstGeom prst="line">
            <a:avLst/>
          </a:prstGeom>
          <a:ln w="762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cat-cell"/>
          <p:cNvSpPr/>
          <p:nvPr/>
        </p:nvSpPr>
        <p:spPr>
          <a:xfrm>
            <a:off x="6318000" y="22824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oncat-cell"/>
          <p:cNvSpPr/>
          <p:nvPr/>
        </p:nvSpPr>
        <p:spPr>
          <a:xfrm>
            <a:off x="6516000" y="2282400"/>
            <a:ext cx="180000" cy="190800"/>
          </a:xfrm>
          <a:prstGeom prst="rect">
            <a:avLst/>
          </a:prstGeom>
          <a:solidFill>
            <a:srgbClr val="FFF7ED"/>
          </a:solidFill>
          <a:ln w="762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cat-join"/>
          <p:cNvCxnSpPr/>
          <p:nvPr/>
        </p:nvCxnSpPr>
        <p:spPr>
          <a:xfrm>
            <a:off x="6498000" y="2376000"/>
            <a:ext cx="25200" cy="0"/>
          </a:xfrm>
          <a:prstGeom prst="line">
            <a:avLst/>
          </a:prstGeom>
          <a:ln w="762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attention-node"/>
          <p:cNvSpPr/>
          <p:nvPr/>
        </p:nvSpPr>
        <p:spPr>
          <a:xfrm>
            <a:off x="7812000" y="1771200"/>
            <a:ext cx="108000" cy="108000"/>
          </a:xfrm>
          <a:prstGeom prst="ellipse">
            <a:avLst/>
          </a:prstGeom>
          <a:solidFill>
            <a:srgbClr val="FFF7ED"/>
          </a:solidFill>
          <a:ln w="1016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ttention-node"/>
          <p:cNvSpPr/>
          <p:nvPr/>
        </p:nvSpPr>
        <p:spPr>
          <a:xfrm>
            <a:off x="7560000" y="2106000"/>
            <a:ext cx="108000" cy="108000"/>
          </a:xfrm>
          <a:prstGeom prst="ellipse">
            <a:avLst/>
          </a:prstGeom>
          <a:solidFill>
            <a:srgbClr val="FFF7ED"/>
          </a:solidFill>
          <a:ln w="1016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ttention-node"/>
          <p:cNvSpPr/>
          <p:nvPr/>
        </p:nvSpPr>
        <p:spPr>
          <a:xfrm>
            <a:off x="7812000" y="2106000"/>
            <a:ext cx="108000" cy="108000"/>
          </a:xfrm>
          <a:prstGeom prst="ellipse">
            <a:avLst/>
          </a:prstGeom>
          <a:solidFill>
            <a:srgbClr val="FFF7ED"/>
          </a:solidFill>
          <a:ln w="1016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ttention-node"/>
          <p:cNvSpPr/>
          <p:nvPr/>
        </p:nvSpPr>
        <p:spPr>
          <a:xfrm>
            <a:off x="8063999" y="2106000"/>
            <a:ext cx="108000" cy="108000"/>
          </a:xfrm>
          <a:prstGeom prst="ellipse">
            <a:avLst/>
          </a:prstGeom>
          <a:solidFill>
            <a:srgbClr val="FFF7ED"/>
          </a:solidFill>
          <a:ln w="1016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attention-link"/>
          <p:cNvCxnSpPr/>
          <p:nvPr/>
        </p:nvCxnSpPr>
        <p:spPr>
          <a:xfrm flipH="1">
            <a:off x="7613999" y="1879200"/>
            <a:ext cx="252000" cy="226800"/>
          </a:xfrm>
          <a:prstGeom prst="line">
            <a:avLst/>
          </a:prstGeom>
          <a:ln w="10160">
            <a:solidFill>
              <a:srgbClr val="F0781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attention-stem"/>
          <p:cNvCxnSpPr/>
          <p:nvPr/>
        </p:nvCxnSpPr>
        <p:spPr>
          <a:xfrm>
            <a:off x="7613999" y="2214000"/>
            <a:ext cx="0" cy="107999"/>
          </a:xfrm>
          <a:prstGeom prst="line">
            <a:avLst/>
          </a:prstGeom>
          <a:ln w="1016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attention-link"/>
          <p:cNvCxnSpPr/>
          <p:nvPr/>
        </p:nvCxnSpPr>
        <p:spPr>
          <a:xfrm>
            <a:off x="7865999" y="1879200"/>
            <a:ext cx="0" cy="226800"/>
          </a:xfrm>
          <a:prstGeom prst="line">
            <a:avLst/>
          </a:prstGeom>
          <a:ln w="10160">
            <a:solidFill>
              <a:srgbClr val="F0781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attention-stem"/>
          <p:cNvCxnSpPr/>
          <p:nvPr/>
        </p:nvCxnSpPr>
        <p:spPr>
          <a:xfrm>
            <a:off x="7865999" y="2214000"/>
            <a:ext cx="0" cy="107999"/>
          </a:xfrm>
          <a:prstGeom prst="line">
            <a:avLst/>
          </a:prstGeom>
          <a:ln w="1016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attention-link"/>
          <p:cNvCxnSpPr/>
          <p:nvPr/>
        </p:nvCxnSpPr>
        <p:spPr>
          <a:xfrm>
            <a:off x="7865999" y="1879200"/>
            <a:ext cx="252000" cy="226800"/>
          </a:xfrm>
          <a:prstGeom prst="line">
            <a:avLst/>
          </a:prstGeom>
          <a:ln w="10160">
            <a:solidFill>
              <a:srgbClr val="F0781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attention-stem"/>
          <p:cNvCxnSpPr/>
          <p:nvPr/>
        </p:nvCxnSpPr>
        <p:spPr>
          <a:xfrm>
            <a:off x="8117999" y="2214000"/>
            <a:ext cx="0" cy="107999"/>
          </a:xfrm>
          <a:prstGeom prst="line">
            <a:avLst/>
          </a:prstGeom>
          <a:ln w="1016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ttention-output"/>
          <p:cNvSpPr/>
          <p:nvPr/>
        </p:nvSpPr>
        <p:spPr>
          <a:xfrm>
            <a:off x="7488000" y="2321999"/>
            <a:ext cx="737999" cy="125999"/>
          </a:xfrm>
          <a:prstGeom prst="rect">
            <a:avLst/>
          </a:prstGeom>
          <a:solidFill>
            <a:srgbClr val="F8D8B5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network-link"/>
          <p:cNvCxnSpPr/>
          <p:nvPr/>
        </p:nvCxnSpPr>
        <p:spPr>
          <a:xfrm>
            <a:off x="8938800" y="1814400"/>
            <a:ext cx="327600" cy="126000"/>
          </a:xfrm>
          <a:prstGeom prst="line">
            <a:avLst/>
          </a:prstGeom>
          <a:ln w="889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etwork-link"/>
          <p:cNvCxnSpPr/>
          <p:nvPr/>
        </p:nvCxnSpPr>
        <p:spPr>
          <a:xfrm flipV="1">
            <a:off x="8938800" y="1940400"/>
            <a:ext cx="327600" cy="144000"/>
          </a:xfrm>
          <a:prstGeom prst="line">
            <a:avLst/>
          </a:prstGeom>
          <a:ln w="889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etwork-link"/>
          <p:cNvCxnSpPr/>
          <p:nvPr/>
        </p:nvCxnSpPr>
        <p:spPr>
          <a:xfrm flipV="1">
            <a:off x="8938800" y="1940400"/>
            <a:ext cx="327600" cy="414000"/>
          </a:xfrm>
          <a:prstGeom prst="line">
            <a:avLst/>
          </a:prstGeom>
          <a:ln w="889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network-link"/>
          <p:cNvCxnSpPr/>
          <p:nvPr/>
        </p:nvCxnSpPr>
        <p:spPr>
          <a:xfrm flipV="1">
            <a:off x="9316800" y="1868399"/>
            <a:ext cx="291600" cy="72001"/>
          </a:xfrm>
          <a:prstGeom prst="line">
            <a:avLst/>
          </a:prstGeom>
          <a:ln w="889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network-link"/>
          <p:cNvCxnSpPr/>
          <p:nvPr/>
        </p:nvCxnSpPr>
        <p:spPr>
          <a:xfrm>
            <a:off x="9316800" y="1940400"/>
            <a:ext cx="291600" cy="324000"/>
          </a:xfrm>
          <a:prstGeom prst="line">
            <a:avLst/>
          </a:prstGeom>
          <a:ln w="889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etwork-node"/>
          <p:cNvSpPr/>
          <p:nvPr/>
        </p:nvSpPr>
        <p:spPr>
          <a:xfrm>
            <a:off x="8838000" y="1764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network-node"/>
          <p:cNvSpPr/>
          <p:nvPr/>
        </p:nvSpPr>
        <p:spPr>
          <a:xfrm>
            <a:off x="8838000" y="2034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network-node"/>
          <p:cNvSpPr/>
          <p:nvPr/>
        </p:nvSpPr>
        <p:spPr>
          <a:xfrm>
            <a:off x="8838000" y="2304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etwork-node"/>
          <p:cNvSpPr/>
          <p:nvPr/>
        </p:nvSpPr>
        <p:spPr>
          <a:xfrm>
            <a:off x="9216000" y="1890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network-node"/>
          <p:cNvSpPr/>
          <p:nvPr/>
        </p:nvSpPr>
        <p:spPr>
          <a:xfrm>
            <a:off x="9558000" y="1818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etwork-node"/>
          <p:cNvSpPr/>
          <p:nvPr/>
        </p:nvSpPr>
        <p:spPr>
          <a:xfrm>
            <a:off x="9558000" y="2214000"/>
            <a:ext cx="108000" cy="108000"/>
          </a:xfrm>
          <a:prstGeom prst="ellipse">
            <a:avLst/>
          </a:prstGeom>
          <a:solidFill>
            <a:srgbClr val="FFF7ED"/>
          </a:solidFill>
          <a:ln w="8890">
            <a:solidFill>
              <a:srgbClr val="F0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line-103"/>
          <p:cNvCxnSpPr/>
          <p:nvPr/>
        </p:nvCxnSpPr>
        <p:spPr>
          <a:xfrm flipV="1">
            <a:off x="10206000" y="1674000"/>
            <a:ext cx="0" cy="630000"/>
          </a:xfrm>
          <a:prstGeom prst="line">
            <a:avLst/>
          </a:prstGeom>
          <a:ln w="1143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ne-104"/>
          <p:cNvCxnSpPr/>
          <p:nvPr/>
        </p:nvCxnSpPr>
        <p:spPr>
          <a:xfrm>
            <a:off x="10206000" y="2304000"/>
            <a:ext cx="720000" cy="0"/>
          </a:xfrm>
          <a:prstGeom prst="line">
            <a:avLst/>
          </a:prstGeom>
          <a:ln w="1143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normalization-curve"/>
          <p:cNvCxnSpPr/>
          <p:nvPr/>
        </p:nvCxnSpPr>
        <p:spPr>
          <a:xfrm flipV="1">
            <a:off x="10206000" y="2160000"/>
            <a:ext cx="126000" cy="36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normalization-curve"/>
          <p:cNvCxnSpPr/>
          <p:nvPr/>
        </p:nvCxnSpPr>
        <p:spPr>
          <a:xfrm flipV="1">
            <a:off x="10332000" y="1980000"/>
            <a:ext cx="108000" cy="180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normalization-curve"/>
          <p:cNvCxnSpPr/>
          <p:nvPr/>
        </p:nvCxnSpPr>
        <p:spPr>
          <a:xfrm flipV="1">
            <a:off x="10440000" y="1800000"/>
            <a:ext cx="108000" cy="180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normalization-curve"/>
          <p:cNvCxnSpPr/>
          <p:nvPr/>
        </p:nvCxnSpPr>
        <p:spPr>
          <a:xfrm>
            <a:off x="10548000" y="1800000"/>
            <a:ext cx="108000" cy="36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normalization-curve"/>
          <p:cNvCxnSpPr/>
          <p:nvPr/>
        </p:nvCxnSpPr>
        <p:spPr>
          <a:xfrm>
            <a:off x="10656000" y="1836000"/>
            <a:ext cx="108000" cy="252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normalization-curve"/>
          <p:cNvCxnSpPr/>
          <p:nvPr/>
        </p:nvCxnSpPr>
        <p:spPr>
          <a:xfrm>
            <a:off x="10764000" y="2088000"/>
            <a:ext cx="126000" cy="72000"/>
          </a:xfrm>
          <a:prstGeom prst="line">
            <a:avLst/>
          </a:prstGeom>
          <a:ln w="13970">
            <a:solidFill>
              <a:srgbClr val="F07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coring-frame"/>
          <p:cNvSpPr/>
          <p:nvPr/>
        </p:nvSpPr>
        <p:spPr>
          <a:xfrm>
            <a:off x="11664000" y="882000"/>
            <a:ext cx="1925999" cy="2826000"/>
          </a:xfrm>
          <a:prstGeom prst="roundRect">
            <a:avLst/>
          </a:prstGeom>
          <a:solidFill>
            <a:srgbClr val="F4FAEE"/>
          </a:solidFill>
          <a:ln w="13970">
            <a:solidFill>
              <a:srgbClr val="6DB33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-4. Anomaly Scoring"/>
          <p:cNvSpPr txBox="1"/>
          <p:nvPr/>
        </p:nvSpPr>
        <p:spPr>
          <a:xfrm>
            <a:off x="11610000" y="522000"/>
            <a:ext cx="2052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6DB33F"/>
                </a:solidFill>
                <a:latin typeface="Arial"/>
              </a:rPr>
              <a:t>4. Anomaly Scoring</a:t>
            </a:r>
          </a:p>
        </p:txBody>
      </p:sp>
      <p:sp>
        <p:nvSpPr>
          <p:cNvPr id="114" name="reconstruction-module"/>
          <p:cNvSpPr/>
          <p:nvPr/>
        </p:nvSpPr>
        <p:spPr>
          <a:xfrm>
            <a:off x="11897999" y="1134000"/>
            <a:ext cx="1458000" cy="1044000"/>
          </a:xfrm>
          <a:prstGeom prst="roundRect">
            <a:avLst/>
          </a:prstGeom>
          <a:solidFill>
            <a:srgbClr val="F4FAEE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>Reconstruction
Module</a:t>
            </a:r>
          </a:p>
        </p:txBody>
      </p:sp>
      <p:sp>
        <p:nvSpPr>
          <p:cNvPr id="115" name="reconstruction-vector"/>
          <p:cNvSpPr/>
          <p:nvPr/>
        </p:nvSpPr>
        <p:spPr>
          <a:xfrm>
            <a:off x="12186000" y="1835999"/>
            <a:ext cx="151200" cy="187200"/>
          </a:xfrm>
          <a:prstGeom prst="rect">
            <a:avLst/>
          </a:prstGeom>
          <a:solidFill>
            <a:srgbClr val="EDF7D9"/>
          </a:solidFill>
          <a:ln w="889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onstruction-vector"/>
          <p:cNvSpPr/>
          <p:nvPr/>
        </p:nvSpPr>
        <p:spPr>
          <a:xfrm>
            <a:off x="12394800" y="1835999"/>
            <a:ext cx="151200" cy="187200"/>
          </a:xfrm>
          <a:prstGeom prst="rect">
            <a:avLst/>
          </a:prstGeom>
          <a:solidFill>
            <a:srgbClr val="EDF7D9"/>
          </a:solidFill>
          <a:ln w="889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onstruction-vector"/>
          <p:cNvSpPr/>
          <p:nvPr/>
        </p:nvSpPr>
        <p:spPr>
          <a:xfrm>
            <a:off x="12603600" y="1835999"/>
            <a:ext cx="151200" cy="187200"/>
          </a:xfrm>
          <a:prstGeom prst="rect">
            <a:avLst/>
          </a:prstGeom>
          <a:solidFill>
            <a:srgbClr val="EDF7D9"/>
          </a:solidFill>
          <a:ln w="889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onstruction-vector"/>
          <p:cNvSpPr/>
          <p:nvPr/>
        </p:nvSpPr>
        <p:spPr>
          <a:xfrm>
            <a:off x="12812400" y="1835999"/>
            <a:ext cx="151200" cy="187200"/>
          </a:xfrm>
          <a:prstGeom prst="rect">
            <a:avLst/>
          </a:prstGeom>
          <a:solidFill>
            <a:srgbClr val="EDF7D9"/>
          </a:solidFill>
          <a:ln w="889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line-118"/>
          <p:cNvCxnSpPr/>
          <p:nvPr/>
        </p:nvCxnSpPr>
        <p:spPr>
          <a:xfrm>
            <a:off x="12628800" y="2178000"/>
            <a:ext cx="0" cy="216000"/>
          </a:xfrm>
          <a:prstGeom prst="line">
            <a:avLst/>
          </a:prstGeom>
          <a:ln w="1524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anomaly-score"/>
          <p:cNvSpPr/>
          <p:nvPr/>
        </p:nvSpPr>
        <p:spPr>
          <a:xfrm>
            <a:off x="11897999" y="2412000"/>
            <a:ext cx="1458000" cy="954000"/>
          </a:xfrm>
          <a:prstGeom prst="roundRect">
            <a:avLst/>
          </a:prstGeom>
          <a:solidFill>
            <a:srgbClr val="F4FAEE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100" b="0">
                <a:solidFill>
                  <a:srgbClr val="181818"/>
                </a:solidFill>
                <a:latin typeface="Arial"/>
              </a:rPr>
              <a:t>Anomaly Score</a:t>
            </a:r>
          </a:p>
        </p:txBody>
      </p:sp>
      <p:cxnSp>
        <p:nvCxnSpPr>
          <p:cNvPr id="121" name="anomaly-bell-curve"/>
          <p:cNvCxnSpPr/>
          <p:nvPr/>
        </p:nvCxnSpPr>
        <p:spPr>
          <a:xfrm flipV="1">
            <a:off x="12186000" y="3150000"/>
            <a:ext cx="144000" cy="36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anomaly-bell-curve"/>
          <p:cNvCxnSpPr/>
          <p:nvPr/>
        </p:nvCxnSpPr>
        <p:spPr>
          <a:xfrm flipV="1">
            <a:off x="12330000" y="2970000"/>
            <a:ext cx="107999" cy="180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anomaly-bell-curve"/>
          <p:cNvCxnSpPr/>
          <p:nvPr/>
        </p:nvCxnSpPr>
        <p:spPr>
          <a:xfrm flipV="1">
            <a:off x="12437999" y="2718000"/>
            <a:ext cx="108001" cy="252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nomaly-bell-curve"/>
          <p:cNvCxnSpPr/>
          <p:nvPr/>
        </p:nvCxnSpPr>
        <p:spPr>
          <a:xfrm flipV="1">
            <a:off x="12546000" y="2610000"/>
            <a:ext cx="108000" cy="108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anomaly-bell-curve"/>
          <p:cNvCxnSpPr/>
          <p:nvPr/>
        </p:nvCxnSpPr>
        <p:spPr>
          <a:xfrm>
            <a:off x="12654000" y="2610000"/>
            <a:ext cx="108000" cy="108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anomaly-bell-curve"/>
          <p:cNvCxnSpPr/>
          <p:nvPr/>
        </p:nvCxnSpPr>
        <p:spPr>
          <a:xfrm>
            <a:off x="12762000" y="2718000"/>
            <a:ext cx="108000" cy="270000"/>
          </a:xfrm>
          <a:prstGeom prst="line">
            <a:avLst/>
          </a:prstGeom>
          <a:ln w="12700">
            <a:solidFill>
              <a:srgbClr val="C6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anomaly-bell-curve"/>
          <p:cNvCxnSpPr/>
          <p:nvPr/>
        </p:nvCxnSpPr>
        <p:spPr>
          <a:xfrm>
            <a:off x="12870000" y="2988000"/>
            <a:ext cx="126000" cy="151200"/>
          </a:xfrm>
          <a:prstGeom prst="line">
            <a:avLst/>
          </a:prstGeom>
          <a:ln w="12700">
            <a:solidFill>
              <a:srgbClr val="C6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line-127"/>
          <p:cNvCxnSpPr/>
          <p:nvPr/>
        </p:nvCxnSpPr>
        <p:spPr>
          <a:xfrm>
            <a:off x="12150000" y="3189600"/>
            <a:ext cx="9000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decision-frame"/>
          <p:cNvSpPr/>
          <p:nvPr/>
        </p:nvSpPr>
        <p:spPr>
          <a:xfrm>
            <a:off x="11717999" y="4230000"/>
            <a:ext cx="1854000" cy="1818000"/>
          </a:xfrm>
          <a:prstGeom prst="roundRect">
            <a:avLst/>
          </a:prstGeom>
          <a:solidFill>
            <a:srgbClr val="FFF5F8"/>
          </a:solidFill>
          <a:ln w="13970">
            <a:solidFill>
              <a:srgbClr val="E45A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-5. Decision"/>
          <p:cNvSpPr txBox="1"/>
          <p:nvPr/>
        </p:nvSpPr>
        <p:spPr>
          <a:xfrm>
            <a:off x="11880000" y="4338000"/>
            <a:ext cx="1512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E45A88"/>
                </a:solidFill>
                <a:latin typeface="Arial"/>
              </a:rPr>
              <a:t>5. Decision</a:t>
            </a:r>
          </a:p>
        </p:txBody>
      </p:sp>
      <p:sp>
        <p:nvSpPr>
          <p:cNvPr id="131" name="thresholding"/>
          <p:cNvSpPr/>
          <p:nvPr/>
        </p:nvSpPr>
        <p:spPr>
          <a:xfrm>
            <a:off x="11934000" y="4806000"/>
            <a:ext cx="1422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050" b="1">
                <a:solidFill>
                  <a:srgbClr val="181818"/>
                </a:solidFill>
                <a:latin typeface="Arial"/>
              </a:rPr>
              <a:t>Thresholding</a:t>
            </a:r>
          </a:p>
        </p:txBody>
      </p:sp>
      <p:cxnSp>
        <p:nvCxnSpPr>
          <p:cNvPr id="132" name="line-131"/>
          <p:cNvCxnSpPr/>
          <p:nvPr/>
        </p:nvCxnSpPr>
        <p:spPr>
          <a:xfrm>
            <a:off x="12643200" y="5292000"/>
            <a:ext cx="0" cy="162000"/>
          </a:xfrm>
          <a:prstGeom prst="line">
            <a:avLst/>
          </a:prstGeom>
          <a:ln w="1397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normal-anomaly"/>
          <p:cNvSpPr/>
          <p:nvPr/>
        </p:nvSpPr>
        <p:spPr>
          <a:xfrm>
            <a:off x="11934000" y="5472000"/>
            <a:ext cx="1422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000" b="1">
                <a:solidFill>
                  <a:srgbClr val="181818"/>
                </a:solidFill>
                <a:latin typeface="Arial"/>
              </a:rPr>
              <a:t>Normal / Anomaly</a:t>
            </a:r>
          </a:p>
        </p:txBody>
      </p:sp>
      <p:cxnSp>
        <p:nvCxnSpPr>
          <p:cNvPr id="134" name="score-to-decision"/>
          <p:cNvCxnSpPr/>
          <p:nvPr/>
        </p:nvCxnSpPr>
        <p:spPr>
          <a:xfrm>
            <a:off x="12643200" y="3708000"/>
            <a:ext cx="0" cy="511200"/>
          </a:xfrm>
          <a:prstGeom prst="line">
            <a:avLst/>
          </a:prstGeom>
          <a:ln w="1905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raining-frame"/>
          <p:cNvSpPr/>
          <p:nvPr/>
        </p:nvSpPr>
        <p:spPr>
          <a:xfrm>
            <a:off x="5993999" y="4158000"/>
            <a:ext cx="3384000" cy="1764000"/>
          </a:xfrm>
          <a:prstGeom prst="roundRect">
            <a:avLst/>
          </a:prstGeom>
          <a:solidFill>
            <a:srgbClr val="F1F7FD"/>
          </a:solidFill>
          <a:ln w="13970">
            <a:solidFill>
              <a:srgbClr val="2E79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-6. Training Objective"/>
          <p:cNvSpPr txBox="1"/>
          <p:nvPr/>
        </p:nvSpPr>
        <p:spPr>
          <a:xfrm>
            <a:off x="6300000" y="4230000"/>
            <a:ext cx="2772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2E79C7"/>
                </a:solidFill>
                <a:latin typeface="Arial"/>
              </a:rPr>
              <a:t>6. Training Objective</a:t>
            </a:r>
          </a:p>
        </p:txBody>
      </p:sp>
      <p:sp>
        <p:nvSpPr>
          <p:cNvPr id="137" name="reconstruction-loss"/>
          <p:cNvSpPr/>
          <p:nvPr/>
        </p:nvSpPr>
        <p:spPr>
          <a:xfrm>
            <a:off x="6138000" y="4626000"/>
            <a:ext cx="1404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000" b="0">
                <a:solidFill>
                  <a:srgbClr val="181818"/>
                </a:solidFill>
                <a:latin typeface="Arial"/>
              </a:rPr>
              <a:t>Reconstruction Loss
Lrec</a:t>
            </a:r>
          </a:p>
        </p:txBody>
      </p:sp>
      <p:sp>
        <p:nvSpPr>
          <p:cNvPr id="138" name="text-+"/>
          <p:cNvSpPr txBox="1"/>
          <p:nvPr/>
        </p:nvSpPr>
        <p:spPr>
          <a:xfrm>
            <a:off x="7560000" y="4806000"/>
            <a:ext cx="288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181818"/>
                </a:solidFill>
                <a:latin typeface="Arial"/>
              </a:rPr>
              <a:t>+</a:t>
            </a:r>
          </a:p>
        </p:txBody>
      </p:sp>
      <p:sp>
        <p:nvSpPr>
          <p:cNvPr id="139" name="regularization-loss"/>
          <p:cNvSpPr/>
          <p:nvPr/>
        </p:nvSpPr>
        <p:spPr>
          <a:xfrm>
            <a:off x="7812000" y="4626000"/>
            <a:ext cx="1404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/>
          <a:lstStyle/>
          <a:p>
            <a:pPr algn="ctr"/>
            <a:r>
              <a:rPr sz="1000" b="0">
                <a:solidFill>
                  <a:srgbClr val="181818"/>
                </a:solidFill>
                <a:latin typeface="Arial"/>
              </a:rPr>
              <a:t>Regularization Loss
Lreg</a:t>
            </a:r>
          </a:p>
        </p:txBody>
      </p:sp>
      <p:cxnSp>
        <p:nvCxnSpPr>
          <p:cNvPr id="140" name="loss-separator"/>
          <p:cNvCxnSpPr/>
          <p:nvPr/>
        </p:nvCxnSpPr>
        <p:spPr>
          <a:xfrm>
            <a:off x="6263999" y="5472000"/>
            <a:ext cx="2844001" cy="0"/>
          </a:xfrm>
          <a:prstGeom prst="line">
            <a:avLst/>
          </a:prstGeom>
          <a:ln w="11430">
            <a:solidFill>
              <a:srgbClr val="2E7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-Total Loss: L = Lrec + λ"/>
          <p:cNvSpPr txBox="1"/>
          <p:nvPr/>
        </p:nvSpPr>
        <p:spPr>
          <a:xfrm>
            <a:off x="6570000" y="5526000"/>
            <a:ext cx="2322000" cy="27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81818"/>
                </a:solidFill>
                <a:latin typeface="Arial"/>
              </a:rPr>
              <a:t>Total Loss: L = Lrec + λLreg</a:t>
            </a:r>
          </a:p>
        </p:txBody>
      </p:sp>
      <p:sp>
        <p:nvSpPr>
          <p:cNvPr id="142" name="legend-frame"/>
          <p:cNvSpPr/>
          <p:nvPr/>
        </p:nvSpPr>
        <p:spPr>
          <a:xfrm>
            <a:off x="3456000" y="6408000"/>
            <a:ext cx="72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-Legend:"/>
          <p:cNvSpPr txBox="1"/>
          <p:nvPr/>
        </p:nvSpPr>
        <p:spPr>
          <a:xfrm>
            <a:off x="3600000" y="6516000"/>
            <a:ext cx="576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Arial"/>
              </a:rPr>
              <a:t>Legend:</a:t>
            </a:r>
          </a:p>
        </p:txBody>
      </p:sp>
      <p:cxnSp>
        <p:nvCxnSpPr>
          <p:cNvPr id="144" name="legend-data-arrow"/>
          <p:cNvCxnSpPr/>
          <p:nvPr/>
        </p:nvCxnSpPr>
        <p:spPr>
          <a:xfrm>
            <a:off x="4914000" y="6667200"/>
            <a:ext cx="432000" cy="0"/>
          </a:xfrm>
          <a:prstGeom prst="line">
            <a:avLst/>
          </a:prstGeom>
          <a:ln w="1397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-Data Flow"/>
          <p:cNvSpPr txBox="1"/>
          <p:nvPr/>
        </p:nvSpPr>
        <p:spPr>
          <a:xfrm>
            <a:off x="5436000" y="6533999"/>
            <a:ext cx="792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1818"/>
                </a:solidFill>
                <a:latin typeface="Arial"/>
              </a:rPr>
              <a:t>Data Flow</a:t>
            </a:r>
          </a:p>
        </p:txBody>
      </p:sp>
      <p:cxnSp>
        <p:nvCxnSpPr>
          <p:cNvPr id="146" name="legend-aux-arrow"/>
          <p:cNvCxnSpPr/>
          <p:nvPr/>
        </p:nvCxnSpPr>
        <p:spPr>
          <a:xfrm>
            <a:off x="6696000" y="6667200"/>
            <a:ext cx="432000" cy="0"/>
          </a:xfrm>
          <a:prstGeom prst="line">
            <a:avLst/>
          </a:prstGeom>
          <a:ln w="13970">
            <a:solidFill>
              <a:srgbClr val="1818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-Auxiliary Flow"/>
          <p:cNvSpPr txBox="1"/>
          <p:nvPr/>
        </p:nvSpPr>
        <p:spPr>
          <a:xfrm>
            <a:off x="7236000" y="6533999"/>
            <a:ext cx="1007999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1818"/>
                </a:solidFill>
                <a:latin typeface="Arial"/>
              </a:rPr>
              <a:t>Auxiliary Flow</a:t>
            </a:r>
          </a:p>
        </p:txBody>
      </p:sp>
      <p:sp>
        <p:nvSpPr>
          <p:cNvPr id="148" name="legend-vector"/>
          <p:cNvSpPr/>
          <p:nvPr/>
        </p:nvSpPr>
        <p:spPr>
          <a:xfrm>
            <a:off x="8748000" y="6570000"/>
            <a:ext cx="378000" cy="180000"/>
          </a:xfrm>
          <a:prstGeom prst="rect">
            <a:avLst/>
          </a:prstGeom>
          <a:solidFill>
            <a:srgbClr val="F1F7FD"/>
          </a:solidFill>
          <a:ln w="8890">
            <a:solidFill>
              <a:srgbClr val="2E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-Vector / Feature"/>
          <p:cNvSpPr txBox="1"/>
          <p:nvPr/>
        </p:nvSpPr>
        <p:spPr>
          <a:xfrm>
            <a:off x="9234000" y="6533999"/>
            <a:ext cx="1080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1818"/>
                </a:solidFill>
                <a:latin typeface="Arial"/>
              </a:rPr>
              <a:t>Vector / Feature</a:t>
            </a:r>
          </a:p>
        </p:txBody>
      </p:sp>
      <p:cxnSp>
        <p:nvCxnSpPr>
          <p:cNvPr id="150" name="input-to-sequence-segment-1"/>
          <p:cNvCxnSpPr/>
          <p:nvPr/>
        </p:nvCxnSpPr>
        <p:spPr>
          <a:xfrm>
            <a:off x="2015999" y="2520000"/>
            <a:ext cx="288001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input-to-sequence-segment-2"/>
          <p:cNvCxnSpPr/>
          <p:nvPr/>
        </p:nvCxnSpPr>
        <p:spPr>
          <a:xfrm flipV="1">
            <a:off x="2304000" y="1080000"/>
            <a:ext cx="0" cy="1440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input-to-sequence-segment-3"/>
          <p:cNvCxnSpPr/>
          <p:nvPr/>
        </p:nvCxnSpPr>
        <p:spPr>
          <a:xfrm>
            <a:off x="2304000" y="1080000"/>
            <a:ext cx="684000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input-to-pattern-segment-1"/>
          <p:cNvCxnSpPr/>
          <p:nvPr/>
        </p:nvCxnSpPr>
        <p:spPr>
          <a:xfrm>
            <a:off x="2015999" y="3240000"/>
            <a:ext cx="432001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input-to-pattern-segment-2"/>
          <p:cNvCxnSpPr/>
          <p:nvPr/>
        </p:nvCxnSpPr>
        <p:spPr>
          <a:xfrm>
            <a:off x="2448000" y="3240000"/>
            <a:ext cx="0" cy="504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input-to-pattern-segment-3"/>
          <p:cNvCxnSpPr/>
          <p:nvPr/>
        </p:nvCxnSpPr>
        <p:spPr>
          <a:xfrm>
            <a:off x="2448000" y="3744000"/>
            <a:ext cx="540000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equence-to-fusion-segment-1"/>
          <p:cNvCxnSpPr/>
          <p:nvPr/>
        </p:nvCxnSpPr>
        <p:spPr>
          <a:xfrm>
            <a:off x="5076000" y="1080000"/>
            <a:ext cx="450000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equence-to-fusion-segment-2"/>
          <p:cNvCxnSpPr/>
          <p:nvPr/>
        </p:nvCxnSpPr>
        <p:spPr>
          <a:xfrm>
            <a:off x="5526000" y="1080000"/>
            <a:ext cx="0" cy="810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equence-to-fusion-segment-3"/>
          <p:cNvCxnSpPr/>
          <p:nvPr/>
        </p:nvCxnSpPr>
        <p:spPr>
          <a:xfrm>
            <a:off x="5526000" y="1890000"/>
            <a:ext cx="270000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pattern-to-fusion-segment-1"/>
          <p:cNvCxnSpPr/>
          <p:nvPr/>
        </p:nvCxnSpPr>
        <p:spPr>
          <a:xfrm>
            <a:off x="5166000" y="3671999"/>
            <a:ext cx="288000" cy="0"/>
          </a:xfrm>
          <a:prstGeom prst="line">
            <a:avLst/>
          </a:prstGeom>
          <a:ln w="12700">
            <a:solidFill>
              <a:srgbClr val="8B65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pattern-to-fusion-segment-2"/>
          <p:cNvCxnSpPr/>
          <p:nvPr/>
        </p:nvCxnSpPr>
        <p:spPr>
          <a:xfrm flipV="1">
            <a:off x="5454000" y="2448000"/>
            <a:ext cx="0" cy="1223999"/>
          </a:xfrm>
          <a:prstGeom prst="line">
            <a:avLst/>
          </a:prstGeom>
          <a:ln w="12700">
            <a:solidFill>
              <a:srgbClr val="8B65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pattern-to-fusion-segment-3"/>
          <p:cNvCxnSpPr/>
          <p:nvPr/>
        </p:nvCxnSpPr>
        <p:spPr>
          <a:xfrm>
            <a:off x="5454000" y="2448000"/>
            <a:ext cx="342000" cy="0"/>
          </a:xfrm>
          <a:prstGeom prst="line">
            <a:avLst/>
          </a:prstGeom>
          <a:ln w="12700">
            <a:solidFill>
              <a:srgbClr val="8B65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fusion-to-scoring"/>
          <p:cNvCxnSpPr/>
          <p:nvPr/>
        </p:nvCxnSpPr>
        <p:spPr>
          <a:xfrm>
            <a:off x="11232000" y="1908000"/>
            <a:ext cx="414000" cy="0"/>
          </a:xfrm>
          <a:prstGeom prst="line">
            <a:avLst/>
          </a:prstGeom>
          <a:ln w="1905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fusion-to-training-segment-1"/>
          <p:cNvCxnSpPr/>
          <p:nvPr/>
        </p:nvCxnSpPr>
        <p:spPr>
          <a:xfrm>
            <a:off x="8424000" y="3401999"/>
            <a:ext cx="0" cy="378001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fusion-to-training-segment-2"/>
          <p:cNvCxnSpPr/>
          <p:nvPr/>
        </p:nvCxnSpPr>
        <p:spPr>
          <a:xfrm flipH="1">
            <a:off x="7686000" y="3780000"/>
            <a:ext cx="738000" cy="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fusion-to-training-segment-3"/>
          <p:cNvCxnSpPr/>
          <p:nvPr/>
        </p:nvCxnSpPr>
        <p:spPr>
          <a:xfrm>
            <a:off x="7686000" y="3780000"/>
            <a:ext cx="0" cy="360000"/>
          </a:xfrm>
          <a:prstGeom prst="line">
            <a:avLst/>
          </a:prstGeom>
          <a:ln w="1270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training-to-pattern-segment-1"/>
          <p:cNvCxnSpPr/>
          <p:nvPr/>
        </p:nvCxnSpPr>
        <p:spPr>
          <a:xfrm flipH="1">
            <a:off x="4212000" y="5364000"/>
            <a:ext cx="1781999" cy="0"/>
          </a:xfrm>
          <a:prstGeom prst="line">
            <a:avLst/>
          </a:prstGeom>
          <a:ln w="12700">
            <a:solidFill>
              <a:srgbClr val="2E79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training-to-pattern-segment-2"/>
          <p:cNvCxnSpPr/>
          <p:nvPr/>
        </p:nvCxnSpPr>
        <p:spPr>
          <a:xfrm flipV="1">
            <a:off x="4212000" y="4806000"/>
            <a:ext cx="0" cy="558000"/>
          </a:xfrm>
          <a:prstGeom prst="line">
            <a:avLst/>
          </a:prstGeom>
          <a:ln w="12700">
            <a:solidFill>
              <a:srgbClr val="2E79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