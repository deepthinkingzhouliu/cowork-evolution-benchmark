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服务人次</c:v>
                </c:pt>
              </c:strCache>
            </c:strRef>
          </c:tx>
          <c:spPr>
            <a:solidFill>
              <a:srgbClr val="E45B35"/>
            </a:solidFill>
          </c:spPr>
          <c:cat>
            <c:strRef>
              <c:f>Sheet1!$A$2:$A$4</c:f>
              <c:strCache>
                <c:ptCount val="3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2480</c:v>
                </c:pt>
                <c:pt idx="1">
                  <c:v>2810</c:v>
                </c:pt>
                <c:pt idx="2">
                  <c:v>3170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13232"/>
            <a:ext cx="1143000" cy="118872"/>
          </a:xfrm>
          <a:prstGeom prst="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社区食堂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685800"/>
            <a:ext cx="3566160" cy="4480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55279" y="5257800"/>
            <a:ext cx="3566160" cy="109728"/>
          </a:xfrm>
          <a:prstGeom prst="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078992"/>
            <a:ext cx="6583680" cy="2011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CJK SC"/>
              </a:rPr>
              <a:t>长者友好社区食堂｜试点复盘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246120"/>
            <a:ext cx="667512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Noto Sans CJK SC"/>
              </a:rPr>
              <a:t>2026年4–6月 · 枫桥/河滨社区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754880"/>
            <a:ext cx="2926080" cy="530352"/>
          </a:xfrm>
          <a:prstGeom prst="round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828032"/>
            <a:ext cx="2670048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决策版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枫桥街道社区服务中心（合成）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E45B35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三个月试点：覆盖与满意度双达标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E45B35"/>
                </a:solidFill>
                <a:latin typeface="Noto Sans CJK SC"/>
              </a:rPr>
              <a:t>8,460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服务人次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E45B35"/>
                </a:solidFill>
                <a:latin typeface="Noto Sans CJK SC"/>
              </a:rPr>
              <a:t>4.7/5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平均满意度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E45B35"/>
                </a:solidFill>
                <a:latin typeface="Noto Sans CJK SC"/>
              </a:rPr>
              <a:t>92%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长者复购率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" y="4023360"/>
            <a:ext cx="164592" cy="164592"/>
          </a:xfrm>
          <a:prstGeom prst="round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8768"/>
            <a:ext cx="1042416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243447"/>
                </a:solidFill>
                <a:latin typeface="Noto Sans CJK SC"/>
              </a:rPr>
              <a:t>服务量连续两月增长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" y="4590288"/>
            <a:ext cx="164592" cy="164592"/>
          </a:xfrm>
          <a:prstGeom prst="round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25696"/>
            <a:ext cx="1042416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243447"/>
                </a:solidFill>
                <a:latin typeface="Noto Sans CJK SC"/>
              </a:rPr>
              <a:t>单均成本由15.8元降至14.9元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枫桥街道社区服务中心（合成）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E45B35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午餐贡献 64%，6月客流达 3,170 人次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13232" y="1536192"/>
          <a:ext cx="67665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536192"/>
            <a:ext cx="3675887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1874519"/>
            <a:ext cx="201168" cy="201168"/>
          </a:xfrm>
          <a:prstGeom prst="round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64208"/>
            <a:ext cx="2633472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Noto Sans CJK SC"/>
              </a:rPr>
              <a:t>周三 11:30–12:15 为最明显峰值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108960"/>
            <a:ext cx="201168" cy="201168"/>
          </a:xfrm>
          <a:prstGeom prst="round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898648"/>
            <a:ext cx="2633472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Noto Sans CJK SC"/>
              </a:rPr>
              <a:t>优先通过快取窗分流，不急于扩建后厨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枫桥街道社区服务中心（合成）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E45B35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三类反馈直接对应下一阶段动作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572768"/>
          <a:ext cx="1077163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544"/>
                <a:gridCol w="3590544"/>
                <a:gridCol w="3590544"/>
              </a:tblGrid>
              <a:tr h="9029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需求</a:t>
                      </a:r>
                    </a:p>
                  </a:txBody>
                  <a:tcPr marL="73152" marR="73152">
                    <a:solidFill>
                      <a:srgbClr val="E45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证据</a:t>
                      </a:r>
                    </a:p>
                  </a:txBody>
                  <a:tcPr marL="73152" marR="73152">
                    <a:solidFill>
                      <a:srgbClr val="E45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下一步</a:t>
                      </a:r>
                    </a:p>
                  </a:txBody>
                  <a:tcPr marL="73152" marR="73152">
                    <a:solidFill>
                      <a:srgbClr val="E45B35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低盐套餐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126条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每日2款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减少排队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89条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周三快取窗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助餐配送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57条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先50户试行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13232" y="5440680"/>
            <a:ext cx="10771632" cy="566928"/>
          </a:xfrm>
          <a:prstGeom prst="roundRect">
            <a:avLst/>
          </a:prstGeom>
          <a:solidFill>
            <a:srgbClr val="E8F2F3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522976"/>
            <a:ext cx="1033272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243447"/>
                </a:solidFill>
                <a:latin typeface="Noto Sans CJK SC"/>
              </a:rPr>
              <a:t>先做可逆的小步实验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枫桥街道社区服务中心（合成）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E45B35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90 天扩容路线图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" y="3429000"/>
            <a:ext cx="10012680" cy="73152"/>
          </a:xfrm>
          <a:prstGeom prst="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3282696"/>
            <a:ext cx="365760" cy="365760"/>
          </a:xfrm>
          <a:prstGeom prst="round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E45B35"/>
                </a:solidFill>
                <a:latin typeface="Noto Sans CJK SC"/>
              </a:rPr>
              <a:t>0–30天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低盐菜单 + 快取窗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9" y="3282696"/>
            <a:ext cx="365760" cy="365760"/>
          </a:xfrm>
          <a:prstGeom prst="round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7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E45B35"/>
                </a:solidFill>
                <a:latin typeface="Noto Sans CJK SC"/>
              </a:rPr>
              <a:t>31–60天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50户配送试行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0" y="3282696"/>
            <a:ext cx="365760" cy="365760"/>
          </a:xfrm>
          <a:prstGeom prst="round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73768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E45B35"/>
                </a:solidFill>
                <a:latin typeface="Noto Sans CJK SC"/>
              </a:rPr>
              <a:t>61–90天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根据复购/成本决定扩容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5486400"/>
            <a:ext cx="7040880" cy="502920"/>
          </a:xfrm>
          <a:prstGeom prst="round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5550408"/>
            <a:ext cx="6675120" cy="32918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SC"/>
              </a:rPr>
              <a:t>每30天复盘一次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枫桥街道社区服务中心（合成）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E45B35"/>
                </a:solidFill>
                <a:latin typeface="Noto Sans CJK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Noto Sans CJK SC"/>
              </a:rPr>
              <a:t>需街道确认的三项决策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批准90天试行预算上限18万元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协调社区前厅作为周三快取区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694176"/>
            <a:ext cx="502920" cy="502920"/>
          </a:xfrm>
          <a:prstGeom prst="round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739896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593592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同意配送仅覆盖50户且不收集敏感健康信息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5623560"/>
            <a:ext cx="8138160" cy="530352"/>
          </a:xfrm>
          <a:prstGeom prst="roundRect">
            <a:avLst/>
          </a:prstGeom>
          <a:solidFill>
            <a:srgbClr val="E45B35"/>
          </a:solidFill>
          <a:ln>
            <a:solidFill>
              <a:srgbClr val="E4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5696712"/>
            <a:ext cx="77724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建议：有条件通过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枫桥街道社区服务中心（合成）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E45B35"/>
                </a:solidFill>
                <a:latin typeface="Noto Sans CJK SC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社区食堂试点复盘汇报</dc:title>
  <dc:subject>material_to_deck</dc:subject>
  <dc:creator>枫桥街道社区服务中心（合成）</dc:creator>
  <cp:keywords>CoworkEvoBench, synthetic,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