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1"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1"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1"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1"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1"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1"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1"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1"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b="1">
                <a:solidFill>
                  <a:schemeClr val="tx1"/>
                </a:solidFill>
                <a:latin typeface="Google Sans Text"/>
              </a:rPr>
              <a:t>4. </a:t>
            </a:r>
            <a:r>
              <a:rPr lang="en-US" b="1" i="0" u="none" strike="noStrike" dirty="0">
                <a:solidFill>
                  <a:schemeClr val="tx1"/>
                </a:solidFill>
                <a:effectLst/>
                <a:latin typeface="Google Sans Text"/>
              </a:rPr>
              <a:t>Self aware: </a:t>
            </a:r>
            <a:r>
              <a:rPr lang="en-US" b="1"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1"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1"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1"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1"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1" i="0" u="none" strike="noStrike" dirty="0">
                <a:solidFill>
                  <a:schemeClr val="tx1"/>
                </a:solidFill>
                <a:effectLst/>
                <a:latin typeface="Google Sans Text"/>
              </a:rPr>
              <a:t>A neural network is a system of artificial neurons—sometimes called </a:t>
            </a:r>
            <a:r>
              <a:rPr lang="en-US" b="1" i="0" u="none" strike="noStrike" dirty="0" err="1">
                <a:solidFill>
                  <a:schemeClr val="tx1"/>
                </a:solidFill>
                <a:effectLst/>
                <a:latin typeface="Google Sans Text"/>
              </a:rPr>
              <a:t>perceptrons</a:t>
            </a:r>
            <a:r>
              <a:rPr lang="en-US" b="1"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1" i="0" u="none" strike="noStrike" dirty="0" err="1">
                <a:solidFill>
                  <a:schemeClr val="tx1"/>
                </a:solidFill>
                <a:effectLst/>
                <a:latin typeface="Google Sans Text"/>
              </a:rPr>
              <a:t>perceptrons</a:t>
            </a:r>
            <a:r>
              <a:rPr lang="en-US" b="1"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1"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1"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1"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1"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1"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1"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1" i="0" u="none" strike="noStrike" dirty="0">
                <a:solidFill>
                  <a:srgbClr val="202124"/>
                </a:solidFill>
                <a:effectLst/>
                <a:latin typeface="Google Sans"/>
              </a:rPr>
              <a:t>Automation</a:t>
            </a:r>
          </a:p>
          <a:p>
            <a:r>
              <a:rPr lang="en-US" b="1" i="0" u="none" strike="noStrike" dirty="0">
                <a:solidFill>
                  <a:srgbClr val="202124"/>
                </a:solidFill>
                <a:effectLst/>
                <a:latin typeface="Google Sans"/>
              </a:rPr>
              <a:t>Reduce human error</a:t>
            </a:r>
            <a:endParaRPr lang="en-US" dirty="0">
              <a:solidFill>
                <a:srgbClr val="202124"/>
              </a:solidFill>
              <a:latin typeface="Google Sans"/>
            </a:endParaRPr>
          </a:p>
          <a:p>
            <a:r>
              <a:rPr lang="en-US" b="1" i="0" u="none" strike="noStrike" dirty="0">
                <a:solidFill>
                  <a:srgbClr val="202124"/>
                </a:solidFill>
                <a:effectLst/>
                <a:latin typeface="Google Sans"/>
              </a:rPr>
              <a:t>Eliminate repetitive tasks</a:t>
            </a:r>
          </a:p>
          <a:p>
            <a:r>
              <a:rPr lang="en-US" b="1" i="0" u="none" strike="noStrike" dirty="0">
                <a:solidFill>
                  <a:srgbClr val="202124"/>
                </a:solidFill>
                <a:effectLst/>
                <a:latin typeface="Google Sans"/>
              </a:rPr>
              <a:t>Fast and accurate</a:t>
            </a:r>
            <a:endParaRPr lang="en-US" dirty="0">
              <a:solidFill>
                <a:srgbClr val="202124"/>
              </a:solidFill>
              <a:latin typeface="Google Sans"/>
            </a:endParaRPr>
          </a:p>
          <a:p>
            <a:r>
              <a:rPr lang="en-US" b="1" i="0" u="none" strike="noStrike" dirty="0">
                <a:solidFill>
                  <a:srgbClr val="202124"/>
                </a:solidFill>
                <a:effectLst/>
                <a:latin typeface="Google Sans"/>
              </a:rPr>
              <a:t>Infinite availability</a:t>
            </a:r>
          </a:p>
          <a:p>
            <a:r>
              <a:rPr lang="en-US" b="1"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1" i="0" u="none" strike="noStrike" dirty="0">
                <a:solidFill>
                  <a:schemeClr val="tx1"/>
                </a:solidFill>
                <a:effectLst/>
                <a:latin typeface="Google Sans"/>
              </a:rPr>
              <a:t>Speech recognition - </a:t>
            </a:r>
            <a:r>
              <a:rPr lang="en-US" b="1" i="0" u="none" strike="noStrike" dirty="0">
                <a:solidFill>
                  <a:schemeClr val="tx1"/>
                </a:solidFill>
                <a:effectLst/>
                <a:latin typeface="Google Sans Text"/>
              </a:rPr>
              <a:t>Automatically convert spoken speech into written text.</a:t>
            </a:r>
          </a:p>
          <a:p>
            <a:pPr algn="just">
              <a:lnSpc>
                <a:spcPts val="2100"/>
              </a:lnSpc>
            </a:pPr>
            <a:r>
              <a:rPr lang="en-US" b="1" i="0" u="none" strike="noStrike" dirty="0">
                <a:solidFill>
                  <a:schemeClr val="tx1"/>
                </a:solidFill>
                <a:effectLst/>
                <a:latin typeface="Google Sans"/>
              </a:rPr>
              <a:t>Image recognition - </a:t>
            </a:r>
            <a:r>
              <a:rPr lang="en-US" b="1" i="0" u="none" strike="noStrike" dirty="0">
                <a:solidFill>
                  <a:schemeClr val="tx1"/>
                </a:solidFill>
                <a:effectLst/>
                <a:latin typeface="Google Sans Text"/>
              </a:rPr>
              <a:t>Identify and categorize various aspects of an image.</a:t>
            </a:r>
          </a:p>
          <a:p>
            <a:pPr algn="just">
              <a:lnSpc>
                <a:spcPts val="2100"/>
              </a:lnSpc>
            </a:pPr>
            <a:r>
              <a:rPr lang="en-US" b="1" i="0" u="none" strike="noStrike" dirty="0">
                <a:solidFill>
                  <a:schemeClr val="tx1"/>
                </a:solidFill>
                <a:effectLst/>
                <a:latin typeface="Google Sans"/>
              </a:rPr>
              <a:t>Translation - </a:t>
            </a:r>
            <a:r>
              <a:rPr lang="en-US" b="1" i="0" u="none" strike="noStrike" dirty="0">
                <a:solidFill>
                  <a:schemeClr val="tx1"/>
                </a:solidFill>
                <a:effectLst/>
                <a:latin typeface="Google Sans Text"/>
              </a:rPr>
              <a:t>Translate written or spoken words from one language into another.</a:t>
            </a:r>
          </a:p>
          <a:p>
            <a:pPr algn="just">
              <a:lnSpc>
                <a:spcPts val="2100"/>
              </a:lnSpc>
            </a:pPr>
            <a:r>
              <a:rPr lang="en-US" b="1" i="0" u="none" strike="noStrike" dirty="0">
                <a:solidFill>
                  <a:schemeClr val="tx1"/>
                </a:solidFill>
                <a:effectLst/>
                <a:latin typeface="Google Sans"/>
              </a:rPr>
              <a:t>Predictive modeling - </a:t>
            </a:r>
            <a:r>
              <a:rPr lang="en-US" b="1" i="0" u="none" strike="noStrike" dirty="0">
                <a:solidFill>
                  <a:schemeClr val="tx1"/>
                </a:solidFill>
                <a:effectLst/>
                <a:latin typeface="Google Sans Text"/>
              </a:rPr>
              <a:t>Mine data to forecast specific outcomes with high degrees of granularity.</a:t>
            </a:r>
          </a:p>
          <a:p>
            <a:pPr algn="just">
              <a:lnSpc>
                <a:spcPts val="2100"/>
              </a:lnSpc>
            </a:pPr>
            <a:r>
              <a:rPr lang="en-US" b="1" i="0" u="none" strike="noStrike" dirty="0">
                <a:solidFill>
                  <a:schemeClr val="tx1"/>
                </a:solidFill>
                <a:effectLst/>
                <a:latin typeface="Google Sans"/>
              </a:rPr>
              <a:t>Data analytics - </a:t>
            </a:r>
            <a:r>
              <a:rPr lang="en-US" b="1" i="0" u="none" strike="noStrike" dirty="0">
                <a:solidFill>
                  <a:schemeClr val="tx1"/>
                </a:solidFill>
                <a:effectLst/>
                <a:latin typeface="Google Sans Text"/>
              </a:rPr>
              <a:t>Find patterns and relationships in data for business intelligence.</a:t>
            </a:r>
          </a:p>
          <a:p>
            <a:pPr algn="just">
              <a:lnSpc>
                <a:spcPts val="2100"/>
              </a:lnSpc>
            </a:pPr>
            <a:r>
              <a:rPr lang="en-US" b="1" i="0" u="none" strike="noStrike" dirty="0">
                <a:solidFill>
                  <a:schemeClr val="tx1"/>
                </a:solidFill>
                <a:effectLst/>
                <a:latin typeface="Google Sans"/>
              </a:rPr>
              <a:t>Cybersecurity - </a:t>
            </a:r>
            <a:r>
              <a:rPr lang="en-US" b="1"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