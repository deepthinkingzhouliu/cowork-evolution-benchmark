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siness-card-frame"/>
          <p:cNvSpPr/>
          <p:nvPr/>
        </p:nvSpPr>
        <p:spPr>
          <a:xfrm>
            <a:off x="1522800" y="856800"/>
            <a:ext cx="9144000" cy="5148000"/>
          </a:xfrm>
          <a:prstGeom prst="roundRect">
            <a:avLst>
              <a:gd name="adj" fmla="val 8000"/>
            </a:avLst>
          </a:prstGeom>
          <a:solidFill>
            <a:srgbClr val="FBFAF4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-sun"/>
          <p:cNvSpPr/>
          <p:nvPr/>
        </p:nvSpPr>
        <p:spPr>
          <a:xfrm>
            <a:off x="2309760" y="1180800"/>
            <a:ext cx="158760" cy="158760"/>
          </a:xfrm>
          <a:prstGeom prst="ellipse">
            <a:avLst/>
          </a:prstGeom>
          <a:solidFill>
            <a:srgbClr val="C87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-left-leaf"/>
          <p:cNvSpPr/>
          <p:nvPr/>
        </p:nvSpPr>
        <p:spPr>
          <a:xfrm rot="18900000">
            <a:off x="1962000" y="1313100"/>
            <a:ext cx="378000" cy="585900"/>
          </a:xfrm>
          <a:prstGeom prst="teardrop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right-leaf"/>
          <p:cNvSpPr/>
          <p:nvPr/>
        </p:nvSpPr>
        <p:spPr>
          <a:xfrm rot="2700000">
            <a:off x="2234160" y="1324440"/>
            <a:ext cx="378000" cy="585900"/>
          </a:xfrm>
          <a:prstGeom prst="teardrop">
            <a:avLst/>
          </a:prstGeom>
          <a:solidFill>
            <a:srgbClr val="06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045160" y="1766700"/>
            <a:ext cx="529200" cy="0"/>
          </a:xfrm>
          <a:prstGeom prst="line">
            <a:avLst/>
          </a:prstGeom>
          <a:ln w="21590">
            <a:solidFill>
              <a:srgbClr val="075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-福建蓝屿新材料科技有限公司"/>
          <p:cNvSpPr txBox="1"/>
          <p:nvPr/>
        </p:nvSpPr>
        <p:spPr>
          <a:xfrm>
            <a:off x="2880000" y="1206000"/>
            <a:ext cx="5688000" cy="295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64B43"/>
                </a:solidFill>
                <a:latin typeface="Microsoft YaHei"/>
              </a:rPr>
              <a:t>福建蓝屿新材料科技有限公司</a:t>
            </a:r>
          </a:p>
        </p:txBody>
      </p:sp>
      <p:sp>
        <p:nvSpPr>
          <p:cNvPr id="8" name="text-FUJIAN LANYU NOVA MATERI"/>
          <p:cNvSpPr txBox="1"/>
          <p:nvPr/>
        </p:nvSpPr>
        <p:spPr>
          <a:xfrm>
            <a:off x="2916000" y="1504800"/>
            <a:ext cx="4788000" cy="187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87738"/>
                </a:solidFill>
                <a:latin typeface="Arial"/>
              </a:rPr>
              <a:t>FUJIAN LANYU NOVA MATERIALS CO., LTD.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16000" y="1774800"/>
            <a:ext cx="2268000" cy="0"/>
          </a:xfrm>
          <a:prstGeom prst="line">
            <a:avLst/>
          </a:prstGeom>
          <a:ln w="12700">
            <a:solidFill>
              <a:srgbClr val="C87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hape-9"/>
          <p:cNvSpPr/>
          <p:nvPr/>
        </p:nvSpPr>
        <p:spPr>
          <a:xfrm rot="2100000">
            <a:off x="5256000" y="1691999"/>
            <a:ext cx="63648" cy="127296"/>
          </a:xfrm>
          <a:prstGeom prst="ellipse">
            <a:avLst/>
          </a:prstGeom>
          <a:solidFill>
            <a:srgbClr val="C87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5269104" y="1714463"/>
            <a:ext cx="43056" cy="74881"/>
          </a:xfrm>
          <a:prstGeom prst="line">
            <a:avLst/>
          </a:prstGeom>
          <a:ln w="889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36000" y="1774800"/>
            <a:ext cx="2267999" cy="0"/>
          </a:xfrm>
          <a:prstGeom prst="line">
            <a:avLst/>
          </a:prstGeom>
          <a:ln w="12700">
            <a:solidFill>
              <a:srgbClr val="C87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qr-code-source-crop" descr="qr-sourc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00" y="1098000"/>
            <a:ext cx="1170000" cy="1170000"/>
          </a:xfrm>
          <a:prstGeom prst="rect">
            <a:avLst/>
          </a:prstGeom>
        </p:spPr>
      </p:pic>
      <p:sp>
        <p:nvSpPr>
          <p:cNvPr id="14" name="text-沈知行"/>
          <p:cNvSpPr txBox="1"/>
          <p:nvPr/>
        </p:nvSpPr>
        <p:spPr>
          <a:xfrm>
            <a:off x="2448000" y="2340000"/>
            <a:ext cx="2736000" cy="52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500" b="1" i="0">
                <a:solidFill>
                  <a:srgbClr val="064B43"/>
                </a:solidFill>
                <a:latin typeface="STKaiti"/>
              </a:rPr>
              <a:t>沈知行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0" y="3078000"/>
            <a:ext cx="990000" cy="0"/>
          </a:xfrm>
          <a:prstGeom prst="line">
            <a:avLst/>
          </a:prstGeom>
          <a:ln w="12700">
            <a:solidFill>
              <a:srgbClr val="075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-15"/>
          <p:cNvSpPr/>
          <p:nvPr/>
        </p:nvSpPr>
        <p:spPr>
          <a:xfrm rot="2100000">
            <a:off x="3581999" y="2995200"/>
            <a:ext cx="63648" cy="127296"/>
          </a:xfrm>
          <a:prstGeom prst="ellipse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3595104" y="3017664"/>
            <a:ext cx="43056" cy="74880"/>
          </a:xfrm>
          <a:prstGeom prst="line">
            <a:avLst/>
          </a:prstGeom>
          <a:ln w="889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61999" y="3078000"/>
            <a:ext cx="990001" cy="0"/>
          </a:xfrm>
          <a:prstGeom prst="line">
            <a:avLst/>
          </a:prstGeom>
          <a:ln w="12700">
            <a:solidFill>
              <a:srgbClr val="075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tact-☎"/>
          <p:cNvSpPr/>
          <p:nvPr/>
        </p:nvSpPr>
        <p:spPr>
          <a:xfrm>
            <a:off x="2412000" y="3690000"/>
            <a:ext cx="324000" cy="324000"/>
          </a:xfrm>
          <a:prstGeom prst="roundRect">
            <a:avLst/>
          </a:prstGeom>
          <a:solidFill>
            <a:srgbClr val="06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-☎"/>
          <p:cNvSpPr txBox="1"/>
          <p:nvPr/>
        </p:nvSpPr>
        <p:spPr>
          <a:xfrm>
            <a:off x="2433600" y="3700800"/>
            <a:ext cx="280800" cy="28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EF9"/>
                </a:solidFill>
                <a:latin typeface="DejaVu Sans"/>
              </a:rPr>
              <a:t>☎</a:t>
            </a:r>
          </a:p>
        </p:txBody>
      </p:sp>
      <p:sp>
        <p:nvSpPr>
          <p:cNvPr id="21" name="text-M.P.   139 4826 7153"/>
          <p:cNvSpPr txBox="1"/>
          <p:nvPr/>
        </p:nvSpPr>
        <p:spPr>
          <a:xfrm>
            <a:off x="2844000" y="3690000"/>
            <a:ext cx="2700000" cy="32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D2B"/>
                </a:solidFill>
                <a:latin typeface="Arial"/>
              </a:rPr>
              <a:t>M.P.   139 4826 7153</a:t>
            </a:r>
          </a:p>
        </p:txBody>
      </p:sp>
      <p:sp>
        <p:nvSpPr>
          <p:cNvPr id="22" name="contact-✉"/>
          <p:cNvSpPr/>
          <p:nvPr/>
        </p:nvSpPr>
        <p:spPr>
          <a:xfrm>
            <a:off x="2412000" y="4121999"/>
            <a:ext cx="324000" cy="324000"/>
          </a:xfrm>
          <a:prstGeom prst="roundRect">
            <a:avLst/>
          </a:prstGeom>
          <a:solidFill>
            <a:srgbClr val="06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-✉"/>
          <p:cNvSpPr txBox="1"/>
          <p:nvPr/>
        </p:nvSpPr>
        <p:spPr>
          <a:xfrm>
            <a:off x="2433600" y="4132799"/>
            <a:ext cx="280800" cy="28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EF9"/>
                </a:solidFill>
                <a:latin typeface="DejaVu Sans"/>
              </a:rPr>
              <a:t>✉</a:t>
            </a:r>
          </a:p>
        </p:txBody>
      </p:sp>
      <p:sp>
        <p:nvSpPr>
          <p:cNvPr id="24" name="text-z.xing@lanyunova.com"/>
          <p:cNvSpPr txBox="1"/>
          <p:nvPr/>
        </p:nvSpPr>
        <p:spPr>
          <a:xfrm>
            <a:off x="2844000" y="4121999"/>
            <a:ext cx="2700000" cy="32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52D2B"/>
                </a:solidFill>
                <a:latin typeface="Arial"/>
              </a:rPr>
              <a:t>z.xing@lanyunova.com</a:t>
            </a:r>
          </a:p>
        </p:txBody>
      </p:sp>
      <p:sp>
        <p:nvSpPr>
          <p:cNvPr id="25" name="contact-⌖"/>
          <p:cNvSpPr/>
          <p:nvPr/>
        </p:nvSpPr>
        <p:spPr>
          <a:xfrm>
            <a:off x="2412000" y="4554000"/>
            <a:ext cx="324000" cy="324000"/>
          </a:xfrm>
          <a:prstGeom prst="roundRect">
            <a:avLst/>
          </a:prstGeom>
          <a:solidFill>
            <a:srgbClr val="06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-⌖"/>
          <p:cNvSpPr txBox="1"/>
          <p:nvPr/>
        </p:nvSpPr>
        <p:spPr>
          <a:xfrm>
            <a:off x="2433600" y="4564800"/>
            <a:ext cx="280800" cy="28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EF9"/>
                </a:solidFill>
                <a:latin typeface="DejaVu Sans"/>
              </a:rPr>
              <a:t>⌖</a:t>
            </a:r>
          </a:p>
        </p:txBody>
      </p:sp>
      <p:sp>
        <p:nvSpPr>
          <p:cNvPr id="27" name="text-福建省厦门市海沧区云创大道88号&#10;蓝湾创新中心1"/>
          <p:cNvSpPr txBox="1"/>
          <p:nvPr/>
        </p:nvSpPr>
        <p:spPr>
          <a:xfrm>
            <a:off x="2844000" y="4518000"/>
            <a:ext cx="2880000" cy="468000"/>
          </a:xfrm>
          <a:prstGeom prst="rect">
            <a:avLst/>
          </a:prstGeom>
          <a:noFill/>
        </p:spPr>
        <p:txBody>
          <a:bodyPr wrap="none" lIns="10800" rIns="10800" tIns="7200" bIns="72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52D2B"/>
                </a:solidFill>
                <a:latin typeface="Microsoft YaHei"/>
              </a:rPr>
              <a:t>福建省厦门市海沧区云创大道88号
蓝湾创新中心12层1208室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38000" y="2502000"/>
            <a:ext cx="0" cy="2772000"/>
          </a:xfrm>
          <a:prstGeom prst="line">
            <a:avLst/>
          </a:prstGeom>
          <a:ln w="12700">
            <a:solidFill>
              <a:srgbClr val="B7C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main-business-pill"/>
          <p:cNvSpPr/>
          <p:nvPr/>
        </p:nvSpPr>
        <p:spPr>
          <a:xfrm>
            <a:off x="6533999" y="2394000"/>
            <a:ext cx="1224000" cy="259200"/>
          </a:xfrm>
          <a:prstGeom prst="roundRect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-主  营"/>
          <p:cNvSpPr txBox="1"/>
          <p:nvPr/>
        </p:nvSpPr>
        <p:spPr>
          <a:xfrm>
            <a:off x="6533999" y="2397600"/>
            <a:ext cx="1224000" cy="244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EF9"/>
                </a:solidFill>
                <a:latin typeface="Microsoft YaHei"/>
              </a:rPr>
              <a:t>主  营</a:t>
            </a:r>
          </a:p>
        </p:txBody>
      </p:sp>
      <p:sp>
        <p:nvSpPr>
          <p:cNvPr id="31" name="business-drop-bg"/>
          <p:cNvSpPr/>
          <p:nvPr/>
        </p:nvSpPr>
        <p:spPr>
          <a:xfrm>
            <a:off x="6588000" y="2772000"/>
            <a:ext cx="503999" cy="503999"/>
          </a:xfrm>
          <a:prstGeom prst="ellipse">
            <a:avLst/>
          </a:prstGeom>
          <a:solidFill>
            <a:srgbClr val="E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usiness-drop"/>
          <p:cNvSpPr/>
          <p:nvPr/>
        </p:nvSpPr>
        <p:spPr>
          <a:xfrm>
            <a:off x="6750000" y="2844000"/>
            <a:ext cx="208800" cy="309600"/>
          </a:xfrm>
          <a:prstGeom prst="teardrop">
            <a:avLst/>
          </a:prstGeom>
          <a:solidFill>
            <a:srgbClr val="C7DED3"/>
          </a:solidFill>
          <a:ln w="15240">
            <a:solidFill>
              <a:srgbClr val="075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hape-32"/>
          <p:cNvSpPr/>
          <p:nvPr/>
        </p:nvSpPr>
        <p:spPr>
          <a:xfrm rot="2100000">
            <a:off x="6865200" y="3031200"/>
            <a:ext cx="58752" cy="117504"/>
          </a:xfrm>
          <a:prstGeom prst="ellipse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6877296" y="3051936"/>
            <a:ext cx="39743" cy="69119"/>
          </a:xfrm>
          <a:prstGeom prst="line">
            <a:avLst/>
          </a:prstGeom>
          <a:ln w="889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-环保涂层："/>
          <p:cNvSpPr txBox="1"/>
          <p:nvPr/>
        </p:nvSpPr>
        <p:spPr>
          <a:xfrm>
            <a:off x="7236000" y="2754000"/>
            <a:ext cx="1835999" cy="16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75B51"/>
                </a:solidFill>
                <a:latin typeface="Microsoft YaHei"/>
              </a:rPr>
              <a:t>环保涂层：</a:t>
            </a:r>
          </a:p>
        </p:txBody>
      </p:sp>
      <p:sp>
        <p:nvSpPr>
          <p:cNvPr id="36" name="text-水性树脂"/>
          <p:cNvSpPr txBox="1"/>
          <p:nvPr/>
        </p:nvSpPr>
        <p:spPr>
          <a:xfrm>
            <a:off x="7236000" y="29268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52D2B"/>
                </a:solidFill>
                <a:latin typeface="Microsoft YaHei"/>
              </a:rPr>
              <a:t>水性树脂</a:t>
            </a:r>
          </a:p>
        </p:txBody>
      </p:sp>
      <p:sp>
        <p:nvSpPr>
          <p:cNvPr id="37" name="text-功能助剂"/>
          <p:cNvSpPr txBox="1"/>
          <p:nvPr/>
        </p:nvSpPr>
        <p:spPr>
          <a:xfrm>
            <a:off x="7236000" y="30816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52D2B"/>
                </a:solidFill>
                <a:latin typeface="Microsoft YaHei"/>
              </a:rPr>
              <a:t>功能助剂</a:t>
            </a:r>
          </a:p>
        </p:txBody>
      </p:sp>
      <p:sp>
        <p:nvSpPr>
          <p:cNvPr id="38" name="text-高阻隔涂层"/>
          <p:cNvSpPr txBox="1"/>
          <p:nvPr/>
        </p:nvSpPr>
        <p:spPr>
          <a:xfrm>
            <a:off x="7236000" y="32364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52D2B"/>
                </a:solidFill>
                <a:latin typeface="Microsoft YaHei"/>
              </a:rPr>
              <a:t>高阻隔涂层</a:t>
            </a:r>
          </a:p>
        </p:txBody>
      </p:sp>
      <p:cxnSp>
        <p:nvCxnSpPr>
          <p:cNvPr id="39" name="business-divider-1"/>
          <p:cNvCxnSpPr/>
          <p:nvPr/>
        </p:nvCxnSpPr>
        <p:spPr>
          <a:xfrm>
            <a:off x="6588000" y="3401999"/>
            <a:ext cx="2376000" cy="0"/>
          </a:xfrm>
          <a:prstGeom prst="line">
            <a:avLst/>
          </a:prstGeom>
          <a:ln w="8890">
            <a:solidFill>
              <a:srgbClr val="C877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business-leaf-bg"/>
          <p:cNvSpPr/>
          <p:nvPr/>
        </p:nvSpPr>
        <p:spPr>
          <a:xfrm>
            <a:off x="6588000" y="3474000"/>
            <a:ext cx="503999" cy="503999"/>
          </a:xfrm>
          <a:prstGeom prst="ellipse">
            <a:avLst/>
          </a:prstGeom>
          <a:solidFill>
            <a:srgbClr val="E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hape-40"/>
          <p:cNvSpPr/>
          <p:nvPr/>
        </p:nvSpPr>
        <p:spPr>
          <a:xfrm rot="2100000">
            <a:off x="6721200" y="3553200"/>
            <a:ext cx="165240" cy="330480"/>
          </a:xfrm>
          <a:prstGeom prst="ellipse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6755220" y="3611520"/>
            <a:ext cx="111780" cy="194400"/>
          </a:xfrm>
          <a:prstGeom prst="line">
            <a:avLst/>
          </a:prstGeom>
          <a:ln w="889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768000" y="3610800"/>
            <a:ext cx="187200" cy="252000"/>
          </a:xfrm>
          <a:prstGeom prst="line">
            <a:avLst/>
          </a:prstGeom>
          <a:ln w="1270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-绿色材料："/>
          <p:cNvSpPr txBox="1"/>
          <p:nvPr/>
        </p:nvSpPr>
        <p:spPr>
          <a:xfrm>
            <a:off x="7236000" y="3456000"/>
            <a:ext cx="1835999" cy="16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75B51"/>
                </a:solidFill>
                <a:latin typeface="Microsoft YaHei"/>
              </a:rPr>
              <a:t>绿色材料：</a:t>
            </a:r>
          </a:p>
        </p:txBody>
      </p:sp>
      <p:sp>
        <p:nvSpPr>
          <p:cNvPr id="45" name="text-可降解薄膜"/>
          <p:cNvSpPr txBox="1"/>
          <p:nvPr/>
        </p:nvSpPr>
        <p:spPr>
          <a:xfrm>
            <a:off x="7236000" y="36288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52D2B"/>
                </a:solidFill>
                <a:latin typeface="Microsoft YaHei"/>
              </a:rPr>
              <a:t>可降解薄膜</a:t>
            </a:r>
          </a:p>
        </p:txBody>
      </p:sp>
      <p:sp>
        <p:nvSpPr>
          <p:cNvPr id="46" name="text-纸塑复合材料"/>
          <p:cNvSpPr txBox="1"/>
          <p:nvPr/>
        </p:nvSpPr>
        <p:spPr>
          <a:xfrm>
            <a:off x="7236000" y="37836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52D2B"/>
                </a:solidFill>
                <a:latin typeface="Microsoft YaHei"/>
              </a:rPr>
              <a:t>纸塑复合材料</a:t>
            </a:r>
          </a:p>
        </p:txBody>
      </p:sp>
      <p:cxnSp>
        <p:nvCxnSpPr>
          <p:cNvPr id="47" name="business-divider-2"/>
          <p:cNvCxnSpPr/>
          <p:nvPr/>
        </p:nvCxnSpPr>
        <p:spPr>
          <a:xfrm>
            <a:off x="6588000" y="3960000"/>
            <a:ext cx="2376000" cy="0"/>
          </a:xfrm>
          <a:prstGeom prst="line">
            <a:avLst/>
          </a:prstGeom>
          <a:ln w="8890">
            <a:solidFill>
              <a:srgbClr val="C877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usiness-box-bg"/>
          <p:cNvSpPr/>
          <p:nvPr/>
        </p:nvSpPr>
        <p:spPr>
          <a:xfrm>
            <a:off x="6588000" y="4032000"/>
            <a:ext cx="503999" cy="503999"/>
          </a:xfrm>
          <a:prstGeom prst="ellipse">
            <a:avLst/>
          </a:prstGeom>
          <a:solidFill>
            <a:srgbClr val="E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usiness-box"/>
          <p:cNvSpPr/>
          <p:nvPr/>
        </p:nvSpPr>
        <p:spPr>
          <a:xfrm>
            <a:off x="6696000" y="4140000"/>
            <a:ext cx="295200" cy="295200"/>
          </a:xfrm>
          <a:prstGeom prst="cube">
            <a:avLst/>
          </a:prstGeom>
          <a:solidFill>
            <a:srgbClr val="075B51"/>
          </a:solidFill>
          <a:ln w="12700">
            <a:solidFill>
              <a:srgbClr val="FFF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-应用方案："/>
          <p:cNvSpPr txBox="1"/>
          <p:nvPr/>
        </p:nvSpPr>
        <p:spPr>
          <a:xfrm>
            <a:off x="7236000" y="4014000"/>
            <a:ext cx="1835999" cy="16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75B51"/>
                </a:solidFill>
                <a:latin typeface="Microsoft YaHei"/>
              </a:rPr>
              <a:t>应用方案：</a:t>
            </a:r>
          </a:p>
        </p:txBody>
      </p:sp>
      <p:sp>
        <p:nvSpPr>
          <p:cNvPr id="51" name="text-工业胶黏剂"/>
          <p:cNvSpPr txBox="1"/>
          <p:nvPr/>
        </p:nvSpPr>
        <p:spPr>
          <a:xfrm>
            <a:off x="7236000" y="41868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52D2B"/>
                </a:solidFill>
                <a:latin typeface="Microsoft YaHei"/>
              </a:rPr>
              <a:t>工业胶黏剂</a:t>
            </a:r>
          </a:p>
        </p:txBody>
      </p:sp>
      <p:sp>
        <p:nvSpPr>
          <p:cNvPr id="52" name="text-包装表面处理"/>
          <p:cNvSpPr txBox="1"/>
          <p:nvPr/>
        </p:nvSpPr>
        <p:spPr>
          <a:xfrm>
            <a:off x="7236000" y="43416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52D2B"/>
                </a:solidFill>
                <a:latin typeface="Microsoft YaHei"/>
              </a:rPr>
              <a:t>包装表面处理</a:t>
            </a:r>
          </a:p>
        </p:txBody>
      </p:sp>
      <p:sp>
        <p:nvSpPr>
          <p:cNvPr id="53" name="bottom-green-wave"/>
          <p:cNvSpPr/>
          <p:nvPr/>
        </p:nvSpPr>
        <p:spPr>
          <a:xfrm>
            <a:off x="1540800" y="5490000"/>
            <a:ext cx="9100800" cy="486000"/>
          </a:xfrm>
          <a:prstGeom prst="wave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ottom-orange-wave"/>
          <p:cNvSpPr/>
          <p:nvPr/>
        </p:nvSpPr>
        <p:spPr>
          <a:xfrm>
            <a:off x="1540800" y="5659200"/>
            <a:ext cx="3671999" cy="295200"/>
          </a:xfrm>
          <a:prstGeom prst="wave">
            <a:avLst/>
          </a:prstGeom>
          <a:solidFill>
            <a:srgbClr val="E8B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siness-card-frame"/>
          <p:cNvSpPr/>
          <p:nvPr/>
        </p:nvSpPr>
        <p:spPr>
          <a:xfrm>
            <a:off x="1522800" y="856800"/>
            <a:ext cx="9144000" cy="5148000"/>
          </a:xfrm>
          <a:prstGeom prst="roundRect">
            <a:avLst>
              <a:gd name="adj" fmla="val 8000"/>
            </a:avLst>
          </a:prstGeom>
          <a:solidFill>
            <a:srgbClr val="FBFAF4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-FUJIAN LANYU NOVA&#10;MATERI"/>
          <p:cNvSpPr txBox="1"/>
          <p:nvPr/>
        </p:nvSpPr>
        <p:spPr>
          <a:xfrm>
            <a:off x="2052000" y="1134000"/>
            <a:ext cx="5112000" cy="666000"/>
          </a:xfrm>
          <a:prstGeom prst="rect">
            <a:avLst/>
          </a:prstGeom>
          <a:noFill/>
        </p:spPr>
        <p:txBody>
          <a:bodyPr wrap="none" lIns="10800" rIns="10800" tIns="7200" bIns="72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64B43"/>
                </a:solidFill>
                <a:latin typeface="Arial"/>
              </a:rPr>
              <a:t>FUJIAN LANYU NOVA
MATERIALS CO., LTD.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70000" y="1933200"/>
            <a:ext cx="1188000" cy="0"/>
          </a:xfrm>
          <a:prstGeom prst="line">
            <a:avLst/>
          </a:prstGeom>
          <a:ln w="12700">
            <a:solidFill>
              <a:srgbClr val="C87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hape-4"/>
          <p:cNvSpPr/>
          <p:nvPr/>
        </p:nvSpPr>
        <p:spPr>
          <a:xfrm rot="2100000">
            <a:off x="3330000" y="1850400"/>
            <a:ext cx="63648" cy="127296"/>
          </a:xfrm>
          <a:prstGeom prst="ellipse">
            <a:avLst/>
          </a:prstGeom>
          <a:solidFill>
            <a:srgbClr val="C87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3343104" y="1872864"/>
            <a:ext cx="43056" cy="74880"/>
          </a:xfrm>
          <a:prstGeom prst="line">
            <a:avLst/>
          </a:prstGeom>
          <a:ln w="889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10000" y="1933200"/>
            <a:ext cx="1188000" cy="0"/>
          </a:xfrm>
          <a:prstGeom prst="line">
            <a:avLst/>
          </a:prstGeom>
          <a:ln w="12700">
            <a:solidFill>
              <a:srgbClr val="C87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qr-code-source-crop" descr="qr-sourc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00" y="1098000"/>
            <a:ext cx="1170000" cy="1170000"/>
          </a:xfrm>
          <a:prstGeom prst="rect">
            <a:avLst/>
          </a:prstGeom>
        </p:spPr>
      </p:pic>
      <p:sp>
        <p:nvSpPr>
          <p:cNvPr id="9" name="text-Ethan Shen"/>
          <p:cNvSpPr txBox="1"/>
          <p:nvPr/>
        </p:nvSpPr>
        <p:spPr>
          <a:xfrm>
            <a:off x="2214000" y="2196000"/>
            <a:ext cx="3060000" cy="52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1">
                <a:solidFill>
                  <a:srgbClr val="064B43"/>
                </a:solidFill>
                <a:latin typeface="Segoe Script"/>
              </a:rPr>
              <a:t>Ethan Shen</a:t>
            </a:r>
          </a:p>
        </p:txBody>
      </p:sp>
      <p:sp>
        <p:nvSpPr>
          <p:cNvPr id="10" name="contact-☎"/>
          <p:cNvSpPr/>
          <p:nvPr/>
        </p:nvSpPr>
        <p:spPr>
          <a:xfrm>
            <a:off x="2304000" y="3088800"/>
            <a:ext cx="324000" cy="324000"/>
          </a:xfrm>
          <a:prstGeom prst="roundRect">
            <a:avLst/>
          </a:prstGeom>
          <a:solidFill>
            <a:srgbClr val="06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-☎"/>
          <p:cNvSpPr txBox="1"/>
          <p:nvPr/>
        </p:nvSpPr>
        <p:spPr>
          <a:xfrm>
            <a:off x="2325600" y="3099600"/>
            <a:ext cx="280800" cy="28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EF9"/>
                </a:solidFill>
                <a:latin typeface="DejaVu Sans"/>
              </a:rPr>
              <a:t>☎</a:t>
            </a:r>
          </a:p>
        </p:txBody>
      </p:sp>
      <p:sp>
        <p:nvSpPr>
          <p:cNvPr id="12" name="text-M.P.   139 4826 7153"/>
          <p:cNvSpPr txBox="1"/>
          <p:nvPr/>
        </p:nvSpPr>
        <p:spPr>
          <a:xfrm>
            <a:off x="2736000" y="3088800"/>
            <a:ext cx="2664000" cy="32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D2B"/>
                </a:solidFill>
                <a:latin typeface="Arial"/>
              </a:rPr>
              <a:t>M.P.   139 4826 7153</a:t>
            </a:r>
          </a:p>
        </p:txBody>
      </p:sp>
      <p:sp>
        <p:nvSpPr>
          <p:cNvPr id="13" name="contact-✉"/>
          <p:cNvSpPr/>
          <p:nvPr/>
        </p:nvSpPr>
        <p:spPr>
          <a:xfrm>
            <a:off x="2304000" y="3520800"/>
            <a:ext cx="324000" cy="324000"/>
          </a:xfrm>
          <a:prstGeom prst="roundRect">
            <a:avLst/>
          </a:prstGeom>
          <a:solidFill>
            <a:srgbClr val="06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-✉"/>
          <p:cNvSpPr txBox="1"/>
          <p:nvPr/>
        </p:nvSpPr>
        <p:spPr>
          <a:xfrm>
            <a:off x="2325600" y="3531599"/>
            <a:ext cx="280800" cy="28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EF9"/>
                </a:solidFill>
                <a:latin typeface="DejaVu Sans"/>
              </a:rPr>
              <a:t>✉</a:t>
            </a:r>
          </a:p>
        </p:txBody>
      </p:sp>
      <p:sp>
        <p:nvSpPr>
          <p:cNvPr id="15" name="text-z.xing@lanyunova.com"/>
          <p:cNvSpPr txBox="1"/>
          <p:nvPr/>
        </p:nvSpPr>
        <p:spPr>
          <a:xfrm>
            <a:off x="2736000" y="3520800"/>
            <a:ext cx="2736000" cy="32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D2B"/>
                </a:solidFill>
                <a:latin typeface="Arial"/>
              </a:rPr>
              <a:t>z.xing@lanyunova.com</a:t>
            </a:r>
          </a:p>
        </p:txBody>
      </p:sp>
      <p:sp>
        <p:nvSpPr>
          <p:cNvPr id="16" name="contact-⌖"/>
          <p:cNvSpPr/>
          <p:nvPr/>
        </p:nvSpPr>
        <p:spPr>
          <a:xfrm>
            <a:off x="2304000" y="3952800"/>
            <a:ext cx="324000" cy="324000"/>
          </a:xfrm>
          <a:prstGeom prst="roundRect">
            <a:avLst/>
          </a:prstGeom>
          <a:solidFill>
            <a:srgbClr val="06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-⌖"/>
          <p:cNvSpPr txBox="1"/>
          <p:nvPr/>
        </p:nvSpPr>
        <p:spPr>
          <a:xfrm>
            <a:off x="2325600" y="3963600"/>
            <a:ext cx="280800" cy="28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EF9"/>
                </a:solidFill>
                <a:latin typeface="DejaVu Sans"/>
              </a:rPr>
              <a:t>⌖</a:t>
            </a:r>
          </a:p>
        </p:txBody>
      </p:sp>
      <p:sp>
        <p:nvSpPr>
          <p:cNvPr id="18" name="text-Suite 1208, BlueBay Inno"/>
          <p:cNvSpPr txBox="1"/>
          <p:nvPr/>
        </p:nvSpPr>
        <p:spPr>
          <a:xfrm>
            <a:off x="2736000" y="3906000"/>
            <a:ext cx="3168000" cy="619200"/>
          </a:xfrm>
          <a:prstGeom prst="rect">
            <a:avLst/>
          </a:prstGeom>
          <a:noFill/>
        </p:spPr>
        <p:txBody>
          <a:bodyPr wrap="none" lIns="10800" rIns="10800" tIns="7200" bIns="72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52D2B"/>
                </a:solidFill>
                <a:latin typeface="Arial"/>
              </a:rPr>
              <a:t>Suite 1208, BlueBay Innovation Center,
No. 88 Yunchuang Avenue,
Haicang District, Xiamen, Fujian, China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38000" y="2250000"/>
            <a:ext cx="0" cy="2700000"/>
          </a:xfrm>
          <a:prstGeom prst="line">
            <a:avLst/>
          </a:prstGeom>
          <a:ln w="12700">
            <a:solidFill>
              <a:srgbClr val="B7C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main-business-pill"/>
          <p:cNvSpPr/>
          <p:nvPr/>
        </p:nvSpPr>
        <p:spPr>
          <a:xfrm>
            <a:off x="6552000" y="2232000"/>
            <a:ext cx="1548000" cy="259200"/>
          </a:xfrm>
          <a:prstGeom prst="roundRect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-MAIN BUSINESS"/>
          <p:cNvSpPr txBox="1"/>
          <p:nvPr/>
        </p:nvSpPr>
        <p:spPr>
          <a:xfrm>
            <a:off x="6552000" y="2235600"/>
            <a:ext cx="1548000" cy="244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EF9"/>
                </a:solidFill>
                <a:latin typeface="Arial"/>
              </a:rPr>
              <a:t>MAIN BUSINESS</a:t>
            </a:r>
          </a:p>
        </p:txBody>
      </p:sp>
      <p:sp>
        <p:nvSpPr>
          <p:cNvPr id="22" name="business-drop-bg"/>
          <p:cNvSpPr/>
          <p:nvPr/>
        </p:nvSpPr>
        <p:spPr>
          <a:xfrm>
            <a:off x="6570000" y="2628000"/>
            <a:ext cx="503999" cy="503999"/>
          </a:xfrm>
          <a:prstGeom prst="ellipse">
            <a:avLst/>
          </a:prstGeom>
          <a:solidFill>
            <a:srgbClr val="E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usiness-drop"/>
          <p:cNvSpPr/>
          <p:nvPr/>
        </p:nvSpPr>
        <p:spPr>
          <a:xfrm>
            <a:off x="6732000" y="2700000"/>
            <a:ext cx="208800" cy="309600"/>
          </a:xfrm>
          <a:prstGeom prst="teardrop">
            <a:avLst/>
          </a:prstGeom>
          <a:solidFill>
            <a:srgbClr val="C7DED3"/>
          </a:solidFill>
          <a:ln w="15240">
            <a:solidFill>
              <a:srgbClr val="075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hape-23"/>
          <p:cNvSpPr/>
          <p:nvPr/>
        </p:nvSpPr>
        <p:spPr>
          <a:xfrm rot="2100000">
            <a:off x="6847200" y="2887200"/>
            <a:ext cx="58752" cy="117504"/>
          </a:xfrm>
          <a:prstGeom prst="ellipse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6859296" y="2907936"/>
            <a:ext cx="39743" cy="69119"/>
          </a:xfrm>
          <a:prstGeom prst="line">
            <a:avLst/>
          </a:prstGeom>
          <a:ln w="889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-ECO COATINGS:"/>
          <p:cNvSpPr txBox="1"/>
          <p:nvPr/>
        </p:nvSpPr>
        <p:spPr>
          <a:xfrm>
            <a:off x="7218000" y="2610000"/>
            <a:ext cx="1835999" cy="16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75B51"/>
                </a:solidFill>
                <a:latin typeface="Arial"/>
              </a:rPr>
              <a:t>ECO COATINGS:</a:t>
            </a:r>
          </a:p>
        </p:txBody>
      </p:sp>
      <p:sp>
        <p:nvSpPr>
          <p:cNvPr id="27" name="text-Water-based resins"/>
          <p:cNvSpPr txBox="1"/>
          <p:nvPr/>
        </p:nvSpPr>
        <p:spPr>
          <a:xfrm>
            <a:off x="7218000" y="27828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52D2B"/>
                </a:solidFill>
                <a:latin typeface="Arial"/>
              </a:rPr>
              <a:t>Water-based resins</a:t>
            </a:r>
          </a:p>
        </p:txBody>
      </p:sp>
      <p:sp>
        <p:nvSpPr>
          <p:cNvPr id="28" name="text-Functional additives"/>
          <p:cNvSpPr txBox="1"/>
          <p:nvPr/>
        </p:nvSpPr>
        <p:spPr>
          <a:xfrm>
            <a:off x="7218000" y="29376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52D2B"/>
                </a:solidFill>
                <a:latin typeface="Arial"/>
              </a:rPr>
              <a:t>Functional additives</a:t>
            </a:r>
          </a:p>
        </p:txBody>
      </p:sp>
      <p:sp>
        <p:nvSpPr>
          <p:cNvPr id="29" name="text-Barrier coatings"/>
          <p:cNvSpPr txBox="1"/>
          <p:nvPr/>
        </p:nvSpPr>
        <p:spPr>
          <a:xfrm>
            <a:off x="7218000" y="30924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52D2B"/>
                </a:solidFill>
                <a:latin typeface="Arial"/>
              </a:rPr>
              <a:t>Barrier coatings</a:t>
            </a:r>
          </a:p>
        </p:txBody>
      </p:sp>
      <p:cxnSp>
        <p:nvCxnSpPr>
          <p:cNvPr id="30" name="business-divider-1"/>
          <p:cNvCxnSpPr/>
          <p:nvPr/>
        </p:nvCxnSpPr>
        <p:spPr>
          <a:xfrm>
            <a:off x="6570000" y="3257999"/>
            <a:ext cx="2376000" cy="0"/>
          </a:xfrm>
          <a:prstGeom prst="line">
            <a:avLst/>
          </a:prstGeom>
          <a:ln w="8890">
            <a:solidFill>
              <a:srgbClr val="C877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business-leaf-bg"/>
          <p:cNvSpPr/>
          <p:nvPr/>
        </p:nvSpPr>
        <p:spPr>
          <a:xfrm>
            <a:off x="6570000" y="3330000"/>
            <a:ext cx="503999" cy="503999"/>
          </a:xfrm>
          <a:prstGeom prst="ellipse">
            <a:avLst/>
          </a:prstGeom>
          <a:solidFill>
            <a:srgbClr val="E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hape-31"/>
          <p:cNvSpPr/>
          <p:nvPr/>
        </p:nvSpPr>
        <p:spPr>
          <a:xfrm rot="2100000">
            <a:off x="6703200" y="3409200"/>
            <a:ext cx="165240" cy="330480"/>
          </a:xfrm>
          <a:prstGeom prst="ellipse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6737220" y="3467520"/>
            <a:ext cx="111780" cy="194400"/>
          </a:xfrm>
          <a:prstGeom prst="line">
            <a:avLst/>
          </a:prstGeom>
          <a:ln w="889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750000" y="3466800"/>
            <a:ext cx="187200" cy="252000"/>
          </a:xfrm>
          <a:prstGeom prst="line">
            <a:avLst/>
          </a:prstGeom>
          <a:ln w="1270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-GREEN MATERIALS:"/>
          <p:cNvSpPr txBox="1"/>
          <p:nvPr/>
        </p:nvSpPr>
        <p:spPr>
          <a:xfrm>
            <a:off x="7218000" y="3311999"/>
            <a:ext cx="1835999" cy="16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75B51"/>
                </a:solidFill>
                <a:latin typeface="Arial"/>
              </a:rPr>
              <a:t>GREEN MATERIALS:</a:t>
            </a:r>
          </a:p>
        </p:txBody>
      </p:sp>
      <p:sp>
        <p:nvSpPr>
          <p:cNvPr id="36" name="text-Biodegradable films"/>
          <p:cNvSpPr txBox="1"/>
          <p:nvPr/>
        </p:nvSpPr>
        <p:spPr>
          <a:xfrm>
            <a:off x="7218000" y="34848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52D2B"/>
                </a:solidFill>
                <a:latin typeface="Arial"/>
              </a:rPr>
              <a:t>Biodegradable films</a:t>
            </a:r>
          </a:p>
        </p:txBody>
      </p:sp>
      <p:sp>
        <p:nvSpPr>
          <p:cNvPr id="37" name="text-Paper-plastic composites"/>
          <p:cNvSpPr txBox="1"/>
          <p:nvPr/>
        </p:nvSpPr>
        <p:spPr>
          <a:xfrm>
            <a:off x="7218000" y="36396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52D2B"/>
                </a:solidFill>
                <a:latin typeface="Arial"/>
              </a:rPr>
              <a:t>Paper-plastic composites</a:t>
            </a:r>
          </a:p>
        </p:txBody>
      </p:sp>
      <p:cxnSp>
        <p:nvCxnSpPr>
          <p:cNvPr id="38" name="business-divider-2"/>
          <p:cNvCxnSpPr/>
          <p:nvPr/>
        </p:nvCxnSpPr>
        <p:spPr>
          <a:xfrm>
            <a:off x="6570000" y="3816000"/>
            <a:ext cx="2376000" cy="0"/>
          </a:xfrm>
          <a:prstGeom prst="line">
            <a:avLst/>
          </a:prstGeom>
          <a:ln w="8890">
            <a:solidFill>
              <a:srgbClr val="C877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business-box-bg"/>
          <p:cNvSpPr/>
          <p:nvPr/>
        </p:nvSpPr>
        <p:spPr>
          <a:xfrm>
            <a:off x="6570000" y="3888000"/>
            <a:ext cx="503999" cy="503999"/>
          </a:xfrm>
          <a:prstGeom prst="ellipse">
            <a:avLst/>
          </a:prstGeom>
          <a:solidFill>
            <a:srgbClr val="E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usiness-box"/>
          <p:cNvSpPr/>
          <p:nvPr/>
        </p:nvSpPr>
        <p:spPr>
          <a:xfrm>
            <a:off x="6678000" y="3996000"/>
            <a:ext cx="295200" cy="295200"/>
          </a:xfrm>
          <a:prstGeom prst="cube">
            <a:avLst/>
          </a:prstGeom>
          <a:solidFill>
            <a:srgbClr val="075B51"/>
          </a:solidFill>
          <a:ln w="12700">
            <a:solidFill>
              <a:srgbClr val="FFF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-APPLICATION SOLUTIONS:"/>
          <p:cNvSpPr txBox="1"/>
          <p:nvPr/>
        </p:nvSpPr>
        <p:spPr>
          <a:xfrm>
            <a:off x="7218000" y="3870000"/>
            <a:ext cx="1835999" cy="16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75B51"/>
                </a:solidFill>
                <a:latin typeface="Arial"/>
              </a:rPr>
              <a:t>APPLICATION SOLUTIONS:</a:t>
            </a:r>
          </a:p>
        </p:txBody>
      </p:sp>
      <p:sp>
        <p:nvSpPr>
          <p:cNvPr id="42" name="text-Industrial adhesives"/>
          <p:cNvSpPr txBox="1"/>
          <p:nvPr/>
        </p:nvSpPr>
        <p:spPr>
          <a:xfrm>
            <a:off x="7218000" y="40428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52D2B"/>
                </a:solidFill>
                <a:latin typeface="Arial"/>
              </a:rPr>
              <a:t>Industrial adhesives</a:t>
            </a:r>
          </a:p>
        </p:txBody>
      </p:sp>
      <p:sp>
        <p:nvSpPr>
          <p:cNvPr id="43" name="text-Packaging surface treatm"/>
          <p:cNvSpPr txBox="1"/>
          <p:nvPr/>
        </p:nvSpPr>
        <p:spPr>
          <a:xfrm>
            <a:off x="7218000" y="4197600"/>
            <a:ext cx="1872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52D2B"/>
                </a:solidFill>
                <a:latin typeface="Arial"/>
              </a:rPr>
              <a:t>Packaging surface treatment</a:t>
            </a:r>
          </a:p>
        </p:txBody>
      </p:sp>
      <p:sp>
        <p:nvSpPr>
          <p:cNvPr id="44" name="bottom-green-wave"/>
          <p:cNvSpPr/>
          <p:nvPr/>
        </p:nvSpPr>
        <p:spPr>
          <a:xfrm>
            <a:off x="1540800" y="4896000"/>
            <a:ext cx="9100800" cy="1062000"/>
          </a:xfrm>
          <a:prstGeom prst="wave">
            <a:avLst/>
          </a:prstGeom>
          <a:solidFill>
            <a:srgbClr val="07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ottom-orange-wave"/>
          <p:cNvSpPr/>
          <p:nvPr/>
        </p:nvSpPr>
        <p:spPr>
          <a:xfrm>
            <a:off x="1540800" y="4878000"/>
            <a:ext cx="6120000" cy="270000"/>
          </a:xfrm>
          <a:prstGeom prst="wave">
            <a:avLst/>
          </a:prstGeom>
          <a:solidFill>
            <a:srgbClr val="E8B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hape-45"/>
          <p:cNvSpPr/>
          <p:nvPr/>
        </p:nvSpPr>
        <p:spPr>
          <a:xfrm rot="2100000">
            <a:off x="2106000" y="5202000"/>
            <a:ext cx="128520" cy="257040"/>
          </a:xfrm>
          <a:prstGeom prst="ellipse">
            <a:avLst/>
          </a:prstGeom>
          <a:solidFill>
            <a:srgbClr val="FFF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132460" y="5247360"/>
            <a:ext cx="86940" cy="151199"/>
          </a:xfrm>
          <a:prstGeom prst="line">
            <a:avLst/>
          </a:prstGeom>
          <a:ln w="889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-SUSTAINABLE"/>
          <p:cNvSpPr txBox="1"/>
          <p:nvPr/>
        </p:nvSpPr>
        <p:spPr>
          <a:xfrm>
            <a:off x="1998000" y="5464800"/>
            <a:ext cx="558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EF9"/>
                </a:solidFill>
                <a:latin typeface="Arial"/>
              </a:rPr>
              <a:t>SUSTAINABLE</a:t>
            </a:r>
          </a:p>
        </p:txBody>
      </p:sp>
      <p:sp>
        <p:nvSpPr>
          <p:cNvPr id="49" name="cycle-icon"/>
          <p:cNvSpPr/>
          <p:nvPr/>
        </p:nvSpPr>
        <p:spPr>
          <a:xfrm>
            <a:off x="2944800" y="5166000"/>
            <a:ext cx="270000" cy="270000"/>
          </a:xfrm>
          <a:prstGeom prst="circularArrow">
            <a:avLst/>
          </a:prstGeom>
          <a:solidFill>
            <a:srgbClr val="FFF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-INNOVATIVE"/>
          <p:cNvSpPr txBox="1"/>
          <p:nvPr/>
        </p:nvSpPr>
        <p:spPr>
          <a:xfrm>
            <a:off x="2862000" y="5464800"/>
            <a:ext cx="558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EF9"/>
                </a:solidFill>
                <a:latin typeface="Arial"/>
              </a:rPr>
              <a:t>INNOVATIVE</a:t>
            </a:r>
          </a:p>
        </p:txBody>
      </p:sp>
      <p:sp>
        <p:nvSpPr>
          <p:cNvPr id="51" name="shield-icon"/>
          <p:cNvSpPr/>
          <p:nvPr/>
        </p:nvSpPr>
        <p:spPr>
          <a:xfrm>
            <a:off x="3808800" y="5155200"/>
            <a:ext cx="280800" cy="280800"/>
          </a:xfrm>
          <a:prstGeom prst="homePlate">
            <a:avLst/>
          </a:prstGeom>
          <a:solidFill>
            <a:srgbClr val="075B51"/>
          </a:solidFill>
          <a:ln w="16510">
            <a:solidFill>
              <a:srgbClr val="FFF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-✓"/>
          <p:cNvSpPr txBox="1"/>
          <p:nvPr/>
        </p:nvSpPr>
        <p:spPr>
          <a:xfrm>
            <a:off x="3852000" y="5184000"/>
            <a:ext cx="194400" cy="1656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EF9"/>
                </a:solidFill>
                <a:latin typeface="Arial"/>
              </a:rPr>
              <a:t>✓</a:t>
            </a:r>
          </a:p>
        </p:txBody>
      </p:sp>
      <p:sp>
        <p:nvSpPr>
          <p:cNvPr id="53" name="text-RELIABLE"/>
          <p:cNvSpPr txBox="1"/>
          <p:nvPr/>
        </p:nvSpPr>
        <p:spPr>
          <a:xfrm>
            <a:off x="3726000" y="5464800"/>
            <a:ext cx="558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EF9"/>
                </a:solidFill>
                <a:latin typeface="Arial"/>
              </a:rPr>
              <a:t>RELIABLE</a:t>
            </a:r>
          </a:p>
        </p:txBody>
      </p:sp>
      <p:sp>
        <p:nvSpPr>
          <p:cNvPr id="54" name="globe-icon"/>
          <p:cNvSpPr/>
          <p:nvPr/>
        </p:nvSpPr>
        <p:spPr>
          <a:xfrm>
            <a:off x="4672800" y="5162400"/>
            <a:ext cx="273600" cy="273600"/>
          </a:xfrm>
          <a:prstGeom prst="ellipse">
            <a:avLst/>
          </a:prstGeom>
          <a:solidFill>
            <a:srgbClr val="075B51"/>
          </a:solidFill>
          <a:ln w="15240">
            <a:solidFill>
              <a:srgbClr val="FFF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4809600" y="5176800"/>
            <a:ext cx="0" cy="241200"/>
          </a:xfrm>
          <a:prstGeom prst="line">
            <a:avLst/>
          </a:prstGeom>
          <a:ln w="1016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701600" y="5295600"/>
            <a:ext cx="216000" cy="0"/>
          </a:xfrm>
          <a:prstGeom prst="line">
            <a:avLst/>
          </a:prstGeom>
          <a:ln w="10160">
            <a:solidFill>
              <a:srgbClr val="FFF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-GLOBAL"/>
          <p:cNvSpPr txBox="1"/>
          <p:nvPr/>
        </p:nvSpPr>
        <p:spPr>
          <a:xfrm>
            <a:off x="4590000" y="5464800"/>
            <a:ext cx="558000" cy="151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EF9"/>
                </a:solidFill>
                <a:latin typeface="Arial"/>
              </a:rPr>
              <a:t>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