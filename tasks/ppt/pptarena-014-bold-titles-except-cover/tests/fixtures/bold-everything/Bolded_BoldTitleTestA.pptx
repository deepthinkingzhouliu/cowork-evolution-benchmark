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b="1"/>
              <a:t>Depth-Limited Subgame solving, </a:t>
            </a:r>
            <a:br>
              <a:rPr lang="en-US" dirty="0"/>
            </a:br>
            <a:r>
              <a:rPr lang="en-US" dirty="0" b="1"/>
              <a:t>and </a:t>
            </a:r>
            <a:br>
              <a:rPr lang="en-US" dirty="0"/>
            </a:br>
            <a:r>
              <a:rPr lang="en-US" i="1" dirty="0" b="1"/>
              <a:t>Pluribus</a:t>
            </a:r>
            <a:r>
              <a:rPr lang="en-US" dirty="0" b="1"/>
              <a:t>, the state of the art for </a:t>
            </a:r>
            <a:br>
              <a:rPr lang="en-US" dirty="0"/>
            </a:br>
            <a:r>
              <a:rPr lang="en-US" dirty="0" b="1"/>
              <a:t>multi-player no-limit Texas </a:t>
            </a:r>
            <a:r>
              <a:rPr lang="en-US" dirty="0" err="1" b="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b="1"/>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b="1"/>
              <a:t>Value substituted at leaf node is estimate of both players playing perfectly thereafter</a:t>
            </a:r>
          </a:p>
          <a:p>
            <a:endParaRPr lang="en-US" sz="1350" dirty="0"/>
          </a:p>
          <a:p>
            <a:r>
              <a:rPr lang="en-US" sz="1350" dirty="0" b="1"/>
              <a:t>If estimate is perfect, limited-</a:t>
            </a:r>
            <a:r>
              <a:rPr lang="en-US" sz="1350" dirty="0" err="1" b="1"/>
              <a:t>lookahead</a:t>
            </a:r>
            <a:r>
              <a:rPr lang="en-US" sz="1350" dirty="0" b="1"/>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b="1">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b="1"/>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b="1"/>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b="1"/>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b="1"/>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b="1"/>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b="1"/>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b="1"/>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b="1"/>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b="1"/>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b="1"/>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b="1"/>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b="1"/>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b="1"/>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b="1"/>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b="1"/>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b="1"/>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b="1"/>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b="1"/>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b="1"/>
              <a:t>Libratus</a:t>
            </a:r>
            <a:r>
              <a:rPr lang="en-US" sz="1600" dirty="0" b="1"/>
              <a:t>: When solving a subgame, solves it to the end of the game </a:t>
            </a:r>
          </a:p>
          <a:p>
            <a:pPr marL="285750" indent="-285750">
              <a:buFont typeface="Arial" panose="020B0604020202020204" pitchFamily="34" charset="0"/>
              <a:buChar char="•"/>
            </a:pPr>
            <a:r>
              <a:rPr lang="en-US" sz="1600" i="1" dirty="0" err="1" b="1"/>
              <a:t>DeepStack</a:t>
            </a:r>
            <a:r>
              <a:rPr lang="en-US" sz="1600" dirty="0" b="1"/>
              <a:t>: Solves depth-limited subgames, but is very expensive and relies on certain structure</a:t>
            </a:r>
          </a:p>
          <a:p>
            <a:pPr marL="285750" indent="-285750">
              <a:buFont typeface="Arial" panose="020B0604020202020204" pitchFamily="34" charset="0"/>
              <a:buChar char="•"/>
            </a:pPr>
            <a:r>
              <a:rPr lang="en-US" sz="1600" dirty="0" b="1"/>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b="1"/>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b="1"/>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b="1"/>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b="1"/>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b="1"/>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b="1"/>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b="1"/>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b="1"/>
              <a:t>Libratus</a:t>
            </a:r>
            <a:r>
              <a:rPr lang="en-US" sz="1350" dirty="0" b="1"/>
              <a:t> approach: Just solve to the end of the game</a:t>
            </a:r>
          </a:p>
          <a:p>
            <a:pPr marL="214313" indent="-214313">
              <a:buFont typeface="Arial" panose="020B0604020202020204" pitchFamily="34" charset="0"/>
              <a:buChar char="•"/>
            </a:pPr>
            <a:r>
              <a:rPr lang="en-US" sz="1350" i="1" dirty="0" err="1" b="1"/>
              <a:t>DeepStack</a:t>
            </a:r>
            <a:r>
              <a:rPr lang="en-US" sz="1350" dirty="0" b="1"/>
              <a:t> approach: Solves depth-limited subgames, but is very expensive and relies on certain structure</a:t>
            </a:r>
          </a:p>
          <a:p>
            <a:pPr marL="214313" indent="-214313">
              <a:buFont typeface="Arial" panose="020B0604020202020204" pitchFamily="34" charset="0"/>
              <a:buChar char="•"/>
            </a:pPr>
            <a:r>
              <a:rPr lang="en-US" sz="1350" dirty="0" b="1"/>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b="1"/>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b="1"/>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b="1"/>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b="1"/>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b="1"/>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b="1"/>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b="1"/>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b="1"/>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b="1"/>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b="1"/>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b="1"/>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b="1"/>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b="1"/>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b="1"/>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b="1"/>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b="1"/>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b="1"/>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b="1"/>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b="1"/>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b="1"/>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b="1"/>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b="1"/>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b="1"/>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b="1"/>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b="1"/>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b="1"/>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b="1"/>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b="1"/>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b="1"/>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b="1"/>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b="1"/>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b="1"/>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b="1"/>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b="1"/>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b="1"/>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b="1"/>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b="1"/>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b="1"/>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b="1"/>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b="1"/>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b="1"/>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b="1"/>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b="1"/>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b="1"/>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b="1"/>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b="1"/>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b="1"/>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b="1"/>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b="1"/>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b="1"/>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b="1"/>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b="1"/>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b="1"/>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b="1"/>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b="1"/>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b="1"/>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b="1"/>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b="1"/>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b="1"/>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b="1"/>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b="1"/>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b="1"/>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b="1"/>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b="1"/>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b="1"/>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b="1"/>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b="1"/>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b="1"/>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b="1"/>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b="1"/>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b="1"/>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b="1"/>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b="1"/>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b="1"/>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b="1"/>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b="1"/>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b="1"/>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b="1"/>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b="1"/>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b="1"/>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b="1"/>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b="1"/>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b="1"/>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b="1"/>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b="1"/>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b="1"/>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b="1"/>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b="1"/>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b="1"/>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b="1"/>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b="1"/>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b="1"/>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b="1"/>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b="1"/>
              <a:t>Converges to Nash equilibrium.</a:t>
            </a:r>
          </a:p>
          <a:p>
            <a:r>
              <a:rPr lang="en-US" dirty="0" b="1"/>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b="1"/>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b="1"/>
              <a:t>In imperfect-information games, “subgames” are not independent</a:t>
            </a:r>
          </a:p>
          <a:p>
            <a:r>
              <a:rPr lang="en-US" dirty="0" b="1"/>
              <a:t>However, techniques from </a:t>
            </a:r>
            <a:r>
              <a:rPr lang="en-US" i="1" dirty="0" err="1" b="1"/>
              <a:t>Libratus</a:t>
            </a:r>
            <a:r>
              <a:rPr lang="en-US" dirty="0" err="1" b="1"/>
              <a:t>’s</a:t>
            </a:r>
            <a:r>
              <a:rPr lang="en-US" dirty="0" b="1"/>
              <a:t> endgame solving can be applied, but now the endgames are </a:t>
            </a:r>
            <a:r>
              <a:rPr lang="en-US" dirty="0" err="1" b="1"/>
              <a:t>midgames</a:t>
            </a:r>
            <a:r>
              <a:rPr lang="en-US" dirty="0" b="1"/>
              <a:t> that end in continuation strategy choices</a:t>
            </a:r>
          </a:p>
          <a:p>
            <a:pPr lvl="1"/>
            <a:r>
              <a:rPr lang="en-US" dirty="0" b="1"/>
              <a:t>Have a blueprint strategy for the whole game </a:t>
            </a:r>
          </a:p>
          <a:p>
            <a:pPr lvl="2"/>
            <a:r>
              <a:rPr lang="en-US" sz="2600" dirty="0" b="1"/>
              <a:t>E.g., via </a:t>
            </a:r>
            <a:r>
              <a:rPr lang="en-US" sz="2600" dirty="0" err="1" b="1"/>
              <a:t>abstraction+equilibrium</a:t>
            </a:r>
            <a:r>
              <a:rPr lang="en-US" sz="2600" dirty="0" b="1"/>
              <a:t> computation, Deep CFR </a:t>
            </a:r>
            <a:r>
              <a:rPr lang="en-US" sz="2600" dirty="0" b="1">
                <a:solidFill>
                  <a:schemeClr val="bg1">
                    <a:lumMod val="75000"/>
                  </a:schemeClr>
                </a:solidFill>
              </a:rPr>
              <a:t>[Brown, </a:t>
            </a:r>
            <a:r>
              <a:rPr lang="en-US" sz="2600" dirty="0" err="1" b="1">
                <a:solidFill>
                  <a:schemeClr val="bg1">
                    <a:lumMod val="75000"/>
                  </a:schemeClr>
                </a:solidFill>
              </a:rPr>
              <a:t>Lerer</a:t>
            </a:r>
            <a:r>
              <a:rPr lang="en-US" sz="2600" dirty="0" b="1">
                <a:solidFill>
                  <a:schemeClr val="bg1">
                    <a:lumMod val="75000"/>
                  </a:schemeClr>
                </a:solidFill>
              </a:rPr>
              <a:t>, Gross &amp; Sandholm, ICML-19c]</a:t>
            </a:r>
            <a:r>
              <a:rPr lang="en-US" sz="2600" dirty="0" b="1"/>
              <a:t>, or manual</a:t>
            </a:r>
          </a:p>
          <a:p>
            <a:pPr lvl="1"/>
            <a:r>
              <a:rPr lang="en-US" dirty="0" b="1"/>
              <a:t>When determining our strategy for an endgame, </a:t>
            </a:r>
            <a:r>
              <a:rPr lang="en-US" b="1" dirty="0">
                <a:solidFill>
                  <a:srgbClr val="FF0000"/>
                </a:solidFill>
              </a:rPr>
              <a:t>give opponent the choice of model: </a:t>
            </a:r>
            <a:r>
              <a:rPr lang="en-US" dirty="0" b="1"/>
              <a:t>blueprint or endgame model </a:t>
            </a:r>
            <a:br>
              <a:rPr lang="en-US" dirty="0"/>
            </a:br>
            <a:r>
              <a:rPr lang="en-US" sz="2600" dirty="0" b="1">
                <a:solidFill>
                  <a:schemeClr val="bg1">
                    <a:lumMod val="75000"/>
                  </a:schemeClr>
                </a:solidFill>
              </a:rPr>
              <a:t>[Burch et al. AAAI-14; Jackson AAAI-14; </a:t>
            </a:r>
            <a:r>
              <a:rPr lang="en-US" sz="2600" dirty="0" err="1" b="1">
                <a:solidFill>
                  <a:schemeClr val="bg1">
                    <a:lumMod val="75000"/>
                  </a:schemeClr>
                </a:solidFill>
              </a:rPr>
              <a:t>Moravcik</a:t>
            </a:r>
            <a:r>
              <a:rPr lang="en-US" sz="2600" dirty="0" b="1">
                <a:solidFill>
                  <a:schemeClr val="bg1">
                    <a:lumMod val="75000"/>
                  </a:schemeClr>
                </a:solidFill>
              </a:rPr>
              <a:t> et al. AAAI-16; Brown &amp; Sandholm NIPS-17; </a:t>
            </a:r>
            <a:r>
              <a:rPr lang="en-US" sz="2600" dirty="0" err="1" b="1">
                <a:solidFill>
                  <a:schemeClr val="bg1">
                    <a:lumMod val="75000"/>
                  </a:schemeClr>
                </a:solidFill>
              </a:rPr>
              <a:t>Moravcik</a:t>
            </a:r>
            <a:r>
              <a:rPr lang="en-US" sz="2600" dirty="0" b="1">
                <a:solidFill>
                  <a:schemeClr val="bg1">
                    <a:lumMod val="75000"/>
                  </a:schemeClr>
                </a:solidFill>
              </a:rPr>
              <a:t> et al. </a:t>
            </a:r>
            <a:r>
              <a:rPr lang="en-US" sz="2600" i="1" dirty="0" b="1">
                <a:solidFill>
                  <a:schemeClr val="bg1">
                    <a:lumMod val="75000"/>
                  </a:schemeClr>
                </a:solidFill>
              </a:rPr>
              <a:t>Science</a:t>
            </a:r>
            <a:r>
              <a:rPr lang="en-US" sz="2600" dirty="0" b="1">
                <a:solidFill>
                  <a:schemeClr val="bg1">
                    <a:lumMod val="75000"/>
                  </a:schemeClr>
                </a:solidFill>
              </a:rPr>
              <a:t> 2017; Brown &amp; Sandholm </a:t>
            </a:r>
            <a:r>
              <a:rPr lang="en-US" sz="2600" i="1" dirty="0" b="1">
                <a:solidFill>
                  <a:schemeClr val="bg1">
                    <a:lumMod val="75000"/>
                  </a:schemeClr>
                </a:solidFill>
              </a:rPr>
              <a:t>Science</a:t>
            </a:r>
            <a:r>
              <a:rPr lang="en-US" sz="2600" dirty="0" b="1">
                <a:solidFill>
                  <a:schemeClr val="bg1">
                    <a:lumMod val="75000"/>
                  </a:schemeClr>
                </a:solidFill>
              </a:rPr>
              <a:t> 2018]</a:t>
            </a:r>
          </a:p>
          <a:p>
            <a:pPr lvl="2"/>
            <a:r>
              <a:rPr lang="en-US" sz="2600" dirty="0" b="1"/>
              <a:t>Want to solve for our endgame strategy such that opponent isn’t better off choosing endgame model for any private type she may have =&gt; Theorem: safe</a:t>
            </a:r>
          </a:p>
          <a:p>
            <a:pPr lvl="2"/>
            <a:r>
              <a:rPr lang="en-US" sz="2600" dirty="0" b="1"/>
              <a:t>Allow opponent to get back in the endgame the gifts she has given so far </a:t>
            </a:r>
            <a:br>
              <a:rPr lang="en-US" sz="2600" dirty="0"/>
            </a:br>
            <a:r>
              <a:rPr lang="en-US" sz="2600" dirty="0" b="1"/>
              <a:t>=&gt; Theorem: safe </a:t>
            </a:r>
            <a:r>
              <a:rPr lang="en-US" sz="2600" dirty="0" b="1">
                <a:solidFill>
                  <a:schemeClr val="bg1">
                    <a:lumMod val="75000"/>
                  </a:schemeClr>
                </a:solidFill>
              </a:rPr>
              <a:t>[Brown &amp; Sandholm NIPS-17 Best Paper; </a:t>
            </a:r>
            <a:r>
              <a:rPr lang="en-US" sz="2600" i="1" dirty="0" b="1">
                <a:solidFill>
                  <a:schemeClr val="bg1">
                    <a:lumMod val="75000"/>
                  </a:schemeClr>
                </a:solidFill>
              </a:rPr>
              <a:t>Science</a:t>
            </a:r>
            <a:r>
              <a:rPr lang="en-US" sz="2600" dirty="0" b="1">
                <a:solidFill>
                  <a:schemeClr val="bg1">
                    <a:lumMod val="75000"/>
                  </a:schemeClr>
                </a:solidFill>
              </a:rPr>
              <a:t> 2018]</a:t>
            </a:r>
          </a:p>
          <a:p>
            <a:r>
              <a:rPr lang="en-US" dirty="0" b="1"/>
              <a:t>Can apply this recursively</a:t>
            </a:r>
          </a:p>
          <a:p>
            <a:pPr lvl="1"/>
            <a:r>
              <a:rPr lang="en-US" dirty="0" b="1"/>
              <a:t>Can include the action that the opponent made</a:t>
            </a:r>
          </a:p>
          <a:p>
            <a:pPr lvl="1"/>
            <a:r>
              <a:rPr lang="en-US" dirty="0" b="1"/>
              <a:t>Can use finer abstraction when endgame starts closer to end of the game</a:t>
            </a:r>
          </a:p>
          <a:p>
            <a:pPr lvl="1"/>
            <a:r>
              <a:rPr lang="en-US" dirty="0" b="1"/>
              <a:t>Theorem: Safe </a:t>
            </a:r>
            <a:r>
              <a:rPr lang="en-US" dirty="0" b="1">
                <a:solidFill>
                  <a:schemeClr val="bg1">
                    <a:lumMod val="75000"/>
                  </a:schemeClr>
                </a:solidFill>
              </a:rPr>
              <a:t>[Brown &amp; Sandholm NIPS-17 Best Paper; </a:t>
            </a:r>
            <a:r>
              <a:rPr lang="en-US" i="1" dirty="0" b="1">
                <a:solidFill>
                  <a:schemeClr val="bg1">
                    <a:lumMod val="75000"/>
                  </a:schemeClr>
                </a:solidFill>
              </a:rPr>
              <a:t>Science</a:t>
            </a:r>
            <a:r>
              <a:rPr lang="en-US" dirty="0" b="1">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b="1"/>
              <a:t>Baby Tartanian8</a:t>
            </a:r>
            <a:r>
              <a:rPr lang="en-US" dirty="0"/>
              <a:t> </a:t>
            </a:r>
            <a:br>
              <a:rPr lang="en-US" dirty="0"/>
            </a:br>
            <a:r>
              <a:rPr lang="en-US" sz="1500" dirty="0" b="1"/>
              <a:t>[2016 champion]</a:t>
            </a:r>
          </a:p>
          <a:p>
            <a:pPr lvl="1"/>
            <a:r>
              <a:rPr lang="en-US" sz="1800" dirty="0" b="1"/>
              <a:t>2 million core hours</a:t>
            </a:r>
          </a:p>
          <a:p>
            <a:pPr lvl="1"/>
            <a:r>
              <a:rPr lang="en-US" sz="1800" dirty="0" b="1"/>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b="1"/>
              <a:t>Slumbot</a:t>
            </a:r>
            <a:r>
              <a:rPr lang="en-US" sz="2400" dirty="0"/>
              <a:t> </a:t>
            </a:r>
            <a:br>
              <a:rPr lang="en-US" sz="2400" dirty="0"/>
            </a:br>
            <a:r>
              <a:rPr lang="en-US" sz="1500" dirty="0" b="1"/>
              <a:t>[2018 champion]</a:t>
            </a:r>
          </a:p>
          <a:p>
            <a:pPr lvl="1"/>
            <a:r>
              <a:rPr lang="en-US" sz="1800" dirty="0" b="1"/>
              <a:t>250,000 core hours</a:t>
            </a:r>
          </a:p>
          <a:p>
            <a:pPr lvl="1"/>
            <a:r>
              <a:rPr lang="en-US" sz="1800" dirty="0" b="1"/>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b="1"/>
              <a:t>Modicum</a:t>
            </a:r>
          </a:p>
          <a:p>
            <a:pPr lvl="1"/>
            <a:r>
              <a:rPr lang="en-US" sz="1800" dirty="0" b="1"/>
              <a:t>700 core hours</a:t>
            </a:r>
          </a:p>
          <a:p>
            <a:pPr lvl="1"/>
            <a:r>
              <a:rPr lang="en-US" sz="1800" dirty="0" b="1"/>
              <a:t>16 GB of memory</a:t>
            </a:r>
          </a:p>
          <a:p>
            <a:pPr lvl="1"/>
            <a:r>
              <a:rPr lang="en-US" sz="1800" dirty="0" b="1"/>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b="1"/>
              <a:t>Unit: </a:t>
            </a:r>
            <a:r>
              <a:rPr lang="en-US" dirty="0" err="1" b="1"/>
              <a:t>milli</a:t>
            </a:r>
            <a:r>
              <a:rPr lang="en-US" dirty="0" b="1"/>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b="1"/>
              <a:t>Planning is important in imperfect-information games, but different</a:t>
            </a:r>
          </a:p>
          <a:p>
            <a:endParaRPr lang="en-US" dirty="0"/>
          </a:p>
          <a:p>
            <a:r>
              <a:rPr lang="en-US" dirty="0" b="1"/>
              <a:t>In real-time planning, you must consider how the opponent can adapt to changes in your strategy</a:t>
            </a:r>
          </a:p>
          <a:p>
            <a:pPr lvl="1"/>
            <a:r>
              <a:rPr lang="en-US" dirty="0" b="1"/>
              <a:t>Except in perfect-information games and single-agent setting</a:t>
            </a:r>
          </a:p>
          <a:p>
            <a:endParaRPr lang="en-US" dirty="0"/>
          </a:p>
          <a:p>
            <a:r>
              <a:rPr lang="en-US" dirty="0" b="1"/>
              <a:t>States don’t have well-defined values in imperfect-info games</a:t>
            </a:r>
          </a:p>
          <a:p>
            <a:endParaRPr lang="en-US" dirty="0"/>
          </a:p>
          <a:p>
            <a:r>
              <a:rPr lang="en-US" dirty="0" b="1"/>
              <a:t>Our depth-limited solving algorithm:</a:t>
            </a:r>
          </a:p>
          <a:p>
            <a:pPr lvl="1"/>
            <a:r>
              <a:rPr lang="en-US" dirty="0" b="1"/>
              <a:t>Is sound</a:t>
            </a:r>
          </a:p>
          <a:p>
            <a:pPr lvl="1"/>
            <a:r>
              <a:rPr lang="en-US" dirty="0" b="1"/>
              <a:t>Enabled 2nd-best AI for heads-up no-limit Texas </a:t>
            </a:r>
            <a:r>
              <a:rPr lang="en-US" dirty="0" err="1" b="1"/>
              <a:t>hold’em</a:t>
            </a:r>
            <a:r>
              <a:rPr lang="en-US" dirty="0" b="1"/>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b="1"/>
              <a:t>All prior superhuman AI game-playing milestones have been in 2-player games: </a:t>
            </a:r>
          </a:p>
          <a:p>
            <a:pPr lvl="1"/>
            <a:r>
              <a:rPr lang="en-US" b="1" dirty="0"/>
              <a:t>Checkers</a:t>
            </a:r>
            <a:r>
              <a:rPr lang="en-US" dirty="0" b="1"/>
              <a:t>: </a:t>
            </a:r>
            <a:r>
              <a:rPr lang="en-US" i="1" dirty="0" b="1"/>
              <a:t>Chinook</a:t>
            </a:r>
            <a:r>
              <a:rPr lang="en-US" dirty="0" b="1"/>
              <a:t> 1994</a:t>
            </a:r>
          </a:p>
          <a:p>
            <a:pPr lvl="1"/>
            <a:r>
              <a:rPr lang="en-US" b="1" dirty="0"/>
              <a:t>Othello</a:t>
            </a:r>
            <a:r>
              <a:rPr lang="en-US" dirty="0" b="1"/>
              <a:t>: </a:t>
            </a:r>
            <a:r>
              <a:rPr lang="en-US" i="1" dirty="0" err="1" b="1"/>
              <a:t>Logistello</a:t>
            </a:r>
            <a:r>
              <a:rPr lang="en-US" dirty="0" b="1"/>
              <a:t> 1997</a:t>
            </a:r>
          </a:p>
          <a:p>
            <a:pPr lvl="1"/>
            <a:r>
              <a:rPr lang="en-US" b="1" dirty="0"/>
              <a:t>Chess</a:t>
            </a:r>
            <a:r>
              <a:rPr lang="en-US" dirty="0" b="1"/>
              <a:t>: </a:t>
            </a:r>
            <a:r>
              <a:rPr lang="en-US" i="1" dirty="0" b="1"/>
              <a:t>Deep Blue </a:t>
            </a:r>
            <a:r>
              <a:rPr lang="en-US" dirty="0" b="1"/>
              <a:t>1997</a:t>
            </a:r>
          </a:p>
          <a:p>
            <a:pPr lvl="1"/>
            <a:r>
              <a:rPr lang="en-US" b="1" dirty="0"/>
              <a:t>2-player limit Texas </a:t>
            </a:r>
            <a:r>
              <a:rPr lang="en-US" b="1" dirty="0" err="1"/>
              <a:t>hold’em</a:t>
            </a:r>
            <a:r>
              <a:rPr lang="en-US" dirty="0" b="1"/>
              <a:t>: </a:t>
            </a:r>
            <a:r>
              <a:rPr lang="en-US" i="1" dirty="0" b="1"/>
              <a:t>Polaris</a:t>
            </a:r>
            <a:r>
              <a:rPr lang="en-US" dirty="0" b="1"/>
              <a:t> 2008</a:t>
            </a:r>
          </a:p>
          <a:p>
            <a:pPr lvl="1"/>
            <a:r>
              <a:rPr lang="en-US" b="1" dirty="0"/>
              <a:t>Go</a:t>
            </a:r>
            <a:r>
              <a:rPr lang="en-US" dirty="0" b="1"/>
              <a:t>: </a:t>
            </a:r>
            <a:r>
              <a:rPr lang="en-US" i="1" dirty="0" err="1" b="1"/>
              <a:t>AlphaGo</a:t>
            </a:r>
            <a:r>
              <a:rPr lang="en-US" dirty="0" b="1"/>
              <a:t> 2016</a:t>
            </a:r>
          </a:p>
          <a:p>
            <a:pPr lvl="1"/>
            <a:r>
              <a:rPr lang="en-US" b="1" dirty="0"/>
              <a:t>2-player no-limit Texas </a:t>
            </a:r>
            <a:r>
              <a:rPr lang="en-US" b="1" dirty="0" err="1"/>
              <a:t>hold’em</a:t>
            </a:r>
            <a:r>
              <a:rPr lang="en-US" dirty="0" b="1"/>
              <a:t>: </a:t>
            </a:r>
            <a:r>
              <a:rPr lang="en-US" i="1" dirty="0" err="1" b="1"/>
              <a:t>Libratus</a:t>
            </a:r>
            <a:r>
              <a:rPr lang="en-US" dirty="0" b="1"/>
              <a:t> 2017</a:t>
            </a:r>
          </a:p>
          <a:p>
            <a:pPr lvl="1"/>
            <a:r>
              <a:rPr lang="en-US" b="1" dirty="0" err="1"/>
              <a:t>Starcraft</a:t>
            </a:r>
            <a:r>
              <a:rPr lang="en-US" b="1" dirty="0"/>
              <a:t> II</a:t>
            </a:r>
            <a:r>
              <a:rPr lang="en-US" dirty="0" b="1"/>
              <a:t>: </a:t>
            </a:r>
            <a:r>
              <a:rPr lang="en-US" i="1" dirty="0" err="1" b="1"/>
              <a:t>AlphaStar</a:t>
            </a:r>
            <a:r>
              <a:rPr lang="en-US" dirty="0" b="1"/>
              <a:t> 2019 and </a:t>
            </a:r>
            <a:r>
              <a:rPr lang="en-US" b="1" dirty="0"/>
              <a:t>DOTA 2</a:t>
            </a:r>
            <a:r>
              <a:rPr lang="en-US" dirty="0" b="1"/>
              <a:t>: </a:t>
            </a:r>
            <a:r>
              <a:rPr lang="en-US" i="1" dirty="0" err="1" b="1"/>
              <a:t>OpenAI</a:t>
            </a:r>
            <a:r>
              <a:rPr lang="en-US" i="1" dirty="0" b="1"/>
              <a:t> Five </a:t>
            </a:r>
            <a:r>
              <a:rPr lang="en-US" dirty="0" b="1"/>
              <a:t>2019 (if they are superhuman)</a:t>
            </a:r>
          </a:p>
          <a:p>
            <a:endParaRPr lang="en-US" dirty="0"/>
          </a:p>
          <a:p>
            <a:r>
              <a:rPr lang="en-US" dirty="0" b="1"/>
              <a:t>Our research led to techniques that enabled us to develop a superhuman AI for </a:t>
            </a:r>
            <a:r>
              <a:rPr lang="en-US" dirty="0" b="1">
                <a:solidFill>
                  <a:srgbClr val="FF0000"/>
                </a:solidFill>
              </a:rPr>
              <a:t>multi-player</a:t>
            </a:r>
            <a:r>
              <a:rPr lang="en-US" dirty="0" b="1"/>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b="1"/>
              <a:t>Recognized AI, game theory, and OR milestone that has been open for decades</a:t>
            </a:r>
          </a:p>
          <a:p>
            <a:r>
              <a:rPr lang="en-US" dirty="0" b="1"/>
              <a:t>Most popular variant in the world: 6-player no-limit Texas </a:t>
            </a:r>
            <a:r>
              <a:rPr lang="en-US" dirty="0" err="1" b="1"/>
              <a:t>hold’em</a:t>
            </a:r>
            <a:endParaRPr lang="en-US" dirty="0"/>
          </a:p>
          <a:p>
            <a:r>
              <a:rPr lang="en-US" dirty="0" b="1">
                <a:solidFill>
                  <a:srgbClr val="00A44A"/>
                </a:solidFill>
              </a:rPr>
              <a:t>Very recently we developed a superhuman AI, </a:t>
            </a:r>
            <a:r>
              <a:rPr lang="en-US" i="1" dirty="0" b="1">
                <a:solidFill>
                  <a:srgbClr val="00A44A"/>
                </a:solidFill>
              </a:rPr>
              <a:t>Pluribus</a:t>
            </a:r>
            <a:r>
              <a:rPr lang="en-US" dirty="0" b="1">
                <a:solidFill>
                  <a:srgbClr val="00A44A"/>
                </a:solidFill>
              </a:rPr>
              <a:t>, for this game [Brown &amp; Sandholm, </a:t>
            </a:r>
            <a:r>
              <a:rPr lang="en-US" i="1" dirty="0" b="1">
                <a:solidFill>
                  <a:srgbClr val="00A44A"/>
                </a:solidFill>
              </a:rPr>
              <a:t>Science</a:t>
            </a:r>
            <a:r>
              <a:rPr lang="en-US" dirty="0" b="1">
                <a:solidFill>
                  <a:srgbClr val="00A44A"/>
                </a:solidFill>
              </a:rPr>
              <a:t> 2019]</a:t>
            </a:r>
          </a:p>
          <a:p>
            <a:pPr lvl="1"/>
            <a:r>
              <a:rPr lang="en-US" dirty="0" b="1">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b="1"/>
              <a:t>All prior superhuman AI game milestones have been in 2-player 0-sum games</a:t>
            </a:r>
          </a:p>
          <a:p>
            <a:r>
              <a:rPr lang="en-US" dirty="0" b="1"/>
              <a:t>Multi-player games have additional issues (even in normal form):</a:t>
            </a:r>
          </a:p>
          <a:p>
            <a:pPr lvl="1"/>
            <a:r>
              <a:rPr lang="en-US" dirty="0" b="1"/>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b="1"/>
              <a:t>Finding even an approximate Nash equilibrium is hard</a:t>
            </a:r>
          </a:p>
          <a:p>
            <a:pPr lvl="2"/>
            <a:r>
              <a:rPr lang="en-US" dirty="0" b="1"/>
              <a:t>In theory [Daskalakis et al. 2009; Chen et al. 2009; Rubinstein 2018]</a:t>
            </a:r>
          </a:p>
          <a:p>
            <a:pPr lvl="2"/>
            <a:r>
              <a:rPr lang="en-US" dirty="0" b="1"/>
              <a:t>In practice, fastest complete algorithm only scales to 3-5 players and 3-5 strategies per player </a:t>
            </a:r>
            <a:br>
              <a:rPr lang="en-US" dirty="0"/>
            </a:br>
            <a:r>
              <a:rPr lang="en-US" dirty="0" b="1"/>
              <a:t>[Berg &amp; Sandholm AAAI-17]</a:t>
            </a:r>
          </a:p>
          <a:p>
            <a:r>
              <a:rPr lang="en-US" i="1" dirty="0" b="1"/>
              <a:t>Pluribus</a:t>
            </a:r>
            <a:r>
              <a:rPr lang="en-US" dirty="0" b="1"/>
              <a:t> finds superhuman strategies with a novel set of algorithms</a:t>
            </a:r>
          </a:p>
          <a:p>
            <a:pPr lvl="1"/>
            <a:r>
              <a:rPr lang="en-US" dirty="0" b="1"/>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b="1"/>
              <a:t>All prior superhuman AI game milestones have been in 2-player games: </a:t>
            </a:r>
            <a:br>
              <a:rPr lang="en-US" dirty="0"/>
            </a:br>
            <a:r>
              <a:rPr lang="en-US" dirty="0" b="1"/>
              <a:t>Chinook 1994, Deep Blue 1997, Polaris 2008, </a:t>
            </a:r>
            <a:r>
              <a:rPr lang="en-US" dirty="0" err="1" b="1"/>
              <a:t>AlphaGo</a:t>
            </a:r>
            <a:r>
              <a:rPr lang="en-US" dirty="0" b="1"/>
              <a:t> 2016, Libratus 2017</a:t>
            </a:r>
          </a:p>
          <a:p>
            <a:pPr lvl="1"/>
            <a:r>
              <a:rPr lang="en-US" dirty="0" b="1"/>
              <a:t>Also </a:t>
            </a:r>
            <a:r>
              <a:rPr lang="en-US" dirty="0" err="1" b="1"/>
              <a:t>AlphaStar</a:t>
            </a:r>
            <a:r>
              <a:rPr lang="en-US" dirty="0" b="1"/>
              <a:t> [2019] (and </a:t>
            </a:r>
            <a:r>
              <a:rPr lang="en-US" dirty="0" err="1" b="1"/>
              <a:t>OpenAI</a:t>
            </a:r>
            <a:r>
              <a:rPr lang="en-US" dirty="0" b="1"/>
              <a:t> Five [2019]) if they are superhuman</a:t>
            </a:r>
          </a:p>
          <a:p>
            <a:r>
              <a:rPr lang="en-US" b="1" i="1" dirty="0"/>
              <a:t>Pluribus</a:t>
            </a:r>
            <a:r>
              <a:rPr lang="en-US" b="1" dirty="0"/>
              <a:t> is the first superhuman multi-player milestones</a:t>
            </a:r>
          </a:p>
          <a:p>
            <a:r>
              <a:rPr lang="en-US" dirty="0" b="1"/>
              <a:t>Multi-player games have additional issues not present in 2-player 0-sum games (even in normal form):</a:t>
            </a:r>
          </a:p>
          <a:p>
            <a:pPr lvl="1"/>
            <a:r>
              <a:rPr lang="en-US" dirty="0" b="1"/>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b="1"/>
              <a:t>Finding even an approximate Nash equilibrium is hard</a:t>
            </a:r>
          </a:p>
          <a:p>
            <a:pPr lvl="2"/>
            <a:r>
              <a:rPr lang="en-US" dirty="0" b="1"/>
              <a:t>In theory [Daskalakis et al. 2009; Chen et al. 2009; Rubinstein 2018]</a:t>
            </a:r>
          </a:p>
          <a:p>
            <a:pPr lvl="2"/>
            <a:r>
              <a:rPr lang="en-US" dirty="0" b="1"/>
              <a:t>In practice, fastest complete algorithm only scales to 3-5 players and 3-5 strategies per player </a:t>
            </a:r>
            <a:br>
              <a:rPr lang="en-US" dirty="0"/>
            </a:br>
            <a:r>
              <a:rPr lang="en-US" dirty="0" b="1"/>
              <a:t>[Berg &amp; Sandholm AAAI-17]</a:t>
            </a:r>
          </a:p>
          <a:p>
            <a:pPr lvl="1"/>
            <a:r>
              <a:rPr lang="en-US" dirty="0" b="1"/>
              <a:t>Fast equilibrium-finding algorithms don’t have guarantees beyond 2-player 0-sum games</a:t>
            </a:r>
          </a:p>
          <a:p>
            <a:r>
              <a:rPr lang="en-US" i="1" dirty="0" b="1"/>
              <a:t>Pluribus</a:t>
            </a:r>
            <a:r>
              <a:rPr lang="en-US" dirty="0" b="1"/>
              <a:t> finds superhuman strategies with a novel set of algorithms</a:t>
            </a:r>
          </a:p>
          <a:p>
            <a:pPr lvl="1"/>
            <a:r>
              <a:rPr lang="en-US" dirty="0" b="1"/>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b="1"/>
              <a:t>Developed and runs on a single server, no GPUs</a:t>
            </a:r>
          </a:p>
          <a:p>
            <a:r>
              <a:rPr lang="en-US" dirty="0" b="1"/>
              <a:t>Doesn’t use any data </a:t>
            </a:r>
          </a:p>
          <a:p>
            <a:r>
              <a:rPr lang="en-US" dirty="0" b="1"/>
              <a:t>Doesn’t adapt to the opponent</a:t>
            </a:r>
          </a:p>
          <a:p>
            <a:r>
              <a:rPr lang="en-US" dirty="0" b="1"/>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b="1">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b="1">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b="1"/>
              <a:t>All players (not just opponents) pick from k continuation strategies at leaves</a:t>
            </a:r>
          </a:p>
          <a:p>
            <a:r>
              <a:rPr lang="en-US" dirty="0" b="1"/>
              <a:t>Search starts before current situation (beginning of current betting round)</a:t>
            </a:r>
          </a:p>
          <a:p>
            <a:pPr lvl="1"/>
            <a:r>
              <a:rPr lang="en-US" dirty="0" b="1"/>
              <a:t>Mitigates exploitability of unsafe search while keeping its advantages</a:t>
            </a:r>
          </a:p>
          <a:p>
            <a:pPr lvl="1"/>
            <a:r>
              <a:rPr lang="en-US" dirty="0" b="1"/>
              <a:t>Our player’s strategy is kept fixed for the moves already taken</a:t>
            </a:r>
          </a:p>
          <a:p>
            <a:pPr lvl="1"/>
            <a:r>
              <a:rPr lang="en-US" dirty="0" b="1"/>
              <a:t>As in </a:t>
            </a:r>
            <a:r>
              <a:rPr lang="en-US" i="1" dirty="0" b="1"/>
              <a:t>Libratus</a:t>
            </a:r>
            <a:r>
              <a:rPr lang="en-US" dirty="0" b="1"/>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b="1">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b="1">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b="1"/>
              <a:t>Used for blueprint computation and for solving depth-limited subgames</a:t>
            </a:r>
          </a:p>
          <a:p>
            <a:r>
              <a:rPr lang="en-US" dirty="0" b="1"/>
              <a:t>Significant improvement over MCCFR </a:t>
            </a:r>
            <a:r>
              <a:rPr lang="en-US" dirty="0" b="1">
                <a:solidFill>
                  <a:schemeClr val="bg1">
                    <a:lumMod val="75000"/>
                  </a:schemeClr>
                </a:solidFill>
              </a:rPr>
              <a:t>[</a:t>
            </a:r>
            <a:r>
              <a:rPr lang="en-US" dirty="0" err="1" b="1">
                <a:solidFill>
                  <a:schemeClr val="bg1">
                    <a:lumMod val="75000"/>
                  </a:schemeClr>
                </a:solidFill>
              </a:rPr>
              <a:t>Lanctot</a:t>
            </a:r>
            <a:r>
              <a:rPr lang="en-US" dirty="0" b="1">
                <a:solidFill>
                  <a:schemeClr val="bg1">
                    <a:lumMod val="75000"/>
                  </a:schemeClr>
                </a:solidFill>
              </a:rPr>
              <a:t> et al., NeurIPS-09]</a:t>
            </a:r>
          </a:p>
          <a:p>
            <a:r>
              <a:rPr lang="en-US" b="1" i="1" dirty="0"/>
              <a:t>Linear CFR </a:t>
            </a:r>
            <a:r>
              <a:rPr lang="en-US" dirty="0" b="1">
                <a:solidFill>
                  <a:schemeClr val="bg1">
                    <a:lumMod val="75000"/>
                  </a:schemeClr>
                </a:solidFill>
              </a:rPr>
              <a:t>[Brown &amp; Sandholm AAAI-19 Distinguished Paper Honorable Mention]</a:t>
            </a:r>
          </a:p>
          <a:p>
            <a:pPr lvl="1"/>
            <a:r>
              <a:rPr lang="en-US" i="1" dirty="0" b="1"/>
              <a:t>Pluribus</a:t>
            </a:r>
            <a:r>
              <a:rPr lang="en-US" dirty="0" b="1"/>
              <a:t> uses linear weighting for both regrets and for averaging the strategies</a:t>
            </a:r>
          </a:p>
          <a:p>
            <a:pPr lvl="1"/>
            <a:r>
              <a:rPr lang="en-US" dirty="0" b="1"/>
              <a:t>=&gt; “Linear MCCFR”</a:t>
            </a:r>
          </a:p>
          <a:p>
            <a:r>
              <a:rPr lang="en-US" dirty="0" b="1"/>
              <a:t>New form of dynamic pruning in early part of the run</a:t>
            </a:r>
          </a:p>
          <a:p>
            <a:pPr lvl="1"/>
            <a:r>
              <a:rPr lang="en-US" dirty="0" b="1"/>
              <a:t>Not in last two steps of the game</a:t>
            </a:r>
          </a:p>
          <a:p>
            <a:r>
              <a:rPr lang="en-US" dirty="0" b="1"/>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b="1"/>
              <a:t>Developed and runs on a single server (and no GPUs)</a:t>
            </a:r>
          </a:p>
          <a:p>
            <a:r>
              <a:rPr lang="en-US" dirty="0" b="1"/>
              <a:t>Offline blueprint computation and real-time depth-limited search</a:t>
            </a:r>
          </a:p>
          <a:p>
            <a:r>
              <a:rPr lang="en-US" dirty="0" b="1"/>
              <a:t>New form of depth-limited search for imperfect-information games</a:t>
            </a:r>
          </a:p>
          <a:p>
            <a:pPr lvl="1"/>
            <a:r>
              <a:rPr lang="en-US" dirty="0" b="1"/>
              <a:t>All players (not just opponents) pick from k continuation strategies at leaves</a:t>
            </a:r>
          </a:p>
          <a:p>
            <a:pPr lvl="1"/>
            <a:r>
              <a:rPr lang="en-US" dirty="0" b="1"/>
              <a:t>Searches often start before the current situation</a:t>
            </a:r>
          </a:p>
          <a:p>
            <a:pPr lvl="2"/>
            <a:r>
              <a:rPr lang="en-US" dirty="0" b="1"/>
              <a:t>Mitigates exploitability of unsafe search while keeping its advantages</a:t>
            </a:r>
          </a:p>
          <a:p>
            <a:pPr lvl="2"/>
            <a:r>
              <a:rPr lang="en-US" dirty="0" b="1"/>
              <a:t>Our player’s strategy is kept fixed for the moves already taken</a:t>
            </a:r>
          </a:p>
          <a:p>
            <a:pPr lvl="2"/>
            <a:r>
              <a:rPr lang="en-US" dirty="0" b="1"/>
              <a:t>As in Libratus, opponents’ actual actions are added to subgame model before the subgame is solved =&gt; no need to reverse map actions</a:t>
            </a:r>
          </a:p>
          <a:p>
            <a:pPr lvl="1"/>
            <a:r>
              <a:rPr lang="en-US" dirty="0" b="1"/>
              <a:t>Unlike </a:t>
            </a:r>
            <a:r>
              <a:rPr lang="en-US" i="1" dirty="0" b="1"/>
              <a:t>Libratus</a:t>
            </a:r>
            <a:r>
              <a:rPr lang="en-US" dirty="0" b="1"/>
              <a:t> [Brown &amp; Sandholm </a:t>
            </a:r>
            <a:r>
              <a:rPr lang="en-US" i="1" dirty="0" b="1"/>
              <a:t>Science 2018</a:t>
            </a:r>
            <a:r>
              <a:rPr lang="en-US" dirty="0" b="1"/>
              <a:t>], </a:t>
            </a:r>
            <a:r>
              <a:rPr lang="en-US" i="1" dirty="0" err="1" b="1"/>
              <a:t>DeepStack</a:t>
            </a:r>
            <a:r>
              <a:rPr lang="en-US" dirty="0" b="1"/>
              <a:t> [</a:t>
            </a:r>
            <a:r>
              <a:rPr lang="en-US" dirty="0" err="1" b="1"/>
              <a:t>Moravcik</a:t>
            </a:r>
            <a:r>
              <a:rPr lang="en-US" dirty="0" b="1"/>
              <a:t> et al. </a:t>
            </a:r>
            <a:r>
              <a:rPr lang="en-US" i="1" dirty="0" b="1"/>
              <a:t>Science</a:t>
            </a:r>
            <a:r>
              <a:rPr lang="en-US" dirty="0" b="1"/>
              <a:t> 2017], or </a:t>
            </a:r>
            <a:r>
              <a:rPr lang="en-US" i="1" dirty="0" b="1"/>
              <a:t>Modicum </a:t>
            </a:r>
            <a:r>
              <a:rPr lang="en-US" dirty="0" b="1"/>
              <a:t>[Brown, Sandholm &amp; Amos </a:t>
            </a:r>
            <a:r>
              <a:rPr lang="en-US" i="1" dirty="0" b="1"/>
              <a:t>NeurIPS</a:t>
            </a:r>
            <a:r>
              <a:rPr lang="en-US" dirty="0" b="1"/>
              <a:t>-18e]</a:t>
            </a:r>
          </a:p>
          <a:p>
            <a:r>
              <a:rPr lang="en-US" dirty="0" b="1"/>
              <a:t>New equilibrium-finding algorithm used for blueprint computation and for solving the depth-limited subgames</a:t>
            </a:r>
          </a:p>
          <a:p>
            <a:pPr lvl="1"/>
            <a:r>
              <a:rPr lang="en-US" dirty="0" b="1"/>
              <a:t>Significant improvement over MCCFR</a:t>
            </a:r>
          </a:p>
          <a:p>
            <a:pPr lvl="1"/>
            <a:r>
              <a:rPr lang="en-US" dirty="0" b="1"/>
              <a:t>Uses fastest algorithm in the CFR family: </a:t>
            </a:r>
            <a:r>
              <a:rPr lang="en-US" b="1" i="1" dirty="0"/>
              <a:t>linear CFR </a:t>
            </a:r>
            <a:r>
              <a:rPr lang="en-US" dirty="0" b="1"/>
              <a:t>[Brown &amp; Sandholm AAAI-19 Distinguished Paper Honorable Mention]</a:t>
            </a:r>
          </a:p>
          <a:p>
            <a:pPr lvl="1"/>
            <a:r>
              <a:rPr lang="en-US" dirty="0" b="1"/>
              <a:t>New form of dynamic pruning in the early part of the run</a:t>
            </a:r>
          </a:p>
          <a:p>
            <a:pPr lvl="2"/>
            <a:r>
              <a:rPr lang="en-US" dirty="0" b="1"/>
              <a:t>Not in last two steps of the game</a:t>
            </a:r>
          </a:p>
          <a:p>
            <a:pPr lvl="1"/>
            <a:r>
              <a:rPr lang="en-US" dirty="0" b="1"/>
              <a:t>Techniques for saving memory</a:t>
            </a:r>
          </a:p>
          <a:p>
            <a:pPr lvl="2"/>
            <a:r>
              <a:rPr lang="en-US" dirty="0" b="1"/>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b="1"/>
              <a:t>Runs on a regular computer using</a:t>
            </a:r>
          </a:p>
          <a:p>
            <a:pPr lvl="1"/>
            <a:r>
              <a:rPr lang="en-US" sz="2400" dirty="0" b="1"/>
              <a:t>2 CPUs</a:t>
            </a:r>
          </a:p>
          <a:p>
            <a:pPr lvl="1"/>
            <a:r>
              <a:rPr lang="en-US" sz="2400" dirty="0" b="1"/>
              <a:t>Less than 128 GB RAM</a:t>
            </a:r>
          </a:p>
          <a:p>
            <a:pPr lvl="1"/>
            <a:r>
              <a:rPr lang="en-US" sz="2400" dirty="0" b="1"/>
              <a:t>No GPUs</a:t>
            </a:r>
          </a:p>
          <a:p>
            <a:r>
              <a:rPr lang="en-US" sz="2800" dirty="0" b="1"/>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b="1"/>
              <a:t>AIVAT [Burch et al. AAAI-18] was used in the evaluation for variance reduction</a:t>
            </a:r>
          </a:p>
          <a:p>
            <a:endParaRPr lang="en-US" dirty="0"/>
          </a:p>
          <a:p>
            <a:r>
              <a:rPr lang="en-US" b="1" dirty="0"/>
              <a:t>Experiment 1: </a:t>
            </a:r>
            <a:r>
              <a:rPr lang="en-US" dirty="0" b="1"/>
              <a:t>1 human pro, 5 copies of </a:t>
            </a:r>
            <a:r>
              <a:rPr lang="en-US" i="1" dirty="0" b="1"/>
              <a:t>Pluribus</a:t>
            </a:r>
          </a:p>
          <a:p>
            <a:pPr lvl="1"/>
            <a:r>
              <a:rPr lang="en-US" dirty="0" b="1"/>
              <a:t>Independent copies of </a:t>
            </a:r>
            <a:r>
              <a:rPr lang="en-US" i="1" dirty="0" b="1"/>
              <a:t>Pluribus</a:t>
            </a:r>
            <a:r>
              <a:rPr lang="en-US" dirty="0" b="1"/>
              <a:t>; didn’t know even seat of others</a:t>
            </a:r>
          </a:p>
          <a:p>
            <a:pPr lvl="1"/>
            <a:r>
              <a:rPr lang="en-US" dirty="0" b="1"/>
              <a:t>Each of Chris Ferguson and Darren Elias played 5,000 hands (also, monetary incentive to play as well as they can)</a:t>
            </a:r>
          </a:p>
          <a:p>
            <a:pPr lvl="1"/>
            <a:r>
              <a:rPr lang="en-US" i="1" dirty="0" b="1"/>
              <a:t>Pluribus</a:t>
            </a:r>
            <a:r>
              <a:rPr lang="en-US" dirty="0" b="1"/>
              <a:t> beat each opponent with statistical significance</a:t>
            </a:r>
          </a:p>
          <a:p>
            <a:pPr lvl="1"/>
            <a:r>
              <a:rPr lang="en-US" dirty="0" b="1"/>
              <a:t>In a later identical experiment, </a:t>
            </a:r>
            <a:r>
              <a:rPr lang="en-US" i="1" dirty="0" b="1"/>
              <a:t>Pluribus</a:t>
            </a:r>
            <a:r>
              <a:rPr lang="en-US" dirty="0" b="1"/>
              <a:t> also beat Linus Loeliger</a:t>
            </a:r>
          </a:p>
          <a:p>
            <a:pPr lvl="1"/>
            <a:endParaRPr lang="en-US" dirty="0"/>
          </a:p>
          <a:p>
            <a:r>
              <a:rPr lang="en-US" b="1" dirty="0"/>
              <a:t>Experiment 2:</a:t>
            </a:r>
            <a:r>
              <a:rPr lang="en-US" dirty="0" b="1"/>
              <a:t> 5 human pros, 1 </a:t>
            </a:r>
            <a:r>
              <a:rPr lang="en-US" i="1" dirty="0" b="1"/>
              <a:t>Pluribus</a:t>
            </a:r>
          </a:p>
          <a:p>
            <a:pPr lvl="1"/>
            <a:r>
              <a:rPr lang="en-US" dirty="0" b="1"/>
              <a:t>10,000 hands</a:t>
            </a:r>
          </a:p>
          <a:p>
            <a:pPr lvl="1"/>
            <a:r>
              <a:rPr lang="en-US" dirty="0" b="1"/>
              <a:t>For each 6-player session, 5 humans were selected based on availability from 13 human pros</a:t>
            </a:r>
          </a:p>
          <a:p>
            <a:pPr lvl="2"/>
            <a:r>
              <a:rPr lang="en-US" dirty="0" b="1"/>
              <a:t>Each has won over $1M playing poker, many have won over $10M</a:t>
            </a:r>
          </a:p>
          <a:p>
            <a:pPr lvl="2"/>
            <a:r>
              <a:rPr lang="en-US" dirty="0" b="1"/>
              <a:t>Linus Loeliger, Jimmy Chou, Seth Davies, Michael Gagliano, Anthony Gregg, Dong Kim, Jason Les, Daniel </a:t>
            </a:r>
            <a:r>
              <a:rPr lang="en-US" dirty="0" err="1" b="1"/>
              <a:t>McAulay</a:t>
            </a:r>
            <a:r>
              <a:rPr lang="en-US" dirty="0" b="1"/>
              <a:t>, Nick </a:t>
            </a:r>
            <a:r>
              <a:rPr lang="en-US" dirty="0" err="1" b="1"/>
              <a:t>Petrangelo</a:t>
            </a:r>
            <a:r>
              <a:rPr lang="en-US" dirty="0" b="1"/>
              <a:t>, Sean </a:t>
            </a:r>
            <a:r>
              <a:rPr lang="en-US" dirty="0" err="1" b="1"/>
              <a:t>Ruane</a:t>
            </a:r>
            <a:r>
              <a:rPr lang="en-US" dirty="0" b="1"/>
              <a:t>, Trevor Savage, Jake Toole</a:t>
            </a:r>
          </a:p>
          <a:p>
            <a:pPr lvl="1"/>
            <a:r>
              <a:rPr lang="en-US" dirty="0" b="1"/>
              <a:t>$50,000 divided among human pros to incentivize them to play as well as they can</a:t>
            </a:r>
          </a:p>
          <a:p>
            <a:pPr lvl="1"/>
            <a:r>
              <a:rPr lang="en-US" i="1" dirty="0" b="1"/>
              <a:t>Pluribus</a:t>
            </a:r>
            <a:r>
              <a:rPr lang="en-US" dirty="0" b="1"/>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b="1"/>
              <a:t>64-core server, 512 GB RAM, no GPUs</a:t>
            </a:r>
          </a:p>
          <a:p>
            <a:r>
              <a:rPr lang="en-US" dirty="0" b="1"/>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