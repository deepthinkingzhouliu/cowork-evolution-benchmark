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3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NHOPI</c:v>
                </c:pt>
              </c:strCache>
            </c:strRef>
          </c:tx>
          <c:spPr>
            <a:ln w="28575">
              <a:solidFill>
                <a:srgbClr val="174A6E"/>
              </a:solidFill>
            </a:ln>
          </c:spPr>
          <c:marker>
            <c:symbol val="circle"/>
            <c:size val="7"/>
            <c:spPr>
              <a:solidFill>
                <a:srgbClr val="174A6E"/>
              </a:solidFill>
              <a:ln>
                <a:solidFill>
                  <a:srgbClr val="174A6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0.18</c:v>
                </c:pt>
                <c:pt idx="1">
                  <c:v>0.14</c:v>
                </c:pt>
                <c:pt idx="2">
                  <c:v>0.1</c:v>
                </c:pt>
                <c:pt idx="3">
                  <c:v>0.11</c:v>
                </c:pt>
                <c:pt idx="4">
                  <c:v>0.11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Asian</c:v>
                </c:pt>
              </c:strCache>
            </c:strRef>
          </c:tx>
          <c:spPr>
            <a:ln w="28575">
              <a:solidFill>
                <a:srgbClr val="0E83C9"/>
              </a:solidFill>
            </a:ln>
          </c:spPr>
          <c:marker>
            <c:symbol val="circle"/>
            <c:size val="7"/>
            <c:spPr>
              <a:solidFill>
                <a:srgbClr val="0E83C9"/>
              </a:solidFill>
              <a:ln>
                <a:solidFill>
                  <a:srgbClr val="0E83C9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0.16</c:v>
                </c:pt>
                <c:pt idx="1">
                  <c:v>0.11</c:v>
                </c:pt>
                <c:pt idx="2">
                  <c:v>0.08</c:v>
                </c:pt>
                <c:pt idx="3">
                  <c:v>0.07</c:v>
                </c:pt>
                <c:pt idx="4">
                  <c:v>0.07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White</c:v>
                </c:pt>
              </c:strCache>
            </c:strRef>
          </c:tx>
          <c:spPr>
            <a:ln w="28575">
              <a:solidFill>
                <a:srgbClr val="A9A9A9"/>
              </a:solidFill>
            </a:ln>
          </c:spPr>
          <c:marker>
            <c:symbol val="circle"/>
            <c:size val="7"/>
            <c:spPr>
              <a:solidFill>
                <a:srgbClr val="A9A9A9"/>
              </a:solidFill>
              <a:ln>
                <a:solidFill>
                  <a:srgbClr val="A9A9A9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0.12</c:v>
                </c:pt>
                <c:pt idx="1">
                  <c:v>0.1</c:v>
                </c:pt>
                <c:pt idx="2">
                  <c:v>0.08</c:v>
                </c:pt>
                <c:pt idx="3">
                  <c:v>0.07</c:v>
                </c:pt>
                <c:pt idx="4">
                  <c:v>0.07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7B7B7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2140495176"/>
        <c:crosses val="min"/>
        <c:auto val="1"/>
        <c:lblAlgn val="ctr"/>
        <c:lblOffset val="100"/>
        <c:noMultiLvlLbl val="0"/>
      </c:catAx>
      <c:valAx>
        <c:axId val="2140495176"/>
        <c:scaling>
          <c:max val="0.2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2118791784"/>
        <c:crosses val="autoZero"/>
        <c:majorUnit val="0.05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rgbClr val="4040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6" Type="http://schemas.openxmlformats.org/officeDocument/2006/relationships/image" Target="../media/image2.png"/><Relationship Id="rId7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6" Type="http://schemas.openxmlformats.org/officeDocument/2006/relationships/image" Target="../media/image5.png"/><Relationship Id="rId7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emf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3" name="Uninsured rates 2013-2017 - editable line chart"/>
          <p:cNvGraphicFramePr>
            <a:graphicFrameLocks noGrp="1"/>
          </p:cNvGraphicFramePr>
          <p:nvPr/>
        </p:nvGraphicFramePr>
        <p:xfrm>
          <a:off x="658368" y="1719072"/>
          <a:ext cx="653796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4" name="Custom legend line - NHOPI"/>
          <p:cNvCxnSpPr/>
          <p:nvPr/>
        </p:nvCxnSpPr>
        <p:spPr>
          <a:xfrm>
            <a:off x="7424927" y="2898648"/>
            <a:ext cx="320040" cy="0"/>
          </a:xfrm>
          <a:prstGeom prst="line">
            <a:avLst/>
          </a:prstGeom>
          <a:ln w="28575">
            <a:solidFill>
              <a:srgbClr val="17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stom legend marker - NHOPI"/>
          <p:cNvSpPr/>
          <p:nvPr/>
        </p:nvSpPr>
        <p:spPr>
          <a:xfrm>
            <a:off x="7548371" y="2839212"/>
            <a:ext cx="118872" cy="118872"/>
          </a:xfrm>
          <a:prstGeom prst="ellipse">
            <a:avLst/>
          </a:prstGeom>
          <a:solidFill>
            <a:srgbClr val="174A6E"/>
          </a:solidFill>
          <a:ln>
            <a:solidFill>
              <a:srgbClr val="17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ustom legend label - NHOPI"/>
          <p:cNvSpPr txBox="1"/>
          <p:nvPr/>
        </p:nvSpPr>
        <p:spPr>
          <a:xfrm>
            <a:off x="7818119" y="2770632"/>
            <a:ext cx="112471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400">
                <a:solidFill>
                  <a:srgbClr val="174A6E"/>
                </a:solidFill>
                <a:latin typeface="Arial"/>
              </a:rPr>
              <a:t>NHOPI</a:t>
            </a:r>
          </a:p>
        </p:txBody>
      </p:sp>
      <p:cxnSp>
        <p:nvCxnSpPr>
          <p:cNvPr id="17" name="Custom legend line - Asian"/>
          <p:cNvCxnSpPr/>
          <p:nvPr/>
        </p:nvCxnSpPr>
        <p:spPr>
          <a:xfrm>
            <a:off x="7424927" y="3419856"/>
            <a:ext cx="320040" cy="0"/>
          </a:xfrm>
          <a:prstGeom prst="line">
            <a:avLst/>
          </a:prstGeom>
          <a:ln w="28575">
            <a:solidFill>
              <a:srgbClr val="0E8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stom legend marker - Asian"/>
          <p:cNvSpPr/>
          <p:nvPr/>
        </p:nvSpPr>
        <p:spPr>
          <a:xfrm>
            <a:off x="7548371" y="3360420"/>
            <a:ext cx="118872" cy="118872"/>
          </a:xfrm>
          <a:prstGeom prst="ellipse">
            <a:avLst/>
          </a:prstGeom>
          <a:solidFill>
            <a:srgbClr val="0E83C9"/>
          </a:solidFill>
          <a:ln>
            <a:solidFill>
              <a:srgbClr val="0E8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ustom legend label - Asian"/>
          <p:cNvSpPr txBox="1"/>
          <p:nvPr/>
        </p:nvSpPr>
        <p:spPr>
          <a:xfrm>
            <a:off x="7818119" y="3291839"/>
            <a:ext cx="112471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400">
                <a:solidFill>
                  <a:srgbClr val="0E83C9"/>
                </a:solidFill>
                <a:latin typeface="Arial"/>
              </a:rPr>
              <a:t>Asian</a:t>
            </a:r>
          </a:p>
        </p:txBody>
      </p:sp>
      <p:cxnSp>
        <p:nvCxnSpPr>
          <p:cNvPr id="20" name="Custom legend line - White"/>
          <p:cNvCxnSpPr/>
          <p:nvPr/>
        </p:nvCxnSpPr>
        <p:spPr>
          <a:xfrm>
            <a:off x="7424927" y="3941063"/>
            <a:ext cx="320040" cy="0"/>
          </a:xfrm>
          <a:prstGeom prst="line">
            <a:avLst/>
          </a:prstGeom>
          <a:ln w="28575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stom legend marker - White"/>
          <p:cNvSpPr/>
          <p:nvPr/>
        </p:nvSpPr>
        <p:spPr>
          <a:xfrm>
            <a:off x="7548371" y="3881628"/>
            <a:ext cx="118872" cy="118872"/>
          </a:xfrm>
          <a:prstGeom prst="ellipse">
            <a:avLst/>
          </a:prstGeom>
          <a:solidFill>
            <a:srgbClr val="A9A9A9"/>
          </a:solidFill>
          <a:ln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ustom legend label - White"/>
          <p:cNvSpPr txBox="1"/>
          <p:nvPr/>
        </p:nvSpPr>
        <p:spPr>
          <a:xfrm>
            <a:off x="7818119" y="3813048"/>
            <a:ext cx="112471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400">
                <a:solidFill>
                  <a:srgbClr val="A9A9A9"/>
                </a:solidFill>
                <a:latin typeface="Arial"/>
              </a:rPr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