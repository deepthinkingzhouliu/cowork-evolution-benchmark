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embeddedFontLst>
    <p:embeddedFont>
      <p:font typeface="Questrial" pitchFamily="2" charset="77"/>
      <p:regular r:id="rId18"/>
    </p:embeddedFont>
    <p:embeddedFont>
      <p:font typeface="Roboto" panose="02000000000000000000" pitchFamily="2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19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Shape 4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-88900" algn="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Shape 5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Shape 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marR="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0" marR="0" lvl="0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-889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-88900" algn="l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Shape 5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" name="Shape 5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Shape 52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Shape 5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Shape 5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66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Shape 6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Shape 7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Shape 7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Shape 79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Shape 8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Hey all! My name is Tyler Richards and I am the workshop coordinator for DSI in the 2017 and 2018 year. This means that I create, facilitate, plan, and teach every workshop given by DSI. I’m here to give you all a student’s perspective on teaching programming and data science concepts to research labs and interested students. </a:t>
            </a:r>
            <a:endParaRPr/>
          </a:p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/>
              <a:t>There are a bunch of reasons why you might want to teach these concepts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An individual has joined your research group and needs to catch up on concepts, langauges, frameworks used by your group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You’re in charge of teaching a class data science concepts (whether it be for a journalism class or for computational biology)</a:t>
            </a:r>
            <a:endParaRPr/>
          </a:p>
          <a:p>
            <a: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/>
              <a:t>You want groups you’re in charge of to understand material in a greater depth</a:t>
            </a:r>
            <a:endParaRPr/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Shape 8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There seems to be a logical inconsistency in teaching workshops in a field that is constantly changing. </a:t>
            </a:r>
            <a:endParaRPr/>
          </a:p>
        </p:txBody>
      </p:sp>
      <p:sp>
        <p:nvSpPr>
          <p:cNvPr id="92" name="Shape 9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Shape 10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Shape 10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Shape 112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Shape 118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Shape 123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Shape 124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12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Shape 130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Shape 136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Shape 14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Shape 14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Shape 143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Shape 15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457200" marR="0" lvl="1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914400" marR="0" lvl="2" indent="0" algn="ctr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371600" marR="0" lvl="3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1828800" marR="0" lvl="4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286000" marR="0" lvl="5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2743200" marR="0" lvl="6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200400" marR="0" lvl="7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3657600" marR="0" lvl="8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Shape 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Shape 21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Shape 2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4" name="Shape 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  <p:sp>
        <p:nvSpPr>
          <p:cNvPr id="25" name="Shape 25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8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4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8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Shape 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Shape 2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29" name="Shape 29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  <p:sp>
        <p:nvSpPr>
          <p:cNvPr id="30" name="Shape 3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400" b="1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2000" b="1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 b="1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600" b="1"/>
            </a:lvl9pPr>
          </a:lstStyle>
          <a:p>
            <a:endParaRPr/>
          </a:p>
        </p:txBody>
      </p:sp>
      <p:sp>
        <p:nvSpPr>
          <p:cNvPr id="31" name="Shape 31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8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6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6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hape 3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7" name="Shape 37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2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800"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400"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/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Shape 4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Shape 4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42" name="Shape 4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400"/>
            </a:lvl1pPr>
            <a:lvl2pPr marL="914400" lvl="1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200"/>
            </a:lvl2pPr>
            <a:lvl3pPr marL="1371600" lvl="2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000"/>
            </a:lvl3pPr>
            <a:lvl4pPr marL="1828800" lvl="3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4pPr>
            <a:lvl5pPr marL="2286000" lvl="4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5pPr>
            <a:lvl6pPr marL="2743200" lvl="5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6pPr>
            <a:lvl7pPr marL="3200400" lvl="6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7pPr>
            <a:lvl8pPr marL="3657600" lvl="7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8pPr>
            <a:lvl9pPr marL="4114800" lvl="8" indent="-228600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4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5" name="Shape 45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8" name="Shape 48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3175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lvl="2" indent="-3175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lvl="3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lvl="4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lvl="5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lvl="6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lvl="7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lvl="8" indent="-3175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»"/>
              <a:defRPr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hape 10" descr="ppt_056_interior.jp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Shape 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3962400" cy="4873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/>
          <a:lstStyle>
            <a:lvl1pPr marL="0" marR="0" lvl="0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457200" marR="0" lvl="5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914400" marR="0" lvl="6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1371600" marR="0" lvl="7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1828800" marR="0" lvl="8" indent="-88900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2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Shape 12"/>
          <p:cNvSpPr txBox="1"/>
          <p:nvPr/>
        </p:nvSpPr>
        <p:spPr>
          <a:xfrm>
            <a:off x="8637292" y="6550223"/>
            <a:ext cx="506708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4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hyperlink" Target="mailto:info@dsiufl.org" TargetMode="External"/><Relationship Id="rId4" Type="http://schemas.openxmlformats.org/officeDocument/2006/relationships/hyperlink" Target="mailto:tylerjrichards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/>
          <p:nvPr/>
        </p:nvSpPr>
        <p:spPr>
          <a:xfrm>
            <a:off x="312600" y="2643825"/>
            <a:ext cx="8518800" cy="18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4800" b="1">
                <a:latin typeface="Questrial"/>
                <a:ea typeface="Questrial"/>
                <a:cs typeface="Questrial"/>
                <a:sym typeface="Questrial"/>
              </a:rPr>
              <a:t>Data Science and Informatics: Creating Student Led Data Science Curricula</a:t>
            </a:r>
            <a:endParaRPr sz="4800" b="1">
              <a:latin typeface="Questrial"/>
              <a:ea typeface="Questrial"/>
              <a:cs typeface="Questrial"/>
              <a:sym typeface="Questrial"/>
            </a:endParaRPr>
          </a:p>
        </p:txBody>
      </p:sp>
      <p:pic>
        <p:nvPicPr>
          <p:cNvPr id="55" name="Shape 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7474" y="-533575"/>
            <a:ext cx="6049125" cy="403275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Shape 56"/>
          <p:cNvSpPr txBox="1"/>
          <p:nvPr/>
        </p:nvSpPr>
        <p:spPr>
          <a:xfrm>
            <a:off x="3076800" y="5112300"/>
            <a:ext cx="2811300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Tyler Richards</a:t>
            </a:r>
            <a:endParaRPr sz="3000"/>
          </a:p>
        </p:txBody>
      </p:sp>
      <p:sp>
        <p:nvSpPr>
          <p:cNvPr id="57" name="TextBox 56"/>
          <p:cNvSpPr txBox="1"/>
          <p:nvPr/>
        </p:nvSpPr>
        <p:spPr>
          <a:xfrm>
            <a:off x="91440" y="6492240"/>
            <a:ext cx="22860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solution/Golden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61"/>
          <p:cNvSpPr txBox="1"/>
          <p:nvPr/>
        </p:nvSpPr>
        <p:spPr>
          <a:xfrm>
            <a:off x="562726" y="1376522"/>
            <a:ext cx="83058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multi- and inter-disciplinary student organization dedicated to celebrating and promoting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Science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at the University of Florida.</a:t>
            </a: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artnered with the UF Informatics Institute, whose aim is to foster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informatics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and education at UF, as part of UF’s</a:t>
            </a:r>
            <a:r>
              <a:rPr lang="en-US"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 b="0" i="0" u="none" strike="noStrike" cap="none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Rise to Preeminence.</a:t>
            </a:r>
            <a:endParaRPr sz="2800" b="0" i="0" u="none" strike="noStrike" cap="none">
              <a:solidFill>
                <a:srgbClr val="FB6A1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community of graduate and undergraduate students here to teach and learn.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Shape 62"/>
          <p:cNvSpPr txBox="1"/>
          <p:nvPr/>
        </p:nvSpPr>
        <p:spPr>
          <a:xfrm>
            <a:off x="533400" y="457200"/>
            <a:ext cx="6477000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Who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are we?</a:t>
            </a:r>
            <a:endParaRPr/>
          </a:p>
        </p:txBody>
      </p:sp>
      <p:pic>
        <p:nvPicPr>
          <p:cNvPr id="63" name="Shape 6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3393" y="5538502"/>
            <a:ext cx="4885800" cy="774000"/>
          </a:xfrm>
          <a:prstGeom prst="rect">
            <a:avLst/>
          </a:prstGeom>
          <a:noFill/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64" name="Shape 6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48332" y="5379044"/>
            <a:ext cx="2920200" cy="1092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69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in March of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Three advisors from Statistics, Computer Science, and 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Workshop-focused from our inception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Was founded to fill a need on campus - few places existed to learn Python, R, and other tools with guidance and feedback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Shape 70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Brief History of DSI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75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Deliver workshops on </a:t>
            </a: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key tools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used in Data Science, such as Python, R, Spark, SQL, and Natural Language Processing.</a:t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FB6A18"/>
                </a:solidFill>
                <a:latin typeface="Calibri"/>
                <a:ea typeface="Calibri"/>
                <a:cs typeface="Calibri"/>
                <a:sym typeface="Calibri"/>
              </a:rPr>
              <a:t>Connect</a:t>
            </a:r>
            <a:r>
              <a:rPr lang="en-US" sz="280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UF undergraduates and graduate students to the resources and events available through the Informatics Institute.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Host social events, competitions, and symposia.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Shape 76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What </a:t>
            </a: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do we do?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hape 81"/>
          <p:cNvSpPr txBox="1"/>
          <p:nvPr/>
        </p:nvSpPr>
        <p:spPr>
          <a:xfrm>
            <a:off x="562725" y="137652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Student-designed, student-run, student-taught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14+ per semester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30-100 attendees per workshop</a:t>
            </a:r>
            <a:b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Shape 8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Our Workshops</a:t>
            </a:r>
            <a:r>
              <a:rPr lang="en-US" sz="4400" b="0" i="0" u="none" strike="noStrike" cap="none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:</a:t>
            </a:r>
            <a:endParaRPr/>
          </a:p>
        </p:txBody>
      </p:sp>
      <p:pic>
        <p:nvPicPr>
          <p:cNvPr id="83" name="Shape 83"/>
          <p:cNvPicPr preferRelativeResize="0"/>
          <p:nvPr/>
        </p:nvPicPr>
        <p:blipFill rotWithShape="1">
          <a:blip r:embed="rId3">
            <a:alphaModFix/>
          </a:blip>
          <a:srcRect t="21789"/>
          <a:stretch/>
        </p:blipFill>
        <p:spPr>
          <a:xfrm>
            <a:off x="1422799" y="2793450"/>
            <a:ext cx="6298397" cy="3694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Shape 88"/>
          <p:cNvSpPr txBox="1"/>
          <p:nvPr/>
        </p:nvSpPr>
        <p:spPr>
          <a:xfrm>
            <a:off x="533400" y="2233773"/>
            <a:ext cx="8581200" cy="169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Workshop Coordination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=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Creating Workshops 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endParaRPr sz="36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Choosing Instructors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Shape 8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Coordination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Shape 94"/>
          <p:cNvSpPr txBox="1"/>
          <p:nvPr/>
        </p:nvSpPr>
        <p:spPr>
          <a:xfrm>
            <a:off x="505200" y="2181563"/>
            <a:ext cx="8133600" cy="96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Techniques, languages, and frameworks used today will not all be useful in a few years time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Shape 9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Competing Data Science Truths </a:t>
            </a:r>
            <a:endParaRPr/>
          </a:p>
        </p:txBody>
      </p:sp>
      <p:sp>
        <p:nvSpPr>
          <p:cNvPr id="96" name="Shape 96"/>
          <p:cNvSpPr txBox="1"/>
          <p:nvPr/>
        </p:nvSpPr>
        <p:spPr>
          <a:xfrm>
            <a:off x="533400" y="4366625"/>
            <a:ext cx="7834200" cy="10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Teaching students specific Data Science skills is a worthy pursuit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Shape 97"/>
          <p:cNvSpPr txBox="1"/>
          <p:nvPr/>
        </p:nvSpPr>
        <p:spPr>
          <a:xfrm>
            <a:off x="4284900" y="3560600"/>
            <a:ext cx="574200" cy="6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102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Design	</a:t>
            </a:r>
            <a:endParaRPr/>
          </a:p>
        </p:txBody>
      </p:sp>
      <p:sp>
        <p:nvSpPr>
          <p:cNvPr id="103" name="Shape 103"/>
          <p:cNvSpPr txBox="1"/>
          <p:nvPr/>
        </p:nvSpPr>
        <p:spPr>
          <a:xfrm>
            <a:off x="533400" y="1736425"/>
            <a:ext cx="7795200" cy="279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 led workshops let content be designed by demand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SQL + NLP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 Tips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Emphasize learning process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Show bugs/mistakes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Live code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Set goals for end of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Shape 10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Intermediate users are often better instructors than experts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Proximity to learning material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Lack of ingrained habits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0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Empathy for mistakes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	Humility and empathy are crucial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2800" b="1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Shape 10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Shape 114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u="sng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 bad workshop prevents current learning, a bad instructor prevents future learning</a:t>
            </a:r>
            <a:endParaRPr sz="3000" b="1" u="sng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457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Shape 115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Workshop Instructors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Shape 120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 b="1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 positive feedback!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Create a desire to learn more and go beyond the scope of the workshop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Students have a desire to get more involved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Help students across a variety of fields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Statistics and 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Industrial engineering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Biology/Bioinformatics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Journalism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Shape 121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Workshops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hape 126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Founded by a small group of students in March 2015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Currently 3 years later: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An executive board of 15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Facebook group with 1400+ members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14 workshop sessions this semester with large turnout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Symposium with 100+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Shape 127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of DSI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Shape 132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Workshops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Spring 2016: Python 0 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18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Fall 2017: Python 0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371600" lvl="2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■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38 attendees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This semester: so much interest that we needed 2 days of sessions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marR="0" lvl="0" indent="-34747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Shape 133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Growth Statistics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Shape 138"/>
          <p:cNvSpPr txBox="1"/>
          <p:nvPr/>
        </p:nvSpPr>
        <p:spPr>
          <a:xfrm>
            <a:off x="562726" y="1376522"/>
            <a:ext cx="8581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The growth of DSI has led us to become more than just the “workshop club”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7472" lvl="0" indent="-34747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•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Recruitment: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Deloitte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P&amp;G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Google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4064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42C4F"/>
              </a:buClr>
              <a:buSzPts val="2800"/>
              <a:buFont typeface="Calibri"/>
              <a:buChar char="○"/>
            </a:pPr>
            <a:r>
              <a:rPr lang="en-US" sz="2800">
                <a:solidFill>
                  <a:srgbClr val="042C4F"/>
                </a:solidFill>
                <a:latin typeface="Calibri"/>
                <a:ea typeface="Calibri"/>
                <a:cs typeface="Calibri"/>
                <a:sym typeface="Calibri"/>
              </a:rPr>
              <a:t>Research Groups across campus</a:t>
            </a:r>
            <a:endParaRPr sz="2800">
              <a:solidFill>
                <a:srgbClr val="042C4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Shape 139"/>
          <p:cNvSpPr txBox="1"/>
          <p:nvPr/>
        </p:nvSpPr>
        <p:spPr>
          <a:xfrm>
            <a:off x="533400" y="457200"/>
            <a:ext cx="6477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1A496C"/>
                </a:solidFill>
                <a:latin typeface="Questrial"/>
                <a:ea typeface="Questrial"/>
                <a:cs typeface="Questrial"/>
                <a:sym typeface="Questrial"/>
              </a:rPr>
              <a:t>Results of Growth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Shape 145"/>
          <p:cNvSpPr txBox="1">
            <a:spLocks noGrp="1"/>
          </p:cNvSpPr>
          <p:nvPr>
            <p:ph type="ctrTitle"/>
          </p:nvPr>
        </p:nvSpPr>
        <p:spPr>
          <a:xfrm>
            <a:off x="685800" y="838150"/>
            <a:ext cx="7772400" cy="147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latin typeface="Questrial"/>
                <a:ea typeface="Questrial"/>
                <a:cs typeface="Questrial"/>
                <a:sym typeface="Questrial"/>
              </a:rPr>
              <a:t>Contact</a:t>
            </a:r>
            <a:endParaRPr sz="4800"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146" name="Shape 146"/>
          <p:cNvSpPr txBox="1">
            <a:spLocks noGrp="1"/>
          </p:cNvSpPr>
          <p:nvPr>
            <p:ph type="subTitle" idx="1"/>
          </p:nvPr>
        </p:nvSpPr>
        <p:spPr>
          <a:xfrm>
            <a:off x="1371600" y="2427600"/>
            <a:ext cx="6400800" cy="175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3"/>
              </a:rPr>
              <a:t>info@dsiufl.org</a:t>
            </a: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 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  <a:hlinkClick r:id="rId4"/>
              </a:rPr>
              <a:t>tylerjrichards@gmail.com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@tylerjrichards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highlight>
                  <a:srgbClr val="FFFFFF"/>
                </a:highlight>
                <a:latin typeface="Questrial"/>
                <a:ea typeface="Questrial"/>
                <a:cs typeface="Questrial"/>
                <a:sym typeface="Questrial"/>
              </a:rPr>
              <a:t>tylerjrichards.com</a:t>
            </a:r>
            <a:endParaRPr sz="1800">
              <a:solidFill>
                <a:srgbClr val="000000"/>
              </a:solidFill>
              <a:highlight>
                <a:srgbClr val="FFFFFF"/>
              </a:highlight>
              <a:latin typeface="Questrial"/>
              <a:ea typeface="Questrial"/>
              <a:cs typeface="Questrial"/>
              <a:sym typeface="Questrial"/>
            </a:endParaRPr>
          </a:p>
          <a:p>
            <a:pPr marL="0" lvl="0" indent="0">
              <a:spcBef>
                <a:spcPts val="640"/>
              </a:spcBef>
              <a:spcAft>
                <a:spcPts val="0"/>
              </a:spcAft>
              <a:buNone/>
            </a:pPr>
            <a:endParaRPr sz="900"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Grayscale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</Words>
  <Application>Microsoft Macintosh PowerPoint</Application>
  <PresentationFormat>On-screen Show (4:3)</PresentationFormat>
  <Paragraphs>112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Questrial</vt:lpstr>
      <vt:lpstr>Arial</vt:lpstr>
      <vt:lpstr>Roboto</vt:lpstr>
      <vt:lpstr>Calibri</vt:lpstr>
      <vt:lpstr>Default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Contact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Ofengenden</cp:lastModifiedBy>
  <cp:revision>1</cp:revision>
  <dcterms:modified xsi:type="dcterms:W3CDTF">2025-08-11T21:52:32Z</dcterms:modified>
</cp:coreProperties>
</file>