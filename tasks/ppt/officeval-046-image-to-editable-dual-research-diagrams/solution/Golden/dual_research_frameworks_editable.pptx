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800000" cy="7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ont-panel"/>
          <p:cNvSpPr/>
          <p:nvPr/>
        </p:nvSpPr>
        <p:spPr>
          <a:xfrm>
            <a:off x="1602000" y="936000"/>
            <a:ext cx="6570000" cy="5274000"/>
          </a:xfrm>
          <a:prstGeom prst="rect">
            <a:avLst/>
          </a:prstGeom>
          <a:solidFill>
            <a:srgbClr val="FDFEFE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ric-panel"/>
          <p:cNvSpPr/>
          <p:nvPr/>
        </p:nvSpPr>
        <p:spPr>
          <a:xfrm>
            <a:off x="720000" y="936000"/>
            <a:ext cx="882000" cy="5274000"/>
          </a:xfrm>
          <a:prstGeom prst="rect">
            <a:avLst/>
          </a:prstGeom>
          <a:solidFill>
            <a:srgbClr val="F5F9FC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vice-panel"/>
          <p:cNvSpPr/>
          <p:nvPr/>
        </p:nvSpPr>
        <p:spPr>
          <a:xfrm>
            <a:off x="8172000" y="936000"/>
            <a:ext cx="1242000" cy="5274000"/>
          </a:xfrm>
          <a:prstGeom prst="parallelogram">
            <a:avLst/>
          </a:prstGeom>
          <a:solidFill>
            <a:srgbClr val="F1F5F8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-tab-运行系统"/>
          <p:cNvSpPr/>
          <p:nvPr/>
        </p:nvSpPr>
        <p:spPr>
          <a:xfrm>
            <a:off x="1584000" y="342000"/>
            <a:ext cx="1692000" cy="594000"/>
          </a:xfrm>
          <a:prstGeom prst="parallelogram">
            <a:avLst/>
          </a:prstGeom>
          <a:solidFill>
            <a:srgbClr val="DCECF8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600" b="1">
                <a:solidFill>
                  <a:srgbClr val="103E77"/>
                </a:solidFill>
                <a:latin typeface="Microsoft YaHei"/>
              </a:rPr>
              <a:t>运行系统</a:t>
            </a:r>
          </a:p>
        </p:txBody>
      </p:sp>
      <p:sp>
        <p:nvSpPr>
          <p:cNvPr id="6" name="top-tab-膜材料"/>
          <p:cNvSpPr/>
          <p:nvPr/>
        </p:nvSpPr>
        <p:spPr>
          <a:xfrm>
            <a:off x="3240000" y="342000"/>
            <a:ext cx="1692000" cy="594000"/>
          </a:xfrm>
          <a:prstGeom prst="parallelogram">
            <a:avLst/>
          </a:prstGeom>
          <a:solidFill>
            <a:srgbClr val="E9ECEF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600" b="1">
                <a:solidFill>
                  <a:srgbClr val="103E77"/>
                </a:solidFill>
                <a:latin typeface="Microsoft YaHei"/>
              </a:rPr>
              <a:t>膜材料</a:t>
            </a:r>
          </a:p>
        </p:txBody>
      </p:sp>
      <p:sp>
        <p:nvSpPr>
          <p:cNvPr id="7" name="top-tab-污染层生长"/>
          <p:cNvSpPr/>
          <p:nvPr/>
        </p:nvSpPr>
        <p:spPr>
          <a:xfrm>
            <a:off x="4896000" y="342000"/>
            <a:ext cx="1692000" cy="594000"/>
          </a:xfrm>
          <a:prstGeom prst="parallelogram">
            <a:avLst/>
          </a:prstGeom>
          <a:solidFill>
            <a:srgbClr val="EEF4EC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600" b="1">
                <a:solidFill>
                  <a:srgbClr val="103E77"/>
                </a:solidFill>
                <a:latin typeface="Microsoft YaHei"/>
              </a:rPr>
              <a:t>污染层生长</a:t>
            </a:r>
          </a:p>
        </p:txBody>
      </p:sp>
      <p:sp>
        <p:nvSpPr>
          <p:cNvPr id="8" name="top-tab-处理系统"/>
          <p:cNvSpPr/>
          <p:nvPr/>
        </p:nvSpPr>
        <p:spPr>
          <a:xfrm>
            <a:off x="6623999" y="342000"/>
            <a:ext cx="1692000" cy="594000"/>
          </a:xfrm>
          <a:prstGeom prst="parallelogram">
            <a:avLst/>
          </a:prstGeom>
          <a:solidFill>
            <a:srgbClr val="DCECF8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600" b="1">
                <a:solidFill>
                  <a:srgbClr val="103E77"/>
                </a:solidFill>
                <a:latin typeface="Microsoft YaHei"/>
              </a:rPr>
              <a:t>处理系统</a:t>
            </a:r>
          </a:p>
        </p:txBody>
      </p:sp>
      <p:cxnSp>
        <p:nvCxnSpPr>
          <p:cNvPr id="9" name="line-8"/>
          <p:cNvCxnSpPr/>
          <p:nvPr/>
        </p:nvCxnSpPr>
        <p:spPr>
          <a:xfrm>
            <a:off x="720000" y="2592000"/>
            <a:ext cx="882000" cy="0"/>
          </a:xfrm>
          <a:prstGeom prst="line">
            <a:avLst/>
          </a:prstGeom>
          <a:ln w="12700">
            <a:solidFill>
              <a:srgbClr val="829C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ine-9"/>
          <p:cNvCxnSpPr/>
          <p:nvPr/>
        </p:nvCxnSpPr>
        <p:spPr>
          <a:xfrm>
            <a:off x="720000" y="4320000"/>
            <a:ext cx="882000" cy="0"/>
          </a:xfrm>
          <a:prstGeom prst="line">
            <a:avLst/>
          </a:prstGeom>
          <a:ln w="12700">
            <a:solidFill>
              <a:srgbClr val="829C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essure-gauge"/>
          <p:cNvSpPr/>
          <p:nvPr/>
        </p:nvSpPr>
        <p:spPr>
          <a:xfrm>
            <a:off x="936000" y="1206000"/>
            <a:ext cx="378000" cy="270000"/>
          </a:xfrm>
          <a:prstGeom prst="arc">
            <a:avLst/>
          </a:prstGeom>
          <a:solidFill>
            <a:srgbClr val="FFFFFF"/>
          </a:solidFill>
          <a:ln w="1524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line-11"/>
          <p:cNvCxnSpPr/>
          <p:nvPr/>
        </p:nvCxnSpPr>
        <p:spPr>
          <a:xfrm flipV="1">
            <a:off x="1123200" y="1209600"/>
            <a:ext cx="154800" cy="136800"/>
          </a:xfrm>
          <a:prstGeom prst="line">
            <a:avLst/>
          </a:prstGeom>
          <a:ln w="1524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-跨膜压差"/>
          <p:cNvSpPr txBox="1"/>
          <p:nvPr/>
        </p:nvSpPr>
        <p:spPr>
          <a:xfrm>
            <a:off x="763200" y="1504800"/>
            <a:ext cx="784800" cy="198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243A"/>
                </a:solidFill>
                <a:latin typeface="Microsoft YaHei"/>
              </a:rPr>
              <a:t>跨膜压差</a:t>
            </a:r>
          </a:p>
        </p:txBody>
      </p:sp>
      <p:cxnSp>
        <p:nvCxnSpPr>
          <p:cNvPr id="14" name="line-13"/>
          <p:cNvCxnSpPr/>
          <p:nvPr/>
        </p:nvCxnSpPr>
        <p:spPr>
          <a:xfrm>
            <a:off x="1159200" y="1764000"/>
            <a:ext cx="0" cy="558000"/>
          </a:xfrm>
          <a:prstGeom prst="line">
            <a:avLst/>
          </a:prstGeom>
          <a:ln w="1905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con-drop"/>
          <p:cNvSpPr/>
          <p:nvPr/>
        </p:nvSpPr>
        <p:spPr>
          <a:xfrm>
            <a:off x="957600" y="2898000"/>
            <a:ext cx="198000" cy="295200"/>
          </a:xfrm>
          <a:prstGeom prst="teardrop">
            <a:avLst/>
          </a:prstGeom>
          <a:solidFill>
            <a:srgbClr val="2E69B3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con-particle"/>
          <p:cNvSpPr/>
          <p:nvPr/>
        </p:nvSpPr>
        <p:spPr>
          <a:xfrm>
            <a:off x="1018800" y="3142800"/>
            <a:ext cx="64800" cy="648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con-particle"/>
          <p:cNvSpPr/>
          <p:nvPr/>
        </p:nvSpPr>
        <p:spPr>
          <a:xfrm>
            <a:off x="1112400" y="3078000"/>
            <a:ext cx="57600" cy="576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con-particle"/>
          <p:cNvSpPr/>
          <p:nvPr/>
        </p:nvSpPr>
        <p:spPr>
          <a:xfrm>
            <a:off x="1206000" y="3160800"/>
            <a:ext cx="64800" cy="648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on-particle"/>
          <p:cNvSpPr/>
          <p:nvPr/>
        </p:nvSpPr>
        <p:spPr>
          <a:xfrm>
            <a:off x="1105200" y="3240000"/>
            <a:ext cx="50400" cy="50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con-particle"/>
          <p:cNvSpPr/>
          <p:nvPr/>
        </p:nvSpPr>
        <p:spPr>
          <a:xfrm>
            <a:off x="1242000" y="3258000"/>
            <a:ext cx="46800" cy="468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-污染迁移速率"/>
          <p:cNvSpPr txBox="1"/>
          <p:nvPr/>
        </p:nvSpPr>
        <p:spPr>
          <a:xfrm>
            <a:off x="737999" y="3304800"/>
            <a:ext cx="827999" cy="280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243A"/>
                </a:solidFill>
                <a:latin typeface="Microsoft YaHei"/>
              </a:rPr>
              <a:t>污染迁移速率</a:t>
            </a:r>
          </a:p>
        </p:txBody>
      </p:sp>
      <p:cxnSp>
        <p:nvCxnSpPr>
          <p:cNvPr id="22" name="line-21"/>
          <p:cNvCxnSpPr/>
          <p:nvPr/>
        </p:nvCxnSpPr>
        <p:spPr>
          <a:xfrm>
            <a:off x="1159200" y="3636000"/>
            <a:ext cx="0" cy="522000"/>
          </a:xfrm>
          <a:prstGeom prst="line">
            <a:avLst/>
          </a:prstGeom>
          <a:ln w="1905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istance-particle-box"/>
          <p:cNvSpPr/>
          <p:nvPr/>
        </p:nvSpPr>
        <p:spPr>
          <a:xfrm>
            <a:off x="925200" y="4680000"/>
            <a:ext cx="432000" cy="413999"/>
          </a:xfrm>
          <a:prstGeom prst="rect">
            <a:avLst/>
          </a:prstGeom>
          <a:solidFill>
            <a:srgbClr val="EAF3FC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sistance-dot"/>
          <p:cNvSpPr/>
          <p:nvPr/>
        </p:nvSpPr>
        <p:spPr>
          <a:xfrm>
            <a:off x="957600" y="47232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sistance-dot"/>
          <p:cNvSpPr/>
          <p:nvPr/>
        </p:nvSpPr>
        <p:spPr>
          <a:xfrm>
            <a:off x="1029600" y="47232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sistance-dot"/>
          <p:cNvSpPr/>
          <p:nvPr/>
        </p:nvSpPr>
        <p:spPr>
          <a:xfrm>
            <a:off x="1101600" y="47232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sistance-dot"/>
          <p:cNvSpPr/>
          <p:nvPr/>
        </p:nvSpPr>
        <p:spPr>
          <a:xfrm>
            <a:off x="1173600" y="47232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sistance-dot"/>
          <p:cNvSpPr/>
          <p:nvPr/>
        </p:nvSpPr>
        <p:spPr>
          <a:xfrm>
            <a:off x="1245600" y="47232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sistance-dot"/>
          <p:cNvSpPr/>
          <p:nvPr/>
        </p:nvSpPr>
        <p:spPr>
          <a:xfrm>
            <a:off x="957600" y="48024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sistance-dot"/>
          <p:cNvSpPr/>
          <p:nvPr/>
        </p:nvSpPr>
        <p:spPr>
          <a:xfrm>
            <a:off x="1029600" y="48024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sistance-dot"/>
          <p:cNvSpPr/>
          <p:nvPr/>
        </p:nvSpPr>
        <p:spPr>
          <a:xfrm>
            <a:off x="1101600" y="48024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sistance-dot"/>
          <p:cNvSpPr/>
          <p:nvPr/>
        </p:nvSpPr>
        <p:spPr>
          <a:xfrm>
            <a:off x="1173600" y="48024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sistance-dot"/>
          <p:cNvSpPr/>
          <p:nvPr/>
        </p:nvSpPr>
        <p:spPr>
          <a:xfrm>
            <a:off x="1245600" y="48024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sistance-dot"/>
          <p:cNvSpPr/>
          <p:nvPr/>
        </p:nvSpPr>
        <p:spPr>
          <a:xfrm>
            <a:off x="957600" y="48816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sistance-dot"/>
          <p:cNvSpPr/>
          <p:nvPr/>
        </p:nvSpPr>
        <p:spPr>
          <a:xfrm>
            <a:off x="1029600" y="48816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sistance-dot"/>
          <p:cNvSpPr/>
          <p:nvPr/>
        </p:nvSpPr>
        <p:spPr>
          <a:xfrm>
            <a:off x="1101600" y="48816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sistance-dot"/>
          <p:cNvSpPr/>
          <p:nvPr/>
        </p:nvSpPr>
        <p:spPr>
          <a:xfrm>
            <a:off x="1173600" y="48816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sistance-dot"/>
          <p:cNvSpPr/>
          <p:nvPr/>
        </p:nvSpPr>
        <p:spPr>
          <a:xfrm>
            <a:off x="1245600" y="48816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sistance-dot"/>
          <p:cNvSpPr/>
          <p:nvPr/>
        </p:nvSpPr>
        <p:spPr>
          <a:xfrm>
            <a:off x="957600" y="49608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sistance-dot"/>
          <p:cNvSpPr/>
          <p:nvPr/>
        </p:nvSpPr>
        <p:spPr>
          <a:xfrm>
            <a:off x="1029600" y="49608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sistance-dot"/>
          <p:cNvSpPr/>
          <p:nvPr/>
        </p:nvSpPr>
        <p:spPr>
          <a:xfrm>
            <a:off x="1101600" y="49608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sistance-dot"/>
          <p:cNvSpPr/>
          <p:nvPr/>
        </p:nvSpPr>
        <p:spPr>
          <a:xfrm>
            <a:off x="1173600" y="49608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sistance-dot"/>
          <p:cNvSpPr/>
          <p:nvPr/>
        </p:nvSpPr>
        <p:spPr>
          <a:xfrm>
            <a:off x="1245600" y="4960800"/>
            <a:ext cx="32400" cy="32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-传质阻力"/>
          <p:cNvSpPr txBox="1"/>
          <p:nvPr/>
        </p:nvSpPr>
        <p:spPr>
          <a:xfrm>
            <a:off x="756000" y="5202000"/>
            <a:ext cx="792000" cy="198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243A"/>
                </a:solidFill>
                <a:latin typeface="Microsoft YaHei"/>
              </a:rPr>
              <a:t>传质阻力</a:t>
            </a:r>
          </a:p>
        </p:txBody>
      </p:sp>
      <p:sp>
        <p:nvSpPr>
          <p:cNvPr id="45" name="upper-node-1"/>
          <p:cNvSpPr/>
          <p:nvPr/>
        </p:nvSpPr>
        <p:spPr>
          <a:xfrm>
            <a:off x="1962000" y="1242000"/>
            <a:ext cx="1116000" cy="39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1">
                <a:solidFill>
                  <a:srgbClr val="14243A"/>
                </a:solidFill>
                <a:latin typeface="Microsoft YaHei"/>
              </a:rPr>
              <a:t>膜组件</a:t>
            </a:r>
          </a:p>
        </p:txBody>
      </p:sp>
      <p:cxnSp>
        <p:nvCxnSpPr>
          <p:cNvPr id="46" name="line-45"/>
          <p:cNvCxnSpPr/>
          <p:nvPr/>
        </p:nvCxnSpPr>
        <p:spPr>
          <a:xfrm>
            <a:off x="2520000" y="1638000"/>
            <a:ext cx="0" cy="216000"/>
          </a:xfrm>
          <a:prstGeom prst="line">
            <a:avLst/>
          </a:prstGeom>
          <a:ln w="12700">
            <a:solidFill>
              <a:srgbClr val="2E69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upper-node-2"/>
          <p:cNvSpPr/>
          <p:nvPr/>
        </p:nvSpPr>
        <p:spPr>
          <a:xfrm>
            <a:off x="3474000" y="1242000"/>
            <a:ext cx="1116000" cy="39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1">
                <a:solidFill>
                  <a:srgbClr val="14243A"/>
                </a:solidFill>
                <a:latin typeface="Microsoft YaHei"/>
              </a:rPr>
              <a:t>污染沉积层</a:t>
            </a:r>
          </a:p>
        </p:txBody>
      </p:sp>
      <p:cxnSp>
        <p:nvCxnSpPr>
          <p:cNvPr id="48" name="line-47"/>
          <p:cNvCxnSpPr/>
          <p:nvPr/>
        </p:nvCxnSpPr>
        <p:spPr>
          <a:xfrm>
            <a:off x="3168000" y="1440000"/>
            <a:ext cx="262800" cy="0"/>
          </a:xfrm>
          <a:prstGeom prst="line">
            <a:avLst/>
          </a:prstGeom>
          <a:ln w="1651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ine-48"/>
          <p:cNvCxnSpPr/>
          <p:nvPr/>
        </p:nvCxnSpPr>
        <p:spPr>
          <a:xfrm>
            <a:off x="4032000" y="1638000"/>
            <a:ext cx="0" cy="216000"/>
          </a:xfrm>
          <a:prstGeom prst="line">
            <a:avLst/>
          </a:prstGeom>
          <a:ln w="12700">
            <a:solidFill>
              <a:srgbClr val="2E69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upper-node-3"/>
          <p:cNvSpPr/>
          <p:nvPr/>
        </p:nvSpPr>
        <p:spPr>
          <a:xfrm>
            <a:off x="5004000" y="1242000"/>
            <a:ext cx="1116000" cy="39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1">
                <a:solidFill>
                  <a:srgbClr val="14243A"/>
                </a:solidFill>
                <a:latin typeface="Microsoft YaHei"/>
              </a:rPr>
              <a:t>表面相互作用</a:t>
            </a:r>
          </a:p>
        </p:txBody>
      </p:sp>
      <p:cxnSp>
        <p:nvCxnSpPr>
          <p:cNvPr id="51" name="line-50"/>
          <p:cNvCxnSpPr/>
          <p:nvPr/>
        </p:nvCxnSpPr>
        <p:spPr>
          <a:xfrm>
            <a:off x="4698000" y="1440000"/>
            <a:ext cx="262800" cy="0"/>
          </a:xfrm>
          <a:prstGeom prst="line">
            <a:avLst/>
          </a:prstGeom>
          <a:ln w="1651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line-51"/>
          <p:cNvCxnSpPr/>
          <p:nvPr/>
        </p:nvCxnSpPr>
        <p:spPr>
          <a:xfrm>
            <a:off x="5562000" y="1638000"/>
            <a:ext cx="0" cy="216000"/>
          </a:xfrm>
          <a:prstGeom prst="line">
            <a:avLst/>
          </a:prstGeom>
          <a:ln w="12700">
            <a:solidFill>
              <a:srgbClr val="2E69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upper-node-4"/>
          <p:cNvSpPr/>
          <p:nvPr/>
        </p:nvSpPr>
        <p:spPr>
          <a:xfrm>
            <a:off x="6570000" y="1242000"/>
            <a:ext cx="1116000" cy="39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1">
                <a:solidFill>
                  <a:srgbClr val="14243A"/>
                </a:solidFill>
                <a:latin typeface="Microsoft YaHei"/>
              </a:rPr>
              <a:t>溶液性质</a:t>
            </a:r>
          </a:p>
        </p:txBody>
      </p:sp>
      <p:cxnSp>
        <p:nvCxnSpPr>
          <p:cNvPr id="54" name="line-53"/>
          <p:cNvCxnSpPr/>
          <p:nvPr/>
        </p:nvCxnSpPr>
        <p:spPr>
          <a:xfrm>
            <a:off x="6263999" y="1440000"/>
            <a:ext cx="262801" cy="0"/>
          </a:xfrm>
          <a:prstGeom prst="line">
            <a:avLst/>
          </a:prstGeom>
          <a:ln w="1651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line-54"/>
          <p:cNvCxnSpPr/>
          <p:nvPr/>
        </p:nvCxnSpPr>
        <p:spPr>
          <a:xfrm>
            <a:off x="7128000" y="1638000"/>
            <a:ext cx="0" cy="216000"/>
          </a:xfrm>
          <a:prstGeom prst="line">
            <a:avLst/>
          </a:prstGeom>
          <a:ln w="12700">
            <a:solidFill>
              <a:srgbClr val="2E69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ne-55"/>
          <p:cNvCxnSpPr/>
          <p:nvPr/>
        </p:nvCxnSpPr>
        <p:spPr>
          <a:xfrm>
            <a:off x="2520000" y="1854000"/>
            <a:ext cx="4608000" cy="0"/>
          </a:xfrm>
          <a:prstGeom prst="line">
            <a:avLst/>
          </a:prstGeom>
          <a:ln w="12700">
            <a:solidFill>
              <a:srgbClr val="2E69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ne-56"/>
          <p:cNvCxnSpPr/>
          <p:nvPr/>
        </p:nvCxnSpPr>
        <p:spPr>
          <a:xfrm>
            <a:off x="4824000" y="1854000"/>
            <a:ext cx="0" cy="144000"/>
          </a:xfrm>
          <a:prstGeom prst="line">
            <a:avLst/>
          </a:prstGeom>
          <a:ln w="12700">
            <a:solidFill>
              <a:srgbClr val="2E69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evolution-note"/>
          <p:cNvSpPr/>
          <p:nvPr/>
        </p:nvSpPr>
        <p:spPr>
          <a:xfrm>
            <a:off x="3041999" y="1998000"/>
            <a:ext cx="3888000" cy="3780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350" b="1">
                <a:solidFill>
                  <a:srgbClr val="103E77"/>
                </a:solidFill>
                <a:latin typeface="Microsoft YaHei"/>
              </a:rPr>
              <a:t>膜污染演化是影响通量衰减的重要因素之一</a:t>
            </a:r>
          </a:p>
        </p:txBody>
      </p:sp>
      <p:cxnSp>
        <p:nvCxnSpPr>
          <p:cNvPr id="59" name="line-58"/>
          <p:cNvCxnSpPr/>
          <p:nvPr/>
        </p:nvCxnSpPr>
        <p:spPr>
          <a:xfrm>
            <a:off x="4986000" y="2376000"/>
            <a:ext cx="0" cy="252000"/>
          </a:xfrm>
          <a:prstGeom prst="line">
            <a:avLst/>
          </a:prstGeom>
          <a:ln w="1651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ontrol-target"/>
          <p:cNvSpPr/>
          <p:nvPr/>
        </p:nvSpPr>
        <p:spPr>
          <a:xfrm>
            <a:off x="2718000" y="2646000"/>
            <a:ext cx="4608000" cy="720000"/>
          </a:xfrm>
          <a:prstGeom prst="roundRect">
            <a:avLst/>
          </a:prstGeom>
          <a:solidFill>
            <a:srgbClr val="FFF6E7"/>
          </a:solidFill>
          <a:ln w="12700">
            <a:solidFill>
              <a:srgbClr val="E79B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500" b="1">
                <a:solidFill>
                  <a:srgbClr val="14243A"/>
                </a:solidFill>
                <a:latin typeface="Microsoft YaHei"/>
              </a:rPr>
              <a:t>精细调控膜表面结构与运行参数
优化污染控制状态</a:t>
            </a:r>
          </a:p>
        </p:txBody>
      </p:sp>
      <p:sp>
        <p:nvSpPr>
          <p:cNvPr id="61" name="interface-module"/>
          <p:cNvSpPr/>
          <p:nvPr/>
        </p:nvSpPr>
        <p:spPr>
          <a:xfrm>
            <a:off x="1890000" y="3654000"/>
            <a:ext cx="2754000" cy="17640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200" b="0">
                <a:solidFill>
                  <a:srgbClr val="14243A"/>
                </a:solidFill>
                <a:latin typeface="Microsoft YaHei"/>
              </a:rPr>
              <a:t/>
            </a:r>
          </a:p>
        </p:txBody>
      </p:sp>
      <p:sp>
        <p:nvSpPr>
          <p:cNvPr id="62" name="text-界面相容优化"/>
          <p:cNvSpPr txBox="1"/>
          <p:nvPr/>
        </p:nvSpPr>
        <p:spPr>
          <a:xfrm>
            <a:off x="2015999" y="3671999"/>
            <a:ext cx="2502000" cy="23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3E77"/>
                </a:solidFill>
                <a:latin typeface="Microsoft YaHei"/>
              </a:rPr>
              <a:t>界面相容优化</a:t>
            </a:r>
          </a:p>
        </p:txBody>
      </p:sp>
      <p:sp>
        <p:nvSpPr>
          <p:cNvPr id="63" name="operation-module"/>
          <p:cNvSpPr/>
          <p:nvPr/>
        </p:nvSpPr>
        <p:spPr>
          <a:xfrm>
            <a:off x="5076000" y="3654000"/>
            <a:ext cx="2754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200" b="0">
                <a:solidFill>
                  <a:srgbClr val="14243A"/>
                </a:solidFill>
                <a:latin typeface="Microsoft YaHei"/>
              </a:rPr>
              <a:t/>
            </a:r>
          </a:p>
        </p:txBody>
      </p:sp>
      <p:sp>
        <p:nvSpPr>
          <p:cNvPr id="64" name="text-运行抑污控制"/>
          <p:cNvSpPr txBox="1"/>
          <p:nvPr/>
        </p:nvSpPr>
        <p:spPr>
          <a:xfrm>
            <a:off x="5202000" y="3671999"/>
            <a:ext cx="2502000" cy="234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3E77"/>
                </a:solidFill>
                <a:latin typeface="Microsoft YaHei"/>
              </a:rPr>
              <a:t>运行抑污控制</a:t>
            </a:r>
          </a:p>
        </p:txBody>
      </p:sp>
      <p:sp>
        <p:nvSpPr>
          <p:cNvPr id="65" name="module-item-增强表面&#10;亲水性"/>
          <p:cNvSpPr/>
          <p:nvPr/>
        </p:nvSpPr>
        <p:spPr>
          <a:xfrm>
            <a:off x="1962000" y="3960000"/>
            <a:ext cx="127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A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增强表面
亲水性</a:t>
            </a:r>
          </a:p>
        </p:txBody>
      </p:sp>
      <p:sp>
        <p:nvSpPr>
          <p:cNvPr id="66" name="icon-drop"/>
          <p:cNvSpPr/>
          <p:nvPr/>
        </p:nvSpPr>
        <p:spPr>
          <a:xfrm>
            <a:off x="2088000" y="4042800"/>
            <a:ext cx="198000" cy="295200"/>
          </a:xfrm>
          <a:prstGeom prst="teardrop">
            <a:avLst/>
          </a:prstGeom>
          <a:solidFill>
            <a:srgbClr val="2E69B3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module-item-改进&#10;孔结构"/>
          <p:cNvSpPr/>
          <p:nvPr/>
        </p:nvSpPr>
        <p:spPr>
          <a:xfrm>
            <a:off x="3311999" y="3960000"/>
            <a:ext cx="127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A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改进
孔结构</a:t>
            </a:r>
          </a:p>
        </p:txBody>
      </p:sp>
      <p:sp>
        <p:nvSpPr>
          <p:cNvPr id="68" name="icon-particle"/>
          <p:cNvSpPr/>
          <p:nvPr/>
        </p:nvSpPr>
        <p:spPr>
          <a:xfrm>
            <a:off x="3409199" y="4125599"/>
            <a:ext cx="64800" cy="648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con-particle"/>
          <p:cNvSpPr/>
          <p:nvPr/>
        </p:nvSpPr>
        <p:spPr>
          <a:xfrm>
            <a:off x="3502799" y="4060800"/>
            <a:ext cx="57600" cy="576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con-particle"/>
          <p:cNvSpPr/>
          <p:nvPr/>
        </p:nvSpPr>
        <p:spPr>
          <a:xfrm>
            <a:off x="3596399" y="4143600"/>
            <a:ext cx="64800" cy="648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icon-particle"/>
          <p:cNvSpPr/>
          <p:nvPr/>
        </p:nvSpPr>
        <p:spPr>
          <a:xfrm>
            <a:off x="3495599" y="4222799"/>
            <a:ext cx="50400" cy="50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icon-particle"/>
          <p:cNvSpPr/>
          <p:nvPr/>
        </p:nvSpPr>
        <p:spPr>
          <a:xfrm>
            <a:off x="3632399" y="4240800"/>
            <a:ext cx="46800" cy="468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module-item-膜基材"/>
          <p:cNvSpPr/>
          <p:nvPr/>
        </p:nvSpPr>
        <p:spPr>
          <a:xfrm>
            <a:off x="1962000" y="4518000"/>
            <a:ext cx="127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A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膜基材</a:t>
            </a:r>
          </a:p>
        </p:txBody>
      </p:sp>
      <p:sp>
        <p:nvSpPr>
          <p:cNvPr id="74" name="icon-layer"/>
          <p:cNvSpPr/>
          <p:nvPr/>
        </p:nvSpPr>
        <p:spPr>
          <a:xfrm>
            <a:off x="2052000" y="4633200"/>
            <a:ext cx="324000" cy="115200"/>
          </a:xfrm>
          <a:prstGeom prst="parallelogram">
            <a:avLst/>
          </a:prstGeom>
          <a:solidFill>
            <a:srgbClr val="2E69B3"/>
          </a:solidFill>
          <a:ln w="762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icon-layer"/>
          <p:cNvSpPr/>
          <p:nvPr/>
        </p:nvSpPr>
        <p:spPr>
          <a:xfrm>
            <a:off x="2052000" y="4734000"/>
            <a:ext cx="324000" cy="115200"/>
          </a:xfrm>
          <a:prstGeom prst="parallelogram">
            <a:avLst/>
          </a:prstGeom>
          <a:solidFill>
            <a:srgbClr val="EAF3FC"/>
          </a:solidFill>
          <a:ln w="762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module-item-表面涂层"/>
          <p:cNvSpPr/>
          <p:nvPr/>
        </p:nvSpPr>
        <p:spPr>
          <a:xfrm>
            <a:off x="3311999" y="4518000"/>
            <a:ext cx="127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A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表面涂层</a:t>
            </a:r>
          </a:p>
        </p:txBody>
      </p:sp>
      <p:sp>
        <p:nvSpPr>
          <p:cNvPr id="77" name="icon-coating"/>
          <p:cNvSpPr/>
          <p:nvPr/>
        </p:nvSpPr>
        <p:spPr>
          <a:xfrm>
            <a:off x="3412799" y="4680000"/>
            <a:ext cx="324000" cy="122400"/>
          </a:xfrm>
          <a:prstGeom prst="rect">
            <a:avLst/>
          </a:prstGeom>
          <a:solidFill>
            <a:srgbClr val="2E69B3"/>
          </a:solidFill>
          <a:ln w="762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icon-coating-top"/>
          <p:cNvSpPr/>
          <p:nvPr/>
        </p:nvSpPr>
        <p:spPr>
          <a:xfrm>
            <a:off x="3448800" y="4618800"/>
            <a:ext cx="316800" cy="108000"/>
          </a:xfrm>
          <a:prstGeom prst="parallelogram">
            <a:avLst/>
          </a:prstGeom>
          <a:solidFill>
            <a:srgbClr val="FFFFFF"/>
          </a:solidFill>
          <a:ln w="762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module-item-抑制浓差&#10;极化"/>
          <p:cNvSpPr/>
          <p:nvPr/>
        </p:nvSpPr>
        <p:spPr>
          <a:xfrm>
            <a:off x="5148000" y="3960000"/>
            <a:ext cx="127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A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抑制浓差
极化</a:t>
            </a:r>
          </a:p>
        </p:txBody>
      </p:sp>
      <p:sp>
        <p:nvSpPr>
          <p:cNvPr id="80" name="icon-particle"/>
          <p:cNvSpPr/>
          <p:nvPr/>
        </p:nvSpPr>
        <p:spPr>
          <a:xfrm>
            <a:off x="5245200" y="4125599"/>
            <a:ext cx="64800" cy="648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icon-particle"/>
          <p:cNvSpPr/>
          <p:nvPr/>
        </p:nvSpPr>
        <p:spPr>
          <a:xfrm>
            <a:off x="5338800" y="4060800"/>
            <a:ext cx="57600" cy="576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con-particle"/>
          <p:cNvSpPr/>
          <p:nvPr/>
        </p:nvSpPr>
        <p:spPr>
          <a:xfrm>
            <a:off x="5432400" y="4143600"/>
            <a:ext cx="64800" cy="648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icon-particle"/>
          <p:cNvSpPr/>
          <p:nvPr/>
        </p:nvSpPr>
        <p:spPr>
          <a:xfrm>
            <a:off x="5331600" y="4222799"/>
            <a:ext cx="50400" cy="504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icon-particle"/>
          <p:cNvSpPr/>
          <p:nvPr/>
        </p:nvSpPr>
        <p:spPr>
          <a:xfrm>
            <a:off x="5468400" y="4240800"/>
            <a:ext cx="46800" cy="46800"/>
          </a:xfrm>
          <a:prstGeom prst="ellipse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module-item-降低不可&#10;逆污染"/>
          <p:cNvSpPr/>
          <p:nvPr/>
        </p:nvSpPr>
        <p:spPr>
          <a:xfrm>
            <a:off x="6498000" y="3960000"/>
            <a:ext cx="127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A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降低不可
逆污染</a:t>
            </a:r>
          </a:p>
        </p:txBody>
      </p:sp>
      <p:sp>
        <p:nvSpPr>
          <p:cNvPr id="86" name="icon-shield"/>
          <p:cNvSpPr/>
          <p:nvPr/>
        </p:nvSpPr>
        <p:spPr>
          <a:xfrm>
            <a:off x="6598800" y="4046400"/>
            <a:ext cx="251999" cy="295200"/>
          </a:xfrm>
          <a:prstGeom prst="homePlate">
            <a:avLst/>
          </a:prstGeom>
          <a:solidFill>
            <a:srgbClr val="FFFFFF"/>
          </a:solidFill>
          <a:ln w="1524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-✓"/>
          <p:cNvSpPr txBox="1"/>
          <p:nvPr/>
        </p:nvSpPr>
        <p:spPr>
          <a:xfrm>
            <a:off x="6642000" y="4107600"/>
            <a:ext cx="165600" cy="1224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E69B3"/>
                </a:solidFill>
                <a:latin typeface="Microsoft YaHei"/>
              </a:rPr>
              <a:t>✓</a:t>
            </a:r>
          </a:p>
        </p:txBody>
      </p:sp>
      <p:sp>
        <p:nvSpPr>
          <p:cNvPr id="88" name="module-item-气水反冲"/>
          <p:cNvSpPr/>
          <p:nvPr/>
        </p:nvSpPr>
        <p:spPr>
          <a:xfrm>
            <a:off x="5148000" y="4518000"/>
            <a:ext cx="127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A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气水反冲</a:t>
            </a:r>
          </a:p>
        </p:txBody>
      </p:sp>
      <p:cxnSp>
        <p:nvCxnSpPr>
          <p:cNvPr id="89" name="line-88"/>
          <p:cNvCxnSpPr/>
          <p:nvPr/>
        </p:nvCxnSpPr>
        <p:spPr>
          <a:xfrm>
            <a:off x="5238000" y="4680000"/>
            <a:ext cx="288000" cy="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line-89"/>
          <p:cNvCxnSpPr/>
          <p:nvPr/>
        </p:nvCxnSpPr>
        <p:spPr>
          <a:xfrm>
            <a:off x="5238000" y="4744800"/>
            <a:ext cx="288000" cy="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line-90"/>
          <p:cNvCxnSpPr/>
          <p:nvPr/>
        </p:nvCxnSpPr>
        <p:spPr>
          <a:xfrm>
            <a:off x="5238000" y="4809600"/>
            <a:ext cx="288000" cy="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con-bubble"/>
          <p:cNvSpPr/>
          <p:nvPr/>
        </p:nvSpPr>
        <p:spPr>
          <a:xfrm>
            <a:off x="5274000" y="4572000"/>
            <a:ext cx="43200" cy="43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icon-bubble"/>
          <p:cNvSpPr/>
          <p:nvPr/>
        </p:nvSpPr>
        <p:spPr>
          <a:xfrm>
            <a:off x="5371200" y="4539600"/>
            <a:ext cx="54000" cy="54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icon-bubble"/>
          <p:cNvSpPr/>
          <p:nvPr/>
        </p:nvSpPr>
        <p:spPr>
          <a:xfrm>
            <a:off x="5475600" y="4590000"/>
            <a:ext cx="36000" cy="36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module-item-运行参数"/>
          <p:cNvSpPr/>
          <p:nvPr/>
        </p:nvSpPr>
        <p:spPr>
          <a:xfrm>
            <a:off x="6498000" y="4518000"/>
            <a:ext cx="127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A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运行参数</a:t>
            </a:r>
          </a:p>
        </p:txBody>
      </p:sp>
      <p:cxnSp>
        <p:nvCxnSpPr>
          <p:cNvPr id="96" name="line-95"/>
          <p:cNvCxnSpPr/>
          <p:nvPr/>
        </p:nvCxnSpPr>
        <p:spPr>
          <a:xfrm>
            <a:off x="6591600" y="4626000"/>
            <a:ext cx="295200" cy="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icon-slider"/>
          <p:cNvSpPr/>
          <p:nvPr/>
        </p:nvSpPr>
        <p:spPr>
          <a:xfrm>
            <a:off x="6670800" y="4590000"/>
            <a:ext cx="72000" cy="72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line-97"/>
          <p:cNvCxnSpPr/>
          <p:nvPr/>
        </p:nvCxnSpPr>
        <p:spPr>
          <a:xfrm>
            <a:off x="6591600" y="4716000"/>
            <a:ext cx="295200" cy="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con-slider"/>
          <p:cNvSpPr/>
          <p:nvPr/>
        </p:nvSpPr>
        <p:spPr>
          <a:xfrm>
            <a:off x="6735600" y="4680000"/>
            <a:ext cx="72000" cy="72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line-99"/>
          <p:cNvCxnSpPr/>
          <p:nvPr/>
        </p:nvCxnSpPr>
        <p:spPr>
          <a:xfrm>
            <a:off x="6591600" y="4806000"/>
            <a:ext cx="295200" cy="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con-slider"/>
          <p:cNvSpPr/>
          <p:nvPr/>
        </p:nvSpPr>
        <p:spPr>
          <a:xfrm>
            <a:off x="6800400" y="4770000"/>
            <a:ext cx="72000" cy="72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line-101"/>
          <p:cNvCxnSpPr/>
          <p:nvPr/>
        </p:nvCxnSpPr>
        <p:spPr>
          <a:xfrm>
            <a:off x="4986000" y="3366000"/>
            <a:ext cx="0" cy="144000"/>
          </a:xfrm>
          <a:prstGeom prst="line">
            <a:avLst/>
          </a:prstGeom>
          <a:ln w="1270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line-102"/>
          <p:cNvCxnSpPr/>
          <p:nvPr/>
        </p:nvCxnSpPr>
        <p:spPr>
          <a:xfrm>
            <a:off x="3258000" y="3510000"/>
            <a:ext cx="3222000" cy="0"/>
          </a:xfrm>
          <a:prstGeom prst="line">
            <a:avLst/>
          </a:prstGeom>
          <a:ln w="1270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line-103"/>
          <p:cNvCxnSpPr/>
          <p:nvPr/>
        </p:nvCxnSpPr>
        <p:spPr>
          <a:xfrm>
            <a:off x="3258000" y="3510000"/>
            <a:ext cx="0" cy="144000"/>
          </a:xfrm>
          <a:prstGeom prst="line">
            <a:avLst/>
          </a:prstGeom>
          <a:ln w="1270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line-104"/>
          <p:cNvCxnSpPr/>
          <p:nvPr/>
        </p:nvCxnSpPr>
        <p:spPr>
          <a:xfrm>
            <a:off x="6480000" y="3510000"/>
            <a:ext cx="0" cy="144000"/>
          </a:xfrm>
          <a:prstGeom prst="line">
            <a:avLst/>
          </a:prstGeom>
          <a:ln w="1270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line-105"/>
          <p:cNvCxnSpPr/>
          <p:nvPr/>
        </p:nvCxnSpPr>
        <p:spPr>
          <a:xfrm>
            <a:off x="3258000" y="5418000"/>
            <a:ext cx="0" cy="108000"/>
          </a:xfrm>
          <a:prstGeom prst="line">
            <a:avLst/>
          </a:prstGeom>
          <a:ln w="1270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line-106"/>
          <p:cNvCxnSpPr/>
          <p:nvPr/>
        </p:nvCxnSpPr>
        <p:spPr>
          <a:xfrm>
            <a:off x="6480000" y="5418000"/>
            <a:ext cx="0" cy="108000"/>
          </a:xfrm>
          <a:prstGeom prst="line">
            <a:avLst/>
          </a:prstGeom>
          <a:ln w="1270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line-107"/>
          <p:cNvCxnSpPr/>
          <p:nvPr/>
        </p:nvCxnSpPr>
        <p:spPr>
          <a:xfrm>
            <a:off x="3258000" y="5526000"/>
            <a:ext cx="3222000" cy="0"/>
          </a:xfrm>
          <a:prstGeom prst="line">
            <a:avLst/>
          </a:prstGeom>
          <a:ln w="1270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line-108"/>
          <p:cNvCxnSpPr/>
          <p:nvPr/>
        </p:nvCxnSpPr>
        <p:spPr>
          <a:xfrm>
            <a:off x="4878000" y="5526000"/>
            <a:ext cx="0" cy="126000"/>
          </a:xfrm>
          <a:prstGeom prst="line">
            <a:avLst/>
          </a:prstGeom>
          <a:ln w="12700">
            <a:solidFill>
              <a:srgbClr val="103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membrane-result"/>
          <p:cNvSpPr/>
          <p:nvPr/>
        </p:nvSpPr>
        <p:spPr>
          <a:xfrm>
            <a:off x="2430000" y="5670000"/>
            <a:ext cx="4896000" cy="3780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350" b="1">
                <a:solidFill>
                  <a:srgbClr val="103E77"/>
                </a:solidFill>
                <a:latin typeface="Microsoft YaHei"/>
              </a:rPr>
              <a:t>通量衰减减缓   ·   清洗周期延长   ·   分离效率提升</a:t>
            </a:r>
          </a:p>
        </p:txBody>
      </p:sp>
      <p:sp>
        <p:nvSpPr>
          <p:cNvPr id="111" name="device-gauge"/>
          <p:cNvSpPr/>
          <p:nvPr/>
        </p:nvSpPr>
        <p:spPr>
          <a:xfrm>
            <a:off x="8640000" y="1540800"/>
            <a:ext cx="306000" cy="30600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line-111"/>
          <p:cNvCxnSpPr/>
          <p:nvPr/>
        </p:nvCxnSpPr>
        <p:spPr>
          <a:xfrm flipV="1">
            <a:off x="8791200" y="1576800"/>
            <a:ext cx="82800" cy="115200"/>
          </a:xfrm>
          <a:prstGeom prst="line">
            <a:avLst/>
          </a:prstGeom>
          <a:ln w="12700">
            <a:solidFill>
              <a:srgbClr val="495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evice-top-cap"/>
          <p:cNvSpPr/>
          <p:nvPr/>
        </p:nvSpPr>
        <p:spPr>
          <a:xfrm>
            <a:off x="8406000" y="1800000"/>
            <a:ext cx="792000" cy="360000"/>
          </a:xfrm>
          <a:prstGeom prst="can">
            <a:avLst/>
          </a:prstGeom>
          <a:solidFill>
            <a:srgbClr val="BBC2C7"/>
          </a:solidFill>
          <a:ln w="1270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device-body"/>
          <p:cNvSpPr/>
          <p:nvPr/>
        </p:nvSpPr>
        <p:spPr>
          <a:xfrm>
            <a:off x="8470800" y="1998000"/>
            <a:ext cx="662400" cy="2412000"/>
          </a:xfrm>
          <a:prstGeom prst="can">
            <a:avLst/>
          </a:prstGeom>
          <a:solidFill>
            <a:srgbClr val="D8DDE0"/>
          </a:solidFill>
          <a:ln w="1270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device-filter-line"/>
          <p:cNvCxnSpPr/>
          <p:nvPr/>
        </p:nvCxnSpPr>
        <p:spPr>
          <a:xfrm>
            <a:off x="8560800" y="2160000"/>
            <a:ext cx="0" cy="208800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device-filter-line"/>
          <p:cNvCxnSpPr/>
          <p:nvPr/>
        </p:nvCxnSpPr>
        <p:spPr>
          <a:xfrm>
            <a:off x="8625600" y="2160000"/>
            <a:ext cx="0" cy="208800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device-filter-line"/>
          <p:cNvCxnSpPr/>
          <p:nvPr/>
        </p:nvCxnSpPr>
        <p:spPr>
          <a:xfrm>
            <a:off x="8690400" y="2160000"/>
            <a:ext cx="0" cy="208800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device-filter-line"/>
          <p:cNvCxnSpPr/>
          <p:nvPr/>
        </p:nvCxnSpPr>
        <p:spPr>
          <a:xfrm>
            <a:off x="8755200" y="2160000"/>
            <a:ext cx="0" cy="208800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device-filter-line"/>
          <p:cNvCxnSpPr/>
          <p:nvPr/>
        </p:nvCxnSpPr>
        <p:spPr>
          <a:xfrm>
            <a:off x="8820000" y="2160000"/>
            <a:ext cx="0" cy="208800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device-filter-line"/>
          <p:cNvCxnSpPr/>
          <p:nvPr/>
        </p:nvCxnSpPr>
        <p:spPr>
          <a:xfrm>
            <a:off x="8884800" y="2160000"/>
            <a:ext cx="0" cy="208800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device-filter-line"/>
          <p:cNvCxnSpPr/>
          <p:nvPr/>
        </p:nvCxnSpPr>
        <p:spPr>
          <a:xfrm>
            <a:off x="8949600" y="2160000"/>
            <a:ext cx="0" cy="208800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device-filter-line"/>
          <p:cNvCxnSpPr/>
          <p:nvPr/>
        </p:nvCxnSpPr>
        <p:spPr>
          <a:xfrm>
            <a:off x="9014400" y="2160000"/>
            <a:ext cx="0" cy="208800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evice-pipe"/>
          <p:cNvSpPr/>
          <p:nvPr/>
        </p:nvSpPr>
        <p:spPr>
          <a:xfrm>
            <a:off x="8208000" y="2286000"/>
            <a:ext cx="270000" cy="125999"/>
          </a:xfrm>
          <a:prstGeom prst="rect">
            <a:avLst/>
          </a:prstGeom>
          <a:solidFill>
            <a:srgbClr val="AEB6BC"/>
          </a:solidFill>
          <a:ln w="889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device-pipe-mouth"/>
          <p:cNvSpPr/>
          <p:nvPr/>
        </p:nvSpPr>
        <p:spPr>
          <a:xfrm>
            <a:off x="8146800" y="2275200"/>
            <a:ext cx="125999" cy="147600"/>
          </a:xfrm>
          <a:prstGeom prst="ellipse">
            <a:avLst/>
          </a:prstGeom>
          <a:solidFill>
            <a:srgbClr val="EEF1F4"/>
          </a:solidFill>
          <a:ln w="889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device-pipe"/>
          <p:cNvSpPr/>
          <p:nvPr/>
        </p:nvSpPr>
        <p:spPr>
          <a:xfrm>
            <a:off x="8208000" y="3654000"/>
            <a:ext cx="270000" cy="125999"/>
          </a:xfrm>
          <a:prstGeom prst="rect">
            <a:avLst/>
          </a:prstGeom>
          <a:solidFill>
            <a:srgbClr val="AEB6BC"/>
          </a:solidFill>
          <a:ln w="889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device-pipe-mouth"/>
          <p:cNvSpPr/>
          <p:nvPr/>
        </p:nvSpPr>
        <p:spPr>
          <a:xfrm>
            <a:off x="8146800" y="3643200"/>
            <a:ext cx="125999" cy="147600"/>
          </a:xfrm>
          <a:prstGeom prst="ellipse">
            <a:avLst/>
          </a:prstGeom>
          <a:solidFill>
            <a:srgbClr val="EEF1F4"/>
          </a:solidFill>
          <a:ln w="889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device-bottom-cap"/>
          <p:cNvSpPr/>
          <p:nvPr/>
        </p:nvSpPr>
        <p:spPr>
          <a:xfrm>
            <a:off x="8406000" y="4266000"/>
            <a:ext cx="792000" cy="288000"/>
          </a:xfrm>
          <a:prstGeom prst="can">
            <a:avLst/>
          </a:prstGeom>
          <a:solidFill>
            <a:srgbClr val="AEB6BC"/>
          </a:solidFill>
          <a:ln w="1270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device-bottom-neck"/>
          <p:cNvSpPr/>
          <p:nvPr/>
        </p:nvSpPr>
        <p:spPr>
          <a:xfrm>
            <a:off x="8640000" y="4482000"/>
            <a:ext cx="324000" cy="180000"/>
          </a:xfrm>
          <a:prstGeom prst="can">
            <a:avLst/>
          </a:prstGeom>
          <a:solidFill>
            <a:srgbClr val="9DA6AD"/>
          </a:solidFill>
          <a:ln w="1270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device-leg"/>
          <p:cNvSpPr/>
          <p:nvPr/>
        </p:nvSpPr>
        <p:spPr>
          <a:xfrm>
            <a:off x="8470800" y="4626000"/>
            <a:ext cx="79200" cy="251999"/>
          </a:xfrm>
          <a:prstGeom prst="rect">
            <a:avLst/>
          </a:prstGeom>
          <a:solidFill>
            <a:srgbClr val="8C969E"/>
          </a:solidFill>
          <a:ln w="1270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device-leg"/>
          <p:cNvSpPr/>
          <p:nvPr/>
        </p:nvSpPr>
        <p:spPr>
          <a:xfrm>
            <a:off x="8737200" y="4626000"/>
            <a:ext cx="79200" cy="251999"/>
          </a:xfrm>
          <a:prstGeom prst="rect">
            <a:avLst/>
          </a:prstGeom>
          <a:solidFill>
            <a:srgbClr val="8C969E"/>
          </a:solidFill>
          <a:ln w="1270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device-leg"/>
          <p:cNvSpPr/>
          <p:nvPr/>
        </p:nvSpPr>
        <p:spPr>
          <a:xfrm>
            <a:off x="9003600" y="4626000"/>
            <a:ext cx="79200" cy="251999"/>
          </a:xfrm>
          <a:prstGeom prst="rect">
            <a:avLst/>
          </a:prstGeom>
          <a:solidFill>
            <a:srgbClr val="8C969E"/>
          </a:solidFill>
          <a:ln w="12700">
            <a:solidFill>
              <a:srgbClr val="49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-降低膜污染并提升分离效率"/>
          <p:cNvSpPr txBox="1"/>
          <p:nvPr/>
        </p:nvSpPr>
        <p:spPr>
          <a:xfrm>
            <a:off x="9756000" y="1584000"/>
            <a:ext cx="360000" cy="3780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50" b="1">
                <a:solidFill>
                  <a:srgbClr val="C71919"/>
                </a:solidFill>
                <a:latin typeface="Microsoft YaHei"/>
              </a:rPr>
              <a:t>降
低
膜
污
染
并
提
升
分
离
效
率</a:t>
            </a:r>
          </a:p>
        </p:txBody>
      </p:sp>
      <p:sp>
        <p:nvSpPr>
          <p:cNvPr id="133" name="text-图2  膜分离水处理系统污染控制与通量提"/>
          <p:cNvSpPr txBox="1"/>
          <p:nvPr/>
        </p:nvSpPr>
        <p:spPr>
          <a:xfrm>
            <a:off x="2700000" y="6678000"/>
            <a:ext cx="5400000" cy="288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14243A"/>
                </a:solidFill>
                <a:latin typeface="Microsoft YaHei"/>
              </a:rPr>
              <a:t>图2  膜分离水处理系统污染控制与通量提升研究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peline-数据获取与治理"/>
          <p:cNvSpPr/>
          <p:nvPr/>
        </p:nvSpPr>
        <p:spPr>
          <a:xfrm>
            <a:off x="450000" y="331200"/>
            <a:ext cx="2196000" cy="558000"/>
          </a:xfrm>
          <a:prstGeom prst="chevron">
            <a:avLst/>
          </a:prstGeom>
          <a:solidFill>
            <a:srgbClr val="1B8A83"/>
          </a:solidFill>
          <a:ln w="12700">
            <a:solidFill>
              <a:srgbClr val="1B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数据获取与治理</a:t>
            </a:r>
          </a:p>
        </p:txBody>
      </p:sp>
      <p:sp>
        <p:nvSpPr>
          <p:cNvPr id="3" name="pipeline-icon-bg-≈"/>
          <p:cNvSpPr/>
          <p:nvPr/>
        </p:nvSpPr>
        <p:spPr>
          <a:xfrm>
            <a:off x="550800" y="396000"/>
            <a:ext cx="342000" cy="34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-≈"/>
          <p:cNvSpPr txBox="1"/>
          <p:nvPr/>
        </p:nvSpPr>
        <p:spPr>
          <a:xfrm>
            <a:off x="586800" y="432000"/>
            <a:ext cx="270000" cy="251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B8A83"/>
                </a:solidFill>
                <a:latin typeface="Microsoft YaHei"/>
              </a:rPr>
              <a:t>≈</a:t>
            </a:r>
          </a:p>
        </p:txBody>
      </p:sp>
      <p:sp>
        <p:nvSpPr>
          <p:cNvPr id="5" name="pipeline-特征提取与建模"/>
          <p:cNvSpPr/>
          <p:nvPr/>
        </p:nvSpPr>
        <p:spPr>
          <a:xfrm>
            <a:off x="2970000" y="331200"/>
            <a:ext cx="2196000" cy="558000"/>
          </a:xfrm>
          <a:prstGeom prst="chevron">
            <a:avLst/>
          </a:prstGeom>
          <a:solidFill>
            <a:srgbClr val="2E69B3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特征提取与建模</a:t>
            </a:r>
          </a:p>
        </p:txBody>
      </p:sp>
      <p:sp>
        <p:nvSpPr>
          <p:cNvPr id="6" name="pipeline-icon-bg-∷"/>
          <p:cNvSpPr/>
          <p:nvPr/>
        </p:nvSpPr>
        <p:spPr>
          <a:xfrm>
            <a:off x="3070800" y="396000"/>
            <a:ext cx="342000" cy="34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-∷"/>
          <p:cNvSpPr txBox="1"/>
          <p:nvPr/>
        </p:nvSpPr>
        <p:spPr>
          <a:xfrm>
            <a:off x="3106800" y="432000"/>
            <a:ext cx="270000" cy="251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E69B3"/>
                </a:solidFill>
                <a:latin typeface="Microsoft YaHei"/>
              </a:rPr>
              <a:t>∷</a:t>
            </a:r>
          </a:p>
        </p:txBody>
      </p:sp>
      <p:sp>
        <p:nvSpPr>
          <p:cNvPr id="8" name="pipeline-模型评估与解释"/>
          <p:cNvSpPr/>
          <p:nvPr/>
        </p:nvSpPr>
        <p:spPr>
          <a:xfrm>
            <a:off x="5490000" y="331200"/>
            <a:ext cx="2196000" cy="558000"/>
          </a:xfrm>
          <a:prstGeom prst="chevron">
            <a:avLst/>
          </a:prstGeom>
          <a:solidFill>
            <a:srgbClr val="7651A6"/>
          </a:solidFill>
          <a:ln w="12700">
            <a:solidFill>
              <a:srgbClr val="765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模型评估与解释</a:t>
            </a:r>
          </a:p>
        </p:txBody>
      </p:sp>
      <p:sp>
        <p:nvSpPr>
          <p:cNvPr id="9" name="pipeline-icon-bg-⌕"/>
          <p:cNvSpPr/>
          <p:nvPr/>
        </p:nvSpPr>
        <p:spPr>
          <a:xfrm>
            <a:off x="5590800" y="396000"/>
            <a:ext cx="342000" cy="34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-⌕"/>
          <p:cNvSpPr txBox="1"/>
          <p:nvPr/>
        </p:nvSpPr>
        <p:spPr>
          <a:xfrm>
            <a:off x="5626800" y="432000"/>
            <a:ext cx="270000" cy="251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651A6"/>
                </a:solidFill>
                <a:latin typeface="Microsoft YaHei"/>
              </a:rPr>
              <a:t>⌕</a:t>
            </a:r>
          </a:p>
        </p:txBody>
      </p:sp>
      <p:sp>
        <p:nvSpPr>
          <p:cNvPr id="11" name="pipeline-干预建议生成"/>
          <p:cNvSpPr/>
          <p:nvPr/>
        </p:nvSpPr>
        <p:spPr>
          <a:xfrm>
            <a:off x="8010000" y="331200"/>
            <a:ext cx="2196000" cy="558000"/>
          </a:xfrm>
          <a:prstGeom prst="chevron">
            <a:avLst/>
          </a:prstGeom>
          <a:solidFill>
            <a:srgbClr val="E79B27"/>
          </a:solidFill>
          <a:ln w="12700"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干预建议生成</a:t>
            </a:r>
          </a:p>
        </p:txBody>
      </p:sp>
      <p:sp>
        <p:nvSpPr>
          <p:cNvPr id="12" name="pipeline-icon-bg-+"/>
          <p:cNvSpPr/>
          <p:nvPr/>
        </p:nvSpPr>
        <p:spPr>
          <a:xfrm>
            <a:off x="8110800" y="396000"/>
            <a:ext cx="342000" cy="34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-+"/>
          <p:cNvSpPr txBox="1"/>
          <p:nvPr/>
        </p:nvSpPr>
        <p:spPr>
          <a:xfrm>
            <a:off x="8146800" y="432000"/>
            <a:ext cx="270000" cy="251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79B27"/>
                </a:solidFill>
                <a:latin typeface="Microsoft YaHei"/>
              </a:rPr>
              <a:t>+</a:t>
            </a:r>
          </a:p>
        </p:txBody>
      </p:sp>
      <p:sp>
        <p:nvSpPr>
          <p:cNvPr id="14" name="module-传统机器学习"/>
          <p:cNvSpPr/>
          <p:nvPr/>
        </p:nvSpPr>
        <p:spPr>
          <a:xfrm>
            <a:off x="486000" y="1152000"/>
            <a:ext cx="1835999" cy="131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odule-title-传统机器学习"/>
          <p:cNvSpPr/>
          <p:nvPr/>
        </p:nvSpPr>
        <p:spPr>
          <a:xfrm>
            <a:off x="576000" y="1242000"/>
            <a:ext cx="1655999" cy="295200"/>
          </a:xfrm>
          <a:prstGeom prst="roundRect">
            <a:avLst/>
          </a:prstGeom>
          <a:solidFill>
            <a:srgbClr val="1B8A83"/>
          </a:solidFill>
          <a:ln w="12700">
            <a:solidFill>
              <a:srgbClr val="1B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传统机器学习</a:t>
            </a:r>
          </a:p>
        </p:txBody>
      </p:sp>
      <p:sp>
        <p:nvSpPr>
          <p:cNvPr id="16" name="module-item-随机森林"/>
          <p:cNvSpPr/>
          <p:nvPr/>
        </p:nvSpPr>
        <p:spPr>
          <a:xfrm>
            <a:off x="673200" y="1648800"/>
            <a:ext cx="1458000" cy="280800"/>
          </a:xfrm>
          <a:prstGeom prst="roundRect">
            <a:avLst/>
          </a:prstGeom>
          <a:solidFill>
            <a:srgbClr val="EAF5ED"/>
          </a:solidFill>
          <a:ln w="12700">
            <a:solidFill>
              <a:srgbClr val="1B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0">
                <a:solidFill>
                  <a:srgbClr val="14243A"/>
                </a:solidFill>
                <a:latin typeface="Microsoft YaHei"/>
              </a:rPr>
              <a:t>随机森林</a:t>
            </a:r>
          </a:p>
        </p:txBody>
      </p:sp>
      <p:sp>
        <p:nvSpPr>
          <p:cNvPr id="17" name="module-item-支持向量机"/>
          <p:cNvSpPr/>
          <p:nvPr/>
        </p:nvSpPr>
        <p:spPr>
          <a:xfrm>
            <a:off x="673200" y="2015999"/>
            <a:ext cx="1458000" cy="280800"/>
          </a:xfrm>
          <a:prstGeom prst="roundRect">
            <a:avLst/>
          </a:prstGeom>
          <a:solidFill>
            <a:srgbClr val="EAF5ED"/>
          </a:solidFill>
          <a:ln w="12700">
            <a:solidFill>
              <a:srgbClr val="1B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0">
                <a:solidFill>
                  <a:srgbClr val="14243A"/>
                </a:solidFill>
                <a:latin typeface="Microsoft YaHei"/>
              </a:rPr>
              <a:t>支持向量机</a:t>
            </a:r>
          </a:p>
        </p:txBody>
      </p:sp>
      <p:sp>
        <p:nvSpPr>
          <p:cNvPr id="18" name="module-时序深度学习"/>
          <p:cNvSpPr/>
          <p:nvPr/>
        </p:nvSpPr>
        <p:spPr>
          <a:xfrm>
            <a:off x="486000" y="2646000"/>
            <a:ext cx="1835999" cy="131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odule-title-时序深度学习"/>
          <p:cNvSpPr/>
          <p:nvPr/>
        </p:nvSpPr>
        <p:spPr>
          <a:xfrm>
            <a:off x="576000" y="2736000"/>
            <a:ext cx="1655999" cy="295200"/>
          </a:xfrm>
          <a:prstGeom prst="roundRect">
            <a:avLst/>
          </a:prstGeom>
          <a:solidFill>
            <a:srgbClr val="2E69B3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时序深度学习</a:t>
            </a:r>
          </a:p>
        </p:txBody>
      </p:sp>
      <p:sp>
        <p:nvSpPr>
          <p:cNvPr id="20" name="module-item-生理信号"/>
          <p:cNvSpPr/>
          <p:nvPr/>
        </p:nvSpPr>
        <p:spPr>
          <a:xfrm>
            <a:off x="673200" y="3142800"/>
            <a:ext cx="1458000" cy="2808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0">
                <a:solidFill>
                  <a:srgbClr val="14243A"/>
                </a:solidFill>
                <a:latin typeface="Microsoft YaHei"/>
              </a:rPr>
              <a:t>生理信号</a:t>
            </a:r>
          </a:p>
        </p:txBody>
      </p:sp>
      <p:sp>
        <p:nvSpPr>
          <p:cNvPr id="21" name="module-item-生活行为序列"/>
          <p:cNvSpPr/>
          <p:nvPr/>
        </p:nvSpPr>
        <p:spPr>
          <a:xfrm>
            <a:off x="673200" y="3510000"/>
            <a:ext cx="1458000" cy="2808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0">
                <a:solidFill>
                  <a:srgbClr val="14243A"/>
                </a:solidFill>
                <a:latin typeface="Microsoft YaHei"/>
              </a:rPr>
              <a:t>生活行为序列</a:t>
            </a:r>
          </a:p>
        </p:txBody>
      </p:sp>
      <p:sp>
        <p:nvSpPr>
          <p:cNvPr id="22" name="temporal-note"/>
          <p:cNvSpPr/>
          <p:nvPr/>
        </p:nvSpPr>
        <p:spPr>
          <a:xfrm>
            <a:off x="413999" y="4158000"/>
            <a:ext cx="2088000" cy="702000"/>
          </a:xfrm>
          <a:prstGeom prst="roundRect">
            <a:avLst/>
          </a:prstGeom>
          <a:solidFill>
            <a:srgbClr val="FFF6E7"/>
          </a:solidFill>
          <a:ln w="12700">
            <a:solidFill>
              <a:srgbClr val="E79B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1">
                <a:solidFill>
                  <a:srgbClr val="14243A"/>
                </a:solidFill>
                <a:latin typeface="Microsoft YaHei"/>
              </a:rPr>
              <a:t>利用时间依赖建模捕捉
风险状态的动态变化</a:t>
            </a:r>
          </a:p>
        </p:txBody>
      </p:sp>
      <p:cxnSp>
        <p:nvCxnSpPr>
          <p:cNvPr id="23" name="line-22"/>
          <p:cNvCxnSpPr/>
          <p:nvPr/>
        </p:nvCxnSpPr>
        <p:spPr>
          <a:xfrm>
            <a:off x="1458000" y="4878000"/>
            <a:ext cx="0" cy="252000"/>
          </a:xfrm>
          <a:prstGeom prst="line">
            <a:avLst/>
          </a:prstGeom>
          <a:ln w="22860">
            <a:solidFill>
              <a:srgbClr val="4C9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health-data"/>
          <p:cNvSpPr/>
          <p:nvPr/>
        </p:nvSpPr>
        <p:spPr>
          <a:xfrm>
            <a:off x="882000" y="5130000"/>
            <a:ext cx="1152000" cy="360000"/>
          </a:xfrm>
          <a:prstGeom prst="trapezoid">
            <a:avLst/>
          </a:prstGeom>
          <a:solidFill>
            <a:srgbClr val="EAF5ED"/>
          </a:solidFill>
          <a:ln w="12700">
            <a:solidFill>
              <a:srgbClr val="4C9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300" b="1">
                <a:solidFill>
                  <a:srgbClr val="14243A"/>
                </a:solidFill>
                <a:latin typeface="Microsoft YaHei"/>
              </a:rPr>
              <a:t>健康数据</a:t>
            </a:r>
          </a:p>
        </p:txBody>
      </p:sp>
      <p:sp>
        <p:nvSpPr>
          <p:cNvPr id="25" name="central-analysis-frame"/>
          <p:cNvSpPr/>
          <p:nvPr/>
        </p:nvSpPr>
        <p:spPr>
          <a:xfrm>
            <a:off x="2862000" y="1134000"/>
            <a:ext cx="4968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9B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sk-level"/>
          <p:cNvSpPr/>
          <p:nvPr/>
        </p:nvSpPr>
        <p:spPr>
          <a:xfrm>
            <a:off x="4878000" y="2106000"/>
            <a:ext cx="1170000" cy="1170000"/>
          </a:xfrm>
          <a:prstGeom prst="ellipse">
            <a:avLst/>
          </a:prstGeom>
          <a:solidFill>
            <a:srgbClr val="2E69B3"/>
          </a:solidFill>
          <a:ln w="12700">
            <a:solidFill>
              <a:srgbClr val="103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风险等级</a:t>
            </a:r>
          </a:p>
        </p:txBody>
      </p:sp>
      <p:sp>
        <p:nvSpPr>
          <p:cNvPr id="27" name="risk-factor-连续指标"/>
          <p:cNvSpPr/>
          <p:nvPr/>
        </p:nvSpPr>
        <p:spPr>
          <a:xfrm>
            <a:off x="3654000" y="1242000"/>
            <a:ext cx="954000" cy="846000"/>
          </a:xfrm>
          <a:prstGeom prst="ellipse">
            <a:avLst/>
          </a:prstGeom>
          <a:solidFill>
            <a:srgbClr val="EAF5ED"/>
          </a:solidFill>
          <a:ln w="12700">
            <a:solidFill>
              <a:srgbClr val="4C9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1">
                <a:solidFill>
                  <a:srgbClr val="14243A"/>
                </a:solidFill>
                <a:latin typeface="Microsoft YaHei"/>
              </a:rPr>
              <a:t>连续指标</a:t>
            </a:r>
          </a:p>
        </p:txBody>
      </p:sp>
      <p:cxnSp>
        <p:nvCxnSpPr>
          <p:cNvPr id="28" name="risk-bidirectional"/>
          <p:cNvCxnSpPr/>
          <p:nvPr/>
        </p:nvCxnSpPr>
        <p:spPr>
          <a:xfrm flipH="1" flipV="1">
            <a:off x="4131000" y="1665000"/>
            <a:ext cx="1330200" cy="102420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isk-factor-症状量表"/>
          <p:cNvSpPr/>
          <p:nvPr/>
        </p:nvSpPr>
        <p:spPr>
          <a:xfrm>
            <a:off x="6210000" y="1260000"/>
            <a:ext cx="917999" cy="827999"/>
          </a:xfrm>
          <a:prstGeom prst="hexagon">
            <a:avLst/>
          </a:prstGeom>
          <a:solidFill>
            <a:srgbClr val="F1ECF8"/>
          </a:solidFill>
          <a:ln w="12700">
            <a:solidFill>
              <a:srgbClr val="765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1">
                <a:solidFill>
                  <a:srgbClr val="14243A"/>
                </a:solidFill>
                <a:latin typeface="Microsoft YaHei"/>
              </a:rPr>
              <a:t>症状量表</a:t>
            </a:r>
          </a:p>
        </p:txBody>
      </p:sp>
      <p:cxnSp>
        <p:nvCxnSpPr>
          <p:cNvPr id="30" name="risk-bidirectional"/>
          <p:cNvCxnSpPr/>
          <p:nvPr/>
        </p:nvCxnSpPr>
        <p:spPr>
          <a:xfrm flipV="1">
            <a:off x="5461200" y="1674000"/>
            <a:ext cx="1207799" cy="101520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sk-factor-异常事件识别"/>
          <p:cNvSpPr/>
          <p:nvPr/>
        </p:nvSpPr>
        <p:spPr>
          <a:xfrm>
            <a:off x="6210000" y="2970000"/>
            <a:ext cx="917999" cy="810000"/>
          </a:xfrm>
          <a:prstGeom prst="diamond">
            <a:avLst/>
          </a:prstGeom>
          <a:solidFill>
            <a:srgbClr val="E3F4F6"/>
          </a:solidFill>
          <a:ln w="12700">
            <a:solidFill>
              <a:srgbClr val="1B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1">
                <a:solidFill>
                  <a:srgbClr val="14243A"/>
                </a:solidFill>
                <a:latin typeface="Microsoft YaHei"/>
              </a:rPr>
              <a:t>异常事件识别</a:t>
            </a:r>
          </a:p>
        </p:txBody>
      </p:sp>
      <p:cxnSp>
        <p:nvCxnSpPr>
          <p:cNvPr id="32" name="risk-bidirectional"/>
          <p:cNvCxnSpPr/>
          <p:nvPr/>
        </p:nvCxnSpPr>
        <p:spPr>
          <a:xfrm>
            <a:off x="5461200" y="2689200"/>
            <a:ext cx="1207799" cy="68580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sk-factor-生活方式因素"/>
          <p:cNvSpPr/>
          <p:nvPr/>
        </p:nvSpPr>
        <p:spPr>
          <a:xfrm>
            <a:off x="3654000" y="2970000"/>
            <a:ext cx="954000" cy="810000"/>
          </a:xfrm>
          <a:prstGeom prst="hexagon">
            <a:avLst/>
          </a:prstGeom>
          <a:solidFill>
            <a:srgbClr val="FFF3D7"/>
          </a:solidFill>
          <a:ln w="12700">
            <a:solidFill>
              <a:srgbClr val="C79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1">
                <a:solidFill>
                  <a:srgbClr val="14243A"/>
                </a:solidFill>
                <a:latin typeface="Microsoft YaHei"/>
              </a:rPr>
              <a:t>生活方式因素</a:t>
            </a:r>
          </a:p>
        </p:txBody>
      </p:sp>
      <p:cxnSp>
        <p:nvCxnSpPr>
          <p:cNvPr id="34" name="risk-bidirectional"/>
          <p:cNvCxnSpPr/>
          <p:nvPr/>
        </p:nvCxnSpPr>
        <p:spPr>
          <a:xfrm flipH="1">
            <a:off x="4131000" y="2689200"/>
            <a:ext cx="1330200" cy="68580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isk-tag-AUC"/>
          <p:cNvSpPr/>
          <p:nvPr/>
        </p:nvSpPr>
        <p:spPr>
          <a:xfrm>
            <a:off x="5022000" y="1440000"/>
            <a:ext cx="558000" cy="2592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AUC</a:t>
            </a:r>
          </a:p>
        </p:txBody>
      </p:sp>
      <p:cxnSp>
        <p:nvCxnSpPr>
          <p:cNvPr id="36" name="risk-bidirectional"/>
          <p:cNvCxnSpPr/>
          <p:nvPr/>
        </p:nvCxnSpPr>
        <p:spPr>
          <a:xfrm flipH="1" flipV="1">
            <a:off x="5299200" y="1569600"/>
            <a:ext cx="162000" cy="111960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isk-tag-SHAP"/>
          <p:cNvSpPr/>
          <p:nvPr/>
        </p:nvSpPr>
        <p:spPr>
          <a:xfrm>
            <a:off x="7073999" y="2412000"/>
            <a:ext cx="558000" cy="2592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SHAP</a:t>
            </a:r>
          </a:p>
        </p:txBody>
      </p:sp>
      <p:cxnSp>
        <p:nvCxnSpPr>
          <p:cNvPr id="38" name="risk-bidirectional"/>
          <p:cNvCxnSpPr/>
          <p:nvPr/>
        </p:nvCxnSpPr>
        <p:spPr>
          <a:xfrm flipV="1">
            <a:off x="5461200" y="2541600"/>
            <a:ext cx="1889999" cy="14760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isk-tag-随访评分"/>
          <p:cNvSpPr/>
          <p:nvPr/>
        </p:nvSpPr>
        <p:spPr>
          <a:xfrm>
            <a:off x="4878000" y="3510000"/>
            <a:ext cx="558000" cy="2592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随访评分</a:t>
            </a:r>
          </a:p>
        </p:txBody>
      </p:sp>
      <p:cxnSp>
        <p:nvCxnSpPr>
          <p:cNvPr id="40" name="risk-bidirectional"/>
          <p:cNvCxnSpPr/>
          <p:nvPr/>
        </p:nvCxnSpPr>
        <p:spPr>
          <a:xfrm flipH="1">
            <a:off x="5155200" y="2689200"/>
            <a:ext cx="306000" cy="95040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isk-tag-F1"/>
          <p:cNvSpPr/>
          <p:nvPr/>
        </p:nvSpPr>
        <p:spPr>
          <a:xfrm>
            <a:off x="3114000" y="2412000"/>
            <a:ext cx="558000" cy="2592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F1</a:t>
            </a:r>
          </a:p>
        </p:txBody>
      </p:sp>
      <p:cxnSp>
        <p:nvCxnSpPr>
          <p:cNvPr id="42" name="risk-bidirectional"/>
          <p:cNvCxnSpPr/>
          <p:nvPr/>
        </p:nvCxnSpPr>
        <p:spPr>
          <a:xfrm flipH="1" flipV="1">
            <a:off x="3391200" y="2541600"/>
            <a:ext cx="2070000" cy="147600"/>
          </a:xfrm>
          <a:prstGeom prst="line">
            <a:avLst/>
          </a:prstGeom>
          <a:ln w="12700">
            <a:solidFill>
              <a:srgbClr val="2E6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eature-importance-chart"/>
          <p:cNvSpPr/>
          <p:nvPr/>
        </p:nvSpPr>
        <p:spPr>
          <a:xfrm>
            <a:off x="3041999" y="3978000"/>
            <a:ext cx="1925999" cy="145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-特征重要性（示例）"/>
          <p:cNvSpPr txBox="1"/>
          <p:nvPr/>
        </p:nvSpPr>
        <p:spPr>
          <a:xfrm>
            <a:off x="3221999" y="4042800"/>
            <a:ext cx="1565999" cy="136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4243A"/>
                </a:solidFill>
                <a:latin typeface="Microsoft YaHei"/>
              </a:rPr>
              <a:t>特征重要性（示例）</a:t>
            </a:r>
          </a:p>
        </p:txBody>
      </p:sp>
      <p:cxnSp>
        <p:nvCxnSpPr>
          <p:cNvPr id="45" name="line-44"/>
          <p:cNvCxnSpPr/>
          <p:nvPr/>
        </p:nvCxnSpPr>
        <p:spPr>
          <a:xfrm>
            <a:off x="3527999" y="4266000"/>
            <a:ext cx="0" cy="954000"/>
          </a:xfrm>
          <a:prstGeom prst="line">
            <a:avLst/>
          </a:prstGeom>
          <a:ln w="889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ine-45"/>
          <p:cNvCxnSpPr/>
          <p:nvPr/>
        </p:nvCxnSpPr>
        <p:spPr>
          <a:xfrm>
            <a:off x="3527999" y="5220000"/>
            <a:ext cx="1296000" cy="0"/>
          </a:xfrm>
          <a:prstGeom prst="line">
            <a:avLst/>
          </a:prstGeom>
          <a:ln w="889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-心率变异性"/>
          <p:cNvSpPr txBox="1"/>
          <p:nvPr/>
        </p:nvSpPr>
        <p:spPr>
          <a:xfrm>
            <a:off x="3077999" y="4284000"/>
            <a:ext cx="413999" cy="108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14243A"/>
                </a:solidFill>
                <a:latin typeface="Microsoft YaHei"/>
              </a:rPr>
              <a:t>心率变异性</a:t>
            </a:r>
          </a:p>
        </p:txBody>
      </p:sp>
      <p:sp>
        <p:nvSpPr>
          <p:cNvPr id="48" name="chart-bar"/>
          <p:cNvSpPr/>
          <p:nvPr/>
        </p:nvSpPr>
        <p:spPr>
          <a:xfrm>
            <a:off x="3546000" y="4294800"/>
            <a:ext cx="1098000" cy="79200"/>
          </a:xfrm>
          <a:prstGeom prst="rect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-睡眠时长"/>
          <p:cNvSpPr txBox="1"/>
          <p:nvPr/>
        </p:nvSpPr>
        <p:spPr>
          <a:xfrm>
            <a:off x="3077999" y="4420800"/>
            <a:ext cx="413999" cy="108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14243A"/>
                </a:solidFill>
                <a:latin typeface="Microsoft YaHei"/>
              </a:rPr>
              <a:t>睡眠时长</a:t>
            </a:r>
          </a:p>
        </p:txBody>
      </p:sp>
      <p:sp>
        <p:nvSpPr>
          <p:cNvPr id="50" name="chart-bar"/>
          <p:cNvSpPr/>
          <p:nvPr/>
        </p:nvSpPr>
        <p:spPr>
          <a:xfrm>
            <a:off x="3546000" y="4431600"/>
            <a:ext cx="954000" cy="79200"/>
          </a:xfrm>
          <a:prstGeom prst="rect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-日均步数"/>
          <p:cNvSpPr txBox="1"/>
          <p:nvPr/>
        </p:nvSpPr>
        <p:spPr>
          <a:xfrm>
            <a:off x="3077999" y="4557600"/>
            <a:ext cx="413999" cy="108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14243A"/>
                </a:solidFill>
                <a:latin typeface="Microsoft YaHei"/>
              </a:rPr>
              <a:t>日均步数</a:t>
            </a:r>
          </a:p>
        </p:txBody>
      </p:sp>
      <p:sp>
        <p:nvSpPr>
          <p:cNvPr id="52" name="chart-bar"/>
          <p:cNvSpPr/>
          <p:nvPr/>
        </p:nvSpPr>
        <p:spPr>
          <a:xfrm>
            <a:off x="3546000" y="4568400"/>
            <a:ext cx="810000" cy="79200"/>
          </a:xfrm>
          <a:prstGeom prst="rect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-体重指数"/>
          <p:cNvSpPr txBox="1"/>
          <p:nvPr/>
        </p:nvSpPr>
        <p:spPr>
          <a:xfrm>
            <a:off x="3077999" y="4694400"/>
            <a:ext cx="413999" cy="108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14243A"/>
                </a:solidFill>
                <a:latin typeface="Microsoft YaHei"/>
              </a:rPr>
              <a:t>体重指数</a:t>
            </a:r>
          </a:p>
        </p:txBody>
      </p:sp>
      <p:sp>
        <p:nvSpPr>
          <p:cNvPr id="54" name="chart-bar"/>
          <p:cNvSpPr/>
          <p:nvPr/>
        </p:nvSpPr>
        <p:spPr>
          <a:xfrm>
            <a:off x="3546000" y="4705200"/>
            <a:ext cx="630000" cy="79200"/>
          </a:xfrm>
          <a:prstGeom prst="rect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-血压波动"/>
          <p:cNvSpPr txBox="1"/>
          <p:nvPr/>
        </p:nvSpPr>
        <p:spPr>
          <a:xfrm>
            <a:off x="3077999" y="4831200"/>
            <a:ext cx="413999" cy="108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14243A"/>
                </a:solidFill>
                <a:latin typeface="Microsoft YaHei"/>
              </a:rPr>
              <a:t>血压波动</a:t>
            </a:r>
          </a:p>
        </p:txBody>
      </p:sp>
      <p:sp>
        <p:nvSpPr>
          <p:cNvPr id="56" name="chart-bar"/>
          <p:cNvSpPr/>
          <p:nvPr/>
        </p:nvSpPr>
        <p:spPr>
          <a:xfrm>
            <a:off x="3546000" y="4842000"/>
            <a:ext cx="486000" cy="79200"/>
          </a:xfrm>
          <a:prstGeom prst="rect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-吸烟状态"/>
          <p:cNvSpPr txBox="1"/>
          <p:nvPr/>
        </p:nvSpPr>
        <p:spPr>
          <a:xfrm>
            <a:off x="3077999" y="4968000"/>
            <a:ext cx="413999" cy="108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14243A"/>
                </a:solidFill>
                <a:latin typeface="Microsoft YaHei"/>
              </a:rPr>
              <a:t>吸烟状态</a:t>
            </a:r>
          </a:p>
        </p:txBody>
      </p:sp>
      <p:sp>
        <p:nvSpPr>
          <p:cNvPr id="58" name="chart-bar"/>
          <p:cNvSpPr/>
          <p:nvPr/>
        </p:nvSpPr>
        <p:spPr>
          <a:xfrm>
            <a:off x="3546000" y="4978800"/>
            <a:ext cx="306000" cy="79200"/>
          </a:xfrm>
          <a:prstGeom prst="rect">
            <a:avLst/>
          </a:prstGeom>
          <a:solidFill>
            <a:srgbClr val="2E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-平均绝对SHAP值"/>
          <p:cNvSpPr txBox="1"/>
          <p:nvPr/>
        </p:nvSpPr>
        <p:spPr>
          <a:xfrm>
            <a:off x="3636000" y="5230800"/>
            <a:ext cx="1044000" cy="125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14243A"/>
                </a:solidFill>
                <a:latin typeface="Microsoft YaHei"/>
              </a:rPr>
              <a:t>平均绝对SHAP值</a:t>
            </a:r>
          </a:p>
        </p:txBody>
      </p:sp>
      <p:sp>
        <p:nvSpPr>
          <p:cNvPr id="60" name="risk-trend-chart"/>
          <p:cNvSpPr/>
          <p:nvPr/>
        </p:nvSpPr>
        <p:spPr>
          <a:xfrm>
            <a:off x="5112000" y="3978000"/>
            <a:ext cx="2052000" cy="145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-风险随时间变化（示例）"/>
          <p:cNvSpPr txBox="1"/>
          <p:nvPr/>
        </p:nvSpPr>
        <p:spPr>
          <a:xfrm>
            <a:off x="5310000" y="4042800"/>
            <a:ext cx="1692000" cy="136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4243A"/>
                </a:solidFill>
                <a:latin typeface="Microsoft YaHei"/>
              </a:rPr>
              <a:t>风险随时间变化（示例）</a:t>
            </a:r>
          </a:p>
        </p:txBody>
      </p:sp>
      <p:cxnSp>
        <p:nvCxnSpPr>
          <p:cNvPr id="62" name="line-61"/>
          <p:cNvCxnSpPr/>
          <p:nvPr/>
        </p:nvCxnSpPr>
        <p:spPr>
          <a:xfrm>
            <a:off x="5508000" y="4266000"/>
            <a:ext cx="0" cy="954000"/>
          </a:xfrm>
          <a:prstGeom prst="line">
            <a:avLst/>
          </a:prstGeom>
          <a:ln w="889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line-62"/>
          <p:cNvCxnSpPr/>
          <p:nvPr/>
        </p:nvCxnSpPr>
        <p:spPr>
          <a:xfrm>
            <a:off x="5508000" y="5220000"/>
            <a:ext cx="1422000" cy="0"/>
          </a:xfrm>
          <a:prstGeom prst="line">
            <a:avLst/>
          </a:prstGeom>
          <a:ln w="889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trend-segment"/>
          <p:cNvCxnSpPr/>
          <p:nvPr/>
        </p:nvCxnSpPr>
        <p:spPr>
          <a:xfrm flipV="1">
            <a:off x="5543999" y="4734000"/>
            <a:ext cx="198001" cy="126000"/>
          </a:xfrm>
          <a:prstGeom prst="line">
            <a:avLst/>
          </a:prstGeom>
          <a:ln w="12700">
            <a:solidFill>
              <a:srgbClr val="4C9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trend-segment"/>
          <p:cNvCxnSpPr/>
          <p:nvPr/>
        </p:nvCxnSpPr>
        <p:spPr>
          <a:xfrm>
            <a:off x="5742000" y="4734000"/>
            <a:ext cx="198000" cy="54000"/>
          </a:xfrm>
          <a:prstGeom prst="line">
            <a:avLst/>
          </a:prstGeom>
          <a:ln w="12700">
            <a:solidFill>
              <a:srgbClr val="4C9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trend-segment"/>
          <p:cNvCxnSpPr/>
          <p:nvPr/>
        </p:nvCxnSpPr>
        <p:spPr>
          <a:xfrm flipV="1">
            <a:off x="5940000" y="4626000"/>
            <a:ext cx="198000" cy="162000"/>
          </a:xfrm>
          <a:prstGeom prst="line">
            <a:avLst/>
          </a:prstGeom>
          <a:ln w="12700">
            <a:solidFill>
              <a:srgbClr val="4C9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trend-segment"/>
          <p:cNvCxnSpPr/>
          <p:nvPr/>
        </p:nvCxnSpPr>
        <p:spPr>
          <a:xfrm>
            <a:off x="6137999" y="4626000"/>
            <a:ext cx="198000" cy="72000"/>
          </a:xfrm>
          <a:prstGeom prst="line">
            <a:avLst/>
          </a:prstGeom>
          <a:ln w="12700">
            <a:solidFill>
              <a:srgbClr val="4C9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trend-segment"/>
          <p:cNvCxnSpPr/>
          <p:nvPr/>
        </p:nvCxnSpPr>
        <p:spPr>
          <a:xfrm flipV="1">
            <a:off x="6335999" y="4536000"/>
            <a:ext cx="198000" cy="162000"/>
          </a:xfrm>
          <a:prstGeom prst="line">
            <a:avLst/>
          </a:prstGeom>
          <a:ln w="12700">
            <a:solidFill>
              <a:srgbClr val="4C9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trend-segment"/>
          <p:cNvCxnSpPr/>
          <p:nvPr/>
        </p:nvCxnSpPr>
        <p:spPr>
          <a:xfrm>
            <a:off x="6533999" y="4536000"/>
            <a:ext cx="198001" cy="72000"/>
          </a:xfrm>
          <a:prstGeom prst="line">
            <a:avLst/>
          </a:prstGeom>
          <a:ln w="12700">
            <a:solidFill>
              <a:srgbClr val="4C9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trend-segment"/>
          <p:cNvCxnSpPr/>
          <p:nvPr/>
        </p:nvCxnSpPr>
        <p:spPr>
          <a:xfrm flipV="1">
            <a:off x="5543999" y="4978800"/>
            <a:ext cx="198001" cy="61200"/>
          </a:xfrm>
          <a:prstGeom prst="line">
            <a:avLst/>
          </a:prstGeom>
          <a:ln w="1270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trend-segment"/>
          <p:cNvCxnSpPr/>
          <p:nvPr/>
        </p:nvCxnSpPr>
        <p:spPr>
          <a:xfrm>
            <a:off x="5742000" y="4978800"/>
            <a:ext cx="198000" cy="36000"/>
          </a:xfrm>
          <a:prstGeom prst="line">
            <a:avLst/>
          </a:prstGeom>
          <a:ln w="1270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trend-segment"/>
          <p:cNvCxnSpPr/>
          <p:nvPr/>
        </p:nvCxnSpPr>
        <p:spPr>
          <a:xfrm flipV="1">
            <a:off x="5940000" y="4878000"/>
            <a:ext cx="198000" cy="136800"/>
          </a:xfrm>
          <a:prstGeom prst="line">
            <a:avLst/>
          </a:prstGeom>
          <a:ln w="1270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trend-segment"/>
          <p:cNvCxnSpPr/>
          <p:nvPr/>
        </p:nvCxnSpPr>
        <p:spPr>
          <a:xfrm>
            <a:off x="6137999" y="4878000"/>
            <a:ext cx="198000" cy="54000"/>
          </a:xfrm>
          <a:prstGeom prst="line">
            <a:avLst/>
          </a:prstGeom>
          <a:ln w="1270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trend-segment"/>
          <p:cNvCxnSpPr/>
          <p:nvPr/>
        </p:nvCxnSpPr>
        <p:spPr>
          <a:xfrm flipV="1">
            <a:off x="6335999" y="4770000"/>
            <a:ext cx="198000" cy="162000"/>
          </a:xfrm>
          <a:prstGeom prst="line">
            <a:avLst/>
          </a:prstGeom>
          <a:ln w="1270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trend-segment"/>
          <p:cNvCxnSpPr/>
          <p:nvPr/>
        </p:nvCxnSpPr>
        <p:spPr>
          <a:xfrm>
            <a:off x="6533999" y="4770000"/>
            <a:ext cx="198001" cy="54000"/>
          </a:xfrm>
          <a:prstGeom prst="line">
            <a:avLst/>
          </a:prstGeom>
          <a:ln w="1270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trend-segment"/>
          <p:cNvCxnSpPr/>
          <p:nvPr/>
        </p:nvCxnSpPr>
        <p:spPr>
          <a:xfrm flipV="1">
            <a:off x="5543999" y="5122800"/>
            <a:ext cx="198001" cy="36000"/>
          </a:xfrm>
          <a:prstGeom prst="line">
            <a:avLst/>
          </a:prstGeom>
          <a:ln w="12700">
            <a:solidFill>
              <a:srgbClr val="D7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trend-segment"/>
          <p:cNvCxnSpPr/>
          <p:nvPr/>
        </p:nvCxnSpPr>
        <p:spPr>
          <a:xfrm flipV="1">
            <a:off x="5742000" y="5101200"/>
            <a:ext cx="198000" cy="21600"/>
          </a:xfrm>
          <a:prstGeom prst="line">
            <a:avLst/>
          </a:prstGeom>
          <a:ln w="12700">
            <a:solidFill>
              <a:srgbClr val="D7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trend-segment"/>
          <p:cNvCxnSpPr/>
          <p:nvPr/>
        </p:nvCxnSpPr>
        <p:spPr>
          <a:xfrm flipV="1">
            <a:off x="5940000" y="5050800"/>
            <a:ext cx="198000" cy="50400"/>
          </a:xfrm>
          <a:prstGeom prst="line">
            <a:avLst/>
          </a:prstGeom>
          <a:ln w="12700">
            <a:solidFill>
              <a:srgbClr val="D7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trend-segment"/>
          <p:cNvCxnSpPr/>
          <p:nvPr/>
        </p:nvCxnSpPr>
        <p:spPr>
          <a:xfrm flipV="1">
            <a:off x="6137999" y="5029200"/>
            <a:ext cx="198000" cy="21600"/>
          </a:xfrm>
          <a:prstGeom prst="line">
            <a:avLst/>
          </a:prstGeom>
          <a:ln w="12700">
            <a:solidFill>
              <a:srgbClr val="D7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trend-segment"/>
          <p:cNvCxnSpPr/>
          <p:nvPr/>
        </p:nvCxnSpPr>
        <p:spPr>
          <a:xfrm flipV="1">
            <a:off x="6335999" y="4968000"/>
            <a:ext cx="198000" cy="61200"/>
          </a:xfrm>
          <a:prstGeom prst="line">
            <a:avLst/>
          </a:prstGeom>
          <a:ln w="12700">
            <a:solidFill>
              <a:srgbClr val="D7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trend-segment"/>
          <p:cNvCxnSpPr/>
          <p:nvPr/>
        </p:nvCxnSpPr>
        <p:spPr>
          <a:xfrm flipV="1">
            <a:off x="6533999" y="4921200"/>
            <a:ext cx="198001" cy="46800"/>
          </a:xfrm>
          <a:prstGeom prst="line">
            <a:avLst/>
          </a:prstGeom>
          <a:ln w="12700">
            <a:solidFill>
              <a:srgbClr val="D7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line-81"/>
          <p:cNvCxnSpPr/>
          <p:nvPr/>
        </p:nvCxnSpPr>
        <p:spPr>
          <a:xfrm>
            <a:off x="6688799" y="4284000"/>
            <a:ext cx="122400" cy="0"/>
          </a:xfrm>
          <a:prstGeom prst="line">
            <a:avLst/>
          </a:prstGeom>
          <a:ln w="15240">
            <a:solidFill>
              <a:srgbClr val="4C9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-低风险"/>
          <p:cNvSpPr txBox="1"/>
          <p:nvPr/>
        </p:nvSpPr>
        <p:spPr>
          <a:xfrm>
            <a:off x="6822000" y="4240800"/>
            <a:ext cx="288000" cy="100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14243A"/>
                </a:solidFill>
                <a:latin typeface="Microsoft YaHei"/>
              </a:rPr>
              <a:t>低风险</a:t>
            </a:r>
          </a:p>
        </p:txBody>
      </p:sp>
      <p:cxnSp>
        <p:nvCxnSpPr>
          <p:cNvPr id="84" name="line-83"/>
          <p:cNvCxnSpPr/>
          <p:nvPr/>
        </p:nvCxnSpPr>
        <p:spPr>
          <a:xfrm>
            <a:off x="6688799" y="4399200"/>
            <a:ext cx="122400" cy="0"/>
          </a:xfrm>
          <a:prstGeom prst="line">
            <a:avLst/>
          </a:prstGeom>
          <a:ln w="1524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-中风险"/>
          <p:cNvSpPr txBox="1"/>
          <p:nvPr/>
        </p:nvSpPr>
        <p:spPr>
          <a:xfrm>
            <a:off x="6822000" y="4356000"/>
            <a:ext cx="288000" cy="100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14243A"/>
                </a:solidFill>
                <a:latin typeface="Microsoft YaHei"/>
              </a:rPr>
              <a:t>中风险</a:t>
            </a:r>
          </a:p>
        </p:txBody>
      </p:sp>
      <p:cxnSp>
        <p:nvCxnSpPr>
          <p:cNvPr id="86" name="line-85"/>
          <p:cNvCxnSpPr/>
          <p:nvPr/>
        </p:nvCxnSpPr>
        <p:spPr>
          <a:xfrm>
            <a:off x="6688799" y="4514400"/>
            <a:ext cx="122400" cy="0"/>
          </a:xfrm>
          <a:prstGeom prst="line">
            <a:avLst/>
          </a:prstGeom>
          <a:ln w="15240">
            <a:solidFill>
              <a:srgbClr val="D7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-高风险"/>
          <p:cNvSpPr txBox="1"/>
          <p:nvPr/>
        </p:nvSpPr>
        <p:spPr>
          <a:xfrm>
            <a:off x="6822000" y="4471200"/>
            <a:ext cx="288000" cy="1008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14243A"/>
                </a:solidFill>
                <a:latin typeface="Microsoft YaHei"/>
              </a:rPr>
              <a:t>高风险</a:t>
            </a:r>
          </a:p>
        </p:txBody>
      </p:sp>
      <p:sp>
        <p:nvSpPr>
          <p:cNvPr id="88" name="text-随访时间（月）"/>
          <p:cNvSpPr txBox="1"/>
          <p:nvPr/>
        </p:nvSpPr>
        <p:spPr>
          <a:xfrm>
            <a:off x="5922000" y="5230800"/>
            <a:ext cx="864000" cy="125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14243A"/>
                </a:solidFill>
                <a:latin typeface="Microsoft YaHei"/>
              </a:rPr>
              <a:t>随访时间（月）</a:t>
            </a:r>
          </a:p>
        </p:txBody>
      </p:sp>
      <p:sp>
        <p:nvSpPr>
          <p:cNvPr id="89" name="text-临床表型解析与功能关联"/>
          <p:cNvSpPr txBox="1"/>
          <p:nvPr/>
        </p:nvSpPr>
        <p:spPr>
          <a:xfrm>
            <a:off x="3888000" y="5580000"/>
            <a:ext cx="2880000" cy="1980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2E69B3"/>
                </a:solidFill>
                <a:latin typeface="Microsoft YaHei"/>
              </a:rPr>
              <a:t>临床表型解析与功能关联</a:t>
            </a:r>
          </a:p>
        </p:txBody>
      </p:sp>
      <p:sp>
        <p:nvSpPr>
          <p:cNvPr id="90" name="module-训练策略"/>
          <p:cNvSpPr/>
          <p:nvPr/>
        </p:nvSpPr>
        <p:spPr>
          <a:xfrm>
            <a:off x="8333999" y="1152000"/>
            <a:ext cx="1835999" cy="131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65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module-title-训练策略"/>
          <p:cNvSpPr/>
          <p:nvPr/>
        </p:nvSpPr>
        <p:spPr>
          <a:xfrm>
            <a:off x="8424000" y="1242000"/>
            <a:ext cx="1655999" cy="295200"/>
          </a:xfrm>
          <a:prstGeom prst="roundRect">
            <a:avLst/>
          </a:prstGeom>
          <a:solidFill>
            <a:srgbClr val="7651A6"/>
          </a:solidFill>
          <a:ln w="12700">
            <a:solidFill>
              <a:srgbClr val="765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训练策略</a:t>
            </a:r>
          </a:p>
        </p:txBody>
      </p:sp>
      <p:sp>
        <p:nvSpPr>
          <p:cNvPr id="92" name="module-item-交叉验证"/>
          <p:cNvSpPr/>
          <p:nvPr/>
        </p:nvSpPr>
        <p:spPr>
          <a:xfrm>
            <a:off x="8521200" y="1648800"/>
            <a:ext cx="1458000" cy="280800"/>
          </a:xfrm>
          <a:prstGeom prst="roundRect">
            <a:avLst/>
          </a:prstGeom>
          <a:solidFill>
            <a:srgbClr val="F1ECF8"/>
          </a:solidFill>
          <a:ln w="12700">
            <a:solidFill>
              <a:srgbClr val="765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0">
                <a:solidFill>
                  <a:srgbClr val="14243A"/>
                </a:solidFill>
                <a:latin typeface="Microsoft YaHei"/>
              </a:rPr>
              <a:t>交叉验证</a:t>
            </a:r>
          </a:p>
        </p:txBody>
      </p:sp>
      <p:sp>
        <p:nvSpPr>
          <p:cNvPr id="93" name="module-item-外部测试"/>
          <p:cNvSpPr/>
          <p:nvPr/>
        </p:nvSpPr>
        <p:spPr>
          <a:xfrm>
            <a:off x="8521200" y="2015999"/>
            <a:ext cx="1458000" cy="280800"/>
          </a:xfrm>
          <a:prstGeom prst="roundRect">
            <a:avLst/>
          </a:prstGeom>
          <a:solidFill>
            <a:srgbClr val="F1ECF8"/>
          </a:solidFill>
          <a:ln w="12700">
            <a:solidFill>
              <a:srgbClr val="765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0">
                <a:solidFill>
                  <a:srgbClr val="14243A"/>
                </a:solidFill>
                <a:latin typeface="Microsoft YaHei"/>
              </a:rPr>
              <a:t>外部测试</a:t>
            </a:r>
          </a:p>
        </p:txBody>
      </p:sp>
      <p:sp>
        <p:nvSpPr>
          <p:cNvPr id="94" name="module-模型泛化能力"/>
          <p:cNvSpPr/>
          <p:nvPr/>
        </p:nvSpPr>
        <p:spPr>
          <a:xfrm>
            <a:off x="8333999" y="2646000"/>
            <a:ext cx="1835999" cy="131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module-title-模型泛化能力"/>
          <p:cNvSpPr/>
          <p:nvPr/>
        </p:nvSpPr>
        <p:spPr>
          <a:xfrm>
            <a:off x="8424000" y="2736000"/>
            <a:ext cx="1655999" cy="295200"/>
          </a:xfrm>
          <a:prstGeom prst="roundRect">
            <a:avLst/>
          </a:prstGeom>
          <a:solidFill>
            <a:srgbClr val="2E69B3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模型泛化能力</a:t>
            </a:r>
          </a:p>
        </p:txBody>
      </p:sp>
      <p:sp>
        <p:nvSpPr>
          <p:cNvPr id="96" name="module-item-稳定可靠"/>
          <p:cNvSpPr/>
          <p:nvPr/>
        </p:nvSpPr>
        <p:spPr>
          <a:xfrm>
            <a:off x="8521200" y="3142800"/>
            <a:ext cx="1458000" cy="2808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0">
                <a:solidFill>
                  <a:srgbClr val="14243A"/>
                </a:solidFill>
                <a:latin typeface="Microsoft YaHei"/>
              </a:rPr>
              <a:t>稳定可靠</a:t>
            </a:r>
          </a:p>
        </p:txBody>
      </p:sp>
      <p:sp>
        <p:nvSpPr>
          <p:cNvPr id="97" name="module-item-参考基准"/>
          <p:cNvSpPr/>
          <p:nvPr/>
        </p:nvSpPr>
        <p:spPr>
          <a:xfrm>
            <a:off x="8521200" y="3510000"/>
            <a:ext cx="1458000" cy="2808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150" b="0">
                <a:solidFill>
                  <a:srgbClr val="14243A"/>
                </a:solidFill>
                <a:latin typeface="Microsoft YaHei"/>
              </a:rPr>
              <a:t>参考基准</a:t>
            </a:r>
          </a:p>
        </p:txBody>
      </p:sp>
      <p:sp>
        <p:nvSpPr>
          <p:cNvPr id="98" name="roc-note"/>
          <p:cNvSpPr/>
          <p:nvPr/>
        </p:nvSpPr>
        <p:spPr>
          <a:xfrm>
            <a:off x="8226000" y="4158000"/>
            <a:ext cx="2124000" cy="702000"/>
          </a:xfrm>
          <a:prstGeom prst="roundRect">
            <a:avLst/>
          </a:prstGeom>
          <a:solidFill>
            <a:srgbClr val="FFF6E7"/>
          </a:solidFill>
          <a:ln w="12700">
            <a:solidFill>
              <a:srgbClr val="E79B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050" b="0">
                <a:solidFill>
                  <a:srgbClr val="14243A"/>
                </a:solidFill>
                <a:latin typeface="Microsoft YaHei"/>
              </a:rPr>
              <a:t>采用ROC曲线与校准曲线
综合评估模型判别与泛化性能</a:t>
            </a:r>
          </a:p>
        </p:txBody>
      </p:sp>
      <p:cxnSp>
        <p:nvCxnSpPr>
          <p:cNvPr id="99" name="line-98"/>
          <p:cNvCxnSpPr/>
          <p:nvPr/>
        </p:nvCxnSpPr>
        <p:spPr>
          <a:xfrm>
            <a:off x="9288000" y="4878000"/>
            <a:ext cx="0" cy="252000"/>
          </a:xfrm>
          <a:prstGeom prst="line">
            <a:avLst/>
          </a:prstGeom>
          <a:ln w="22860">
            <a:solidFill>
              <a:srgbClr val="765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ollowup-evaluation"/>
          <p:cNvSpPr/>
          <p:nvPr/>
        </p:nvSpPr>
        <p:spPr>
          <a:xfrm>
            <a:off x="8712000" y="5130000"/>
            <a:ext cx="1152000" cy="360000"/>
          </a:xfrm>
          <a:prstGeom prst="trapezoid">
            <a:avLst/>
          </a:prstGeom>
          <a:solidFill>
            <a:srgbClr val="F1ECF8"/>
          </a:solidFill>
          <a:ln w="12700">
            <a:solidFill>
              <a:srgbClr val="765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300" b="1">
                <a:solidFill>
                  <a:srgbClr val="14243A"/>
                </a:solidFill>
                <a:latin typeface="Microsoft YaHei"/>
              </a:rPr>
              <a:t>随访评估</a:t>
            </a:r>
          </a:p>
        </p:txBody>
      </p:sp>
      <p:sp>
        <p:nvSpPr>
          <p:cNvPr id="101" name="bottom-pill-构建预测模型"/>
          <p:cNvSpPr/>
          <p:nvPr/>
        </p:nvSpPr>
        <p:spPr>
          <a:xfrm>
            <a:off x="413999" y="5958000"/>
            <a:ext cx="1962000" cy="630000"/>
          </a:xfrm>
          <a:prstGeom prst="roundRect">
            <a:avLst/>
          </a:prstGeom>
          <a:solidFill>
            <a:srgbClr val="4C9270"/>
          </a:solidFill>
          <a:ln w="12700">
            <a:solidFill>
              <a:srgbClr val="4C9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构建预测模型</a:t>
            </a:r>
          </a:p>
        </p:txBody>
      </p:sp>
      <p:sp>
        <p:nvSpPr>
          <p:cNvPr id="102" name="text-◎"/>
          <p:cNvSpPr txBox="1"/>
          <p:nvPr/>
        </p:nvSpPr>
        <p:spPr>
          <a:xfrm>
            <a:off x="550799" y="6069600"/>
            <a:ext cx="259200" cy="259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◎</a:t>
            </a:r>
          </a:p>
        </p:txBody>
      </p:sp>
      <p:sp>
        <p:nvSpPr>
          <p:cNvPr id="103" name="bottom-pill-模型验证与整合"/>
          <p:cNvSpPr/>
          <p:nvPr/>
        </p:nvSpPr>
        <p:spPr>
          <a:xfrm>
            <a:off x="4410000" y="5958000"/>
            <a:ext cx="1962000" cy="630000"/>
          </a:xfrm>
          <a:prstGeom prst="roundRect">
            <a:avLst/>
          </a:prstGeom>
          <a:solidFill>
            <a:srgbClr val="2E69B3"/>
          </a:solidFill>
          <a:ln w="12700">
            <a:solidFill>
              <a:srgbClr val="2E6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模型验证与整合</a:t>
            </a:r>
          </a:p>
        </p:txBody>
      </p:sp>
      <p:sp>
        <p:nvSpPr>
          <p:cNvPr id="104" name="text-✓"/>
          <p:cNvSpPr txBox="1"/>
          <p:nvPr/>
        </p:nvSpPr>
        <p:spPr>
          <a:xfrm>
            <a:off x="4546800" y="6069600"/>
            <a:ext cx="259200" cy="259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05" name="bottom-pill-可视化趋势曲线"/>
          <p:cNvSpPr/>
          <p:nvPr/>
        </p:nvSpPr>
        <p:spPr>
          <a:xfrm>
            <a:off x="8424000" y="5958000"/>
            <a:ext cx="1962000" cy="630000"/>
          </a:xfrm>
          <a:prstGeom prst="roundRect">
            <a:avLst/>
          </a:prstGeom>
          <a:solidFill>
            <a:srgbClr val="7651A6"/>
          </a:solidFill>
          <a:ln w="12700">
            <a:solidFill>
              <a:srgbClr val="765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" rIns="28800" tIns="10800" bIns="10800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可视化趋势曲线</a:t>
            </a:r>
          </a:p>
        </p:txBody>
      </p:sp>
      <p:sp>
        <p:nvSpPr>
          <p:cNvPr id="106" name="text-╱"/>
          <p:cNvSpPr txBox="1"/>
          <p:nvPr/>
        </p:nvSpPr>
        <p:spPr>
          <a:xfrm>
            <a:off x="8560800" y="6069600"/>
            <a:ext cx="259200" cy="259200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╱</a:t>
            </a:r>
          </a:p>
        </p:txBody>
      </p:sp>
      <p:cxnSp>
        <p:nvCxnSpPr>
          <p:cNvPr id="107" name="line-106"/>
          <p:cNvCxnSpPr/>
          <p:nvPr/>
        </p:nvCxnSpPr>
        <p:spPr>
          <a:xfrm flipH="1">
            <a:off x="2520000" y="6271200"/>
            <a:ext cx="1872000" cy="0"/>
          </a:xfrm>
          <a:prstGeom prst="line">
            <a:avLst/>
          </a:prstGeom>
          <a:ln w="25400">
            <a:solidFill>
              <a:srgbClr val="4C9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line-107"/>
          <p:cNvCxnSpPr/>
          <p:nvPr/>
        </p:nvCxnSpPr>
        <p:spPr>
          <a:xfrm>
            <a:off x="6372000" y="6271200"/>
            <a:ext cx="2034000" cy="0"/>
          </a:xfrm>
          <a:prstGeom prst="line">
            <a:avLst/>
          </a:prstGeom>
          <a:ln w="25400">
            <a:solidFill>
              <a:srgbClr val="765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-图1  多源生理信号慢病风险预测与个体化"/>
          <p:cNvSpPr txBox="1"/>
          <p:nvPr/>
        </p:nvSpPr>
        <p:spPr>
          <a:xfrm>
            <a:off x="2340000" y="6739200"/>
            <a:ext cx="6120000" cy="251999"/>
          </a:xfrm>
          <a:prstGeom prst="rect">
            <a:avLst/>
          </a:prstGeom>
          <a:noFill/>
        </p:spPr>
        <p:txBody>
          <a:bodyPr wrap="none" lIns="10800" rIns="10800" tIns="7200" bIns="720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243A"/>
                </a:solidFill>
                <a:latin typeface="Microsoft YaHei"/>
              </a:rPr>
              <a:t>图1  多源生理信号慢病风险预测与个体化干预研究框架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