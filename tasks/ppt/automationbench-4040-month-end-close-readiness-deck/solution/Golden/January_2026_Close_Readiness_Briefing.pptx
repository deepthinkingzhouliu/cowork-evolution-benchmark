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Checklist items</c:v>
                </c:pt>
              </c:strCache>
            </c:strRef>
          </c:tx>
          <c:dPt>
            <c:idx val="0"/>
            <c:spPr>
              <a:solidFill>
                <a:srgbClr val="12B76A"/>
              </a:solidFill>
            </c:spPr>
          </c:dPt>
          <c:dPt>
            <c:idx val="1"/>
            <c:spPr>
              <a:solidFill>
                <a:srgbClr val="D92D20"/>
              </a:solidFill>
            </c:spPr>
          </c:dPt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Incomplete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3</c:v>
                </c:pt>
              </c:numCache>
            </c:numRef>
          </c:val>
        </c:ser>
        <c:dLbls>
          <c:dLblPos val="bestFit"/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94360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9BC2F5"/>
                </a:solidFill>
                <a:latin typeface="Aptos"/>
              </a:rPr>
              <a:t>MONTH-END CLOSE  /  JANUARY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67512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Close Readiness
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97480"/>
            <a:ext cx="6400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D0D5DD"/>
                </a:solidFill>
                <a:latin typeface="Aptos"/>
              </a:rPr>
              <a:t>Controller &amp; CFO review  ·  As of 03 Feb 2026, 16:00 UTC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47888" y="777240"/>
            <a:ext cx="3273552" cy="2487168"/>
          </a:xfrm>
          <a:prstGeom prst="roundRect">
            <a:avLst/>
          </a:prstGeom>
          <a:solidFill>
            <a:srgbClr val="16365F"/>
          </a:solidFill>
          <a:ln>
            <a:solidFill>
              <a:srgbClr val="2C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069848"/>
            <a:ext cx="265176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4300" b="1">
                <a:solidFill>
                  <a:srgbClr val="FFFFFF"/>
                </a:solidFill>
                <a:latin typeface="Aptos"/>
              </a:rPr>
              <a:t>57.1%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874519"/>
            <a:ext cx="2651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B8C7D9"/>
                </a:solidFill>
                <a:latin typeface="Aptos"/>
              </a:rPr>
              <a:t>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14816" y="2395728"/>
            <a:ext cx="2103120" cy="457200"/>
          </a:xfrm>
          <a:prstGeom prst="round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14816" y="2459736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NOT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389120"/>
            <a:ext cx="3429000" cy="1078992"/>
          </a:xfrm>
          <a:prstGeom prst="roundRect">
            <a:avLst/>
          </a:prstGeom>
          <a:solidFill>
            <a:srgbClr val="16365F"/>
          </a:solidFill>
          <a:ln>
            <a:solidFill>
              <a:srgbClr val="2C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4389120"/>
            <a:ext cx="64008" cy="1078992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544568"/>
            <a:ext cx="31089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5047488"/>
            <a:ext cx="3108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D0D5DD"/>
                </a:solidFill>
                <a:latin typeface="Aptos"/>
              </a:rPr>
              <a:t>CHECKLIST ITEMS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4389120"/>
            <a:ext cx="3429000" cy="1078992"/>
          </a:xfrm>
          <a:prstGeom prst="roundRect">
            <a:avLst/>
          </a:prstGeom>
          <a:solidFill>
            <a:srgbClr val="16365F"/>
          </a:solidFill>
          <a:ln>
            <a:solidFill>
              <a:srgbClr val="2C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4389120"/>
            <a:ext cx="64008" cy="1078992"/>
          </a:xfrm>
          <a:prstGeom prst="rect">
            <a:avLst/>
          </a:prstGeom>
          <a:solidFill>
            <a:srgbClr val="12B76A"/>
          </a:solidFill>
          <a:ln>
            <a:solidFill>
              <a:srgbClr val="12B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4544568"/>
            <a:ext cx="31089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5047488"/>
            <a:ext cx="3108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D0D5DD"/>
                </a:solidFill>
                <a:latin typeface="Aptos"/>
              </a:rPr>
              <a:t>COMPLETE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4389120"/>
            <a:ext cx="3429000" cy="1078992"/>
          </a:xfrm>
          <a:prstGeom prst="roundRect">
            <a:avLst/>
          </a:prstGeom>
          <a:solidFill>
            <a:srgbClr val="16365F"/>
          </a:solidFill>
          <a:ln>
            <a:solidFill>
              <a:srgbClr val="2C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4389120"/>
            <a:ext cx="64008" cy="1078992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544568"/>
            <a:ext cx="31089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047488"/>
            <a:ext cx="3108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D0D5DD"/>
                </a:solidFill>
                <a:latin typeface="Aptos"/>
              </a:rPr>
              <a:t>OPEN / BLOCKED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B8C7D9"/>
                </a:solidFill>
                <a:latin typeface="Aptos"/>
              </a:rPr>
              <a:t>AutomationBench 4040  ·  Snapshot 2026-02-03 16:00Z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B8C7D9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6766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F80ED"/>
                </a:solidFill>
                <a:latin typeface="Aptos"/>
              </a:rPr>
              <a:t>EXECUTIVE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F2747"/>
                </a:solidFill>
                <a:latin typeface="Aptos"/>
              </a:rPr>
              <a:t>Readiness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02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33856"/>
            <a:ext cx="11000232" cy="18288"/>
          </a:xfrm>
          <a:prstGeom prst="rect">
            <a:avLst/>
          </a:prstGeom>
          <a:solidFill>
            <a:srgbClr val="EAECF0"/>
          </a:solidFill>
          <a:ln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1444752"/>
          <a:ext cx="4572000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56231" y="2788920"/>
            <a:ext cx="21488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000" b="1">
                <a:solidFill>
                  <a:srgbClr val="0F2747"/>
                </a:solidFill>
                <a:latin typeface="Aptos"/>
              </a:rPr>
              <a:t>4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1" y="3310128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ptos"/>
              </a:rPr>
              <a:t>items complete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1609344"/>
            <a:ext cx="25420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23560" y="1609344"/>
            <a:ext cx="64008" cy="1078992"/>
          </a:xfrm>
          <a:prstGeom prst="rect">
            <a:avLst/>
          </a:prstGeom>
          <a:solidFill>
            <a:srgbClr val="12B76A"/>
          </a:solidFill>
          <a:ln>
            <a:solidFill>
              <a:srgbClr val="12B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43016" y="1764792"/>
            <a:ext cx="2221991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F2747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3016" y="2267712"/>
            <a:ext cx="2221991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Aptos"/>
              </a:rPr>
              <a:t>COMPLETE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76488" y="1609344"/>
            <a:ext cx="25420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76488" y="1609344"/>
            <a:ext cx="64008" cy="1078992"/>
          </a:xfrm>
          <a:prstGeom prst="rect">
            <a:avLst/>
          </a:prstGeom>
          <a:solidFill>
            <a:srgbClr val="F79009"/>
          </a:solidFill>
          <a:ln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95944" y="1764792"/>
            <a:ext cx="2221991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F2747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5944" y="2267712"/>
            <a:ext cx="2221991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Aptos"/>
              </a:rPr>
              <a:t>IN 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999232"/>
            <a:ext cx="25420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2999232"/>
            <a:ext cx="64008" cy="1078992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43016" y="3154680"/>
            <a:ext cx="2221991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F2747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3016" y="3657600"/>
            <a:ext cx="2221991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Aptos"/>
              </a:rPr>
              <a:t>NOT STARTED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76488" y="2999232"/>
            <a:ext cx="25420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76488" y="2999232"/>
            <a:ext cx="64008" cy="1078992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95944" y="3154680"/>
            <a:ext cx="2221991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0F2747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5944" y="3657600"/>
            <a:ext cx="2221991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Aptos"/>
              </a:rPr>
              <a:t>BLOCKED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526280"/>
            <a:ext cx="5394960" cy="1042415"/>
          </a:xfrm>
          <a:prstGeom prst="roundRect">
            <a:avLst/>
          </a:prstGeom>
          <a:solidFill>
            <a:srgbClr val="F2F4F7"/>
          </a:solidFill>
          <a:ln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70448" y="4709160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Aptos"/>
              </a:rPr>
              <a:t>Decision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4663440"/>
            <a:ext cx="1463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D92D20"/>
                </a:solidFill>
                <a:latin typeface="Aptos"/>
              </a:rPr>
              <a:t>NOT 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5102352"/>
            <a:ext cx="48006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344054"/>
                </a:solidFill>
                <a:latin typeface="Aptos"/>
              </a:rPr>
              <a:t>2 overdue items  ·  1 due today and blocked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967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Aptos"/>
              </a:rPr>
              <a:t>AutomationBench 4040  ·  Snapshot 2026-02-03 16:00Z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8A2B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6766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F80ED"/>
                </a:solidFill>
                <a:latin typeface="Aptos"/>
              </a:rPr>
              <a:t>SOURCE-OF-TRUTH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F2747"/>
                </a:solidFill>
                <a:latin typeface="Aptos"/>
              </a:rPr>
              <a:t>Full close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03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33856"/>
            <a:ext cx="11000232" cy="18288"/>
          </a:xfrm>
          <a:prstGeom prst="rect">
            <a:avLst/>
          </a:prstGeom>
          <a:solidFill>
            <a:srgbClr val="EAECF0"/>
          </a:solidFill>
          <a:ln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417320"/>
          <a:ext cx="1088135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74519"/>
                <a:gridCol w="1645920"/>
                <a:gridCol w="132588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ITEM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DUE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READINESS FLAG</a:t>
                      </a:r>
                    </a:p>
                  </a:txBody>
                  <a:tcPr>
                    <a:solidFill>
                      <a:srgbClr val="0F27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Bank reconciliation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Alice Park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Complete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2026-02-01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On track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AP cutoff review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Bob Chen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Complete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2026-02-01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On track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Revenue accruals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Carol Diaz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79009"/>
                          </a:solidFill>
                          <a:latin typeface="Aptos"/>
                        </a:rPr>
                        <a:t>In Progress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2026-02-02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79009"/>
                          </a:solidFill>
                          <a:latin typeface="Aptos"/>
                        </a:rPr>
                        <a:t>Overdue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Intercompany elimination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Dave Kim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D92D20"/>
                          </a:solidFill>
                          <a:latin typeface="Aptos"/>
                        </a:rPr>
                        <a:t>Not Started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2026-02-02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D92D20"/>
                          </a:solidFill>
                          <a:latin typeface="Aptos"/>
                        </a:rPr>
                        <a:t>Overdue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Fixed asset depreciation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Eve Liu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Complete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2026-02-02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On track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Payroll reconciliation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Frank Torres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Complete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2026-02-03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On track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Tax provision estimate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Grace Wu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D92D20"/>
                          </a:solidFill>
                          <a:latin typeface="Aptos"/>
                        </a:rPr>
                        <a:t>Blocked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44054"/>
                          </a:solidFill>
                          <a:latin typeface="Aptos"/>
                        </a:rPr>
                        <a:t>2026-02-03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D92D20"/>
                          </a:solidFill>
                          <a:latin typeface="Aptos"/>
                        </a:rPr>
                        <a:t>Due today / blocked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51967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Aptos"/>
              </a:rPr>
              <a:t>AutomationBench 4040  ·  Snapshot 2026-02-03 16:00Z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8A2B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6766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F80ED"/>
                </a:solidFill>
                <a:latin typeface="Aptos"/>
              </a:rPr>
              <a:t>EXCEPTION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F2747"/>
                </a:solidFill>
                <a:latin typeface="Aptos"/>
              </a:rPr>
              <a:t>Open items requiring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04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33856"/>
            <a:ext cx="11000232" cy="18288"/>
          </a:xfrm>
          <a:prstGeom prst="rect">
            <a:avLst/>
          </a:prstGeom>
          <a:solidFill>
            <a:srgbClr val="EAECF0"/>
          </a:solidFill>
          <a:ln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33832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81328"/>
            <a:ext cx="3383280" cy="82296"/>
          </a:xfrm>
          <a:prstGeom prst="rect">
            <a:avLst/>
          </a:prstGeom>
          <a:solidFill>
            <a:srgbClr val="F79009"/>
          </a:solidFill>
          <a:ln>
            <a:solidFill>
              <a:srgbClr val="F79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64792"/>
            <a:ext cx="2834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79009"/>
                </a:solidFill>
                <a:latin typeface="Aptos"/>
              </a:rPr>
              <a:t>OVERDUE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288036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2747"/>
                </a:solidFill>
                <a:latin typeface="Aptos"/>
              </a:rPr>
              <a:t>Revenue accruals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980944"/>
            <a:ext cx="685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2926080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D2939"/>
                </a:solidFill>
                <a:latin typeface="Aptos"/>
              </a:rPr>
              <a:t>Carol Diaz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310128"/>
            <a:ext cx="28803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Aptos"/>
              </a:rPr>
              <a:t>carol@company.example.com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803904"/>
            <a:ext cx="685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8488" y="3749039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79009"/>
                </a:solidFill>
                <a:latin typeface="Aptos"/>
              </a:rPr>
              <a:t>In 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224528"/>
            <a:ext cx="685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DUE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4169663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D2939"/>
                </a:solidFill>
                <a:latin typeface="Aptos"/>
              </a:rPr>
              <a:t>2026-02-02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864608"/>
            <a:ext cx="28346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344054"/>
                </a:solidFill>
                <a:latin typeface="Aptos"/>
              </a:rPr>
              <a:t>Immediate owner follow-up required.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1481328"/>
            <a:ext cx="33832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1688" y="1481328"/>
            <a:ext cx="3383280" cy="82296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1144" y="1764792"/>
            <a:ext cx="2834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D92D20"/>
                </a:solidFill>
                <a:latin typeface="Aptos"/>
              </a:rPr>
              <a:t>OVERDUE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103120"/>
            <a:ext cx="288036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2747"/>
                </a:solidFill>
                <a:latin typeface="Aptos"/>
              </a:rPr>
              <a:t>Intercompany elimination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2980944"/>
            <a:ext cx="685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7" y="2926080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D2939"/>
                </a:solidFill>
                <a:latin typeface="Aptos"/>
              </a:rPr>
              <a:t>Dave Kim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3310128"/>
            <a:ext cx="28803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Aptos"/>
              </a:rPr>
              <a:t>dave@company.example.com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3803904"/>
            <a:ext cx="685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7" y="3749039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D92D20"/>
                </a:solidFill>
                <a:latin typeface="Aptos"/>
              </a:rPr>
              <a:t>Not Started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4224528"/>
            <a:ext cx="685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DUE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1807" y="4169663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D2939"/>
                </a:solidFill>
                <a:latin typeface="Aptos"/>
              </a:rPr>
              <a:t>2026-02-02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144" y="4864608"/>
            <a:ext cx="28346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344054"/>
                </a:solidFill>
                <a:latin typeface="Aptos"/>
              </a:rPr>
              <a:t>Immediate owner follow-up required.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1481328"/>
            <a:ext cx="33832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A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65008" y="1481328"/>
            <a:ext cx="3383280" cy="82296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1764792"/>
            <a:ext cx="2834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D92D20"/>
                </a:solidFill>
                <a:latin typeface="Aptos"/>
              </a:rPr>
              <a:t>DUE TODAY / BLOCKED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2103120"/>
            <a:ext cx="288036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2747"/>
                </a:solidFill>
                <a:latin typeface="Aptos"/>
              </a:rPr>
              <a:t>Tax provision estimate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2980944"/>
            <a:ext cx="685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OWNER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5128" y="2926080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D2939"/>
                </a:solidFill>
                <a:latin typeface="Aptos"/>
              </a:rPr>
              <a:t>Grace Wu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3310128"/>
            <a:ext cx="28803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Aptos"/>
              </a:rPr>
              <a:t>grace@company.example.com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3803904"/>
            <a:ext cx="685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5128" y="3749039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D92D20"/>
                </a:solidFill>
                <a:latin typeface="Aptos"/>
              </a:rPr>
              <a:t>Blocked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4" y="4224528"/>
            <a:ext cx="685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DUE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25128" y="4169663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D2939"/>
                </a:solidFill>
                <a:latin typeface="Aptos"/>
              </a:rPr>
              <a:t>2026-02-03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84464" y="4709160"/>
            <a:ext cx="2880360" cy="758952"/>
          </a:xfrm>
          <a:prstGeom prst="roundRect">
            <a:avLst/>
          </a:prstGeom>
          <a:solidFill>
            <a:srgbClr val="FFF4ED"/>
          </a:solidFill>
          <a:ln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49056" y="4882896"/>
            <a:ext cx="257860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D92D20"/>
                </a:solidFill>
                <a:latin typeface="Aptos"/>
              </a:rPr>
              <a:t>Waiting on state tax guidance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1967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8A2B3"/>
                </a:solidFill>
                <a:latin typeface="Aptos"/>
              </a:rPr>
              <a:t>AutomationBench 4040  ·  Snapshot 2026-02-03 16:00Z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8A2B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30352"/>
            <a:ext cx="6949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BC2F5"/>
                </a:solidFill>
                <a:latin typeface="Aptos"/>
              </a:rPr>
              <a:t>COMMUNICATION-READY CLOSE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70408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January close is not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672084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E4E7EC"/>
                </a:solidFill>
                <a:latin typeface="Aptos"/>
              </a:rPr>
              <a:t>4 of 7 checklist items are complete (57.1%). Revenue accruals and intercompany elimination are overdue; tax provision estimate is blocked pending state tax guidance.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246120"/>
            <a:ext cx="6720840" cy="1920240"/>
          </a:xfrm>
          <a:prstGeom prst="roundRect">
            <a:avLst/>
          </a:prstGeom>
          <a:solidFill>
            <a:srgbClr val="16365F"/>
          </a:solidFill>
          <a:ln>
            <a:solidFill>
              <a:srgbClr val="2C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353872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9BC2F5"/>
                </a:solidFill>
                <a:latin typeface="Aptos"/>
              </a:rPr>
              <a:t>Owners to follow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913632"/>
            <a:ext cx="576072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Carol Diaz  ·  Revenue accruals
Dave Kim  ·  Intercompany elimination
Grace Wu  ·  Tax provision estimate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932688"/>
            <a:ext cx="3493008" cy="42336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243584"/>
            <a:ext cx="2743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F80ED"/>
                </a:solidFill>
                <a:latin typeface="Aptos"/>
              </a:rPr>
              <a:t>DELIVERY AUDIENCE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169164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Aptos"/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2011680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D2939"/>
                </a:solidFill>
                <a:latin typeface="Aptos"/>
              </a:rPr>
              <a:t>controller@company.example.com
cfo@company.example.com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2944368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Aptos"/>
              </a:rPr>
              <a:t>Slack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327355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2747"/>
                </a:solidFill>
                <a:latin typeface="Aptos"/>
              </a:rPr>
              <a:t>#finance-alerts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3959352"/>
            <a:ext cx="1280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Aptos"/>
              </a:rPr>
              <a:t>Overall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4315968"/>
            <a:ext cx="2057400" cy="438912"/>
          </a:xfrm>
          <a:prstGeom prst="round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4379976"/>
            <a:ext cx="20574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NOT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B8C7D9"/>
                </a:solidFill>
                <a:latin typeface="Aptos"/>
              </a:rPr>
              <a:t>AutomationBench 4040  ·  Snapshot 2026-02-03 16:00Z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B8C7D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