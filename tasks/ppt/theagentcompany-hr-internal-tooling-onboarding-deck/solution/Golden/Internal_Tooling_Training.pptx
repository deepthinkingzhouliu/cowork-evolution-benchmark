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6766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8A6B8"/>
                </a:solidFill>
                <a:latin typeface="Aptos"/>
              </a:rPr>
              <a:t>NEW HIRE ONBOARDING  /  INTERNAL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69494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Internal Tooling
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24912"/>
            <a:ext cx="6858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C8D3E2"/>
                </a:solidFill>
                <a:latin typeface="Aptos"/>
              </a:rPr>
              <a:t>One operating map for communication, code, files and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14800"/>
            <a:ext cx="2542032" cy="1243584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4114800"/>
            <a:ext cx="54864" cy="1243584"/>
          </a:xfrm>
          <a:prstGeom prst="rect">
            <a:avLst/>
          </a:prstGeom>
          <a:solidFill>
            <a:srgbClr val="18A6B8"/>
          </a:solidFill>
          <a:ln>
            <a:solidFill>
              <a:srgbClr val="18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315968"/>
            <a:ext cx="2057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RocketChat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80060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6B8"/>
                </a:solidFill>
                <a:latin typeface="Aptos"/>
              </a:rPr>
              <a:t>COMMUNICATE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4114800"/>
            <a:ext cx="2542032" cy="1243584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38144" y="4114800"/>
            <a:ext cx="54864" cy="1243584"/>
          </a:xfrm>
          <a:prstGeom prst="rect">
            <a:avLst/>
          </a:prstGeom>
          <a:solidFill>
            <a:srgbClr val="286BC7"/>
          </a:solidFill>
          <a:ln>
            <a:solidFill>
              <a:srgbClr val="28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4315968"/>
            <a:ext cx="2057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GitLab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480060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86BC7"/>
                </a:solidFill>
                <a:latin typeface="Aptos"/>
              </a:rPr>
              <a:t>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2542032" cy="1243584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4864" cy="1243584"/>
          </a:xfrm>
          <a:prstGeom prst="rect">
            <a:avLst/>
          </a:prstGeom>
          <a:solidFill>
            <a:srgbClr val="188A63"/>
          </a:solidFill>
          <a:ln>
            <a:solidFill>
              <a:srgbClr val="18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4315968"/>
            <a:ext cx="2057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OwnCloud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80060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A63"/>
                </a:solidFill>
                <a:latin typeface="Aptos"/>
              </a:rPr>
              <a:t>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4114800"/>
            <a:ext cx="2542032" cy="1243584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4114800"/>
            <a:ext cx="54864" cy="1243584"/>
          </a:xfrm>
          <a:prstGeom prst="rect">
            <a:avLst/>
          </a:prstGeom>
          <a:solidFill>
            <a:srgbClr val="DF8A14"/>
          </a:solidFill>
          <a:ln>
            <a:solidFill>
              <a:srgbClr val="DF8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4315968"/>
            <a:ext cx="2057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480060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F8A14"/>
                </a:solidFill>
                <a:latin typeface="Aptos"/>
              </a:rP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33872"/>
            <a:ext cx="8412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B9C5D7"/>
                </a:solidFill>
                <a:latin typeface="Aptos"/>
              </a:rPr>
              <a:t>Audience: new hires  ·  7-page foundation  ·  review owner: Chen Xinyi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A9B7CA"/>
                </a:solidFill>
                <a:latin typeface="Aptos"/>
              </a:rPr>
              <a:t>Source: Task_Delivery_Context.json + upstream task  ·  TheAgentCompany @ 98b68ef8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9B7C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86BC7"/>
                </a:solidFill>
                <a:latin typeface="Aptos"/>
              </a:rPr>
              <a:t>MISSION -&gt; PRODUCTS -&gt;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E34"/>
                </a:solidFill>
                <a:latin typeface="Aptos"/>
              </a:rPr>
              <a:t>TAC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01752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67285"/>
                </a:solidFill>
                <a:latin typeface="Aptos"/>
              </a:rPr>
              <a:t>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000232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5778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11E34"/>
                </a:solidFill>
                <a:latin typeface="Aptos"/>
              </a:rPr>
              <a:t>Build data + AI systems
that turn complexity into leverage.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2374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86BC7"/>
                </a:solidFill>
                <a:latin typeface="Aptos"/>
              </a:rPr>
              <a:t>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16352"/>
            <a:ext cx="530352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Provide advanced, efficient and user-friendly data processing and AI tools that drive innovation and maximize the value of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507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A63"/>
                </a:solidFill>
                <a:latin typeface="Aptos"/>
              </a:rP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15968"/>
            <a:ext cx="5303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Become a global leader in distributed systems and artificial intelligence.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53312"/>
            <a:ext cx="2331720" cy="1225296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499616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286BC7"/>
                </a:solidFill>
                <a:latin typeface="Aptos"/>
              </a:rPr>
              <a:t>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64792"/>
            <a:ext cx="196596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JanusGraph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03120"/>
            <a:ext cx="19751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67285"/>
                </a:solidFill>
                <a:latin typeface="Aptos"/>
              </a:rPr>
              <a:t>distributed graph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353312"/>
            <a:ext cx="2331720" cy="1225296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499616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18A6B8"/>
                </a:solidFill>
                <a:latin typeface="Aptos"/>
              </a:rPr>
              <a:t>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1764792"/>
            <a:ext cx="196596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RisingWave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103120"/>
            <a:ext cx="19751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67285"/>
                </a:solidFill>
                <a:latin typeface="Aptos"/>
              </a:rPr>
              <a:t>streaming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34640"/>
            <a:ext cx="2331720" cy="1225296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98094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188A63"/>
                </a:solidFill>
                <a:latin typeface="Aptos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246120"/>
            <a:ext cx="196596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OpenHands + llama.cpp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584448"/>
            <a:ext cx="19751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67285"/>
                </a:solidFill>
                <a:latin typeface="Aptos"/>
              </a:rPr>
              <a:t>development and inference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2834640"/>
            <a:ext cx="2331720" cy="1225296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298094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DF8A14"/>
                </a:solidFill>
                <a:latin typeface="Aptos"/>
              </a:rPr>
              <a:t>CRAWL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246120"/>
            <a:ext cx="196596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Colly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584448"/>
            <a:ext cx="19751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67285"/>
                </a:solidFill>
                <a:latin typeface="Aptos"/>
              </a:rPr>
              <a:t>web crawler framework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15968"/>
            <a:ext cx="2331720" cy="1225296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46227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286BC7"/>
                </a:solidFill>
                <a:latin typeface="Aptos"/>
              </a:rPr>
              <a:t>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727448"/>
            <a:ext cx="196596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OpenSearch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5065776"/>
            <a:ext cx="19751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67285"/>
                </a:solidFill>
                <a:latin typeface="Aptos"/>
              </a:rPr>
              <a:t>distributed search 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4315968"/>
            <a:ext cx="2331720" cy="1225296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446227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18A6B8"/>
                </a:solidFill>
                <a:latin typeface="Aptos"/>
              </a:rPr>
              <a:t>LOW-CODE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1432" y="4727448"/>
            <a:ext cx="196596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Node-RED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5065776"/>
            <a:ext cx="19751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67285"/>
                </a:solidFill>
                <a:latin typeface="Aptos"/>
              </a:rPr>
              <a:t>event-driven apps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897880"/>
            <a:ext cx="4937760" cy="329184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980176"/>
            <a:ext cx="4663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286BC7"/>
                </a:solidFill>
                <a:latin typeface="Aptos"/>
              </a:rPr>
              <a:t>Rust · Python · C++ · Go · Java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285"/>
                </a:solidFill>
                <a:latin typeface="Aptos"/>
              </a:rPr>
              <a:t>Source: TAC_overview.md  ·  TheAgentCompany @ 98b68ef8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2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86BC7"/>
                </a:solidFill>
                <a:latin typeface="Aptos"/>
              </a:rPr>
              <a:t>COMMUNICATION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E34"/>
                </a:solidFill>
                <a:latin typeface="Aptos"/>
              </a:rPr>
              <a:t>RocketChat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01752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67285"/>
                </a:solidFill>
                <a:latin typeface="Aptos"/>
              </a:rPr>
              <a:t>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000232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86BC7"/>
                </a:solidFill>
                <a:latin typeface="Aptos"/>
              </a:rPr>
              <a:t>http://the-agent-company.com:3000/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207008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67285"/>
                </a:solidFill>
                <a:latin typeface="Aptos"/>
              </a:rPr>
              <a:t>Default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117043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188A63"/>
                </a:solidFill>
                <a:latin typeface="Aptos"/>
              </a:rPr>
              <a:t>#general  +  #kudos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3456432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4767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86BC7"/>
                </a:solidFill>
                <a:latin typeface="Aptos"/>
              </a:rPr>
              <a:t>COMPANY &amp;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915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2359152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company-wide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7180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#kudos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971800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recognition and team achievements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84448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#help-desk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3584448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internal support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97096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#random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2" y="4197096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informal team conversation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809744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#tech-talk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2" y="4809744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cross-project technical discussion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7" y="1719072"/>
            <a:ext cx="3456432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194767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A63"/>
                </a:solidFill>
                <a:latin typeface="Aptos"/>
              </a:rPr>
              <a:t>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235915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1" y="2359152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engineering coordination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297180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1" y="2971800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product planning and UX coordination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584448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#hr-announcements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1" y="3584448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HR announcements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197096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#sales-marketing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3871" y="4197096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sales and marketing coordination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1719072"/>
            <a:ext cx="3456432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194767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F8A14"/>
                </a:solidFill>
                <a:latin typeface="Aptos"/>
              </a:rPr>
              <a:t>PROJECTS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35915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#project-ai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2359152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OpenHands and llama.cpp project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297180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#project-graphdb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971800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JanusGraph project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3584448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#project-lowcode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584448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Node-RED project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4197096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#project-search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12" y="4197096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OpenSearch project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809744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#project-streamdb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2" y="4809744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RisingWave project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542239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11E34"/>
                </a:solidFill>
                <a:latin typeface="Aptos"/>
              </a:rPr>
              <a:t>#project-webcrawler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2912" y="5422392"/>
            <a:ext cx="1783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667285"/>
                </a:solidFill>
                <a:latin typeface="Aptos"/>
              </a:rPr>
              <a:t>Colly project 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285"/>
                </a:solidFill>
                <a:latin typeface="Aptos"/>
              </a:rPr>
              <a:t>Source: Internal_Tooling_Source_Snapshot.json + Personnell_File.odt  ·  TheAgentCompany @ 98b68ef8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2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86BC7"/>
                </a:solidFill>
                <a:latin typeface="Aptos"/>
              </a:rPr>
              <a:t>COLLABORATE ON CODE AND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E34"/>
                </a:solidFill>
                <a:latin typeface="Aptos"/>
              </a:rPr>
              <a:t>Gitlab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01752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67285"/>
                </a:solidFill>
                <a:latin typeface="Aptos"/>
              </a:rPr>
              <a:t>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000232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86BC7"/>
                </a:solidFill>
                <a:latin typeface="Aptos"/>
              </a:rPr>
              <a:t>http://the-agent-company.com:8929/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56231"/>
            <a:ext cx="3401568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84831"/>
            <a:ext cx="5669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86BC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51760"/>
            <a:ext cx="2880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86BC7"/>
                </a:solidFill>
                <a:latin typeface="Aptos"/>
              </a:rPr>
              <a:t>CODE COLLABORATION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08960"/>
            <a:ext cx="2907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11E34"/>
                </a:solidFill>
                <a:latin typeface="Aptos"/>
              </a:rPr>
              <a:t>branch -&gt; commit -&gt; merge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58768"/>
            <a:ext cx="29077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Review changes before they reach the main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4864608"/>
            <a:ext cx="2907792" cy="36576"/>
          </a:xfrm>
          <a:prstGeom prst="rect">
            <a:avLst/>
          </a:prstGeom>
          <a:solidFill>
            <a:srgbClr val="286BC7"/>
          </a:solidFill>
          <a:ln>
            <a:solidFill>
              <a:srgbClr val="28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856231"/>
            <a:ext cx="3401568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84831"/>
            <a:ext cx="5669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88A6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651760"/>
            <a:ext cx="2880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88A63"/>
                </a:solidFill>
                <a:latin typeface="Aptos"/>
              </a:rPr>
              <a:t>PROJECT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108960"/>
            <a:ext cx="2907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11E34"/>
                </a:solidFill>
                <a:latin typeface="Aptos"/>
              </a:rPr>
              <a:t>milestones -&gt; owners -&gt;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858768"/>
            <a:ext cx="29077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Keep repository work tied to delivery context.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4864608"/>
            <a:ext cx="2907792" cy="36576"/>
          </a:xfrm>
          <a:prstGeom prst="rect">
            <a:avLst/>
          </a:prstGeom>
          <a:solidFill>
            <a:srgbClr val="188A63"/>
          </a:solidFill>
          <a:ln>
            <a:solidFill>
              <a:srgbClr val="18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19872" y="1856231"/>
            <a:ext cx="3401568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2084831"/>
            <a:ext cx="5669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DF8A14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651760"/>
            <a:ext cx="2880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F8A14"/>
                </a:solidFill>
                <a:latin typeface="Aptos"/>
              </a:rPr>
              <a:t>ISSUE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3108960"/>
            <a:ext cx="2907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11E34"/>
                </a:solidFill>
                <a:latin typeface="Aptos"/>
              </a:rPr>
              <a:t>issue -&gt; label -&gt; assignee -&gt;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858768"/>
            <a:ext cx="29077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Turn findings into visible, accountable work.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9328" y="4864608"/>
            <a:ext cx="2907792" cy="36576"/>
          </a:xfrm>
          <a:prstGeom prst="rect">
            <a:avLst/>
          </a:prstGeom>
          <a:solidFill>
            <a:srgbClr val="DF8A14"/>
          </a:solidFill>
          <a:ln>
            <a:solidFill>
              <a:srgbClr val="DF8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67285"/>
                </a:solidFill>
                <a:latin typeface="Aptos"/>
              </a:rPr>
              <a:t>Working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5650992"/>
            <a:ext cx="9875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11E34"/>
                </a:solidFill>
                <a:latin typeface="Aptos"/>
              </a:rPr>
              <a:t>Keep discussion in the merge request, delivery status in issues, and project-level cadence in milestones.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285"/>
                </a:solidFill>
                <a:latin typeface="Aptos"/>
              </a:rPr>
              <a:t>Source: Internal_Tooling_Source_Snapshot.json / upstream GitLab usage requirements  ·  TheAgentCompany @ 98b68ef8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2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86BC7"/>
                </a:solidFill>
                <a:latin typeface="Aptos"/>
              </a:rPr>
              <a:t>COMPLETE COMPANY REPOSITORY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E34"/>
                </a:solidFill>
                <a:latin typeface="Aptos"/>
              </a:rPr>
              <a:t>Gitlab Repos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01752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67285"/>
                </a:solidFill>
                <a:latin typeface="Aptos"/>
              </a:rPr>
              <a:t>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000232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44751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389888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api-server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1380744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Python API development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65960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12264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057400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bustub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2048255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The BusTub Relational Database Management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33472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79776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724912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colly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715768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Elegant Scraper and Crawler Framework for Golang.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00984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47288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392424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copilot-arena-server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3383279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server repository for Copilot Arena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68496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14800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059935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8336" y="4050791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company documentation and wiki repository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636008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782312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727448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janusgraph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4718304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distributed graph database product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303520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449824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394959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llama.cpp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8336" y="5385816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LLM inference in C/C++.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298448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1444751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3" y="1389888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node-red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1380744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Low-code programming for event-driven applications.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965960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2112264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3" y="2057400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openhands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2048255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OpenHands: Code Less, Make More.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2633472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2779776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3" y="2724912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opensearch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2715768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Open source distributed and RESTful search engine.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300984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3447288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3" y="3392424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raft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3383279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Implementation of the Raft consensus algorithm.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968496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4114800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9983" y="4059935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risingwave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4050791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Unified streaming and batch; PostgreSQL-compatible stream processing, real-time ETL pipelines, and feature stores.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636008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4" y="4782312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9983" y="4727448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sotopia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4718304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An open-ended social learning environment (ICLR 2024 spotlight).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303520"/>
            <a:ext cx="5257800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5449824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9983" y="5394959"/>
            <a:ext cx="1581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11E34"/>
                </a:solidFill>
                <a:latin typeface="Aptos"/>
              </a:rPr>
              <a:t>streamlit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47888" y="5385816"/>
            <a:ext cx="30083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667285"/>
                </a:solidFill>
                <a:latin typeface="Aptos"/>
              </a:rPr>
              <a:t>A faster way to build and share data apps.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" y="6108192"/>
            <a:ext cx="10817352" cy="201168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6135624"/>
            <a:ext cx="104973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70" b="1">
                <a:solidFill>
                  <a:srgbClr val="286BC7"/>
                </a:solidFill>
                <a:latin typeface="Aptos"/>
              </a:rPr>
              <a:t>14 / 14 repositories represented  ·  descriptions stay within frozen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285"/>
                </a:solidFill>
                <a:latin typeface="Aptos"/>
              </a:rPr>
              <a:t>Source: Internal_Tooling_Source_Snapshot.json / evaluator repo list + OwnCloud taglines  ·  TheAgentCompany @ 98b68ef8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2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86BC7"/>
                </a:solidFill>
                <a:latin typeface="Aptos"/>
              </a:rPr>
              <a:t>DOCUMENTS INVENTORY AND SHARING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E34"/>
                </a:solidFill>
                <a:latin typeface="Aptos"/>
              </a:rPr>
              <a:t>Owncloud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01752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67285"/>
                </a:solidFill>
                <a:latin typeface="Aptos"/>
              </a:rPr>
              <a:t>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000232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16152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86BC7"/>
                </a:solidFill>
                <a:latin typeface="Aptos"/>
              </a:rPr>
              <a:t>http://the-agent-company.com:8092/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216152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188A63"/>
                </a:solidFill>
                <a:latin typeface="Aptos"/>
              </a:rPr>
              <a:t>Actual frozen image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09928"/>
            <a:ext cx="54864" cy="896112"/>
          </a:xfrm>
          <a:prstGeom prst="rect">
            <a:avLst/>
          </a:prstGeom>
          <a:solidFill>
            <a:srgbClr val="286BC7"/>
          </a:solidFill>
          <a:ln>
            <a:solidFill>
              <a:srgbClr val="28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56232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21992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company administration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09928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09928"/>
            <a:ext cx="54864" cy="896112"/>
          </a:xfrm>
          <a:prstGeom prst="rect">
            <a:avLst/>
          </a:prstGeom>
          <a:solidFill>
            <a:srgbClr val="188A63"/>
          </a:solidFill>
          <a:ln>
            <a:solidFill>
              <a:srgbClr val="18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56232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Administrative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21992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vendor and office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09928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709928"/>
            <a:ext cx="54864" cy="896112"/>
          </a:xfrm>
          <a:prstGeom prst="rect">
            <a:avLst/>
          </a:prstGeom>
          <a:solidFill>
            <a:srgbClr val="DF8A14"/>
          </a:solidFill>
          <a:ln>
            <a:solidFill>
              <a:srgbClr val="DF8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56232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221992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analysis datasets and workbooks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825496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825496"/>
            <a:ext cx="54864" cy="896112"/>
          </a:xfrm>
          <a:prstGeom prst="rect">
            <a:avLst/>
          </a:prstGeom>
          <a:solidFill>
            <a:srgbClr val="286BC7"/>
          </a:solidFill>
          <a:ln>
            <a:solidFill>
              <a:srgbClr val="28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2971800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337560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engineering reference 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825496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825496"/>
            <a:ext cx="54864" cy="896112"/>
          </a:xfrm>
          <a:prstGeom prst="rect">
            <a:avLst/>
          </a:prstGeom>
          <a:solidFill>
            <a:srgbClr val="188A63"/>
          </a:solidFill>
          <a:ln>
            <a:solidFill>
              <a:srgbClr val="18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971800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Financials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37560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finance records and reporting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2825496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9872" y="2825496"/>
            <a:ext cx="54864" cy="896112"/>
          </a:xfrm>
          <a:prstGeom prst="rect">
            <a:avLst/>
          </a:prstGeom>
          <a:solidFill>
            <a:srgbClr val="DF8A14"/>
          </a:solidFill>
          <a:ln>
            <a:solidFill>
              <a:srgbClr val="DF8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2971800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Human Resources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337560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people and onboarding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941064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41064"/>
            <a:ext cx="54864" cy="896112"/>
          </a:xfrm>
          <a:prstGeom prst="rect">
            <a:avLst/>
          </a:prstGeom>
          <a:solidFill>
            <a:srgbClr val="286BC7"/>
          </a:solidFill>
          <a:ln>
            <a:solidFill>
              <a:srgbClr val="28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408736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Marketing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445312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campaign and event materials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941064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3941064"/>
            <a:ext cx="54864" cy="896112"/>
          </a:xfrm>
          <a:prstGeom prst="rect">
            <a:avLst/>
          </a:prstGeom>
          <a:solidFill>
            <a:srgbClr val="188A63"/>
          </a:solidFill>
          <a:ln>
            <a:solidFill>
              <a:srgbClr val="18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08736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Q1 Planning and Allocation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45312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planning and resource allocation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9872" y="3941064"/>
            <a:ext cx="3438144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9872" y="3941064"/>
            <a:ext cx="54864" cy="896112"/>
          </a:xfrm>
          <a:prstGeom prst="rect">
            <a:avLst/>
          </a:prstGeom>
          <a:solidFill>
            <a:srgbClr val="DF8A14"/>
          </a:solidFill>
          <a:ln>
            <a:solidFill>
              <a:srgbClr val="DF8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408736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1E34"/>
                </a:solidFill>
                <a:latin typeface="Aptos"/>
              </a:rPr>
              <a:t>Research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45312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67285"/>
                </a:solidFill>
                <a:latin typeface="Aptos"/>
              </a:rPr>
              <a:t>papers and research artifacts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285232"/>
            <a:ext cx="10954512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EDC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486400"/>
            <a:ext cx="12070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C93D36"/>
                </a:solidFill>
                <a:latin typeface="Aptos"/>
              </a:rPr>
              <a:t>SOURCE MISMATCH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422392"/>
            <a:ext cx="92537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Legacy evaluator omits Marketing and Q1 Planning and Allocation, and calls the actual Human Resources Team folder 'Human Resource Team'. This deck follows the frozen image inventory.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285"/>
                </a:solidFill>
                <a:latin typeface="Aptos"/>
              </a:rPr>
              <a:t>Source: OwnCloud image inventory + legacy evaluator folder list  ·  TheAgentCompany @ 98b68ef8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2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6217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8A6B8"/>
                </a:solidFill>
                <a:latin typeface="Aptos"/>
              </a:rPr>
              <a:t>PLANE  /  DELIVERY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56692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Turn work into visible
project movement.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A6B8"/>
                </a:solidFill>
                <a:latin typeface="Aptos"/>
              </a:rPr>
              <a:t>http://the-agent-company.com:8091/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0048"/>
            <a:ext cx="6547104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D1DBE8"/>
                </a:solidFill>
                <a:latin typeface="Aptos"/>
              </a:rPr>
              <a:t>Projects  -&gt;  Modules  -&gt;  Issues  -&gt;  Sprint cycles  -&gt;  Assignees  -&gt; 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79792" y="1024128"/>
            <a:ext cx="17465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44383" y="1179576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86BC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44383" y="1463040"/>
            <a:ext cx="1399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1">
                <a:solidFill>
                  <a:srgbClr val="111E34"/>
                </a:solidFill>
                <a:latin typeface="Aptos"/>
              </a:rPr>
              <a:t>Total Open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1024128"/>
            <a:ext cx="17465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1179576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88A63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8632" y="1463040"/>
            <a:ext cx="1399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1">
                <a:solidFill>
                  <a:srgbClr val="111E34"/>
                </a:solidFill>
                <a:latin typeface="Aptos"/>
              </a:rPr>
              <a:t>Pending 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2368296"/>
            <a:ext cx="17465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44383" y="2523744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DF8A14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383" y="2807208"/>
            <a:ext cx="1399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1">
                <a:solidFill>
                  <a:srgbClr val="111E34"/>
                </a:solidFill>
                <a:latin typeface="Aptos"/>
              </a:rPr>
              <a:t>Most Issues Created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2368296"/>
            <a:ext cx="174650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8632" y="2523744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8A6B8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8632" y="2807208"/>
            <a:ext cx="1399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1">
                <a:solidFill>
                  <a:srgbClr val="111E34"/>
                </a:solidFill>
                <a:latin typeface="Aptos"/>
              </a:rPr>
              <a:t>Most Issues Closed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40480"/>
            <a:ext cx="10835640" cy="1572768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105656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6B8"/>
                </a:solidFill>
                <a:latin typeface="Aptos"/>
              </a:rPr>
              <a:t>OFFLINE DELIVERY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462272"/>
            <a:ext cx="4160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Chen Xinyi  ·  RocketChat direct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846320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FCBDB"/>
                </a:solidFill>
                <a:latin typeface="Aptos"/>
              </a:rPr>
              <a:t>Request review and inclusion in onboarding 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379976"/>
            <a:ext cx="55321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owncloud:/Documents/Human Resources Team/Internal_Tooling_Training.pptx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919472"/>
            <a:ext cx="5532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BFCBDB"/>
                </a:solidFill>
                <a:latin typeface="Aptos"/>
              </a:rPr>
              <a:t>No live network side effect is claimed; Delivery_Record.json freezes the intended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A9B7CA"/>
                </a:solidFill>
                <a:latin typeface="Aptos"/>
              </a:rPr>
              <a:t>Source: Plane snapshot + Personnell_File.odt + Task_Delivery_Context.json  ·  TheAgentCompany @ 98b68ef8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9B7C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