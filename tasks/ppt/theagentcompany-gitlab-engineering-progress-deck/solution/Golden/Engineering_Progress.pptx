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57784"/>
            <a:ext cx="6675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8A5B7"/>
                </a:solidFill>
                <a:latin typeface="Aptos"/>
              </a:rPr>
              <a:t>CTO BRIEFING  /  FROZEN GITLAB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42415"/>
            <a:ext cx="713232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Overview of Our
Engineering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79192"/>
            <a:ext cx="6309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7D2E1"/>
                </a:solidFill>
                <a:latin typeface="Aptos"/>
              </a:rPr>
              <a:t>A complete repository-by-repository activity register.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45536"/>
            <a:ext cx="51206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8A5B7"/>
                </a:solidFill>
                <a:latin typeface="Aptos"/>
              </a:rPr>
              <a:t>http://the-agent-company.com:8929/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93008"/>
            <a:ext cx="5120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B9C5D7"/>
                </a:solidFill>
                <a:latin typeface="Aptos"/>
              </a:rPr>
              <a:t>Prepared for Sarah Johnson, 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60520"/>
            <a:ext cx="2542032" cy="123444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160520"/>
            <a:ext cx="54864" cy="1234440"/>
          </a:xfrm>
          <a:prstGeom prst="rect">
            <a:avLst/>
          </a:prstGeom>
          <a:solidFill>
            <a:srgbClr val="2E68C5"/>
          </a:solidFill>
          <a:ln>
            <a:solidFill>
              <a:srgbClr val="2E6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343400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892040"/>
            <a:ext cx="2084831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E68C5"/>
                </a:solidFill>
                <a:latin typeface="Aptos"/>
              </a:rPr>
              <a:t>REPOSITORIES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4160520"/>
            <a:ext cx="2542032" cy="123444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4160520"/>
            <a:ext cx="54864" cy="1234440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4343400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4,990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892040"/>
            <a:ext cx="2084831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88B64"/>
                </a:solidFill>
                <a:latin typeface="Aptos"/>
              </a:rPr>
              <a:t>ISSUES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60520"/>
            <a:ext cx="2542032" cy="123444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160520"/>
            <a:ext cx="54864" cy="1234440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4343400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794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892040"/>
            <a:ext cx="2084831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DB8816"/>
                </a:solidFill>
                <a:latin typeface="Aptos"/>
              </a:rPr>
              <a:t>MERGE REQUESTS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4160520"/>
            <a:ext cx="2542032" cy="123444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4160520"/>
            <a:ext cx="54864" cy="1234440"/>
          </a:xfrm>
          <a:prstGeom prst="rect">
            <a:avLst/>
          </a:prstGeom>
          <a:solidFill>
            <a:srgbClr val="18A5B7"/>
          </a:solidFill>
          <a:ln>
            <a:solidFill>
              <a:srgbClr val="18A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4343400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4892040"/>
            <a:ext cx="2084831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8A5B7"/>
                </a:solidFill>
                <a:latin typeface="Aptos"/>
              </a:rPr>
              <a:t>REPOS WITH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79008"/>
            <a:ext cx="10424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B9C5D7"/>
                </a:solidFill>
                <a:latin typeface="Aptos"/>
              </a:rPr>
              <a:t>Counts include open + closed issues and open + merged/closed merge requests. They describe activity volume, not quality or current backlog.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A8B5C8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8B5C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REPOSITORY 01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api-server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http://the-agent-company.com:8929/root/api-server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No description set in frozen GitLab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456432"/>
            <a:ext cx="1901952" cy="228600"/>
          </a:xfrm>
          <a:prstGeom prst="roundRect">
            <a:avLst/>
          </a:prstGeom>
          <a:solidFill>
            <a:srgbClr val="FBECE9"/>
          </a:solidFill>
          <a:ln>
            <a:solidFill>
              <a:srgbClr val="FB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493008"/>
            <a:ext cx="17556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" b="1">
                <a:solidFill>
                  <a:srgbClr val="C73B35"/>
                </a:solidFill>
                <a:latin typeface="Aptos"/>
              </a:rPr>
              <a:t>METADATA GAP · NOT INFERRED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REPOSITORY 02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bustub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http://the-agent-company.com:8929/root/bustub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The BusTub Relational Database Management System (Educational)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131781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404382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14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B64"/>
                </a:solidFill>
                <a:latin typeface="Aptos"/>
              </a:rPr>
              <a:t>REPOSITORY 03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colly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http://the-agent-company.com:8929/root/colly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B64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Elegant Scraper and Crawler Framework for Golang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715383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152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1184263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41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B8816"/>
                </a:solidFill>
                <a:latin typeface="Aptos"/>
              </a:rPr>
              <a:t>REPOSITORY 04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copilot-arena-server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http://the-agent-company.com:8929/root/copilot-arena-server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B8816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No description set in frozen GitLab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456432"/>
            <a:ext cx="1901952" cy="228600"/>
          </a:xfrm>
          <a:prstGeom prst="roundRect">
            <a:avLst/>
          </a:prstGeom>
          <a:solidFill>
            <a:srgbClr val="FBECE9"/>
          </a:solidFill>
          <a:ln>
            <a:solidFill>
              <a:srgbClr val="FB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493008"/>
            <a:ext cx="17556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" b="1">
                <a:solidFill>
                  <a:srgbClr val="C73B35"/>
                </a:solidFill>
                <a:latin typeface="Aptos"/>
              </a:rPr>
              <a:t>METADATA GAP · NOT INFERRED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REPOSITORY 05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06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Wiki for company-wide doc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REPOSITORY 06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janusgraph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http://the-agent-company.com:8929/root/janusgraph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07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JanusGraph: an open-source, distributed graph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491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2310877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491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1155379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B64"/>
                </a:solidFill>
                <a:latin typeface="Aptos"/>
              </a:rPr>
              <a:t>REPOSITORY 07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llama.cpp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http://the-agent-company.com:8929/root/llama.cpp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08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B64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LLM inference in C/C++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268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277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1261334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268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277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B8816"/>
                </a:solidFill>
                <a:latin typeface="Aptos"/>
              </a:rPr>
              <a:t>REPOSITORY 08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node-red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http://the-agent-company.com:8929/root/node-red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09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B8816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Low-code programming for event-driven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304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1430767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304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2744025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95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REPOSITORY 09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openhands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http://the-agent-company.com:8929/root/openhands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10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OpenHands: Code Less, Make More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564776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120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982072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34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REPOSITORY 10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opensearch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http://the-agent-company.com:8929/root/opensearch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11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Open source distributed and RESTful search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1,700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161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1,700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4650400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161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B64"/>
                </a:solidFill>
                <a:latin typeface="Aptos"/>
              </a:rPr>
              <a:t>REPOSITORY 11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12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8B64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No description set in frozen GitLab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456432"/>
            <a:ext cx="1901952" cy="228600"/>
          </a:xfrm>
          <a:prstGeom prst="roundRect">
            <a:avLst/>
          </a:prstGeom>
          <a:solidFill>
            <a:srgbClr val="FBECE9"/>
          </a:solidFill>
          <a:ln>
            <a:solidFill>
              <a:srgbClr val="FB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493008"/>
            <a:ext cx="175564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" b="1">
                <a:solidFill>
                  <a:srgbClr val="C73B35"/>
                </a:solidFill>
                <a:latin typeface="Aptos"/>
              </a:rPr>
              <a:t>METADATA GAP · NOT INFERRED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B8816"/>
                </a:solidFill>
                <a:latin typeface="Aptos"/>
              </a:rPr>
              <a:t>REPOSITORY 12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risingwave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http://the-agent-company.com:8929/root/risingwave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B8816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11D32"/>
                </a:solidFill>
                <a:latin typeface="Aptos"/>
              </a:rPr>
              <a:t>Best-in-class stream processing, analytics, and management. Unified streaming and batch. PostgreSQL compatible.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996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4687644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996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2541833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88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REPOSITORY 13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sotopia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http://the-agent-company.com:8929/root/sotopia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14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E68C5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11D32"/>
                </a:solidFill>
                <a:latin typeface="Aptos"/>
              </a:rPr>
              <a:t>Sotopia: an Open-ended Social Learning Environment (ICLR 2024 spotlight)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56477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173306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REPOSITORY 14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8595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11D32"/>
                </a:solidFill>
                <a:latin typeface="Aptos"/>
              </a:rPr>
              <a:t>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68C5"/>
                </a:solidFill>
                <a:latin typeface="Aptos"/>
              </a:rPr>
              <a:t>http://the-agent-company.com:8929/root/streamlit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841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687486"/>
                </a:solidFill>
                <a:latin typeface="Aptos"/>
              </a:rPr>
              <a:t>15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09344"/>
            <a:ext cx="10972800" cy="18288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40080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8A5B7"/>
                </a:solidFill>
                <a:latin typeface="Apto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589788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D32"/>
                </a:solidFill>
                <a:latin typeface="Aptos"/>
              </a:rPr>
              <a:t>Streamlit — A faster way to build and share data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938528"/>
            <a:ext cx="64008" cy="124358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919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188B64"/>
                </a:solidFill>
                <a:latin typeface="Aptos"/>
              </a:rPr>
              <a:t>ALL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938528"/>
            <a:ext cx="194767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8048" y="1938528"/>
            <a:ext cx="64008" cy="124358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4" y="2103120"/>
            <a:ext cx="156362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11D32"/>
                </a:solidFill>
                <a:latin typeface="Aptos"/>
              </a:rP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688336"/>
            <a:ext cx="1563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MERGE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2926080"/>
            <a:ext cx="1563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30" b="1">
                <a:solidFill>
                  <a:srgbClr val="DB8816"/>
                </a:solidFill>
                <a:latin typeface="Aptos"/>
              </a:rPr>
              <a:t>ALL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336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87486"/>
                </a:solidFill>
                <a:latin typeface="Aptos"/>
              </a:rPr>
              <a:t>ACTIVITY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4636007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4636007"/>
            <a:ext cx="4325246" cy="146304"/>
          </a:xfrm>
          <a:prstGeom prst="rect">
            <a:avLst/>
          </a:prstGeom>
          <a:solidFill>
            <a:srgbClr val="188B64"/>
          </a:solidFill>
          <a:ln>
            <a:solidFill>
              <a:srgbClr val="188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459028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919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8464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02A38"/>
                </a:solidFill>
                <a:latin typeface="Aptos"/>
              </a:rPr>
              <a:t>Merge requests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02936"/>
            <a:ext cx="8001000" cy="146304"/>
          </a:xfrm>
          <a:prstGeom prst="rect">
            <a:avLst/>
          </a:prstGeom>
          <a:solidFill>
            <a:srgbClr val="DFE5E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5202936"/>
            <a:ext cx="1097610" cy="146304"/>
          </a:xfrm>
          <a:prstGeom prst="rect">
            <a:avLst/>
          </a:prstGeom>
          <a:solidFill>
            <a:srgbClr val="DB8816"/>
          </a:solidFill>
          <a:ln>
            <a:solidFill>
              <a:srgbClr val="DB8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515721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11D32"/>
                </a:solidFill>
                <a:latin typeface="Aptos"/>
              </a:rPr>
              <a:t>38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15584"/>
            <a:ext cx="10817352" cy="365760"/>
          </a:xfrm>
          <a:prstGeom prst="roundRect">
            <a:avLst/>
          </a:prstGeom>
          <a:solidFill>
            <a:srgbClr val="E9F1FB"/>
          </a:solidFill>
          <a:ln>
            <a:solidFill>
              <a:srgbClr val="E9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>
                <a:solidFill>
                  <a:srgbClr val="2E68C5"/>
                </a:solidFill>
                <a:latin typeface="Aptos"/>
              </a:rPr>
              <a:t>Frozen exact count  ·  no +/-5 live-image tolerance  ·  repository order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87486"/>
                </a:solidFill>
                <a:latin typeface="Aptos"/>
              </a:rPr>
              <a:t>Source: GitLab_Repository_Snapshot.json  ·  upstream evaluator @ 98b68ef8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8748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