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49"/>
  </p:normalViewPr>
  <p:slideViewPr>
    <p:cSldViewPr snapToGrid="0" snapToObjects="1">
      <p:cViewPr>
        <p:scale>
          <a:sx n="98" d="100"/>
          <a:sy n="98" d="100"/>
        </p:scale>
        <p:origin x="21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 Avg Temp (°C)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1991–2020 Avg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14.38</c:v>
                </c:pt>
                <c:pt idx="1">
                  <c:v>14.98</c:v>
                </c:pt>
                <c:pt idx="2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F-244D-82DA-5162F0AED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,DOWNLOAD%20DATA" TargetMode="External"/><Relationship Id="rId3" Type="http://schemas.openxmlformats.org/officeDocument/2006/relationships/hyperlink" Target="https://climate.copernicus.eu/copernicus-2024-first-year-exceed-15degc-above-pre-industrial-level#:~:text=Carlo%20Buontempo%2C%20Director%20of%20the,%E2%80%9D" TargetMode="External"/><Relationship Id="rId4" Type="http://schemas.openxmlformats.org/officeDocument/2006/relationships/hyperlink" Target="https://climate.copernicus.eu/copernicus-2024-first-year-exceed-15degc-above-pre-industrial-level#:~:text=Global%20surface%20air%20temperature%20highlights%3A" TargetMode="External"/><Relationship Id="rId5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6" Type="http://schemas.openxmlformats.org/officeDocument/2006/relationships/hyperlink" Target="https://climate.copernicus.eu/copernicus-2024-first-year-exceed-15degc-above-pre-industrial-level#:~:text=July%202024%2C%20at%2017" TargetMode="External"/><Relationship Id="rId7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Relationship Id="rId8" Type="http://schemas.openxmlformats.org/officeDocument/2006/relationships/hyperlink" Target="https://climate.copernicus.eu/copernicus-2024-first-year-exceed-1.5degc-above-pre-industrial-lev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  <a:latin typeface="Calibri"/>
              </a:rPr>
              <a:t>Copernicus Climate Change Service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1175657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endParaRPr dirty="0"/>
          </a:p>
          <a:p>
            <a:r>
              <a:rPr dirty="0">
                <a:solidFill>
                  <a:srgbClr val="333333"/>
                </a:solidFill>
                <a:latin typeface="Calibri"/>
                <a:hlinkClick r:id="rId2"/>
              </a:rPr>
              <a:t>[1]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2351314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2024 recorded a global average temperature of 15.10°C, which is 0.72°C above the 1991–2020 average and 0.12°C warmer than 2023.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2024 is the first calendar year to exceed 1.5°C above pre-industrial levels.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Each year from 2015 to 2024 ranks among the ten warmest years on record.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Monthly global temperatures exceeded 1.5°C for 11 months, with a record daily high of 17.16°C on July 22, 2024.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800"/>
            </a:pPr>
            <a:r>
              <a:rPr dirty="0">
                <a:solidFill>
                  <a:srgbClr val="333333"/>
                </a:solidFill>
                <a:latin typeface="Calibri"/>
                <a:hlinkClick r:id="rId2"/>
              </a:rPr>
              <a:t>[2] [3]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3526971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003366"/>
                </a:solidFill>
                <a:latin typeface="Calibri"/>
              </a:rPr>
              <a:t>Global Average Temperature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424107"/>
            <a:ext cx="2743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>
                <a:solidFill>
                  <a:srgbClr val="333333"/>
                </a:solidFill>
                <a:latin typeface="Calibri"/>
              </a:rPr>
              <a:t>This bar chart compares the 1991–2020 average global surface temperature with the record-breaking years 2023 and 2024. The 2024 bar stands tallest, highlighting the unprecedented warming that exceeded the 1.5°C threshold above pre-industrial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800"/>
            </a:pPr>
            <a:r>
              <a:rPr dirty="0">
                <a:solidFill>
                  <a:srgbClr val="333333"/>
                </a:solidFill>
                <a:latin typeface="Calibri"/>
                <a:hlinkClick r:id="rId2"/>
              </a:rPr>
              <a:t>[4]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0" y="1371600"/>
          <a:ext cx="4572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37960"/>
            <a:ext cx="4702628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Temperature Trends &amp; Anomalies</a:t>
            </a:r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7023"/>
            <a:ext cx="4363798" cy="2011997"/>
          </a:xfrm>
          <a:prstGeom prst="rect">
            <a:avLst/>
          </a:prstGeom>
          <a:ln w="12700">
            <a:solidFill>
              <a:srgbClr val="66666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0" y="1600518"/>
            <a:ext cx="4019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333333"/>
                </a:solidFill>
                <a:latin typeface="Calibri"/>
              </a:rPr>
              <a:t>Global surface temperature increase above pre-industrial (ERA5 &amp; other sources).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29000"/>
            <a:ext cx="3657600" cy="2743200"/>
          </a:xfrm>
          <a:prstGeom prst="rect">
            <a:avLst/>
          </a:prstGeom>
          <a:ln w="12700">
            <a:solidFill>
              <a:srgbClr val="66666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18850" y="4800600"/>
            <a:ext cx="3902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333333"/>
                </a:solidFill>
                <a:latin typeface="Calibri"/>
              </a:rPr>
              <a:t>Surface air temperature anomalies in 2024 relative to 1991–2020.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2898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latin typeface="Calibri"/>
                <a:hlinkClick r:id="rId4"/>
              </a:rPr>
              <a:t>[5]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6537960"/>
            <a:ext cx="5878285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High temperatures coupled with record atmospheric water </a:t>
            </a:r>
            <a:r>
              <a:rPr dirty="0" err="1">
                <a:solidFill>
                  <a:srgbClr val="333333"/>
                </a:solidFill>
                <a:latin typeface="Calibri"/>
              </a:rPr>
              <a:t>vapour</a:t>
            </a:r>
            <a:r>
              <a:rPr dirty="0">
                <a:solidFill>
                  <a:srgbClr val="333333"/>
                </a:solidFill>
                <a:latin typeface="Calibri"/>
              </a:rPr>
              <a:t>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latin typeface="Calibri"/>
                <a:hlinkClick r:id="rId2"/>
              </a:rPr>
              <a:t>[6]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7053942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66"/>
                </a:solidFill>
                <a:latin typeface="Calibri"/>
              </a:rP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914400"/>
          </a:xfrm>
        </p:spPr>
        <p:txBody>
          <a:bodyPr wrap="square"/>
          <a:lstStyle/>
          <a:p>
            <a:r>
              <a:rPr sz="1600" u="sng">
                <a:solidFill>
                  <a:srgbClr val="0563C1"/>
                </a:solidFill>
                <a:hlinkClick r:id="rId8"/>
              </a:rPr>
              <a:t>https://climate.copernicus.eu/copernicus-2024-first-year-exceed-1.5degc-above-pre-industrial-level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465</Words>
  <Application>Microsoft Macintosh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4</cp:revision>
  <dcterms:created xsi:type="dcterms:W3CDTF">2013-01-27T09:14:16Z</dcterms:created>
  <dcterms:modified xsi:type="dcterms:W3CDTF">2025-11-18T22:31:40Z</dcterms:modified>
  <cp:category/>
</cp:coreProperties>
</file>