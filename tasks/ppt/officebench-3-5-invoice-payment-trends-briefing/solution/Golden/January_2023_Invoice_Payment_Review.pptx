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Subtotal</c:v>
                </c:pt>
              </c:strCache>
            </c:strRef>
          </c:tx>
          <c:spPr>
            <a:solidFill>
              <a:srgbClr val="4F46E5"/>
            </a:solidFill>
          </c:spPr>
          <c:cat>
            <c:strRef>
              <c:f>Sheet1!$A$2:$A$3</c:f>
              <c:strCache>
                <c:ptCount val="2"/>
                <c:pt idx="0">
                  <c:v>Cloud service</c:v>
                </c:pt>
                <c:pt idx="1">
                  <c:v>Decorative clay pottery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99.99</c:v>
                </c:pt>
                <c:pt idx="1">
                  <c:v>1300.0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Sales tax</c:v>
                </c:pt>
              </c:strCache>
            </c:strRef>
          </c:tx>
          <c:spPr>
            <a:solidFill>
              <a:srgbClr val="EA580C"/>
            </a:solidFill>
          </c:spPr>
          <c:cat>
            <c:strRef>
              <c:f>Sheet1!$A$2:$A$3</c:f>
              <c:strCache>
                <c:ptCount val="2"/>
                <c:pt idx="0">
                  <c:v>Cloud service</c:v>
                </c:pt>
                <c:pt idx="1">
                  <c:v>Decorative clay pottery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4.99</c:v>
                </c:pt>
                <c:pt idx="1">
                  <c:v>65.0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Shipping &amp; handling</c:v>
                </c:pt>
              </c:strCache>
            </c:strRef>
          </c:tx>
          <c:spPr>
            <a:solidFill>
              <a:srgbClr val="0891B2"/>
            </a:solidFill>
          </c:spPr>
          <c:cat>
            <c:strRef>
              <c:f>Sheet1!$A$2:$A$3</c:f>
              <c:strCache>
                <c:ptCount val="2"/>
                <c:pt idx="0">
                  <c:v>Cloud service</c:v>
                </c:pt>
                <c:pt idx="1">
                  <c:v>Decorative clay pottery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0.0</c:v>
                </c:pt>
                <c:pt idx="1">
                  <c:v>24.99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5486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8BE9F4"/>
                </a:solidFill>
                <a:latin typeface="Aptos"/>
              </a:rPr>
              <a:t>AP REVIEW  /  JANUARY 2023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60704"/>
            <a:ext cx="6766560" cy="12070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Aptos"/>
              </a:rPr>
              <a:t>Two invoices.
One identifier collision.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78608"/>
            <a:ext cx="60350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C7D0DE"/>
                </a:solidFill>
                <a:latin typeface="Aptos"/>
              </a:rPr>
              <a:t>Payment-trend and data-quality briefing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85048" y="868680"/>
            <a:ext cx="3108960" cy="2304288"/>
          </a:xfrm>
          <a:prstGeom prst="roundRect">
            <a:avLst/>
          </a:prstGeom>
          <a:solidFill>
            <a:srgbClr val="1D2B49"/>
          </a:solidFill>
          <a:ln>
            <a:solidFill>
              <a:srgbClr val="3243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86216" y="1261872"/>
            <a:ext cx="2706624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900" b="1">
                <a:solidFill>
                  <a:srgbClr val="FFFFFF"/>
                </a:solidFill>
                <a:latin typeface="Aptos"/>
              </a:rPr>
              <a:t>$1,494.97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86216" y="1874519"/>
            <a:ext cx="270662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B6C2D4"/>
                </a:solidFill>
                <a:latin typeface="Aptos"/>
              </a:rPr>
              <a:t>TOTAL DUE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86216" y="2322576"/>
            <a:ext cx="270662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8BE9F4"/>
                </a:solidFill>
                <a:latin typeface="Aptos"/>
              </a:rPr>
              <a:t>2 source invoices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343400"/>
            <a:ext cx="3429000" cy="1024128"/>
          </a:xfrm>
          <a:prstGeom prst="roundRect">
            <a:avLst/>
          </a:prstGeom>
          <a:solidFill>
            <a:srgbClr val="1D2B49"/>
          </a:solidFill>
          <a:ln>
            <a:solidFill>
              <a:srgbClr val="3243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4343400"/>
            <a:ext cx="64008" cy="1024128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4462272"/>
            <a:ext cx="31546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$1,389.99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4873752"/>
            <a:ext cx="3154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B6C2D4"/>
                </a:solidFill>
                <a:latin typeface="Aptos"/>
              </a:rPr>
              <a:t>LARGEST INVOICE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5102352"/>
            <a:ext cx="3154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EA580C"/>
                </a:solidFill>
                <a:latin typeface="Aptos"/>
              </a:rPr>
              <a:t>93.0% of total due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4343400"/>
            <a:ext cx="3429000" cy="1024128"/>
          </a:xfrm>
          <a:prstGeom prst="roundRect">
            <a:avLst/>
          </a:prstGeom>
          <a:solidFill>
            <a:srgbClr val="1D2B49"/>
          </a:solidFill>
          <a:ln>
            <a:solidFill>
              <a:srgbClr val="3243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9976" y="4343400"/>
            <a:ext cx="64008" cy="1024128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4462272"/>
            <a:ext cx="31546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29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4873752"/>
            <a:ext cx="3154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B6C2D4"/>
                </a:solidFill>
                <a:latin typeface="Aptos"/>
              </a:rPr>
              <a:t>INVOICE-DATE SPAN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5102352"/>
            <a:ext cx="3154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0891B2"/>
                </a:solidFill>
                <a:latin typeface="Aptos"/>
              </a:rPr>
              <a:t>1 Jan -&gt; 30 Jan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4343400"/>
            <a:ext cx="3429000" cy="1024128"/>
          </a:xfrm>
          <a:prstGeom prst="roundRect">
            <a:avLst/>
          </a:prstGeom>
          <a:solidFill>
            <a:srgbClr val="1D2B49"/>
          </a:solidFill>
          <a:ln>
            <a:solidFill>
              <a:srgbClr val="3243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3" y="4343400"/>
            <a:ext cx="64008" cy="1024128"/>
          </a:xfrm>
          <a:prstGeom prst="rect">
            <a:avLst/>
          </a:prstGeom>
          <a:solidFill>
            <a:srgbClr val="C2312D"/>
          </a:solidFill>
          <a:ln>
            <a:solidFill>
              <a:srgbClr val="C23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4462272"/>
            <a:ext cx="31546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#100 ×2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4873752"/>
            <a:ext cx="3154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B6C2D4"/>
                </a:solidFill>
                <a:latin typeface="Aptos"/>
              </a:rPr>
              <a:t>INVOICE IDENTIFIER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5102352"/>
            <a:ext cx="3154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C2312D"/>
                </a:solidFill>
                <a:latin typeface="Aptos"/>
              </a:rPr>
              <a:t>different source documents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843016"/>
            <a:ext cx="59436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B6C2D4"/>
                </a:solidFill>
                <a:latin typeface="Aptos"/>
              </a:rPr>
              <a:t>NO PAYMENT-STATUS EVIDENCE IN SOURCE PDFs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AEB8C8"/>
                </a:solidFill>
                <a:latin typeface="Aptos"/>
              </a:rPr>
              <a:t>Source: Invoice.pdf p.1; Invoice_2.pdf p.1  ·  OfficeBench 3-5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519672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AEB8C8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4F46E5"/>
                </a:solidFill>
                <a:latin typeface="Aptos"/>
              </a:rPr>
              <a:t>EXTRACTED SOURCE 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21207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3203A"/>
                </a:solidFill>
                <a:latin typeface="Aptos"/>
              </a:rPr>
              <a:t>Invoice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01752"/>
            <a:ext cx="868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Aptos"/>
              </a:rPr>
              <a:t>02 /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1000232" cy="18288"/>
          </a:xfrm>
          <a:prstGeom prst="rect">
            <a:avLst/>
          </a:prstGeom>
          <a:solidFill>
            <a:srgbClr val="E3E7EF"/>
          </a:solidFill>
          <a:ln>
            <a:solidFill>
              <a:srgbClr val="E3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" y="1417320"/>
          <a:ext cx="9491472" cy="187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594360"/>
                <a:gridCol w="667512"/>
                <a:gridCol w="1481328"/>
                <a:gridCol w="1572768"/>
                <a:gridCol w="502920"/>
                <a:gridCol w="685800"/>
                <a:gridCol w="841248"/>
                <a:gridCol w="640080"/>
                <a:gridCol w="640080"/>
                <a:gridCol w="859536"/>
              </a:tblGrid>
              <a:tr h="50292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Source</a:t>
                      </a:r>
                    </a:p>
                  </a:txBody>
                  <a:tcPr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Invoice</a:t>
                      </a:r>
                    </a:p>
                  </a:txBody>
                  <a:tcPr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Date</a:t>
                      </a:r>
                    </a:p>
                  </a:txBody>
                  <a:tcPr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Customer</a:t>
                      </a:r>
                    </a:p>
                  </a:txBody>
                  <a:tcPr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Description</a:t>
                      </a:r>
                    </a:p>
                  </a:txBody>
                  <a:tcPr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Qty</a:t>
                      </a:r>
                    </a:p>
                  </a:txBody>
                  <a:tcPr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Unit</a:t>
                      </a:r>
                    </a:p>
                  </a:txBody>
                  <a:tcPr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Subtotal</a:t>
                      </a:r>
                    </a:p>
                  </a:txBody>
                  <a:tcPr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Tax</a:t>
                      </a:r>
                    </a:p>
                  </a:txBody>
                  <a:tcPr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S&amp;H</a:t>
                      </a:r>
                    </a:p>
                  </a:txBody>
                  <a:tcPr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Total due</a:t>
                      </a:r>
                    </a:p>
                  </a:txBody>
                  <a:tcPr>
                    <a:solidFill>
                      <a:srgbClr val="13203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F2937"/>
                          </a:solidFill>
                          <a:latin typeface="Aptos"/>
                        </a:rPr>
                        <a:t>Invoice.pdf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F2937"/>
                          </a:solidFill>
                          <a:latin typeface="Aptos"/>
                        </a:rPr>
                        <a:t>#100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F2937"/>
                          </a:solidFill>
                          <a:latin typeface="Aptos"/>
                        </a:rPr>
                        <a:t>1/30/23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F2937"/>
                          </a:solidFill>
                          <a:latin typeface="Aptos"/>
                        </a:rPr>
                        <a:t>The Social Strategists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F2937"/>
                          </a:solidFill>
                          <a:latin typeface="Aptos"/>
                        </a:rPr>
                        <a:t>Cloud service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F2937"/>
                          </a:solidFill>
                          <a:latin typeface="Aptos"/>
                        </a:rPr>
                        <a:t>1 TB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F2937"/>
                          </a:solidFill>
                          <a:latin typeface="Aptos"/>
                        </a:rPr>
                        <a:t>$99.99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F2937"/>
                          </a:solidFill>
                          <a:latin typeface="Aptos"/>
                        </a:rPr>
                        <a:t>$99.99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F2937"/>
                          </a:solidFill>
                          <a:latin typeface="Aptos"/>
                        </a:rPr>
                        <a:t>$4.99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F2937"/>
                          </a:solidFill>
                          <a:latin typeface="Aptos"/>
                        </a:rPr>
                        <a:t>$0.00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F2937"/>
                          </a:solidFill>
                          <a:latin typeface="Aptos"/>
                        </a:rPr>
                        <a:t>$104.98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F2937"/>
                          </a:solidFill>
                          <a:latin typeface="Aptos"/>
                        </a:rPr>
                        <a:t>Invoice_2.pdf</a:t>
                      </a:r>
                    </a:p>
                  </a:txBody>
                  <a:tcPr marL="54864" marR="54864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F2937"/>
                          </a:solidFill>
                          <a:latin typeface="Aptos"/>
                        </a:rPr>
                        <a:t>#100</a:t>
                      </a:r>
                    </a:p>
                  </a:txBody>
                  <a:tcPr marL="54864" marR="54864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F2937"/>
                          </a:solidFill>
                          <a:latin typeface="Aptos"/>
                        </a:rPr>
                        <a:t>1/1/23</a:t>
                      </a:r>
                    </a:p>
                  </a:txBody>
                  <a:tcPr marL="54864" marR="54864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F2937"/>
                          </a:solidFill>
                          <a:latin typeface="Aptos"/>
                        </a:rPr>
                        <a:t>Perfect Places Interior Design</a:t>
                      </a:r>
                    </a:p>
                  </a:txBody>
                  <a:tcPr marL="54864" marR="54864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F2937"/>
                          </a:solidFill>
                          <a:latin typeface="Aptos"/>
                        </a:rPr>
                        <a:t>Decorative clay pottery (LG)</a:t>
                      </a:r>
                    </a:p>
                  </a:txBody>
                  <a:tcPr marL="54864" marR="54864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F2937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 marL="54864" marR="54864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F2937"/>
                          </a:solidFill>
                          <a:latin typeface="Aptos"/>
                        </a:rPr>
                        <a:t>$13.00</a:t>
                      </a:r>
                    </a:p>
                  </a:txBody>
                  <a:tcPr marL="54864" marR="54864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F2937"/>
                          </a:solidFill>
                          <a:latin typeface="Aptos"/>
                        </a:rPr>
                        <a:t>$1,300.00</a:t>
                      </a:r>
                    </a:p>
                  </a:txBody>
                  <a:tcPr marL="54864" marR="54864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F2937"/>
                          </a:solidFill>
                          <a:latin typeface="Aptos"/>
                        </a:rPr>
                        <a:t>$65.00</a:t>
                      </a:r>
                    </a:p>
                  </a:txBody>
                  <a:tcPr marL="54864" marR="54864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F2937"/>
                          </a:solidFill>
                          <a:latin typeface="Aptos"/>
                        </a:rPr>
                        <a:t>$24.99</a:t>
                      </a:r>
                    </a:p>
                  </a:txBody>
                  <a:tcPr marL="54864" marR="54864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F2937"/>
                          </a:solidFill>
                          <a:latin typeface="Aptos"/>
                        </a:rPr>
                        <a:t>$1,389.99</a:t>
                      </a:r>
                    </a:p>
                  </a:txBody>
                  <a:tcPr marL="54864" marR="54864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3703320"/>
            <a:ext cx="5285232" cy="1508760"/>
          </a:xfrm>
          <a:prstGeom prst="roundRect">
            <a:avLst/>
          </a:prstGeom>
          <a:solidFill>
            <a:srgbClr val="F6F7FB"/>
          </a:solidFill>
          <a:ln>
            <a:solidFill>
              <a:srgbClr val="E3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3977639"/>
            <a:ext cx="25603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Aptos"/>
              </a:rPr>
              <a:t>CLOUD SERVICE INVOICE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352544"/>
            <a:ext cx="452628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Purchased by / ship to: Liane Cormier
Terms: Due upon receipt
Vendor name: not printed in the PDF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3703320"/>
            <a:ext cx="5285232" cy="1508760"/>
          </a:xfrm>
          <a:prstGeom prst="roundRect">
            <a:avLst/>
          </a:prstGeom>
          <a:solidFill>
            <a:srgbClr val="F6F7FB"/>
          </a:solidFill>
          <a:ln>
            <a:solidFill>
              <a:srgbClr val="E3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3977639"/>
            <a:ext cx="25603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EA580C"/>
                </a:solidFill>
                <a:latin typeface="Aptos"/>
              </a:rPr>
              <a:t>POTTERY INVOICE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4352544"/>
            <a:ext cx="452628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Bill / ship to: Mollie Grau
Terms: Due on receipt  ·  Express air
Payee: Pottery &amp; Co.  ·  Fragile goods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687568"/>
            <a:ext cx="10789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2312D"/>
                </a:solidFill>
                <a:latin typeface="Aptos"/>
              </a:rPr>
              <a:t>Both PDFs display invoice #100; the source filename and customer must remain part of any unique review key.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ptos"/>
              </a:rPr>
              <a:t>Source: Invoice.pdf p.1; Invoice_2.pdf p.1  ·  OfficeBench 3-5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519672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67085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4F46E5"/>
                </a:solidFill>
                <a:latin typeface="Aptos"/>
              </a:rPr>
              <a:t>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21207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3203A"/>
                </a:solidFill>
                <a:latin typeface="Aptos"/>
              </a:rPr>
              <a:t>Spend is concentrated in pottery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01752"/>
            <a:ext cx="868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Aptos"/>
              </a:rPr>
              <a:t>03 /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1000232" cy="18288"/>
          </a:xfrm>
          <a:prstGeom prst="rect">
            <a:avLst/>
          </a:prstGeom>
          <a:solidFill>
            <a:srgbClr val="E3E7EF"/>
          </a:solidFill>
          <a:ln>
            <a:solidFill>
              <a:srgbClr val="E3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58368" y="1444752"/>
          <a:ext cx="644652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34072" y="1444752"/>
            <a:ext cx="391363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3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34072" y="1444752"/>
            <a:ext cx="64008" cy="1024128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1563624"/>
            <a:ext cx="363931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3203A"/>
                </a:solidFill>
                <a:latin typeface="Aptos"/>
              </a:rPr>
              <a:t>$1,399.99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975104"/>
            <a:ext cx="36393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67085"/>
                </a:solidFill>
                <a:latin typeface="Aptos"/>
              </a:rPr>
              <a:t>AGGREGATE SUBTOTAL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203704"/>
            <a:ext cx="36393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4F46E5"/>
                </a:solidFill>
                <a:latin typeface="Aptos"/>
              </a:rPr>
              <a:t>before tax and shipping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34072" y="2679192"/>
            <a:ext cx="391363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3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34072" y="2679192"/>
            <a:ext cx="64008" cy="1024128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2798064"/>
            <a:ext cx="363931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3203A"/>
                </a:solidFill>
                <a:latin typeface="Aptos"/>
              </a:rPr>
              <a:t>$69.99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209544"/>
            <a:ext cx="36393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67085"/>
                </a:solidFill>
                <a:latin typeface="Aptos"/>
              </a:rPr>
              <a:t>AGGREGATE SALES TAX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438144"/>
            <a:ext cx="36393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EA580C"/>
                </a:solidFill>
                <a:latin typeface="Aptos"/>
              </a:rPr>
              <a:t>≈5.00% of subtotal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34072" y="3913632"/>
            <a:ext cx="391363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3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34072" y="3913632"/>
            <a:ext cx="64008" cy="1024128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4032504"/>
            <a:ext cx="363931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3203A"/>
                </a:solidFill>
                <a:latin typeface="Aptos"/>
              </a:rPr>
              <a:t>$24.99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4443984"/>
            <a:ext cx="36393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67085"/>
                </a:solidFill>
                <a:latin typeface="Aptos"/>
              </a:rPr>
              <a:t>AGGREGATE SHIPPING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4672584"/>
            <a:ext cx="36393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0891B2"/>
                </a:solidFill>
                <a:latin typeface="Aptos"/>
              </a:rPr>
              <a:t>pottery invoice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9792" y="5312664"/>
            <a:ext cx="3785615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3203A"/>
                </a:solidFill>
                <a:latin typeface="Aptos"/>
              </a:rPr>
              <a:t>Pottery invoice share of total due: 93.0%  ·  Cloud invoice share: 7.0%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ptos"/>
              </a:rPr>
              <a:t>Source: Invoice.pdf p.1; Invoice_2.pdf p.1  ·  OfficeBench 3-5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519672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67085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4F46E5"/>
                </a:solidFill>
                <a:latin typeface="Aptos"/>
              </a:rPr>
              <a:t>CONTROL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21207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3203A"/>
                </a:solidFill>
                <a:latin typeface="Aptos"/>
              </a:rPr>
              <a:t>Payment trend: terms, not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01752"/>
            <a:ext cx="868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Aptos"/>
              </a:rPr>
              <a:t>04 /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1000232" cy="18288"/>
          </a:xfrm>
          <a:prstGeom prst="rect">
            <a:avLst/>
          </a:prstGeom>
          <a:solidFill>
            <a:srgbClr val="E3E7EF"/>
          </a:solidFill>
          <a:ln>
            <a:solidFill>
              <a:srgbClr val="E3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4290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3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417320"/>
            <a:ext cx="64008" cy="1024128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536192"/>
            <a:ext cx="31546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3203A"/>
                </a:solidFill>
                <a:latin typeface="Aptos"/>
              </a:rPr>
              <a:t>2 /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947672"/>
            <a:ext cx="3154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67085"/>
                </a:solidFill>
                <a:latin typeface="Aptos"/>
              </a:rPr>
              <a:t>PAYMENT TERMS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76272"/>
            <a:ext cx="3154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4F46E5"/>
                </a:solidFill>
                <a:latin typeface="Aptos"/>
              </a:rPr>
              <a:t>due upon receipt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417320"/>
            <a:ext cx="34290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3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9976" y="1417320"/>
            <a:ext cx="64008" cy="1024128"/>
          </a:xfrm>
          <a:prstGeom prst="rect">
            <a:avLst/>
          </a:prstGeom>
          <a:solidFill>
            <a:srgbClr val="C2312D"/>
          </a:solidFill>
          <a:ln>
            <a:solidFill>
              <a:srgbClr val="C23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1536192"/>
            <a:ext cx="31546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3203A"/>
                </a:solidFill>
                <a:latin typeface="Aptos"/>
              </a:rPr>
              <a:t>0 /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1947672"/>
            <a:ext cx="3154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67085"/>
                </a:solidFill>
                <a:latin typeface="Aptos"/>
              </a:rPr>
              <a:t>PAYMENT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176272"/>
            <a:ext cx="3154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C2312D"/>
                </a:solidFill>
                <a:latin typeface="Aptos"/>
              </a:rPr>
              <a:t>none supplied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417320"/>
            <a:ext cx="34290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3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1583" y="1417320"/>
            <a:ext cx="64008" cy="1024128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536192"/>
            <a:ext cx="31546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3203A"/>
                </a:solidFill>
                <a:latin typeface="Aptos"/>
              </a:rPr>
              <a:t>29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947672"/>
            <a:ext cx="3154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67085"/>
                </a:solidFill>
                <a:latin typeface="Aptos"/>
              </a:rPr>
              <a:t>DOCUMENT CADENCE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176272"/>
            <a:ext cx="3154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0891B2"/>
                </a:solidFill>
                <a:latin typeface="Aptos"/>
              </a:rPr>
              <a:t>invoice-date span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58368" y="2834640"/>
          <a:ext cx="9464040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960120"/>
                <a:gridCol w="1600200"/>
                <a:gridCol w="2423160"/>
                <a:gridCol w="1097280"/>
                <a:gridCol w="2057400"/>
              </a:tblGrid>
              <a:tr h="5120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Source</a:t>
                      </a:r>
                    </a:p>
                  </a:txBody>
                  <a:tcPr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Date</a:t>
                      </a:r>
                    </a:p>
                  </a:txBody>
                  <a:tcPr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Terms</a:t>
                      </a:r>
                    </a:p>
                  </a:txBody>
                  <a:tcPr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Sales-tax rate</a:t>
                      </a:r>
                    </a:p>
                  </a:txBody>
                  <a:tcPr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Shipping</a:t>
                      </a:r>
                    </a:p>
                  </a:txBody>
                  <a:tcPr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Payment status</a:t>
                      </a:r>
                    </a:p>
                  </a:txBody>
                  <a:tcPr>
                    <a:solidFill>
                      <a:srgbClr val="13203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Aptos"/>
                        </a:rPr>
                        <a:t>Invoice.pdf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Aptos"/>
                        </a:rPr>
                        <a:t>1/30/23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Aptos"/>
                        </a:rPr>
                        <a:t>Due upon receipt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Aptos"/>
                        </a:rPr>
                        <a:t>4.99 / 99.99 ≈ 4.99%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Aptos"/>
                        </a:rPr>
                        <a:t>$0.00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Aptos"/>
                        </a:rPr>
                        <a:t>Not provided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Aptos"/>
                        </a:rPr>
                        <a:t>Invoice_2.pdf</a:t>
                      </a:r>
                    </a:p>
                  </a:txBody>
                  <a:tcPr marL="54864" marR="54864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Aptos"/>
                        </a:rPr>
                        <a:t>1/1/23</a:t>
                      </a:r>
                    </a:p>
                  </a:txBody>
                  <a:tcPr marL="54864" marR="54864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Aptos"/>
                        </a:rPr>
                        <a:t>Due on receipt</a:t>
                      </a:r>
                    </a:p>
                  </a:txBody>
                  <a:tcPr marL="54864" marR="54864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Aptos"/>
                        </a:rPr>
                        <a:t>65.00 / 1,300 = 5.00%</a:t>
                      </a:r>
                    </a:p>
                  </a:txBody>
                  <a:tcPr marL="54864" marR="54864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Aptos"/>
                        </a:rPr>
                        <a:t>$24.99</a:t>
                      </a:r>
                    </a:p>
                  </a:txBody>
                  <a:tcPr marL="54864" marR="54864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Aptos"/>
                        </a:rPr>
                        <a:t>Not provided</a:t>
                      </a:r>
                    </a:p>
                  </a:txBody>
                  <a:tcPr marL="54864" marR="54864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658368" y="5239512"/>
            <a:ext cx="10881360" cy="786384"/>
          </a:xfrm>
          <a:prstGeom prst="roundRect">
            <a:avLst/>
          </a:prstGeom>
          <a:solidFill>
            <a:srgbClr val="FFF5F2"/>
          </a:solidFill>
          <a:ln>
            <a:solidFill>
              <a:srgbClr val="FD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468112"/>
            <a:ext cx="103784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2312D"/>
                </a:solidFill>
                <a:latin typeface="Aptos"/>
              </a:rPr>
              <a:t>Do not label either invoice paid, unpaid, late or overdue: the PDFs contain terms and dates, but no payment event, due-date calculation or review date.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ptos"/>
              </a:rPr>
              <a:t>Source: Invoice.pdf p.1; Invoice_2.pdf p.1  ·  OfficeBench 3-5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19672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67085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30352"/>
            <a:ext cx="67665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8BE9F4"/>
                </a:solidFill>
                <a:latin typeface="Aptos"/>
              </a:rPr>
              <a:t>FINANCIAL REVIEW  /  NEXT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69494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Resolve identity before payment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755648"/>
            <a:ext cx="7315200" cy="786384"/>
          </a:xfrm>
          <a:prstGeom prst="roundRect">
            <a:avLst/>
          </a:prstGeom>
          <a:solidFill>
            <a:srgbClr val="1D2B49"/>
          </a:solidFill>
          <a:ln>
            <a:solidFill>
              <a:srgbClr val="3243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920240"/>
            <a:ext cx="3200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C2312D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5024" y="1874519"/>
            <a:ext cx="2514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Disambiguate invoice #100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58768" y="1874519"/>
            <a:ext cx="376732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C7D0DE"/>
                </a:solidFill>
                <a:latin typeface="Aptos"/>
              </a:rPr>
              <a:t>Use source filename + customer + date; do not deduplicate on invoice number alone.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34056"/>
            <a:ext cx="7315200" cy="786384"/>
          </a:xfrm>
          <a:prstGeom prst="roundRect">
            <a:avLst/>
          </a:prstGeom>
          <a:solidFill>
            <a:srgbClr val="1D2B49"/>
          </a:solidFill>
          <a:ln>
            <a:solidFill>
              <a:srgbClr val="3243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898648"/>
            <a:ext cx="3200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852928"/>
            <a:ext cx="2514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Verify the unnamed cloud vendor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8768" y="2852928"/>
            <a:ext cx="376732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C7D0DE"/>
                </a:solidFill>
                <a:latin typeface="Aptos"/>
              </a:rPr>
              <a:t>Invoice.pdf prints an address and phone but no vendor/company name.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712464"/>
            <a:ext cx="7315200" cy="786384"/>
          </a:xfrm>
          <a:prstGeom prst="roundRect">
            <a:avLst/>
          </a:prstGeom>
          <a:solidFill>
            <a:srgbClr val="1D2B49"/>
          </a:solidFill>
          <a:ln>
            <a:solidFill>
              <a:srgbClr val="3243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877056"/>
            <a:ext cx="3200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0891B2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3831336"/>
            <a:ext cx="2514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Validate pottery logistics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3831336"/>
            <a:ext cx="376732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C7D0DE"/>
                </a:solidFill>
                <a:latin typeface="Aptos"/>
              </a:rPr>
              <a:t>Match 100 units, fragile-goods note, Express air and $24.99 shipping to receipt evidence.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690872"/>
            <a:ext cx="7315200" cy="786384"/>
          </a:xfrm>
          <a:prstGeom prst="roundRect">
            <a:avLst/>
          </a:prstGeom>
          <a:solidFill>
            <a:srgbClr val="1D2B49"/>
          </a:solidFill>
          <a:ln>
            <a:solidFill>
              <a:srgbClr val="3243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855464"/>
            <a:ext cx="3200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4F46E5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5024" y="4809744"/>
            <a:ext cx="2514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Obtain payment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58768" y="4809744"/>
            <a:ext cx="376732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C7D0DE"/>
                </a:solidFill>
                <a:latin typeface="Aptos"/>
              </a:rPr>
              <a:t>Add approval, payment date, payment method and clearing status before trend claims.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755648"/>
            <a:ext cx="3154680" cy="373075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22792" y="2057400"/>
            <a:ext cx="2514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4F46E5"/>
                </a:solidFill>
                <a:latin typeface="Aptos"/>
              </a:rPr>
              <a:t>REVIEW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2792" y="2542032"/>
            <a:ext cx="219456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3203A"/>
                </a:solidFill>
                <a:latin typeface="Aptos"/>
              </a:rPr>
              <a:t>Known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22792" y="2862072"/>
            <a:ext cx="224028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Dates, terms, line items, tax, shipping and total due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3721608"/>
            <a:ext cx="219456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C2312D"/>
                </a:solidFill>
                <a:latin typeface="Aptos"/>
              </a:rPr>
              <a:t>Unknown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22792" y="4041648"/>
            <a:ext cx="224028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Paid / unpaid, overdue, payment date, approval and settlement method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22792" y="5056632"/>
            <a:ext cx="22402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68A62"/>
                </a:solidFill>
                <a:latin typeface="Aptos"/>
              </a:rPr>
              <a:t>No external assumptions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AEB8C8"/>
                </a:solidFill>
                <a:latin typeface="Aptos"/>
              </a:rPr>
              <a:t>Source: Invoice.pdf p.1; Invoice_2.pdf p.1  ·  OfficeBench 3-5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519672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AEB8C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