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Relationship Id="rId5" Type="http://schemas.openxmlformats.org/officeDocument/2006/relationships/tags" Target="../tags/tag13.xml"/><Relationship Id="rId6" Type="http://schemas.openxmlformats.org/officeDocument/2006/relationships/tags" Target="../tags/tag14.xml"/><Relationship Id="rId7" Type="http://schemas.openxmlformats.org/officeDocument/2006/relationships/tags" Target="../tags/tag15.xml"/><Relationship Id="rId8" Type="http://schemas.openxmlformats.org/officeDocument/2006/relationships/tags" Target="../tags/tag16.xml"/><Relationship Id="rId9" Type="http://schemas.openxmlformats.org/officeDocument/2006/relationships/tags" Target="../tags/tag17.xml"/><Relationship Id="rId10" Type="http://schemas.openxmlformats.org/officeDocument/2006/relationships/tags" Target="../tags/tag18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Relationship Id="rId10" Type="http://schemas.openxmlformats.org/officeDocument/2006/relationships/tags" Target="../tags/tag28.xml"/><Relationship Id="rId11" Type="http://schemas.openxmlformats.org/officeDocument/2006/relationships/tags" Target="../tags/tag29.xml"/><Relationship Id="rId12" Type="http://schemas.openxmlformats.org/officeDocument/2006/relationships/tags" Target="../tags/tag30.xml"/><Relationship Id="rId13" Type="http://schemas.openxmlformats.org/officeDocument/2006/relationships/tags" Target="../tags/tag31.xml"/><Relationship Id="rId14" Type="http://schemas.openxmlformats.org/officeDocument/2006/relationships/tags" Target="../tags/tag32.xml"/><Relationship Id="rId15" Type="http://schemas.openxmlformats.org/officeDocument/2006/relationships/tags" Target="../tags/tag33.xm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Relationship Id="rId6" Type="http://schemas.openxmlformats.org/officeDocument/2006/relationships/tags" Target="../tags/tag46.xml"/><Relationship Id="rId7" Type="http://schemas.openxmlformats.org/officeDocument/2006/relationships/tags" Target="../tags/tag47.xml"/><Relationship Id="rId8" Type="http://schemas.openxmlformats.org/officeDocument/2006/relationships/tags" Target="../tags/tag48.xml"/><Relationship Id="rId9" Type="http://schemas.openxmlformats.org/officeDocument/2006/relationships/tags" Target="../tags/tag49.xml"/><Relationship Id="rId10" Type="http://schemas.openxmlformats.org/officeDocument/2006/relationships/tags" Target="../tags/tag50.xml"/><Relationship Id="rId11" Type="http://schemas.openxmlformats.org/officeDocument/2006/relationships/tags" Target="../tags/tag51.xml"/><Relationship Id="rId12" Type="http://schemas.openxmlformats.org/officeDocument/2006/relationships/tags" Target="../tags/tag52.xml"/><Relationship Id="rId13" Type="http://schemas.openxmlformats.org/officeDocument/2006/relationships/tags" Target="../tags/tag5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tags" Target="../tags/tag70.xml"/><Relationship Id="rId9" Type="http://schemas.openxmlformats.org/officeDocument/2006/relationships/tags" Target="../tags/tag71.xml"/><Relationship Id="rId10" Type="http://schemas.openxmlformats.org/officeDocument/2006/relationships/tags" Target="../tags/tag72.xml"/><Relationship Id="rId11" Type="http://schemas.openxmlformats.org/officeDocument/2006/relationships/tags" Target="../tags/tag73.xml"/><Relationship Id="rId12" Type="http://schemas.openxmlformats.org/officeDocument/2006/relationships/tags" Target="../tags/tag74.xml"/><Relationship Id="rId13" Type="http://schemas.openxmlformats.org/officeDocument/2006/relationships/tags" Target="../tags/tag75.xml"/><Relationship Id="rId14" Type="http://schemas.openxmlformats.org/officeDocument/2006/relationships/tags" Target="../tags/tag76.xml"/><Relationship Id="rId15" Type="http://schemas.openxmlformats.org/officeDocument/2006/relationships/tags" Target="../tags/tag77.xm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cover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5577840" cy="6355080"/>
          </a:xfrm>
          <a:prstGeom prst="rect">
            <a:avLst/>
          </a:prstGeom>
          <a:solidFill>
            <a:srgbClr val="063D3B">
              <a:alpha val="92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03504" y="1554480"/>
            <a:ext cx="4663440" cy="11887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Qinglan County Agricultural Low-Altitude Application Implementation Plan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21792" y="2971800"/>
            <a:ext cx="438912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Linking cultivation, planting, management, and harvest through aerial operations, a data platform, and service operations to build a digital foundation for county agriculture.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" y="4206240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E5A63B"/>
          </a:solidFill>
          <a:ln w="12700">
            <a:solidFill>
              <a:srgbClr val="E5A6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21792" y="4238244"/>
            <a:ext cx="1691640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Agricultural Low-Altitude Applications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Plan Cover  ·  Start  →  Next: Contents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Building a closed loop from scenario identification to service delivery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72821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01  Project Background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2104" y="207568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Policy window and regional conditions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32104" y="268833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02  Agricultural Scenarios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32104" y="303580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Crop protection, transport, monitoring, and basic services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" y="364845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03  Integrated Value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2104" y="399592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Cost, efficiency, ecology, and livelihoods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85800" y="448056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2104" y="460857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04  Key Challenges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" y="495604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Demand fit, training and O&amp;M, and funding mechanisms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400800" y="160020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47104" y="172821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05  Solution Pathways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47104" y="207568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Infrastructure platform, talent and O&amp;M, and asset-light services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400800" y="256032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47104" y="268833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06  Operating Scenarios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47104" y="303580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Operational review and scaled replication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400800" y="352044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47104" y="364845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 07  Summary and Outlook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47104" y="3995928"/>
            <a:ext cx="4462272" cy="1280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County model and industry ecosystem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Contents  ·  Previous: Cover  →  Next: Project Background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map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Project Background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Changes in terrain, timing, and agricultural labor are turning low-altitude applications from an option into essential infrastructure.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Project Background  ·  Previous: Contents  →  Next: Regional Drivers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 Start with Low-Altitude Agriculture?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identified the trend; this slide grounds it in county agricultural scenarios</a:t>
            </a:r>
            <a:endParaRPr lang="en-US" sz="1100" dirty="0"/>
          </a:p>
        </p:txBody>
      </p:sp>
      <p:pic>
        <p:nvPicPr>
          <p:cNvPr id="6" name="Image 0" descr="/mnt/data/agri_assets/ecosystem.jpg"/>
          <p:cNvPicPr>
            <a:picLocks noChangeAspect="1"/>
          </p:cNvPicPr>
          <p:nvPr/>
        </p:nvPicPr>
        <p:blipFill>
          <a:blip r:embed="rId1"/>
          <a:srcRect l="15909" r="15909"/>
          <a:stretch>
            <a:fillRect/>
          </a:stretch>
        </p:blipFill>
        <p:spPr>
          <a:xfrm>
            <a:off x="6080760" y="1325880"/>
            <a:ext cx="5486400" cy="4526280"/>
          </a:xfrm>
          <a:prstGeom prst="rect">
            <a:avLst/>
          </a:prstGeom>
        </p:spPr>
      </p:pic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685800" y="141732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832104" y="1545336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Terrain Constraints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832104" y="1892808"/>
            <a:ext cx="459943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Hills, valleys, and fragmented plots lengthen routes for workers and vehicles; direct aerial access can close these gaps.</a:t>
            </a:r>
            <a:endParaRPr lang="en-US" sz="920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685800" y="2615184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832104" y="2743200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Seasonal Constraints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832104" y="3090672"/>
            <a:ext cx="459943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Pest outbreaks, disasters, and harvest windows are brief; low-altitude equipment can improve response speed.</a:t>
            </a:r>
            <a:endParaRPr lang="en-US" sz="92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685800" y="3813048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832104" y="3941064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 Constraints</a:t>
            </a:r>
            <a:endParaRPr lang="en-US" sz="125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832104" y="4288536"/>
            <a:ext cx="459943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Traditional field patrols rarely create continuous records; aerial imagery can become traceable, reviewable data assets.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85800" y="5010912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2104" y="5138928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 Logic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1850" y="5377180"/>
            <a:ext cx="4599305" cy="18224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First clarify why it is needed, then determine where it can be used.</a:t>
            </a:r>
            <a:endParaRPr lang="en-US" sz="900" dirty="0">
              <a:solidFill>
                <a:srgbClr val="112B2D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Project Background  ·  Previous: Project Background  →  Next: Policy &amp; Region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Policy and Regional Conditions Drive Adoption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explained the need; this slide defines the conditions for implementation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63677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Policy Window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1984248"/>
            <a:ext cx="2953512" cy="20208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Smart agriculture, upgraded farm machinery, and county digital governance are converging, creating policy space for low-altitude equipment, data platforms, and service procurement.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62272" y="150876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F4FB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3677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Regional Foundation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08576" y="1984248"/>
            <a:ext cx="2953512" cy="20208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Qinglan County combines contiguous fields, hillside orchards, valley villages, and mountain roads, creating diverse needs for crop protection, transport, inspection, and loss assessment.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30184" y="163677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Conditions for Adoption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30184" y="1984248"/>
            <a:ext cx="2953512" cy="20208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Neighboring counties already have stable operating experience; Qinglan can reduce risk in stages through small pilots, platform integration, and outsourced services.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097280" y="4709160"/>
            <a:ext cx="9875520" cy="0"/>
          </a:xfrm>
          <a:prstGeom prst="line">
            <a:avLst/>
          </a:prstGeom>
          <a:noFill/>
          <a:ln w="1778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920240" y="5010912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Policy Feasible  →  Scenarios Viable  →  Operations Sustainable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 Project Background  ·  Previous: Why Low Altitude  →  Next: Agricultural Scenarios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dashboard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Agricultural Drone Scenarios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Across cultivation, planting, management, and harvest, upgrade isolated equipment use into a countywide agricultural service network.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 Primary Agricultural Drone Scenarios  ·  Previous: Policy &amp; Region  →  Next: Four Scenarios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Four Agricultural Application Scenarios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introduced the scenarios; this slide provides the overview</a:t>
            </a:r>
            <a:endParaRPr lang="en-US" sz="1100" dirty="0"/>
          </a:p>
        </p:txBody>
      </p:sp>
      <p:pic>
        <p:nvPicPr>
          <p:cNvPr id="6" name="Image 0" descr="/mnt/data/agri_assets/spray.jpg"/>
          <p:cNvPicPr>
            <a:picLocks noChangeAspect="1"/>
          </p:cNvPicPr>
          <p:nvPr/>
        </p:nvPicPr>
        <p:blipFill>
          <a:blip r:embed="rId1"/>
          <a:srcRect l="1212" r="1212"/>
          <a:stretch>
            <a:fillRect/>
          </a:stretch>
        </p:blipFill>
        <p:spPr>
          <a:xfrm>
            <a:off x="685800" y="1417320"/>
            <a:ext cx="3886200" cy="2240280"/>
          </a:xfrm>
          <a:prstGeom prst="rect">
            <a:avLst/>
          </a:prstGeom>
        </p:spPr>
      </p:pic>
      <p:pic>
        <p:nvPicPr>
          <p:cNvPr id="7" name="Image 1" descr="/mnt/data/agri_assets/logistics.jpg"/>
          <p:cNvPicPr>
            <a:picLocks noChangeAspect="1"/>
          </p:cNvPicPr>
          <p:nvPr/>
        </p:nvPicPr>
        <p:blipFill>
          <a:blip r:embed="rId2"/>
          <a:srcRect l="1212" r="1212"/>
          <a:stretch>
            <a:fillRect/>
          </a:stretch>
        </p:blipFill>
        <p:spPr>
          <a:xfrm>
            <a:off x="7635240" y="1417320"/>
            <a:ext cx="3886200" cy="2240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28032" y="14173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974336" y="1545336"/>
            <a:ext cx="2221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Crop Protection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974336" y="1892808"/>
            <a:ext cx="222199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Precise routes, atomized spraying, and variable-rate application for pest control in fields and orchards.</a:t>
            </a:r>
            <a:endParaRPr lang="en-US" sz="920" dirty="0"/>
          </a:p>
        </p:txBody>
      </p:sp>
      <p:sp>
        <p:nvSpPr>
          <p:cNvPr id="11" name="Shape 7"/>
          <p:cNvSpPr/>
          <p:nvPr/>
        </p:nvSpPr>
        <p:spPr>
          <a:xfrm>
            <a:off x="4828032" y="26974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4974336" y="2825496"/>
            <a:ext cx="2221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Material Transport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74336" y="3172968"/>
            <a:ext cx="222199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Small-batch, short-distance transport among mountain areas, valleys, and dispersed villages.</a:t>
            </a:r>
            <a:endParaRPr lang="en-US" sz="920" dirty="0"/>
          </a:p>
        </p:txBody>
      </p:sp>
      <p:sp>
        <p:nvSpPr>
          <p:cNvPr id="14" name="Shape 10"/>
          <p:cNvSpPr/>
          <p:nvPr/>
        </p:nvSpPr>
        <p:spPr>
          <a:xfrm>
            <a:off x="914400" y="41148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060704" y="42428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Monitoring and Surveying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060704" y="4590288"/>
            <a:ext cx="295351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Crop-vigor detection, drought and waterlogging observation, and disaster-boundary extraction.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4480560" y="41148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626864" y="42428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Basic Services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626864" y="4590288"/>
            <a:ext cx="295351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Canal inspection, plot verification, and aerial support for straw-burning patrols.</a:t>
            </a:r>
            <a:endParaRPr lang="en-US" sz="920" dirty="0"/>
          </a:p>
        </p:txBody>
      </p:sp>
      <p:sp>
        <p:nvSpPr>
          <p:cNvPr id="20" name="Shape 16"/>
          <p:cNvSpPr/>
          <p:nvPr/>
        </p:nvSpPr>
        <p:spPr>
          <a:xfrm>
            <a:off x="8046720" y="41148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8193024" y="42428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 Accumulation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193024" y="4590288"/>
            <a:ext cx="2953512" cy="3749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Flight tracks, imagery, and verification records flow into the county platform.</a:t>
            </a:r>
            <a:endParaRPr lang="en-US" sz="920" dirty="0"/>
          </a:p>
        </p:txBody>
      </p:sp>
      <p:sp>
        <p:nvSpPr>
          <p:cNvPr id="23" name="Shape 19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 Agricultural Scenarios  ·  Previous: Scenario Introduction  →  Next: Operating Methods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From Traditional Operations to Aerial Coordination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mapped the scenarios; this slide explains how each one works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05191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61288" y="1517904"/>
            <a:ext cx="1594714" cy="6766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Collect Plot Information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2938882" y="1417320"/>
            <a:ext cx="2051914" cy="841248"/>
          </a:xfrm>
          <a:prstGeom prst="roundRect">
            <a:avLst>
              <a:gd name="adj" fmla="val 6522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030322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22930" y="1517904"/>
            <a:ext cx="1594714" cy="6766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 Operating Boundaries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5100523" y="1417320"/>
            <a:ext cx="205191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91963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4571" y="1517904"/>
            <a:ext cx="1594714" cy="6766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Execute Aerial Tasks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262165" y="1417320"/>
            <a:ext cx="2051914" cy="841248"/>
          </a:xfrm>
          <a:prstGeom prst="roundRect">
            <a:avLst>
              <a:gd name="adj" fmla="val 6522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53605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46213" y="1517904"/>
            <a:ext cx="1594714" cy="6766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Return Operating Results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423806" y="1417320"/>
            <a:ext cx="205191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515246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07854" y="1517904"/>
            <a:ext cx="1594714" cy="6766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Confirm Farmer Feedback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77240" y="26517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23544" y="277977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Crop Protection and Spreading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" y="3127248"/>
            <a:ext cx="3090672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Shift from backpack or ground-machine work to planned flight routes, reducing direct chemical exposure and the risk of walking on slopes.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416552" y="26517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62856" y="277977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Monitoring and Mapping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62856" y="3127248"/>
            <a:ext cx="3090672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Replace walking every field with area-based scanning; use imagery to assess crop vigor, moisture, pests, or disaster boundaries.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055864" y="26517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202168" y="277977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Transport and Patrol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02168" y="3127248"/>
            <a:ext cx="3090672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 direct aerial access to supplement weak village and farm roads for urgent supplies, samples, and small parcels.</a:t>
            </a:r>
            <a:endParaRPr lang="en-US" sz="920" dirty="0"/>
          </a:p>
        </p:txBody>
      </p:sp>
      <p:pic>
        <p:nvPicPr>
          <p:cNvPr id="30" name="Image 0" descr="/mnt/data/agri_assets/service.jpg"/>
          <p:cNvPicPr>
            <a:picLocks noChangeAspect="1"/>
          </p:cNvPicPr>
          <p:nvPr/>
        </p:nvPicPr>
        <p:blipFill>
          <a:blip r:embed="rId1"/>
          <a:srcRect t="21717" b="21717"/>
          <a:stretch>
            <a:fillRect/>
          </a:stretch>
        </p:blipFill>
        <p:spPr>
          <a:xfrm>
            <a:off x="777240" y="4315968"/>
            <a:ext cx="5029200" cy="160020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172200" y="4315968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318504" y="4443984"/>
            <a:ext cx="49194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From Equipment to Services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18504" y="4791456"/>
            <a:ext cx="4919472" cy="10149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single device is not the goal. The county needs standard workflows: who requests, approves, executes, verifies, and owns the data.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 Agricultural Scenarios  ·  Previous: Four Scenarios  →  Next: Data Workflow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Digital Operating Workflow: Collect—Plan—Assign—Execute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explained operating methods; this slide moves to platform-based execution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208849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42416" y="1517904"/>
            <a:ext cx="1631290" cy="7955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Collect High-Resolution Imagery and Plot Boundaries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2856586" y="1417320"/>
            <a:ext cx="2088490" cy="960120"/>
          </a:xfrm>
          <a:prstGeom prst="roundRect">
            <a:avLst>
              <a:gd name="adj" fmla="val 5714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48026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0634" y="1517904"/>
            <a:ext cx="1631290" cy="7955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 Operating Areas and Risk Points Automatically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5054803" y="1417320"/>
            <a:ext cx="208849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46243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38851" y="1517904"/>
            <a:ext cx="1631290" cy="7955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Assign Tasks to Service Teams and Equipment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253021" y="1417320"/>
            <a:ext cx="2088490" cy="960120"/>
          </a:xfrm>
          <a:prstGeom prst="roundRect">
            <a:avLst>
              <a:gd name="adj" fmla="val 5714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44461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37069" y="1517904"/>
            <a:ext cx="1631290" cy="7955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Execute On Site with Real-Time Records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451238" y="1417320"/>
            <a:ext cx="208849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542678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35286" y="1517904"/>
            <a:ext cx="1631290" cy="7955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Return Results and Archive Records</a:t>
            </a:r>
            <a:endParaRPr lang="en-US" sz="840" dirty="0"/>
          </a:p>
        </p:txBody>
      </p:sp>
      <p:pic>
        <p:nvPicPr>
          <p:cNvPr id="21" name="Image 0" descr="/mnt/data/agri_assets/dashboard.jpg"/>
          <p:cNvPicPr>
            <a:picLocks noChangeAspect="1"/>
          </p:cNvPicPr>
          <p:nvPr/>
        </p:nvPicPr>
        <p:blipFill>
          <a:blip r:embed="rId1"/>
          <a:srcRect t="10234" b="10234"/>
          <a:stretch>
            <a:fillRect/>
          </a:stretch>
        </p:blipFill>
        <p:spPr>
          <a:xfrm>
            <a:off x="731520" y="2743200"/>
            <a:ext cx="5212080" cy="23317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291072" y="2743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437376" y="2871216"/>
            <a:ext cx="2176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Centimeter-Level Positioning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37376" y="3218688"/>
            <a:ext cx="2176272" cy="4663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 high-precision positioning and calibrated plot boundaries to reduce overlap and missed coverage.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9006840" y="2743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153144" y="2871216"/>
            <a:ext cx="2176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3D Flight Routes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153144" y="3218688"/>
            <a:ext cx="2176272" cy="4663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Predefine safe altitudes and obstacle-avoidance zones for orchards, slopes, riverbanks, and other complex settings.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6291072" y="4096512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437376" y="4224528"/>
            <a:ext cx="2176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Remote Management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437376" y="4572000"/>
            <a:ext cx="2176272" cy="4663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Keep unified records of tasks, personnel, equipment, and results for review.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9006840" y="4096512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153144" y="4224528"/>
            <a:ext cx="2176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Verification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153144" y="4572000"/>
            <a:ext cx="2176272" cy="4663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 the loop with operating imagery and feedback data to support service settlement.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 Agricultural Scenarios  ·  Previous: Operating Methods  →  Next: Precision Agriculture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Precision Agriculture: From Uniform Treatment to Zone-Specific 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established the workflow; this slide shows how data guides differentiated management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4617" r="14617"/>
          <a:stretch>
            <a:fillRect/>
          </a:stretch>
        </p:blipFill>
        <p:spPr>
          <a:xfrm>
            <a:off x="6172200" y="1325880"/>
            <a:ext cx="534924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41732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32104" y="1545336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Identify Differences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2104" y="1892808"/>
            <a:ext cx="45537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Segment plots into management zones by crop vigor, soil moisture, pest conditions, and operating history.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85800" y="251460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2104" y="2642616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 Prescriptions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2104" y="2990088"/>
            <a:ext cx="45537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Set spraying, spreading, or inspection frequency by zone instead of applying one uniform treatment.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85800" y="361188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32104" y="3739896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Adjust Dynamically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2104" y="4087368"/>
            <a:ext cx="45537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each operation, combine follow-up visits, imagery, and farmer feedback to update the next strategy.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85800" y="470916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2104" y="4837176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32104" y="5184648"/>
            <a:ext cx="45537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Shared foundation for benefits, training, and service models.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 Agricultural Scenarios  ·  Previous: Data Workflow  →  Next: Scenario Integration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Scenario Integration: Four Task Types on One County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completed precision agriculture; this slide integrates the scenarios into one system</a:t>
            </a:r>
            <a:endParaRPr lang="en-US" sz="1100" dirty="0"/>
          </a:p>
        </p:txBody>
      </p:sp>
      <p:pic>
        <p:nvPicPr>
          <p:cNvPr id="6" name="Image 0" descr="/mnt/data/agri_assets/map.jpg"/>
          <p:cNvPicPr>
            <a:picLocks noChangeAspect="1"/>
          </p:cNvPicPr>
          <p:nvPr/>
        </p:nvPicPr>
        <p:blipFill>
          <a:blip r:embed="rId1"/>
          <a:srcRect l="13636" r="13636"/>
          <a:stretch>
            <a:fillRect/>
          </a:stretch>
        </p:blipFill>
        <p:spPr>
          <a:xfrm>
            <a:off x="640080" y="1325880"/>
            <a:ext cx="585216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141732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958584" y="1545336"/>
            <a:ext cx="4096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Unified Access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58584" y="1892808"/>
            <a:ext cx="4096512" cy="1005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Farmers, cooperatives, village grids, and agricultural agencies can all submit service requests.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812280" y="233172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58584" y="2459736"/>
            <a:ext cx="4096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Unified Dispatch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58584" y="2807208"/>
            <a:ext cx="4096512" cy="1005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Allocate tasks by crop season, travel distance, equipment type, and service-team capability.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812280" y="324612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958584" y="3374136"/>
            <a:ext cx="4096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Unified Records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958584" y="3721608"/>
            <a:ext cx="4096512" cy="1005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 continuous files from imagery, routes, operating volume, feedback, and verification materials.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812280" y="416052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958584" y="4288536"/>
            <a:ext cx="4096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Unified Evaluation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58584" y="4636008"/>
            <a:ext cx="4096512" cy="1005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 service quality, farmer satisfaction, risk events, and maintenance records for continuous improvement.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6858000" y="5321808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Scenarios are not an isolated list; they are entry points to county agricultural digital infrastructure.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 Agricultural Scenarios  ·  Previous: Precision Agriculture  →  Next: Digital Closed Loop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Precision Management Scenario: Variable-Rate Rice-Field Operations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formed the platform; this slide enters a crop-management scenario</a:t>
            </a:r>
            <a:endParaRPr lang="en-US" sz="1100" dirty="0"/>
          </a:p>
        </p:txBody>
      </p:sp>
      <p:pic>
        <p:nvPicPr>
          <p:cNvPr id="6" name="Image 0" descr="/mnt/data/agri_assets/spray.jpg"/>
          <p:cNvPicPr>
            <a:picLocks noChangeAspect="1"/>
          </p:cNvPicPr>
          <p:nvPr/>
        </p:nvPicPr>
        <p:blipFill>
          <a:blip r:embed="rId1"/>
          <a:srcRect l="19531" r="19531"/>
          <a:stretch>
            <a:fillRect/>
          </a:stretch>
        </p:blipFill>
        <p:spPr>
          <a:xfrm>
            <a:off x="658368" y="1325880"/>
            <a:ext cx="475488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325880"/>
            <a:ext cx="26517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952744" y="1453896"/>
            <a:ext cx="2359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Variable-Rate Spreading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52744" y="1801368"/>
            <a:ext cx="23591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 zone strategies from crop-vigor imagery so fertilizer application better matches crop needs.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8796528" y="1325880"/>
            <a:ext cx="26517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942832" y="1453896"/>
            <a:ext cx="2359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Boundary Capture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942832" y="1801368"/>
            <a:ext cx="23591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 geofences to record entry times and operating coverage for verification.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5806440" y="2651760"/>
            <a:ext cx="26517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952744" y="2779776"/>
            <a:ext cx="2359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Oversight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52744" y="3127248"/>
            <a:ext cx="23591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platform records key nodes across cultivation, planting, management, and harvest.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796528" y="2651760"/>
            <a:ext cx="26517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942832" y="2779776"/>
            <a:ext cx="2359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Benefit Framing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942832" y="3127248"/>
            <a:ext cx="23591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Describe value through lower inputs, stable yield, and less rework without disclosing specific amounts.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06440" y="4005072"/>
            <a:ext cx="5641848" cy="1417320"/>
          </a:xfrm>
          <a:prstGeom prst="roundRect">
            <a:avLst>
              <a:gd name="adj" fmla="val 5161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952744" y="4133088"/>
            <a:ext cx="53492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Connection to the Next Slide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52744" y="4480560"/>
            <a:ext cx="5349240" cy="8321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rice scenario emphasizes variable-rate work. The next slide moves to cash crops and examines how drone monitoring supports water, fertilizer, pest, and quality management.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 Agricultural Scenarios  ·  Previous: Digital Closed Loop  →  Next: Cash Crops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Cash-Crop Scenario: Whole-Field Monitoring and Precision Inputs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rice, this slide connects to cotton, tea plantations, orchards, and other cash crops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4538" r="14538"/>
          <a:stretch>
            <a:fillRect/>
          </a:stretch>
        </p:blipFill>
        <p:spPr>
          <a:xfrm>
            <a:off x="658368" y="1325880"/>
            <a:ext cx="530352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32588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501384" y="1453896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Plant Height and Vigor Monitoring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01384" y="1801368"/>
            <a:ext cx="464515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 periodic aerial surveys to capture the full distribution instead of judging field conditions from a few samples.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355080" y="248716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01384" y="2615184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Patch Detection and Zoned Treatment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01384" y="2962656"/>
            <a:ext cx="464515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Outline saline, pest-affected, water-stressed, or lodged areas to guide targeted remediation.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355080" y="3648456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501384" y="3776472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Precision Use of Agricultural Inputs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01384" y="4123944"/>
            <a:ext cx="464515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Apply treatments by risk zone to reduce wasted inputs and environmental pressure.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355080" y="4809744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501384" y="4937760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01384" y="5157216"/>
            <a:ext cx="4645152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measure value and the case for scaling.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 Agricultural Scenarios  ·  Previous: Precision Management  →  Next: Integrated Value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ecosystem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Economic and Social Benefits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Extend the value of low-altitude applications beyond one operation to cost, efficiency, ecology, and public governance.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 Economic and Social Benefits  ·  Previous: Cash Crops  →  Next: Value Indicators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Lower Cost, Higher Efficiency: Field Crop Protection as 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introduced value; this slide breaks it into tangible indicators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33272" y="164592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Significant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33272" y="219456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Chemical Savings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49631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Precision atomization reduces overlap and drift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520440" y="150876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85032" y="164592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Substantial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685032" y="219456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Labor Savings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49631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Reduces peak labor pressure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36792" y="164592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36792" y="219456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Efficiency Gain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49631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Improves the ability to capture farm windows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823960" y="150876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88552" y="164592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96B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Traceable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988552" y="219456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Recorded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06840" y="249631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Results can be reviewed and verified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68680" y="36576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14984" y="3785616"/>
            <a:ext cx="29992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Ecological Benefits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14984" y="4133088"/>
            <a:ext cx="2999232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Reduce nonpoint-source pollution, excessive chemicals, and soil disturbance.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434840" y="36576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81144" y="3785616"/>
            <a:ext cx="29992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Economic Benefits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81144" y="4133088"/>
            <a:ext cx="2999232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Save labor and inputs while stabilizing crop-output expectations.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001000" y="36576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147304" y="3785616"/>
            <a:ext cx="29992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Livelihood Benefits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147304" y="4133088"/>
            <a:ext cx="2999232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Reduce labor intensity and improve service access for remote plots.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 Integrated Value  ·  Previous: Value Introduction  →  Next: Operating Comparison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Generational Advantage: Drone Operations vs. Traditional Methods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showed outcomes; this slide compares operating processes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77824" y="1545336"/>
            <a:ext cx="19019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Crop-Protection Stage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892808"/>
            <a:ext cx="190195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9544" y="154533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Traditional Method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9544" y="189280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High labor dependence; strongly constrained by terrain and physical effort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7132320" y="1417320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278624" y="1545336"/>
            <a:ext cx="40507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Low-Altitude Method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78624" y="1892808"/>
            <a:ext cx="405079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Rapid route coverage with complete operating records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F4FB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77824" y="2596896"/>
            <a:ext cx="19019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Transport Stage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" y="2944368"/>
            <a:ext cx="190195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063240" y="2468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09544" y="259689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Traditional Method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9544" y="294436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Long detours and high sensitivity to post-rain road conditions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132320" y="2468880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278624" y="2596896"/>
            <a:ext cx="40507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Low-Altitude Method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78624" y="2944368"/>
            <a:ext cx="405079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Direct aerial links for urgent, small-batch supplies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31520" y="352044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7824" y="3648456"/>
            <a:ext cx="19019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Disaster-Survey Stage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" y="3995928"/>
            <a:ext cx="190195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063240" y="352044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209544" y="364845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Traditional Method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9544" y="399592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Slow field surveys with discontinuous boundary assessment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7132320" y="3520440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278624" y="3648456"/>
            <a:ext cx="40507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Low-Altitude Method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78624" y="3995928"/>
            <a:ext cx="405079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Rapid imagery generation for verification and claims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731520" y="4572000"/>
            <a:ext cx="2194560" cy="749808"/>
          </a:xfrm>
          <a:prstGeom prst="roundRect">
            <a:avLst>
              <a:gd name="adj" fmla="val 9756"/>
            </a:avLst>
          </a:prstGeom>
          <a:solidFill>
            <a:srgbClr val="F4FB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77824" y="4700016"/>
            <a:ext cx="19019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Patrol Stage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" y="5047488"/>
            <a:ext cx="190195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3063240" y="457200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209544" y="470001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Traditional Method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9544" y="504748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Limited patrol radius for grid personnel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7132320" y="4572000"/>
            <a:ext cx="434340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278624" y="4700016"/>
            <a:ext cx="40507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Low-Altitude Method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78624" y="5047488"/>
            <a:ext cx="405079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Aerial patrols provide supplementary alerts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1097280" y="571500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comparison is not about replacing all human work, but assigning high-risk, time-critical, repetitive tasks to aerial tools.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 Integrated Value  ·  Previous: Value Indicators  →  Next: Key Challenges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service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Current Key Challenges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Adoption barriers center on demand fit, workforce capability, long-term O&amp;M, and funding mechanisms.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 Current Key Challenges  ·  Previous: Operating Comparison  →  Next: Four Pain Points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Four Pain Points Blocking Implementation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raised the issue; this slide locates the bottlenecks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23544" y="163677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Mismatch Between Needs and Solutions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" y="1984248"/>
            <a:ext cx="478231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Hillside orchards, fragmented plots, and broken village-road links vary widely; generic equipment and one workflow cannot fit every setting at once.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327648" y="150876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3952" y="163677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Insufficient Guidance and Training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73952" y="1984248"/>
            <a:ext cx="478231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Farmers, service teams, and local managers have inconsistent understanding of airspace safety, chemical rules, and emergency response.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23544" y="309981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Weak Long-Term O&amp;M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3544" y="3447288"/>
            <a:ext cx="478231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County repair capacity, spare parts, backup equipment, and response mechanisms are insufficient, risking service outages during critical farm windows.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327648" y="297180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73952" y="309981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High Funding Pressure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73952" y="3447288"/>
            <a:ext cx="478231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Upfront procurement and long-term maintenance are costly, and a single participant cannot bear the full investment alone.</a:t>
            </a:r>
            <a:endParaRPr lang="en-US" sz="920" dirty="0"/>
          </a:p>
        </p:txBody>
      </p:sp>
      <p:pic>
        <p:nvPicPr>
          <p:cNvPr id="18" name="Image 0" descr="/mnt/data/agri_assets/service.jpg"/>
          <p:cNvPicPr>
            <a:picLocks noChangeAspect="1"/>
          </p:cNvPicPr>
          <p:nvPr/>
        </p:nvPicPr>
        <p:blipFill>
          <a:blip r:embed="rId1"/>
          <a:srcRect t="42350" b="42350"/>
          <a:stretch>
            <a:fillRect/>
          </a:stretch>
        </p:blipFill>
        <p:spPr>
          <a:xfrm>
            <a:off x="777240" y="4572000"/>
            <a:ext cx="10625328" cy="9144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7240" y="4572000"/>
            <a:ext cx="10625328" cy="9144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51560" y="4882896"/>
            <a:ext cx="9966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solution must answer four questions together: what to build, who will use it, who repairs it, and how costs are shared.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 Key Challenges  ·  Previous: Challenge Introduction  →  Next: Solutions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map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Solutions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 infrastructure, operating mechanisms, and service procurement to lower implementation barriers and expand coverage over time.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  Core Solutions  ·  Previous: Four Pain Points  →  Next: Infrastructure Platform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Infrastructure + Platform: Building the Operating Foundation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outlined the approach; this slide first addresses foundational capabilities</a:t>
            </a:r>
            <a:endParaRPr lang="en-US" sz="1100" dirty="0"/>
          </a:p>
        </p:txBody>
      </p:sp>
      <p:pic>
        <p:nvPicPr>
          <p:cNvPr id="6" name="Image 0" descr="/mnt/data/agri_assets/map.jpg"/>
          <p:cNvPicPr>
            <a:picLocks noChangeAspect="1"/>
          </p:cNvPicPr>
          <p:nvPr/>
        </p:nvPicPr>
        <p:blipFill>
          <a:blip r:embed="rId1"/>
          <a:srcRect l="16996" r="16996"/>
          <a:stretch>
            <a:fillRect/>
          </a:stretch>
        </p:blipFill>
        <p:spPr>
          <a:xfrm>
            <a:off x="6172200" y="1280160"/>
            <a:ext cx="52578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41732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32104" y="1545336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Takeoff, Landing, and Charging Nodes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2104" y="1892808"/>
            <a:ext cx="455371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Deploy lightweight nodes in central villages, cooperatives, and field service stations to form a network for nearby takeoff and local maintenance.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85800" y="2578608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2104" y="2706624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Communications and Edge Processing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2104" y="3054096"/>
            <a:ext cx="455371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 connectivity gaps in priority operating areas to support task delivery, imagery upload, and exception alerts.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85800" y="3739896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32104" y="3867912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County Data Platform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2104" y="4215384"/>
            <a:ext cx="455371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 an integrated ledger for plots, equipment, service teams, operating records, and verification materials.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85800" y="4901184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2104" y="5029200"/>
            <a:ext cx="45537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32104" y="5248656"/>
            <a:ext cx="4553712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who will sustain long-term service operations?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 Solution Pathways  ·  Previous: Solution Path  →  Next: Training &amp; O&amp;M</a:t>
            </a:r>
            <a:endParaRPr lang="en-US" sz="7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Training + O&amp;M: Closing the Support Loop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hardware and platform foundations, this slide focuses on people and maintenance</a:t>
            </a:r>
            <a:endParaRPr lang="en-US" sz="1100" dirty="0"/>
          </a:p>
        </p:txBody>
      </p:sp>
      <p:pic>
        <p:nvPicPr>
          <p:cNvPr id="6" name="Image 0" descr="/mnt/data/agri_assets/service.jpg"/>
          <p:cNvPicPr>
            <a:picLocks noChangeAspect="1"/>
          </p:cNvPicPr>
          <p:nvPr/>
        </p:nvPicPr>
        <p:blipFill>
          <a:blip r:embed="rId1"/>
          <a:srcRect l="17283" r="17283"/>
          <a:stretch>
            <a:fillRect/>
          </a:stretch>
        </p:blipFill>
        <p:spPr>
          <a:xfrm>
            <a:off x="685800" y="1325880"/>
            <a:ext cx="5212080" cy="4480560"/>
          </a:xfrm>
          <a:prstGeom prst="rect">
            <a:avLst/>
          </a:prstGeom>
        </p:spPr>
      </p:pic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6309360" y="141732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6455664" y="1545336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Three-Tier Training System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6455664" y="1892808"/>
            <a:ext cx="464515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county training center sets standards, township practice sites run drills, and field flight groups provide on-site coaching.</a:t>
            </a:r>
            <a:endParaRPr lang="en-US" sz="920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6309360" y="2724912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6455664" y="2852928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Service-Team Capability Certification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6455664" y="3200400"/>
            <a:ext cx="464515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 traceable capability files covering safe flight, chemical management, data upload, and exception handling.</a:t>
            </a:r>
            <a:endParaRPr lang="en-US" sz="92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6309360" y="4032504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6455664" y="4160520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 O&amp;M Network</a:t>
            </a:r>
            <a:endParaRPr lang="en-US" sz="125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6455664" y="4507992"/>
            <a:ext cx="4645152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Store common parts locally, use tiered fault response, and reserve backup equipment during critical farm windows.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309360" y="5340096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55664" y="5339842"/>
            <a:ext cx="46451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55410" y="5588635"/>
            <a:ext cx="4645025" cy="22733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reduce upfront cost through service procurement.</a:t>
            </a:r>
            <a:endParaRPr lang="en-US" sz="920" dirty="0">
              <a:solidFill>
                <a:srgbClr val="112B2D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 Solution Pathways  ·  Previous: Infrastructure Platform  →  Next: Service Procurement</a:t>
            </a:r>
            <a:endParaRPr lang="en-US" sz="7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Service Procurement Model: Breaking the Funding Bottleneck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established capabilities; this slide designs payment and risk sharing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499616"/>
            <a:ext cx="48280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 Positioning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2104" y="1847088"/>
            <a:ext cx="4828032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Government and agricultural participants buy bundled services by volume, task type, and service quality instead of relying on one-time equipment purchases.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32104" y="2916936"/>
            <a:ext cx="21305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 Upfront Investment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2104" y="3264408"/>
            <a:ext cx="2130552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Reduce procurement and maintenance pressure, enabling pilots before expansion.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383280" y="27889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29584" y="2916936"/>
            <a:ext cx="21305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Professional Support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29584" y="3264408"/>
            <a:ext cx="2130552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service provider manages equipment, personnel, repairs, and safety.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080760" y="27889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27064" y="2916936"/>
            <a:ext cx="21305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Flexible Fit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27064" y="3264408"/>
            <a:ext cx="2130552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Configure services by season, crop, terrain, and task intensity.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778240" y="278892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24544" y="2916936"/>
            <a:ext cx="21305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Shared Risk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24544" y="3264408"/>
            <a:ext cx="2130552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Contracts govern faults, operating errors, and delivery quality.</a:t>
            </a:r>
            <a:endParaRPr lang="en-US" sz="920" dirty="0"/>
          </a:p>
        </p:txBody>
      </p:sp>
      <p:sp>
        <p:nvSpPr>
          <p:cNvPr id="21" name="Shape 19"/>
          <p:cNvSpPr/>
          <p:nvPr>
            <p:custDataLst>
              <p:tags r:id="rId1"/>
            </p:custDataLst>
          </p:nvPr>
        </p:nvSpPr>
        <p:spPr>
          <a:xfrm>
            <a:off x="685800" y="4754880"/>
            <a:ext cx="201533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>
            <p:custDataLst>
              <p:tags r:id="rId2"/>
            </p:custDataLst>
          </p:nvPr>
        </p:nvSpPr>
        <p:spPr>
          <a:xfrm>
            <a:off x="777240" y="484632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>
            <p:custDataLst>
              <p:tags r:id="rId3"/>
            </p:custDataLst>
          </p:nvPr>
        </p:nvSpPr>
        <p:spPr>
          <a:xfrm>
            <a:off x="1069848" y="4855464"/>
            <a:ext cx="1558138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Submit Demand</a:t>
            </a:r>
            <a:endParaRPr lang="en-US" sz="1000" dirty="0"/>
          </a:p>
        </p:txBody>
      </p:sp>
      <p:sp>
        <p:nvSpPr>
          <p:cNvPr id="24" name="Shape 22"/>
          <p:cNvSpPr/>
          <p:nvPr>
            <p:custDataLst>
              <p:tags r:id="rId4"/>
            </p:custDataLst>
          </p:nvPr>
        </p:nvSpPr>
        <p:spPr>
          <a:xfrm>
            <a:off x="2810866" y="4754880"/>
            <a:ext cx="2015338" cy="749808"/>
          </a:xfrm>
          <a:prstGeom prst="roundRect">
            <a:avLst>
              <a:gd name="adj" fmla="val 7317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>
            <p:custDataLst>
              <p:tags r:id="rId5"/>
            </p:custDataLst>
          </p:nvPr>
        </p:nvSpPr>
        <p:spPr>
          <a:xfrm>
            <a:off x="2902306" y="484632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>
            <p:custDataLst>
              <p:tags r:id="rId6"/>
            </p:custDataLst>
          </p:nvPr>
        </p:nvSpPr>
        <p:spPr>
          <a:xfrm>
            <a:off x="3194914" y="4855464"/>
            <a:ext cx="1558138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Platform Dispatch</a:t>
            </a:r>
            <a:endParaRPr lang="en-US" sz="1000" dirty="0"/>
          </a:p>
        </p:txBody>
      </p:sp>
      <p:sp>
        <p:nvSpPr>
          <p:cNvPr id="27" name="Shape 25"/>
          <p:cNvSpPr/>
          <p:nvPr>
            <p:custDataLst>
              <p:tags r:id="rId7"/>
            </p:custDataLst>
          </p:nvPr>
        </p:nvSpPr>
        <p:spPr>
          <a:xfrm>
            <a:off x="4935931" y="4754880"/>
            <a:ext cx="201533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8"/>
            </p:custDataLst>
          </p:nvPr>
        </p:nvSpPr>
        <p:spPr>
          <a:xfrm>
            <a:off x="5027371" y="484632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>
            <p:custDataLst>
              <p:tags r:id="rId9"/>
            </p:custDataLst>
          </p:nvPr>
        </p:nvSpPr>
        <p:spPr>
          <a:xfrm>
            <a:off x="5319979" y="4855464"/>
            <a:ext cx="1558138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On-Site Operation</a:t>
            </a:r>
            <a:endParaRPr lang="en-US" sz="1000" dirty="0"/>
          </a:p>
        </p:txBody>
      </p:sp>
      <p:sp>
        <p:nvSpPr>
          <p:cNvPr id="30" name="Shape 28"/>
          <p:cNvSpPr/>
          <p:nvPr>
            <p:custDataLst>
              <p:tags r:id="rId10"/>
            </p:custDataLst>
          </p:nvPr>
        </p:nvSpPr>
        <p:spPr>
          <a:xfrm>
            <a:off x="7060997" y="4754880"/>
            <a:ext cx="2015338" cy="749808"/>
          </a:xfrm>
          <a:prstGeom prst="roundRect">
            <a:avLst>
              <a:gd name="adj" fmla="val 7317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>
            <p:custDataLst>
              <p:tags r:id="rId11"/>
            </p:custDataLst>
          </p:nvPr>
        </p:nvSpPr>
        <p:spPr>
          <a:xfrm>
            <a:off x="7152437" y="484632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>
            <p:custDataLst>
              <p:tags r:id="rId12"/>
            </p:custDataLst>
          </p:nvPr>
        </p:nvSpPr>
        <p:spPr>
          <a:xfrm>
            <a:off x="7445045" y="4855464"/>
            <a:ext cx="1558138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Verification</a:t>
            </a:r>
            <a:endParaRPr lang="en-US" sz="1000" dirty="0"/>
          </a:p>
        </p:txBody>
      </p:sp>
      <p:sp>
        <p:nvSpPr>
          <p:cNvPr id="33" name="Shape 31"/>
          <p:cNvSpPr/>
          <p:nvPr>
            <p:custDataLst>
              <p:tags r:id="rId13"/>
            </p:custDataLst>
          </p:nvPr>
        </p:nvSpPr>
        <p:spPr>
          <a:xfrm>
            <a:off x="9186062" y="4754880"/>
            <a:ext cx="201533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>
            <p:custDataLst>
              <p:tags r:id="rId14"/>
            </p:custDataLst>
          </p:nvPr>
        </p:nvSpPr>
        <p:spPr>
          <a:xfrm>
            <a:off x="9277502" y="484632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>
            <p:custDataLst>
              <p:tags r:id="rId15"/>
            </p:custDataLst>
          </p:nvPr>
        </p:nvSpPr>
        <p:spPr>
          <a:xfrm>
            <a:off x="9570110" y="4855464"/>
            <a:ext cx="1558138" cy="58521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Service Settlement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  Solution Pathways  ·  Previous: Training &amp; O&amp;M  →  Next: Operating Scenarios</a:t>
            </a:r>
            <a:endParaRPr lang="en-US" sz="7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ecosystem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Service Procurement Operating Scenarios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Using fictional yet realistic county scenarios, show how different crops and public services enter the same operating closed loop.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  Service Procurement Operating Scenarios  ·  Previous: Service Procurement  →  Next: Benefit Review</a:t>
            </a:r>
            <a:endParaRPr lang="en-US" sz="7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Benefit Review and Scaling Path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entered operating scenarios; this slide begins with the overall review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33272" y="155448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Steady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33272" y="210312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Income Growth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40487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Release value through lower cost, protected yield, and reduced loss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520440" y="141732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85032" y="155448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Lower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685032" y="210312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40487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Short-haul mountain transport reduces waiting and damage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36792" y="155448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36792" y="210312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40487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Move disasters, patrols, and verification from after-the-fact to near real time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823960" y="1417320"/>
            <a:ext cx="2377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88552" y="1554480"/>
            <a:ext cx="20116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96B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Scalable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988552" y="2103120"/>
            <a:ext cx="2011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Industry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06840" y="2404872"/>
            <a:ext cx="20116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Develop local pilots, maintenance, and data services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68680" y="3749040"/>
            <a:ext cx="10332720" cy="1234440"/>
          </a:xfrm>
          <a:prstGeom prst="roundRect">
            <a:avLst>
              <a:gd name="adj" fmla="val 592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14984" y="3877056"/>
            <a:ext cx="100401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Scaling Path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14984" y="4224528"/>
            <a:ext cx="10040112" cy="6492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Start with priority crops and frequent tasks, then expand to nearby townships. Once services stabilize, add product showcases, farm livestreams, tourism imaging, and insurance verification to form a local service—training—industry cycle.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 Operating Scenarios  ·  Previous: Scenario Introduction  →  Next: Wheat Scenario</a:t>
            </a:r>
            <a:endParaRPr lang="en-US" sz="7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Field Crop: Wheat Aerial Weeding Scenario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the overall view, this slide enters a crop-operation scenario</a:t>
            </a:r>
            <a:endParaRPr lang="en-US" sz="1100" dirty="0"/>
          </a:p>
        </p:txBody>
      </p:sp>
      <p:pic>
        <p:nvPicPr>
          <p:cNvPr id="6" name="Image 0" descr="/mnt/data/agri_assets/spray.jpg"/>
          <p:cNvPicPr>
            <a:picLocks noChangeAspect="1"/>
          </p:cNvPicPr>
          <p:nvPr/>
        </p:nvPicPr>
        <p:blipFill>
          <a:blip r:embed="rId1"/>
          <a:srcRect l="16761" r="16761"/>
          <a:stretch>
            <a:fillRect/>
          </a:stretch>
        </p:blipFill>
        <p:spPr>
          <a:xfrm>
            <a:off x="640080" y="1325880"/>
            <a:ext cx="53492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325880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501384" y="1453896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Operating Target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01384" y="1801368"/>
            <a:ext cx="459943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Contiguous winter-wheat fields, focusing on broadleaf weeds and early pest risk.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355080" y="2395728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01384" y="2523744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Operating Plan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01384" y="2871216"/>
            <a:ext cx="459943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Schedule aerial spraying around weather, wind, and plot boundaries; verify chemical mixing before work begins.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355080" y="3465576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501384" y="3593592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Follow-Up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01384" y="3941064"/>
            <a:ext cx="459943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operations, the service team and agronomists jointly inspect plant condition; the platform retains photos and notes.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355080" y="4535424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501384" y="4663440"/>
            <a:ext cx="4599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01384" y="5010912"/>
            <a:ext cx="459943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hillside orchards and terrain adaptation.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  Operating Scenarios  ·  Previous: Benefit Review  →  Next: Orchard Scenario</a:t>
            </a:r>
            <a:endParaRPr lang="en-US" sz="7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Hillside Orchard: Citrus Pest-Control Scenario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field crops, this slide applies low-altitude operations to sloped orchards</a:t>
            </a:r>
            <a:endParaRPr lang="en-US" sz="1100" dirty="0"/>
          </a:p>
        </p:txBody>
      </p:sp>
      <p:pic>
        <p:nvPicPr>
          <p:cNvPr id="6" name="Image 0" descr="/mnt/data/agri_assets/logistics.jpg"/>
          <p:cNvPicPr>
            <a:picLocks noChangeAspect="1"/>
          </p:cNvPicPr>
          <p:nvPr/>
        </p:nvPicPr>
        <p:blipFill>
          <a:blip r:embed="rId1"/>
          <a:srcRect l="18750" r="18750"/>
          <a:stretch>
            <a:fillRect/>
          </a:stretch>
        </p:blipFill>
        <p:spPr>
          <a:xfrm>
            <a:off x="640080" y="1325880"/>
            <a:ext cx="502920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80760" y="132588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6227064" y="1453896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Terrain Characteristics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6227064" y="1801368"/>
            <a:ext cx="49651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Orchards lie on gentle slopes and terraces, slowing workers and ground machinery during transfers.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80760" y="2487168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6227064" y="2615184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Operating Method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6227064" y="2962656"/>
            <a:ext cx="49651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First map terrain and canopy distribution, then use orchard mode for layered spraying.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080760" y="3648456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6"/>
            </p:custDataLst>
          </p:nvPr>
        </p:nvSpPr>
        <p:spPr>
          <a:xfrm>
            <a:off x="6227064" y="3776472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Quality Control</a:t>
            </a:r>
            <a:endParaRPr lang="en-US" sz="1250" dirty="0"/>
          </a:p>
        </p:txBody>
      </p:sp>
      <p:sp>
        <p:nvSpPr>
          <p:cNvPr id="15" name="Text 12"/>
          <p:cNvSpPr/>
          <p:nvPr>
            <p:custDataLst>
              <p:tags r:id="rId7"/>
            </p:custDataLst>
          </p:nvPr>
        </p:nvSpPr>
        <p:spPr>
          <a:xfrm>
            <a:off x="6227064" y="4123944"/>
            <a:ext cx="49651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Focus on spray penetration, edge coverage, and drift prevention near adjacent plots.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080760" y="4809744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6227064" y="4937760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>
            <p:custDataLst>
              <p:tags r:id="rId9"/>
            </p:custDataLst>
          </p:nvPr>
        </p:nvSpPr>
        <p:spPr>
          <a:xfrm>
            <a:off x="6227064" y="5157216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time-critical work in contiguous cotton fields.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 Operating Scenarios  ·  Previous: Wheat Scenario  →  Next: Cotton Scenario</a:t>
            </a:r>
            <a:endParaRPr lang="en-US" sz="7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Cotton Field: Aerial Defoliant Application Scenario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sloped terrain, this slide focuses on timeliness in large, contiguous operations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9602" r="19602"/>
          <a:stretch>
            <a:fillRect/>
          </a:stretch>
        </p:blipFill>
        <p:spPr>
          <a:xfrm>
            <a:off x="6400800" y="1325880"/>
            <a:ext cx="4892040" cy="4526280"/>
          </a:xfrm>
          <a:prstGeom prst="rect">
            <a:avLst/>
          </a:prstGeom>
        </p:spPr>
      </p:pic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731520" y="141732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877824" y="1545336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 Background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877824" y="1892808"/>
            <a:ext cx="47365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Before harvest, uniformity and timing are critical; ground machinery may crush seedlings.</a:t>
            </a:r>
            <a:endParaRPr lang="en-US" sz="920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731520" y="2578608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877824" y="2706624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Service Organization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877824" y="3054096"/>
            <a:ext cx="47365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Multiple devices coordinate by zone; the platform validates plot boundaries and chemical plans before work.</a:t>
            </a:r>
            <a:endParaRPr lang="en-US" sz="92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731520" y="3739896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877824" y="3867912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 Records</a:t>
            </a:r>
            <a:endParaRPr lang="en-US" sz="125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877824" y="4215384"/>
            <a:ext cx="473659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Record each device's route, dosage range, operating area, and follow-up results.</a:t>
            </a:r>
            <a:endParaRPr lang="en-US" sz="920" dirty="0"/>
          </a:p>
        </p:txBody>
      </p:sp>
      <p:sp>
        <p:nvSpPr>
          <p:cNvPr id="16" name="Shape 13"/>
          <p:cNvSpPr/>
          <p:nvPr>
            <p:custDataLst>
              <p:tags r:id="rId11"/>
            </p:custDataLst>
          </p:nvPr>
        </p:nvSpPr>
        <p:spPr>
          <a:xfrm>
            <a:off x="731520" y="4901184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877824" y="5029200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877570" y="5248656"/>
            <a:ext cx="4736465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919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tea plantations—smaller mountain plots with more obstacles.</a:t>
            </a: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/>
            </a:r>
            <a:endParaRPr lang="en-US" sz="920" dirty="0">
              <a:solidFill>
                <a:srgbClr val="112B2D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  Operating Scenarios  ·  Previous: Orchard Scenario  →  Next: Tea Scenario</a:t>
            </a:r>
            <a:endParaRPr lang="en-US" sz="7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Tea Plantation: Aphid-Control Scenario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centralized operations, this slide enters small plots that are difficult to reach on foot</a:t>
            </a:r>
            <a:endParaRPr lang="en-US" sz="1100" dirty="0"/>
          </a:p>
        </p:txBody>
      </p:sp>
      <p:pic>
        <p:nvPicPr>
          <p:cNvPr id="6" name="Image 0" descr="/mnt/data/agri_assets/service.jpg"/>
          <p:cNvPicPr>
            <a:picLocks noChangeAspect="1"/>
          </p:cNvPicPr>
          <p:nvPr/>
        </p:nvPicPr>
        <p:blipFill>
          <a:blip r:embed="rId1"/>
          <a:srcRect l="19318" r="19318"/>
          <a:stretch>
            <a:fillRect/>
          </a:stretch>
        </p:blipFill>
        <p:spPr>
          <a:xfrm>
            <a:off x="685800" y="1325880"/>
            <a:ext cx="493776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32588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81344" y="1453896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Area Characteristics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81344" y="1801368"/>
            <a:ext cx="4965192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Tea slopes, ridges, and obstacles require manual confirmation of boundaries and safe corridors.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35040" y="2395728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181344" y="2523744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Operating Combination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81344" y="2871216"/>
            <a:ext cx="4965192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 preset routes for regular plots and pilot-assisted control for irregular plots.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035040" y="3465576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181344" y="3593592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Outcome Framing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81344" y="3941064"/>
            <a:ext cx="4965192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Focus on pest control, improved labor efficiency, and the degree of mechanized coverage.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035040" y="4535424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81344" y="4663440"/>
            <a:ext cx="49651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181344" y="5010912"/>
            <a:ext cx="4965192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medicinal crops, terrain-following flight, and low-volume spraying.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  Operating Scenarios  ·  Previous: Cotton Scenario  →  Next: Medicinal-Crop Scenario</a:t>
            </a:r>
            <a:endParaRPr lang="en-US" sz="7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Medicinal Crops: Mountain Aphid-Control Scenario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tea plantations, this slide enters more complex mountain crops</a:t>
            </a:r>
            <a:endParaRPr lang="en-US" sz="1100" dirty="0"/>
          </a:p>
        </p:txBody>
      </p:sp>
      <p:pic>
        <p:nvPicPr>
          <p:cNvPr id="6" name="Image 0" descr="/mnt/data/agri_assets/logistics.jpg"/>
          <p:cNvPicPr>
            <a:picLocks noChangeAspect="1"/>
          </p:cNvPicPr>
          <p:nvPr/>
        </p:nvPicPr>
        <p:blipFill>
          <a:blip r:embed="rId1"/>
          <a:srcRect l="19602" r="19602"/>
          <a:stretch>
            <a:fillRect/>
          </a:stretch>
        </p:blipFill>
        <p:spPr>
          <a:xfrm>
            <a:off x="6400800" y="1325880"/>
            <a:ext cx="48920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41732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77824" y="1545336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Crop Characteristics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77824" y="1892808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Perennial medicinal crops grow on slopes, where pests on young shoots affect vigor and harvest quality.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31520" y="2487168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77824" y="2615184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Execution Method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7824" y="2962656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Combine mapping with terrain-following flight; adjust altitude and row spacing by slope to stabilize coverage.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31520" y="3557016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77824" y="3685032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Supporting Requirements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7824" y="4032504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Verify additives, nozzles, flow rate, and weather together to prevent excessive drift.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31520" y="4626864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77824" y="4754880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77824" y="5102352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follow-up inspection and evaluation in affected orchards.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  Operating Scenarios  ·  Previous: Tea Scenario  →  Next: Peach-Orchard Scenario</a:t>
            </a:r>
            <a:endParaRPr lang="en-US" sz="7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Peach-Orchard Pest Control: Follow-Up and Evaluation Scenario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emphasized operations; this slide emphasizes outcome verification</a:t>
            </a:r>
            <a:endParaRPr lang="en-US" sz="1100" dirty="0"/>
          </a:p>
        </p:txBody>
      </p:sp>
      <p:pic>
        <p:nvPicPr>
          <p:cNvPr id="6" name="Image 0" descr="/mnt/data/agri_assets/spray.jpg"/>
          <p:cNvPicPr>
            <a:picLocks noChangeAspect="1"/>
          </p:cNvPicPr>
          <p:nvPr/>
        </p:nvPicPr>
        <p:blipFill>
          <a:blip r:embed="rId1"/>
          <a:srcRect l="19602" r="19602"/>
          <a:stretch>
            <a:fillRect/>
          </a:stretch>
        </p:blipFill>
        <p:spPr>
          <a:xfrm>
            <a:off x="685800" y="1325880"/>
            <a:ext cx="48920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325880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81344" y="1453896"/>
            <a:ext cx="50109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Initial Assessment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81344" y="1801368"/>
            <a:ext cx="5010912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First confirm affected areas, canopy density, and terrain obstacles.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35040" y="2450592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181344" y="2578608"/>
            <a:ext cx="50109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Mid-Stage Execution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81344" y="2926080"/>
            <a:ext cx="5010912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service team sets spraying by canopy height and row spacing to avoid misses and overlaps.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035040" y="3575304"/>
            <a:ext cx="53035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181344" y="3703320"/>
            <a:ext cx="50109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Post-Operation Review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81344" y="4050792"/>
            <a:ext cx="5010912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Farmers, service teams, and agronomists jointly record pest changes and plant recovery.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035040" y="470001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81344" y="4828032"/>
            <a:ext cx="50109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181344" y="5047488"/>
            <a:ext cx="50109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disaster assessment—from operations to evidence.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 Operating Scenarios  ·  Previous: Medicinal-Crop Scenario  →  Next: Disaster Assessment</a:t>
            </a:r>
            <a:endParaRPr lang="en-US" sz="7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Disaster Assessment: Support for Waterlogging Insurance Claims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pest follow-up, this slide extracts the affected area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6477" r="16477"/>
          <a:stretch>
            <a:fillRect/>
          </a:stretch>
        </p:blipFill>
        <p:spPr>
          <a:xfrm>
            <a:off x="685800" y="1325880"/>
            <a:ext cx="539496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37160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592824" y="149961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Damage Identification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92824" y="1847088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Drone imagery records standing water, lodging, yellowing, and abnormal crop vigor within plots.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446520" y="248716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92824" y="2615184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Area Extraction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92824" y="2962656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Combine plot boundaries with image features to generate a reviewable damage extent.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446520" y="3602736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592824" y="3730752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Material Archiving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92824" y="4078224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Imagery, location, time, and verification records enter the platform to support insurers and agricultural agencies.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446520" y="4718304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592824" y="4846320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92824" y="5065776"/>
            <a:ext cx="4462272" cy="30175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patrols using aerial imagery and rapid alerts.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  Operating Scenarios  ·  Previous: Peach-Orchard Scenario  →  Next: Straw Patrol</a:t>
            </a:r>
            <a:endParaRPr lang="en-US" sz="7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Straw-Burning Ban: Aerial Grid-Patrol Scenario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post-disaster assessment, this slide shifts to early warning and incident response</a:t>
            </a:r>
            <a:endParaRPr lang="en-US" sz="1100" dirty="0"/>
          </a:p>
        </p:txBody>
      </p:sp>
      <p:pic>
        <p:nvPicPr>
          <p:cNvPr id="6" name="Image 0" descr="/mnt/data/agri_assets/map.jpg"/>
          <p:cNvPicPr>
            <a:picLocks noChangeAspect="1"/>
          </p:cNvPicPr>
          <p:nvPr/>
        </p:nvPicPr>
        <p:blipFill>
          <a:blip r:embed="rId1"/>
          <a:srcRect l="19602" r="19602"/>
          <a:stretch>
            <a:fillRect/>
          </a:stretch>
        </p:blipFill>
        <p:spPr>
          <a:xfrm>
            <a:off x="6400800" y="1325880"/>
            <a:ext cx="48920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41732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77824" y="1545336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Awareness and Patrol Challenges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77824" y="1892808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During busy farm seasons, burning risks are dispersed and ground grid workers cannot cover every field.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31520" y="2487168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77824" y="2615184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Aerial Patrol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7824" y="2962656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Drones patrol fixed routes and trigger response when smoke, fire, or abnormal heat is detected.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31520" y="3557016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77824" y="3685032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Coordinated Response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7824" y="4032504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platform sends location, photos, and time to grid workers and can use loudspeakers for warnings when needed.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31520" y="4626864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77824" y="4754880"/>
            <a:ext cx="47365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77824" y="5102352"/>
            <a:ext cx="473659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transport—moving from detection to delivery.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  Operating Scenarios  ·  Previous: Disaster Assessment  →  Next: Transport Workflow</a:t>
            </a:r>
            <a:endParaRPr lang="en-US" sz="7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Transport Task: Route Planning and Flight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patrol detection, this slide switches to the low-altitude transport workflow</a:t>
            </a:r>
            <a:endParaRPr lang="en-US" sz="1100" dirty="0"/>
          </a:p>
        </p:txBody>
      </p:sp>
      <p:pic>
        <p:nvPicPr>
          <p:cNvPr id="6" name="Image 0" descr="/mnt/data/agri_assets/logistics.jpg"/>
          <p:cNvPicPr>
            <a:picLocks noChangeAspect="1"/>
          </p:cNvPicPr>
          <p:nvPr/>
        </p:nvPicPr>
        <p:blipFill>
          <a:blip r:embed="rId1"/>
          <a:srcRect l="17857" r="17857"/>
          <a:stretch>
            <a:fillRect/>
          </a:stretch>
        </p:blipFill>
        <p:spPr>
          <a:xfrm>
            <a:off x="640080" y="1325880"/>
            <a:ext cx="51206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80760" y="1417320"/>
            <a:ext cx="954634" cy="237744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7220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64808" y="1517904"/>
            <a:ext cx="497434" cy="22128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Confirm Takeoff, Landing, and Destination Points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7145122" y="1417320"/>
            <a:ext cx="954634" cy="2377440"/>
          </a:xfrm>
          <a:prstGeom prst="roundRect">
            <a:avLst>
              <a:gd name="adj" fmla="val 5747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236562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29170" y="1517904"/>
            <a:ext cx="497434" cy="22128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Enter Cargo Type and Weight Range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8209483" y="1417320"/>
            <a:ext cx="954634" cy="237744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300923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593531" y="1517904"/>
            <a:ext cx="497434" cy="22128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Check Weather and Airspace Conditions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9273845" y="1417320"/>
            <a:ext cx="954634" cy="2377440"/>
          </a:xfrm>
          <a:prstGeom prst="roundRect">
            <a:avLst>
              <a:gd name="adj" fmla="val 5747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365285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57893" y="1517904"/>
            <a:ext cx="497434" cy="22128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 the Route and Review Manually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10338206" y="1417320"/>
            <a:ext cx="954634" cy="237744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429646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22254" y="1517904"/>
            <a:ext cx="497434" cy="22128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Execute the Task and Return Status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6080760" y="4187952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227064" y="4315968"/>
            <a:ext cx="49194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Application Boundary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27064" y="4663440"/>
            <a:ext cx="4919472" cy="5577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Suitable for farm supplies, samples, and small, time-sensitive cargo. It supplements rather than replaces bulk transport, especially in mountain, post-rain, and urgent situations.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  Operating Scenarios  ·  Previous: Straw Patrol  →  Next: Transport Execution</a:t>
            </a:r>
            <a:endParaRPr lang="en-US" sz="7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Transport Task: Takeoff—Delivery—Return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planned the task; this slide explains field execution</a:t>
            </a:r>
            <a:endParaRPr lang="en-US" sz="1100" dirty="0"/>
          </a:p>
        </p:txBody>
      </p:sp>
      <p:pic>
        <p:nvPicPr>
          <p:cNvPr id="6" name="Image 0" descr="/mnt/data/agri_assets/logistics.jpg"/>
          <p:cNvPicPr>
            <a:picLocks noChangeAspect="1"/>
          </p:cNvPicPr>
          <p:nvPr/>
        </p:nvPicPr>
        <p:blipFill>
          <a:blip r:embed="rId1"/>
          <a:srcRect l="16996" r="16996"/>
          <a:stretch>
            <a:fillRect/>
          </a:stretch>
        </p:blipFill>
        <p:spPr>
          <a:xfrm>
            <a:off x="6217920" y="1280160"/>
            <a:ext cx="52578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417320"/>
            <a:ext cx="908914" cy="242316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61288" y="1517904"/>
            <a:ext cx="451714" cy="22585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Preflight Equipment Check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1795882" y="1417320"/>
            <a:ext cx="908914" cy="2423160"/>
          </a:xfrm>
          <a:prstGeom prst="roundRect">
            <a:avLst>
              <a:gd name="adj" fmla="val 6036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887322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179930" y="1517904"/>
            <a:ext cx="451714" cy="22585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Cargo Weighing and Securing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2814523" y="1417320"/>
            <a:ext cx="908914" cy="242316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905963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98571" y="1517904"/>
            <a:ext cx="451714" cy="22585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Platform Execution Confirmation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3833165" y="1417320"/>
            <a:ext cx="908914" cy="2423160"/>
          </a:xfrm>
          <a:prstGeom prst="roundRect">
            <a:avLst>
              <a:gd name="adj" fmla="val 6036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924605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217213" y="1517904"/>
            <a:ext cx="451714" cy="22585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Ground-Team Receipt at Destination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4851806" y="1417320"/>
            <a:ext cx="908914" cy="242316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943246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235854" y="1517904"/>
            <a:ext cx="451714" cy="22585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Aircraft Return and Storage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777240" y="416052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23544" y="4288536"/>
            <a:ext cx="4690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Quality Requirements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23544" y="4636008"/>
            <a:ext cx="4690872" cy="5577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Retain loading photos, takeoff and landing records, flight tracks, and delivery confirmation for service evaluation and accountability.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  Operating Scenarios  ·  Previous: Transport Workflow  →  Next: Parcel Verification</a:t>
            </a:r>
            <a:endParaRPr lang="en-US" sz="7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Parcel Verification: Air–Ground Collaborative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transport execution, this slide enters plot and imagery verification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6422" r="16422"/>
          <a:stretch>
            <a:fillRect/>
          </a:stretch>
        </p:blipFill>
        <p:spPr>
          <a:xfrm>
            <a:off x="685800" y="1325880"/>
            <a:ext cx="53492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417320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547104" y="1545336"/>
            <a:ext cx="4507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Task Sources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47104" y="1892808"/>
            <a:ext cx="450799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Parcels requiring rapid review for farmland change, facility occupation, disaster boundaries, or subsidy verification.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400800" y="2450592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47104" y="2578608"/>
            <a:ext cx="4507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Aerial Collection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47104" y="2926080"/>
            <a:ext cx="450799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Fly the specified parcel to capture overhead imagery and boundary records.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400800" y="3483864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547104" y="3611880"/>
            <a:ext cx="4507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Ground Confirmation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47104" y="3959352"/>
            <a:ext cx="450799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When necessary, staff add close-up photos and on-site notes.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400800" y="4517136"/>
            <a:ext cx="4800600" cy="804672"/>
          </a:xfrm>
          <a:prstGeom prst="roundRect">
            <a:avLst>
              <a:gd name="adj" fmla="val 9091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547104" y="4645152"/>
            <a:ext cx="450799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47104" y="4992624"/>
            <a:ext cx="450799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compare verification methods and their best-fit tasks.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  Operating Scenarios  ·  Previous: Transport Execution  →  Next: Verification Methods</a:t>
            </a:r>
            <a:endParaRPr lang="en-US" sz="7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Comparison of Parcel-Verification Methods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described operations; this slide compares tradeoffs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23544" y="1545336"/>
            <a:ext cx="20848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Manual Field Survey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" y="1892808"/>
            <a:ext cx="208483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83864" y="154533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Characteristics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83864" y="189280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Accurate but slow; suited to a small number of complex sites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406640" y="141732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52944" y="1545336"/>
            <a:ext cx="3639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Recommended Use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52944" y="1892808"/>
            <a:ext cx="363931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Combine with drones for targeted confirmation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7240" y="242316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4FB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23544" y="2551176"/>
            <a:ext cx="20848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Remote-Sensing Basemap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2898648"/>
            <a:ext cx="208483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337560" y="242316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483864" y="255117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Characteristics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83864" y="289864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Broad coverage but constrained update cycles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406640" y="242316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52944" y="2551176"/>
            <a:ext cx="3639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Recommended Use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52944" y="2898648"/>
            <a:ext cx="363931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Useful for initial screening and historical comparison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77240" y="342900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23544" y="3557016"/>
            <a:ext cx="20848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Drone Verification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23544" y="3904488"/>
            <a:ext cx="208483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337560" y="342900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483864" y="355701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Characteristics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83864" y="390448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Highly mobile with intuitive evidence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406640" y="342900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552944" y="3557016"/>
            <a:ext cx="3639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Recommended Use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52944" y="3904488"/>
            <a:ext cx="363931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Suitable for urgent cases, boundary disputes, and post-disaster review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77240" y="443484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4FB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23544" y="4562856"/>
            <a:ext cx="20848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Platform Archiving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3544" y="4910328"/>
            <a:ext cx="208483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3337560" y="443484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483864" y="4562856"/>
            <a:ext cx="35478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Characteristics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83864" y="4910328"/>
            <a:ext cx="354787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Traceable results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7406640" y="443484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552944" y="4562856"/>
            <a:ext cx="3639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Recommended Use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552944" y="4910328"/>
            <a:ext cx="3639312" cy="16459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Suitable for cross-agency sharing and later spot checks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005840" y="5623560"/>
            <a:ext cx="10149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next slide connects verification results to the loss-assessment workflow, creating an evidence chain that is visible, measurable, and retained.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  Operating Scenarios  ·  Previous: Parcel Verification  →  Next: Claims Workflow</a:t>
            </a:r>
            <a:endParaRPr lang="en-US" sz="7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Parcel-Verification Workflow: From Imagery to 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comparing methods, this slide closes the workflow loop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20153" r="20153"/>
          <a:stretch>
            <a:fillRect/>
          </a:stretch>
        </p:blipFill>
        <p:spPr>
          <a:xfrm>
            <a:off x="6446520" y="1325880"/>
            <a:ext cx="475488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417320"/>
            <a:ext cx="972922" cy="2194560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61288" y="1517904"/>
            <a:ext cx="515722" cy="20299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Receive the Verification Task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1859890" y="1417320"/>
            <a:ext cx="972922" cy="2194560"/>
          </a:xfrm>
          <a:prstGeom prst="roundRect">
            <a:avLst>
              <a:gd name="adj" fmla="val 5639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95133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243938" y="1517904"/>
            <a:ext cx="515722" cy="20299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Validate Parcel Boundaries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2942539" y="1417320"/>
            <a:ext cx="972922" cy="2194560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033979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26587" y="1517904"/>
            <a:ext cx="515722" cy="20299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Collect Low-Altitude Imagery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025189" y="1417320"/>
            <a:ext cx="972922" cy="2194560"/>
          </a:xfrm>
          <a:prstGeom prst="roundRect">
            <a:avLst>
              <a:gd name="adj" fmla="val 5639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116629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09237" y="1517904"/>
            <a:ext cx="515722" cy="20299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Platform Recognition and Manual Review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5107838" y="1417320"/>
            <a:ext cx="972922" cy="2194560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199278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91886" y="1517904"/>
            <a:ext cx="515722" cy="20299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 the Result Package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777240" y="40690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23544" y="4197096"/>
            <a:ext cx="50109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 Package Contents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23544" y="4544568"/>
            <a:ext cx="5010912" cy="6492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Includes location extent, collection time, imagery, review notes, exception records, and recommended actions; excludes personal contact details and real operator information.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  Operating Scenarios  ·  Previous: Verification Methods  →  Next: Equipment Configuration</a:t>
            </a:r>
            <a:endParaRPr lang="en-US" sz="7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Crop-Protection Drone Configuration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completing the workflow, this slide begins equipment segmentation</a:t>
            </a:r>
            <a:endParaRPr lang="en-US" sz="1100" dirty="0"/>
          </a:p>
        </p:txBody>
      </p:sp>
      <p:pic>
        <p:nvPicPr>
          <p:cNvPr id="6" name="Image 0" descr="/mnt/data/agri_assets/spray.jpg"/>
          <p:cNvPicPr>
            <a:picLocks noChangeAspect="1"/>
          </p:cNvPicPr>
          <p:nvPr/>
        </p:nvPicPr>
        <p:blipFill>
          <a:blip r:embed="rId1"/>
          <a:srcRect l="18750" r="18750"/>
          <a:stretch>
            <a:fillRect/>
          </a:stretch>
        </p:blipFill>
        <p:spPr>
          <a:xfrm>
            <a:off x="658368" y="1325880"/>
            <a:ext cx="502920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80760" y="1417320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227064" y="1545336"/>
            <a:ext cx="48737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Applicable Scenarios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27064" y="1892808"/>
            <a:ext cx="487375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Spraying and spreading in fields, orchards, tea plantations, and medicinal-crop plots.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80760" y="2487168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27064" y="2615184"/>
            <a:ext cx="48737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Capabilities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27064" y="2962656"/>
            <a:ext cx="487375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 planning, variable-rate operation, atomized spraying, and operating-track upload.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080760" y="3557016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27064" y="3685032"/>
            <a:ext cx="48737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Configuration Recommendation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227064" y="4032504"/>
            <a:ext cx="487375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Deploy a primary aircraft, spare batteries, a basic maintenance kit, and safety training as one package.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080760" y="4626864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27064" y="4754880"/>
            <a:ext cx="487375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227064" y="5102352"/>
            <a:ext cx="487375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transport equipment for short-haul links.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  Operating Scenarios  ·  Previous: Claims Workflow  →  Next: Transport Configuration</a:t>
            </a:r>
            <a:endParaRPr lang="en-US" sz="7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Transport Drone Configuration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crop-protection equipment, this slide covers short-haul logistics equipment</a:t>
            </a:r>
            <a:endParaRPr lang="en-US" sz="1100" dirty="0"/>
          </a:p>
        </p:txBody>
      </p:sp>
      <p:pic>
        <p:nvPicPr>
          <p:cNvPr id="6" name="Image 0" descr="/mnt/data/agri_assets/logistics.jpg"/>
          <p:cNvPicPr>
            <a:picLocks noChangeAspect="1"/>
          </p:cNvPicPr>
          <p:nvPr/>
        </p:nvPicPr>
        <p:blipFill>
          <a:blip r:embed="rId1"/>
          <a:srcRect l="18466" r="18466"/>
          <a:stretch>
            <a:fillRect/>
          </a:stretch>
        </p:blipFill>
        <p:spPr>
          <a:xfrm>
            <a:off x="6217920" y="1325880"/>
            <a:ext cx="507492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41732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23544" y="154533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Applicable Scenarios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23544" y="1892808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Mountain farm supplies, small batches of agricultural products, samples for testing, and emergency supplies.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77240" y="2487168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23544" y="2615184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Capabilities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23544" y="2962656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Payload management, route planning, automatic return, and delivery confirmation.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77240" y="3557016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23544" y="3685032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Configuration Recommendation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23544" y="4032504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Deploy a transport aircraft, landing pad, cargo box, ground tools, and platform account as one package.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77240" y="4626864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23544" y="4754880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23544" y="5102352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inspection equipment for monitoring and verification.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  Operating Scenarios  ·  Previous: Crop-Protection Configuration  →  Next: Inspection Configuration</a:t>
            </a:r>
            <a:endParaRPr lang="en-US" sz="7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Inspection Drone Configuration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material movement, this slide focuses on information acquisition</a:t>
            </a:r>
            <a:endParaRPr lang="en-US" sz="1100" dirty="0"/>
          </a:p>
        </p:txBody>
      </p:sp>
      <p:pic>
        <p:nvPicPr>
          <p:cNvPr id="6" name="Image 0" descr="/mnt/data/agri_assets/dashboard.jpg"/>
          <p:cNvPicPr>
            <a:picLocks noChangeAspect="1"/>
          </p:cNvPicPr>
          <p:nvPr/>
        </p:nvPicPr>
        <p:blipFill>
          <a:blip r:embed="rId1"/>
          <a:srcRect l="18466" r="18466"/>
          <a:stretch>
            <a:fillRect/>
          </a:stretch>
        </p:blipFill>
        <p:spPr>
          <a:xfrm>
            <a:off x="685800" y="1325880"/>
            <a:ext cx="507492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41732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318504" y="154533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Applicable Scenarios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18504" y="1892808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Canal patrol, field inspection, straw-burning enforcement, damage imagery, and parcel verification.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172200" y="2487168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318504" y="2615184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Core Capabilities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18504" y="2962656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High-resolution imaging, multispectral monitoring, waypoint patrol, and exception alerts.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172200" y="3557016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18504" y="3685032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Configuration Recommendation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18504" y="4032504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Pair fixed inspection points with mobile reshoot equipment to improve coverage and mobility.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172200" y="4626864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18504" y="4754880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318504" y="5102352"/>
            <a:ext cx="4782312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mobile reshoots for remote locations.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  Operating Scenarios  ·  Previous: Transport Configuration  →  Next: Mobile Inspection</a:t>
            </a:r>
            <a:endParaRPr lang="en-US" sz="7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Mobile Reshoot and Inspection Equipment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fixed inspection, this slide adds mobile capability</a:t>
            </a:r>
            <a:endParaRPr lang="en-US" sz="1100" dirty="0"/>
          </a:p>
        </p:txBody>
      </p:sp>
      <p:pic>
        <p:nvPicPr>
          <p:cNvPr id="6" name="Image 0" descr="/mnt/data/agri_assets/service.jpg"/>
          <p:cNvPicPr>
            <a:picLocks noChangeAspect="1"/>
          </p:cNvPicPr>
          <p:nvPr/>
        </p:nvPicPr>
        <p:blipFill>
          <a:blip r:embed="rId1"/>
          <a:srcRect l="19318" r="19318"/>
          <a:stretch>
            <a:fillRect/>
          </a:stretch>
        </p:blipFill>
        <p:spPr>
          <a:xfrm>
            <a:off x="6309360" y="1325880"/>
            <a:ext cx="4937760" cy="4526280"/>
          </a:xfrm>
          <a:prstGeom prst="rect">
            <a:avLst/>
          </a:prstGeom>
        </p:spPr>
      </p:pic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777240" y="14173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923544" y="1545336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 Cases</a:t>
            </a:r>
            <a:endParaRPr lang="en-US" sz="125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923544" y="1892808"/>
            <a:ext cx="478231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When fixed points lack coverage, parcels are disputed, or disaster boundaries need a second check, mobile reshoot equipment fills the gap quickly.</a:t>
            </a:r>
            <a:endParaRPr lang="en-US" sz="920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777240" y="257860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923544" y="2706624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Configuration Principles</a:t>
            </a:r>
            <a:endParaRPr lang="en-US" sz="125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923544" y="3054096"/>
            <a:ext cx="478231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Lightweight, easy to maintain, and quick to launch, with data synchronized directly to the county platform.</a:t>
            </a:r>
            <a:endParaRPr lang="en-US" sz="92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777240" y="3739896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923544" y="3867912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O&amp;M Requirements</a:t>
            </a:r>
            <a:endParaRPr lang="en-US" sz="125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923544" y="4215384"/>
            <a:ext cx="4782312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Standardize battery management, task IDs, image naming, and delivery rules to prevent fragmented records.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77240" y="4901184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8FFFC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23544" y="5029200"/>
            <a:ext cx="47823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23925" y="5266055"/>
            <a:ext cx="4782185" cy="2025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conclusions and future expansion.</a:t>
            </a:r>
            <a:endParaRPr lang="en-US" sz="900" dirty="0">
              <a:solidFill>
                <a:srgbClr val="112B2D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  Operating Scenarios  ·  Previous: Inspection Configuration  →  Next: Summary &amp; Outlook</a:t>
            </a:r>
            <a:endParaRPr lang="en-US" sz="7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gri_assets/cover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8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58368" y="868680"/>
            <a:ext cx="1554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5A6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804672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Summary and Outlook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94944" y="2651760"/>
            <a:ext cx="3474720" cy="0"/>
          </a:xfrm>
          <a:prstGeom prst="line">
            <a:avLst/>
          </a:prstGeom>
          <a:noFill/>
          <a:ln w="38100">
            <a:solidFill>
              <a:srgbClr val="E5A63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94944" y="2907792"/>
            <a:ext cx="777240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 county scale, develop low-altitude operations, the data platform, and local service teams into long-term capabilities.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  Summary and Outlook  ·  Previous: Mobile Inspection  →  Next: Regulatory Platform</a:t>
            </a:r>
            <a:endParaRPr lang="en-US" sz="7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Agricultural Product Flow and Quality Oversight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After the outlook, this slide extends low-altitude data into agricultural product governance</a:t>
            </a:r>
            <a:endParaRPr lang="en-US" sz="1100" dirty="0"/>
          </a:p>
        </p:txBody>
      </p:sp>
      <p:pic>
        <p:nvPicPr>
          <p:cNvPr id="6" name="Image 0" descr="/mnt/data/agri_assets/ecosystem.jpg"/>
          <p:cNvPicPr>
            <a:picLocks noChangeAspect="1"/>
          </p:cNvPicPr>
          <p:nvPr/>
        </p:nvPicPr>
        <p:blipFill>
          <a:blip r:embed="rId1"/>
          <a:srcRect l="16477" r="16477"/>
          <a:stretch>
            <a:fillRect/>
          </a:stretch>
        </p:blipFill>
        <p:spPr>
          <a:xfrm>
            <a:off x="685800" y="1325880"/>
            <a:ext cx="539496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1732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592824" y="1545336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 Records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92824" y="1892808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Gradually build electronic files across planting, chemical application, harvest, and testing nodes.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446520" y="2542032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92824" y="2670048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Tracking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92824" y="3017520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Combine low-altitude inspection with platform data to support oversight, quality control, and brand development.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446520" y="3666744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592824" y="3794760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Final Delivery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92824" y="4142232"/>
            <a:ext cx="4462272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Provide verifiable origin and quality information to food service, supermarkets, and outbound channels.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446520" y="4791456"/>
            <a:ext cx="4754880" cy="594360"/>
          </a:xfrm>
          <a:prstGeom prst="roundRect">
            <a:avLst>
              <a:gd name="adj" fmla="val 12308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592824" y="4919472"/>
            <a:ext cx="44622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92824" y="5138928"/>
            <a:ext cx="4462272" cy="2103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the oversight platform's architectural layers.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  Summary and Outlook  ·  Previous: Summary Introduction  →  Next: Platform Architecture</a:t>
            </a:r>
            <a:endParaRPr lang="en-US" sz="7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Platform Architecture: From Field to Regulator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explained oversight value; this slide describes system layers</a:t>
            </a:r>
            <a:endParaRPr lang="en-US" sz="11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777240" y="1417320"/>
            <a:ext cx="203362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868680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161288" y="1517904"/>
            <a:ext cx="1576426" cy="7498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Field Collection</a:t>
            </a:r>
            <a:endParaRPr lang="en-US" sz="10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2920594" y="1417320"/>
            <a:ext cx="2033626" cy="914400"/>
          </a:xfrm>
          <a:prstGeom prst="roundRect">
            <a:avLst>
              <a:gd name="adj" fmla="val 6000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3012034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304642" y="1517904"/>
            <a:ext cx="1576426" cy="7498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Operating Records</a:t>
            </a:r>
            <a:endParaRPr lang="en-US" sz="100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5063947" y="1417320"/>
            <a:ext cx="203362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5155387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5447995" y="1517904"/>
            <a:ext cx="1576426" cy="7498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Quality Testing</a:t>
            </a:r>
            <a:endParaRPr lang="en-US" sz="1000" dirty="0"/>
          </a:p>
        </p:txBody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7207301" y="1417320"/>
            <a:ext cx="2033626" cy="914400"/>
          </a:xfrm>
          <a:prstGeom prst="roundRect">
            <a:avLst>
              <a:gd name="adj" fmla="val 6000"/>
            </a:avLst>
          </a:prstGeom>
          <a:solidFill>
            <a:srgbClr val="E8F6F2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7298741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7591349" y="1517904"/>
            <a:ext cx="1576426" cy="7498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Flow Tracking</a:t>
            </a:r>
            <a:endParaRPr lang="en-US" sz="10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9350654" y="1417320"/>
            <a:ext cx="203362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C9E2D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9442094" y="1508760"/>
            <a:ext cx="228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9734702" y="1517904"/>
            <a:ext cx="1576426" cy="7498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Regulatory Dashboard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27432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23544" y="28712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" y="3218688"/>
            <a:ext cx="2953512" cy="6492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Archive plots, crops, imagery, operating tracks, and verification materials in one place.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480560" y="27432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26864" y="28712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Business Layer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26864" y="3218688"/>
            <a:ext cx="2953512" cy="6492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Modules for crop protection, transport, inspection, claims, and oversight are called according to permissions.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183880" y="27432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330184" y="2871216"/>
            <a:ext cx="295351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Application Layer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30184" y="3218688"/>
            <a:ext cx="2953512" cy="6492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Farmers, service teams, townships, and regulators see the tasks and results relevant to them.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1920240" y="4645152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066544" y="4773168"/>
            <a:ext cx="802843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Transition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66544" y="5120640"/>
            <a:ext cx="8028432" cy="14630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Next: a phased work plan and expansion roadmap.</a:t>
            </a:r>
            <a:endParaRPr lang="en-US" sz="920" dirty="0">
              <a:solidFill>
                <a:srgbClr val="112B2D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44  Summary and Outlook  ·  Previous: Regulatory Platform  →  Next: Work Plan</a:t>
            </a:r>
            <a:endParaRPr lang="en-US" sz="7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 w="12700">
            <a:solidFill>
              <a:srgbClr val="FFF9E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Near-Term Work Plan and Expansion Directions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previous slide defined the platform; this slide schedules implementation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54533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One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2104" y="1892808"/>
            <a:ext cx="3090672" cy="5577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Pilot in high-frequency operating areas to validate demand submission, platform dispatch, result upload, and review workflows.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81144" y="154533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Two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81144" y="1892808"/>
            <a:ext cx="3090672" cy="5577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Expand to more townships and crop types while developing local pilots, O&amp;M staff, and data-service teams.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EA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30184" y="1545336"/>
            <a:ext cx="3090672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63D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Three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30184" y="1892808"/>
            <a:ext cx="3090672" cy="5577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Connect product oversight, insurance verification, tourism showcases, and emergency governance into an integrated application system.</a:t>
            </a:r>
            <a:endParaRPr lang="en-US" sz="920" dirty="0"/>
          </a:p>
        </p:txBody>
      </p:sp>
      <p:pic>
        <p:nvPicPr>
          <p:cNvPr id="15" name="Image 0" descr="/mnt/data/agri_assets/cover.jpg"/>
          <p:cNvPicPr>
            <a:picLocks noChangeAspect="1"/>
          </p:cNvPicPr>
          <p:nvPr/>
        </p:nvPicPr>
        <p:blipFill>
          <a:blip r:embed="rId1"/>
          <a:srcRect t="33940" b="33940"/>
          <a:stretch>
            <a:fillRect/>
          </a:stretch>
        </p:blipFill>
        <p:spPr>
          <a:xfrm>
            <a:off x="685800" y="2971800"/>
            <a:ext cx="10881360" cy="19659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85800" y="2971800"/>
            <a:ext cx="10881360" cy="196596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60120" y="3813048"/>
            <a:ext cx="10241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Future Direction: Ensure low-altitude applications can take off, remain governed, deliver lasting value, and stay measurable.</a:t>
            </a:r>
            <a:endParaRPr lang="en-US" sz="230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BBD7CF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A7F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  Summary and Outlook  ·  Previous: Platform Architecture  →  Next: Closing Slide</a:t>
            </a:r>
            <a:endParaRPr lang="en-US" sz="7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/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A7A1"/>
          </a:solidFill>
          <a:ln w="12700">
            <a:solidFill>
              <a:srgbClr val="25A7A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475488"/>
            <a:ext cx="85039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95097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FED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County agricultural low-altitude applications are moving from isolated operations to long-term service delivery</a:t>
            </a:r>
            <a:endParaRPr lang="en-US" sz="1100" dirty="0"/>
          </a:p>
        </p:txBody>
      </p:sp>
      <p:pic>
        <p:nvPicPr>
          <p:cNvPr id="6" name="Image 0" descr="/mnt/data/agri_assets/ecosystem.jp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D3B">
              <a:alpha val="75000"/>
            </a:srgbClr>
          </a:solidFill>
          <a:ln w="12700">
            <a:solidFill>
              <a:srgbClr val="063D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THANKS FOR YOUR TIME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10515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7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Qinglan County Agricultural Low-Altitude Application Research Team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9525">
            <a:solidFill>
              <a:srgbClr val="5FCFC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6528816"/>
            <a:ext cx="1110996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DF3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46  Closing Slide  ·  Previous: Work Plan  →  Conclusion</a:t>
            </a:r>
            <a:endParaRPr lang="en-US" sz="78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2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3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4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5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6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7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8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9.xml><?xml version="1.0" encoding="utf-8"?>
<p:tagLst xmlns:p="http://schemas.openxmlformats.org/presentationml/2006/main">
  <p:tag name="KSO_WM_DIAGRAM_VIRTUALLY_FRAME" val="{&quot;height&quot;:264.24000000000007,&quot;left&quot;:54,&quot;top&quot;:111.6,&quot;width&quot;:385.2}"/>
</p:tagLst>
</file>

<file path=ppt/tags/tag10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1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2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3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4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5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6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7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8.xml><?xml version="1.0" encoding="utf-8"?>
<p:tagLst xmlns:p="http://schemas.openxmlformats.org/presentationml/2006/main">
  <p:tag name="KSO_WM_DIAGRAM_VIRTUALLY_FRAME" val="{&quot;height&quot;:285.12,&quot;left&quot;:496.8,&quot;top&quot;:111.6,&quot;width&quot;:388.8}"/>
</p:tagLst>
</file>

<file path=ppt/tags/tag19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0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1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2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3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4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5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6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7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8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29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30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31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32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33.xml><?xml version="1.0" encoding="utf-8"?>
<p:tagLst xmlns:p="http://schemas.openxmlformats.org/presentationml/2006/main">
  <p:tag name="KSO_WM_DIAGRAM_VIRTUALLY_FRAME" val="{&quot;height&quot;:59.039999999999964,&quot;left&quot;:54,&quot;top&quot;:374.4,&quot;width&quot;:828}"/>
</p:tagLst>
</file>

<file path=ppt/tags/tag34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35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36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37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38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39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40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41.xml><?xml version="1.0" encoding="utf-8"?>
<p:tagLst xmlns:p="http://schemas.openxmlformats.org/presentationml/2006/main">
  <p:tag name="KSO_WM_DIAGRAM_VIRTUALLY_FRAME" val="{&quot;height&quot;:307.44000000000005,&quot;left&quot;:490.32,&quot;top&quot;:114.47999999999999,&quot;width&quot;:390.9599999999999}"/>
</p:tagLst>
</file>

<file path=ppt/tags/tag42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3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4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5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6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7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8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49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50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51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52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53.xml><?xml version="1.0" encoding="utf-8"?>
<p:tagLst xmlns:p="http://schemas.openxmlformats.org/presentationml/2006/main">
  <p:tag name="KSO_WM_DIAGRAM_VIRTUALLY_FRAME" val="{&quot;height&quot;:324.71999999999997,&quot;left&quot;:57.6,&quot;top&quot;:111.6,&quot;width&quot;:396}"/>
</p:tagLst>
</file>

<file path=ppt/tags/tag54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55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56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57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58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59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60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61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62.xml><?xml version="1.0" encoding="utf-8"?>
<p:tagLst xmlns:p="http://schemas.openxmlformats.org/presentationml/2006/main">
  <p:tag name="KSO_WM_DIAGRAM_VIRTUALLY_FRAME" val="{&quot;height&quot;:254.88000000000002,&quot;left&quot;:61.2,&quot;top&quot;:111.6,&quot;width&quot;:399.6}"/>
</p:tagLst>
</file>

<file path=ppt/tags/tag63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4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5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6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7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8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69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0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1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2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3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4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5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6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ags/tag77.xml><?xml version="1.0" encoding="utf-8"?>
<p:tagLst xmlns:p="http://schemas.openxmlformats.org/presentationml/2006/main">
  <p:tag name="KSO_WM_DIAGRAM_VIRTUALLY_FRAME" val="{&quot;height&quot;:72,&quot;left&quot;:61.2,&quot;top&quot;:111.6,&quot;width&quot;:83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8072</Words>
  <Application>WPS 演示</Application>
  <PresentationFormat>On-screen Show (16:9)</PresentationFormat>
  <Paragraphs>1100</Paragraphs>
  <Slides>46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8" baseType="lpstr">
      <vt:lpstr>Arial</vt:lpstr>
      <vt:lpstr>宋体</vt:lpstr>
      <vt:lpstr>Wingdings</vt:lpstr>
      <vt:lpstr>Noto Sans CJK SC</vt:lpstr>
      <vt:lpstr>FFont-Family</vt:lpstr>
      <vt:lpstr>Noto Sans CJK SC</vt:lpstr>
      <vt:lpstr>Noto Sans CJK SC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