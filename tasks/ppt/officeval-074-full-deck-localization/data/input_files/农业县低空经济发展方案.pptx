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9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2" Type="http://schemas.openxmlformats.org/officeDocument/2006/relationships/notesSlide" Target="../notesSlides/notesSlide2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8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7" Type="http://schemas.openxmlformats.org/officeDocument/2006/relationships/notesSlide" Target="../notesSlides/notesSlide2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1" Type="http://schemas.openxmlformats.org/officeDocument/2006/relationships/notesSlide" Target="../notesSlides/notesSlide2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5" Type="http://schemas.openxmlformats.org/officeDocument/2006/relationships/notesSlide" Target="../notesSlides/notesSlide2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2" Type="http://schemas.openxmlformats.org/officeDocument/2006/relationships/notesSlide" Target="../notesSlides/notesSlide4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2.xml"/><Relationship Id="rId1" Type="http://schemas.openxmlformats.org/officeDocument/2006/relationships/image" Target="../media/image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4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cover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577840" cy="6355080"/>
          </a:xfrm>
          <a:prstGeom prst="rect">
            <a:avLst/>
          </a:prstGeom>
          <a:solidFill>
            <a:srgbClr val="063D3B">
              <a:alpha val="92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554480"/>
            <a:ext cx="4663440" cy="11887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青岚县农业低空应用实施方案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21792" y="2971800"/>
            <a:ext cx="438912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以“空中作业 + 数据平台 + 服务运营”串联耕种管收，形成面向县域农业的数字化能力底座。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" y="4206240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E5A63B"/>
          </a:solidFill>
          <a:ln w="12700">
            <a:solidFill>
              <a:srgbClr val="E5A6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238244"/>
            <a:ext cx="1691640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农业低空应用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方案封面  ·  起点  →  下页 目录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从场景识别到服务落地，逐步形成闭环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72821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01  项目背景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2104" y="207568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政策窗口与区域条件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68833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02  涉农场景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32104" y="303580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植保、运输、监测、基础服务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64845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03  综合价值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2104" y="399592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成本、效率、生态与民生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85800" y="448056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460857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04  主要问题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" y="495604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需求适配、培训运维、资金机制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172821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05  解决路径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47104" y="207568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基建平台、人才运维、轻资产服务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400800" y="256032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268833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06  运营情景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47104" y="303580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作业复盘与复制推广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400800" y="352044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364845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07  总结展望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47104" y="399592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县域样板与产业生态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目录  ·  上页 封面  →  下页 项目背景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map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项目背景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农业作业的地形、时效和劳动力变化，共同推动低空应用从“可选项”走向“基础工具”。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项目背景  ·  上页 目录  →  下页 区域动因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为什么从“低空”切入农业？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上一页提出趋势，本页把趋势落到县域农业场景</a:t>
            </a:r>
            <a:endParaRPr lang="en-US" sz="1100" dirty="0"/>
          </a:p>
        </p:txBody>
      </p:sp>
      <p:pic>
        <p:nvPicPr>
          <p:cNvPr id="6" name="Image 0" descr="/mnt/data/agri_assets/ecosystem.jpg"/>
          <p:cNvPicPr>
            <a:picLocks noChangeAspect="1"/>
          </p:cNvPicPr>
          <p:nvPr/>
        </p:nvPicPr>
        <p:blipFill>
          <a:blip r:embed="rId1"/>
          <a:srcRect l="15909" r="15909"/>
          <a:stretch>
            <a:fillRect/>
          </a:stretch>
        </p:blipFill>
        <p:spPr>
          <a:xfrm>
            <a:off x="6080760" y="1325880"/>
            <a:ext cx="5486400" cy="452628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685800" y="141732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832104" y="1545336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地形约束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832104" y="1892808"/>
            <a:ext cx="459943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丘陵、河谷、分散地块使人工和车辆作业路径变长，空中直达更适合补链。</a:t>
            </a:r>
            <a:endParaRPr lang="en-US" sz="92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685800" y="2615184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832104" y="2743200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农时约束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832104" y="3090672"/>
            <a:ext cx="459943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病虫害、灾害和采收期窗口短，低空设备可提高响应速度。</a:t>
            </a:r>
            <a:endParaRPr lang="en-US" sz="92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685800" y="3813048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832104" y="3941064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数据约束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32104" y="4288536"/>
            <a:ext cx="459943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传统巡田难形成连续记录，空中影像可沉淀为可追踪、可复核的数据资产。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85800" y="5010912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" y="5138928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承接逻辑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1850" y="5377180"/>
            <a:ext cx="4599305" cy="1822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先明确“为什么需要”，再判断“哪些环节能用”。</a:t>
            </a:r>
            <a:endParaRPr lang="en-US" sz="90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项目背景  ·  上页 项目背景  →  下页 政策与区域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政策与区域双轮驱动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上页说明必要性，本页界定推进条件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3677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政策窗口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1984248"/>
            <a:ext cx="2953512" cy="20208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智慧农业、农机装备升级、县域数字治理等方向持续叠加，为低空设备、数据平台和服务采购提供制度空间。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62272" y="150876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63677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区域基础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08576" y="1984248"/>
            <a:ext cx="2953512" cy="20208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青岚县拥有连片田块、丘陵果园、河谷村落与山地道路，具备植保、运输、巡检、灾损评估等多元需求。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163677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推广条件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30184" y="1984248"/>
            <a:ext cx="2953512" cy="20208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周边县域已出现稳定运营经验，本地可通过小规模试运行、平台接入、服务外包分阶段降低风险。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097280" y="4709160"/>
            <a:ext cx="9875520" cy="0"/>
          </a:xfrm>
          <a:prstGeom prst="line">
            <a:avLst/>
          </a:prstGeom>
          <a:noFill/>
          <a:ln w="1778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5010912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政策可行  →  场景可用  →  运营可持续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项目背景  ·  上页 为什么低空  →  下页 涉农场景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dashboard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无人机主要涉农场景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围绕耕、种、管、收，把单点设备应用升级为县域农业服务网络。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 无人机主要涉农场景  ·  上页 政策与区域  →  下页 四大场景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四大涉农应用场景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上页进入场景，本页形成总览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212" r="1212"/>
          <a:stretch>
            <a:fillRect/>
          </a:stretch>
        </p:blipFill>
        <p:spPr>
          <a:xfrm>
            <a:off x="685800" y="1417320"/>
            <a:ext cx="3886200" cy="2240280"/>
          </a:xfrm>
          <a:prstGeom prst="rect">
            <a:avLst/>
          </a:prstGeom>
        </p:spPr>
      </p:pic>
      <p:pic>
        <p:nvPicPr>
          <p:cNvPr id="7" name="Image 1" descr="/mnt/data/agri_assets/logistics.jpg"/>
          <p:cNvPicPr>
            <a:picLocks noChangeAspect="1"/>
          </p:cNvPicPr>
          <p:nvPr/>
        </p:nvPicPr>
        <p:blipFill>
          <a:blip r:embed="rId2"/>
          <a:srcRect l="1212" r="1212"/>
          <a:stretch>
            <a:fillRect/>
          </a:stretch>
        </p:blipFill>
        <p:spPr>
          <a:xfrm>
            <a:off x="7635240" y="1417320"/>
            <a:ext cx="3886200" cy="2240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28032" y="14173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74336" y="1545336"/>
            <a:ext cx="2221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植保作业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974336" y="1892808"/>
            <a:ext cx="222199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精准航线、雾化喷洒、变量施用，适合大田和果园病虫害防控。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4828032" y="26974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74336" y="2825496"/>
            <a:ext cx="2221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物资运输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74336" y="3172968"/>
            <a:ext cx="222199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山地、河谷、分散村落之间的小批量短途运输。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914400" y="41148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60704" y="42428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监测勘察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60704" y="4590288"/>
            <a:ext cx="295351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长势识别、旱涝观察、灾损边界提取。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4480560" y="41148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26864" y="42428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基础服务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26864" y="4590288"/>
            <a:ext cx="295351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河渠巡查、田块复核、秸秆禁烧辅助巡护。</a:t>
            </a:r>
            <a:endParaRPr lang="en-US" sz="920" dirty="0"/>
          </a:p>
        </p:txBody>
      </p:sp>
      <p:sp>
        <p:nvSpPr>
          <p:cNvPr id="20" name="Shape 16"/>
          <p:cNvSpPr/>
          <p:nvPr/>
        </p:nvSpPr>
        <p:spPr>
          <a:xfrm>
            <a:off x="8046720" y="41148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93024" y="42428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数据沉淀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193024" y="4590288"/>
            <a:ext cx="295351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作业轨迹、影像资料和复核记录进入县级平台。</a:t>
            </a:r>
            <a:endParaRPr lang="en-US" sz="920" dirty="0"/>
          </a:p>
        </p:txBody>
      </p:sp>
      <p:sp>
        <p:nvSpPr>
          <p:cNvPr id="23" name="Shape 19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 涉农场景  ·  上页 场景导入  →  下页 作业方式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从传统作业到空中协同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上页梳理场景，本页说明每类场景怎样发生作用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61288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田块信息采集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938882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0322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22930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作业边界规划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100523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1963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4571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空中任务执行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262165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3605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46213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作业结果回传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423806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5246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07854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农户确认反馈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77240" y="26517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277977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植保与播撒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" y="3127248"/>
            <a:ext cx="3090672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由人工背负或地面机械转为航线作业，降低人员直接接触药剂与坡地行走风险。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416552" y="26517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2856" y="277977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监测与测绘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62856" y="3127248"/>
            <a:ext cx="3090672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将“到田里看”变成“按区域扫”，通过影像判断长势、水分、病虫害或受灾边界。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055864" y="26517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277977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运输与巡查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02168" y="3127248"/>
            <a:ext cx="3090672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以低空直达补充村道和田间路的短板，适合急用农资、样品与小件物资。</a:t>
            </a:r>
            <a:endParaRPr lang="en-US" sz="920" dirty="0"/>
          </a:p>
        </p:txBody>
      </p:sp>
      <p:pic>
        <p:nvPicPr>
          <p:cNvPr id="30" name="Image 0" descr="/mnt/data/agri_assets/service.jpg"/>
          <p:cNvPicPr>
            <a:picLocks noChangeAspect="1"/>
          </p:cNvPicPr>
          <p:nvPr/>
        </p:nvPicPr>
        <p:blipFill>
          <a:blip r:embed="rId1"/>
          <a:srcRect t="21717" b="21717"/>
          <a:stretch>
            <a:fillRect/>
          </a:stretch>
        </p:blipFill>
        <p:spPr>
          <a:xfrm>
            <a:off x="777240" y="4315968"/>
            <a:ext cx="5029200" cy="16002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172200" y="4315968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18504" y="4443984"/>
            <a:ext cx="49194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从设备到服务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18504" y="4791456"/>
            <a:ext cx="4919472" cy="10149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单台设备不是目标，县域要沉淀标准流程：谁提出需求、谁审核、谁执行、谁复核、数据归哪里。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 涉农场景  ·  上页 四大场景  →  下页 数据链路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数字化作业链路：采集—规划—任务—作业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上页介绍作业方式，本页转入平台化运行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2416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高清影像与地块边界采集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856586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8026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0634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自动生成作业区域与风险点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054803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6243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38851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任务分派至服务队与设备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253021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4461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7069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现场执行并实时记录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451238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42678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35286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结果回传并归档</a:t>
            </a:r>
            <a:endParaRPr lang="en-US" sz="840" dirty="0"/>
          </a:p>
        </p:txBody>
      </p:sp>
      <p:pic>
        <p:nvPicPr>
          <p:cNvPr id="21" name="Image 0" descr="/mnt/data/agri_assets/dashboard.jpg"/>
          <p:cNvPicPr>
            <a:picLocks noChangeAspect="1"/>
          </p:cNvPicPr>
          <p:nvPr/>
        </p:nvPicPr>
        <p:blipFill>
          <a:blip r:embed="rId1"/>
          <a:srcRect t="10234" b="10234"/>
          <a:stretch>
            <a:fillRect/>
          </a:stretch>
        </p:blipFill>
        <p:spPr>
          <a:xfrm>
            <a:off x="731520" y="2743200"/>
            <a:ext cx="5212080" cy="23317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291072" y="2743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37376" y="2871216"/>
            <a:ext cx="2176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厘米级定位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37376" y="3218688"/>
            <a:ext cx="2176272" cy="4663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采用高精度定位与地块边界校准，减少重复喷洒和漏作业。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9006840" y="2743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53144" y="2871216"/>
            <a:ext cx="2176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三维航线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153144" y="3218688"/>
            <a:ext cx="2176272" cy="4663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果园、坡地、河岸等复杂场景可预设安全高度与避障区域。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6291072" y="4096512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37376" y="4224528"/>
            <a:ext cx="2176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远程管理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437376" y="4572000"/>
            <a:ext cx="2176272" cy="4663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任务、人员、设备、作业结果统一留痕，便于复盘。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9006840" y="4096512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53144" y="4224528"/>
            <a:ext cx="2176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结果复核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153144" y="4572000"/>
            <a:ext cx="2176272" cy="4663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作业影像与反馈数据形成闭环，支撑服务结算。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 涉农场景  ·  上页 作业方式  →  下页 精准农业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精准农业：从“统一作业”到“分区施策”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上页建立链路，本页说明数据怎样指导差异化管理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4617" r="14617"/>
          <a:stretch>
            <a:fillRect/>
          </a:stretch>
        </p:blipFill>
        <p:spPr>
          <a:xfrm>
            <a:off x="6172200" y="1325880"/>
            <a:ext cx="534924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41732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" y="154533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识别差异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" y="1892808"/>
            <a:ext cx="45537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把田块按长势、墒情、虫情和作业历史划分为不同管理单元。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85800" y="251460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" y="264261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生成处方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2104" y="2990088"/>
            <a:ext cx="45537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根据区域差异设定喷洒、播撒或巡检频次，避免“一刀切”。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85800" y="361188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" y="373989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动态调整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2104" y="4087368"/>
            <a:ext cx="45537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作业后结合回访、影像和农户反馈，更新下一轮策略。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85800" y="470916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" y="483717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32104" y="5184648"/>
            <a:ext cx="45537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精准农业不是单独一页技术，而是后续效益、培训、服务模式的共同基础。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 涉农场景  ·  上页 数据链路  →  下页 场景总收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场景收束：四类任务汇入县域平台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上页完成精准农业，本页将场景合并成体系</a:t>
            </a:r>
            <a:endParaRPr lang="en-US" sz="1100" dirty="0"/>
          </a:p>
        </p:txBody>
      </p:sp>
      <p:pic>
        <p:nvPicPr>
          <p:cNvPr id="6" name="Image 0" descr="/mnt/data/agri_assets/map.jpg"/>
          <p:cNvPicPr>
            <a:picLocks noChangeAspect="1"/>
          </p:cNvPicPr>
          <p:nvPr/>
        </p:nvPicPr>
        <p:blipFill>
          <a:blip r:embed="rId1"/>
          <a:srcRect l="13636" r="13636"/>
          <a:stretch>
            <a:fillRect/>
          </a:stretch>
        </p:blipFill>
        <p:spPr>
          <a:xfrm>
            <a:off x="640080" y="1325880"/>
            <a:ext cx="58521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4173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58584" y="1545336"/>
            <a:ext cx="4096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统一入口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58584" y="1892808"/>
            <a:ext cx="409651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农户、合作社、村级网格与农技部门均可提交作业需求。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812280" y="23317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58584" y="2459736"/>
            <a:ext cx="4096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统一调度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58584" y="2807208"/>
            <a:ext cx="409651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按照作物时节、区域距离、设备类型和服务队能力分配任务。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812280" y="32461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58584" y="3374136"/>
            <a:ext cx="4096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统一记录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58584" y="3721608"/>
            <a:ext cx="409651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影像、航线、作业量、反馈、复核材料形成连续档案。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812280" y="41605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58584" y="4288536"/>
            <a:ext cx="4096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统一评价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58584" y="4636008"/>
            <a:ext cx="409651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服务质量、农户满意度、风险事件和维护记录用于后续优化。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858000" y="5321808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场景不是孤立清单，而是县域农业数字基础设施的入口。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 涉农场景  ·  上页 精准农业  →  下页 数字闭环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精细管理情景：水稻田变量作业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上页形成平台，本页进入作物管理情景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9531" r="19531"/>
          <a:stretch>
            <a:fillRect/>
          </a:stretch>
        </p:blipFill>
        <p:spPr>
          <a:xfrm>
            <a:off x="658368" y="1325880"/>
            <a:ext cx="475488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325880"/>
            <a:ext cx="26517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52744" y="1453896"/>
            <a:ext cx="2359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变量播撒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52744" y="1801368"/>
            <a:ext cx="23591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依据长势影像生成分区策略，肥料投放更贴近作物需求。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8796528" y="1325880"/>
            <a:ext cx="26517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42832" y="1453896"/>
            <a:ext cx="2359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边界捕捉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42832" y="1801368"/>
            <a:ext cx="23591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电子围栏记录进出时间和作业覆盖范围，便于核验。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5806440" y="2651760"/>
            <a:ext cx="26517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52744" y="2779776"/>
            <a:ext cx="2359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过程监管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52744" y="3127248"/>
            <a:ext cx="23591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平台对耕、种、管、收关键环节进行节点化记录。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796528" y="2651760"/>
            <a:ext cx="26517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42832" y="2779776"/>
            <a:ext cx="2359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收益表达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942832" y="3127248"/>
            <a:ext cx="23591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用“节省投入、稳住产量、减少返工”描述综合价值，不披露具体金额。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06440" y="4005072"/>
            <a:ext cx="5641848" cy="1417320"/>
          </a:xfrm>
          <a:prstGeom prst="roundRect">
            <a:avLst>
              <a:gd name="adj" fmla="val 5161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52744" y="4133088"/>
            <a:ext cx="5349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本页与下一页的关系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52744" y="4480560"/>
            <a:ext cx="5349240" cy="8321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水稻情景强调变量作业，下一页转入经济作物情景，继续观察无人机监测对水肥、病虫害和质量管理的支撑。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 涉农场景  ·  上页 数字闭环  →  下页 经济作物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经济作物情景：全田监测与精准投入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上页看水稻，本页连接到棉花、茶园、果园等经济作物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4538" r="14538"/>
          <a:stretch>
            <a:fillRect/>
          </a:stretch>
        </p:blipFill>
        <p:spPr>
          <a:xfrm>
            <a:off x="658368" y="1325880"/>
            <a:ext cx="530352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32588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1384" y="1453896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株高与长势监测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01384" y="1801368"/>
            <a:ext cx="464515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通过周期性航拍获取整体分布，避免只凭少量样点判断田间状态。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355080" y="24871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1384" y="2615184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斑块识别与分区处置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01384" y="2962656"/>
            <a:ext cx="464515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把盐碱、虫害、缺水或倒伏区域圈定出来，指导局部补救。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355080" y="3648456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1384" y="3776472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投入品精细化使用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01384" y="4123944"/>
            <a:ext cx="464515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根据风险区域实施分区作业，减少无效投入和对环境的压力。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355080" y="4809744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1384" y="4937760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1384" y="5285232"/>
            <a:ext cx="4645152" cy="1463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场景应用已清楚，下一部分进入“价值衡量”：为什么值得推广。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 涉农场景  ·  上页 精细管理  →  下页 综合价值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ecosystem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经济效益与社会效益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把低空应用的价值从单次作业，扩展到成本、效率、生态和公共治理。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 经济效益与社会效益  ·  上页 经济作物  →  下页 价值指标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降本增效：以大田植保为参照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上页进入价值，本页把价值拆成可感知指标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4592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显著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33272" y="219456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省药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49631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精准雾化减少重复和漂移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520440" y="150876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64592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明显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85032" y="219456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省工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49631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降低集中用工压力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64592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36792" y="219456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49631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抢农时能力提升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823960" y="150876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164592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96B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可追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988552" y="219456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249631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结果可回看可复核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68680" y="36576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3785616"/>
            <a:ext cx="29992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生态收益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14984" y="4133088"/>
            <a:ext cx="2999232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减少面源污染、降低过量用药和土壤扰动。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434840" y="36576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3785616"/>
            <a:ext cx="29992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经济收益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81144" y="4133088"/>
            <a:ext cx="2999232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节省人工与投入品，稳定作物产出预期。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001000" y="36576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47304" y="3785616"/>
            <a:ext cx="29992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民生收益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147304" y="4133088"/>
            <a:ext cx="2999232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降低劳动强度，提高偏远地块服务可达性。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 综合价值  ·  上页 价值导入  →  下页 作业对比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代际优势：无人机作业与传统方式对比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上页看结果，本页看过程差异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45336"/>
            <a:ext cx="19019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植保环节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892808"/>
            <a:ext cx="190195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154533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传统方式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9544" y="189280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人工依赖高，受地形和体力影响明显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7132320" y="141732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8624" y="1545336"/>
            <a:ext cx="40507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低空方式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78624" y="1892808"/>
            <a:ext cx="405079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航线作业覆盖快，作业记录完整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596896"/>
            <a:ext cx="19019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运输环节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2944368"/>
            <a:ext cx="190195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063240" y="2468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259689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传统方式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9544" y="294436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绕行距离长，雨后道路影响大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132320" y="246888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2596896"/>
            <a:ext cx="40507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低空方式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78624" y="2944368"/>
            <a:ext cx="405079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直线低空补链，适合小批量急用物资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31520" y="352044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648456"/>
            <a:ext cx="19019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勘灾环节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3995928"/>
            <a:ext cx="190195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063240" y="352044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9544" y="364845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传统方式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9544" y="399592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人工踏勘慢，边界判定不连续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132320" y="352044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8624" y="3648456"/>
            <a:ext cx="40507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低空方式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78624" y="3995928"/>
            <a:ext cx="405079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影像快速生成，便于复核与理赔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31520" y="457200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700016"/>
            <a:ext cx="19019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巡护环节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" y="5047488"/>
            <a:ext cx="190195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3063240" y="457200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9544" y="470001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传统方式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9544" y="504748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网格员巡查半径有限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7132320" y="457200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78624" y="4700016"/>
            <a:ext cx="40507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低空方式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78624" y="5047488"/>
            <a:ext cx="405079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空中巡线可作为辅助提醒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1097280" y="571500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对比不是替代一切人工，而是把高风险、强时效、重复性高的环节交给空中工具。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 综合价值  ·  上页 价值指标  →  下页 主要问题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service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现阶段主要问题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推广难点集中在需求匹配、人员能力、后期运维和资金机制。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 现阶段主要问题  ·  上页 作业对比  →  下页 四类痛点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四大痛点阻滞落地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上页提出问题，本页定位瓶颈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63677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需求与方案不匹配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" y="1984248"/>
            <a:ext cx="478231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丘陵果园、分散地块、村道断点等场景差异大，通用设备和统一流程难以一次适配。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327648" y="150876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63677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指导培训不足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3952" y="1984248"/>
            <a:ext cx="478231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农户、服务队和基层管理人员对空域安全、药剂规范、应急处置的理解不一致。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309981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后期运维薄弱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3544" y="3447288"/>
            <a:ext cx="478231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县域维修、配件、备用设备和响应机制不足，容易在关键农时出现服务中断。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327648" y="297180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09981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资金压力较大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73952" y="3447288"/>
            <a:ext cx="478231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一次性采购和长期维护成本较高，单个主体难以独立承担全部投入。</a:t>
            </a:r>
            <a:endParaRPr lang="en-US" sz="920" dirty="0"/>
          </a:p>
        </p:txBody>
      </p:sp>
      <p:pic>
        <p:nvPicPr>
          <p:cNvPr id="18" name="Image 0" descr="/mnt/data/agri_assets/service.jpg"/>
          <p:cNvPicPr>
            <a:picLocks noChangeAspect="1"/>
          </p:cNvPicPr>
          <p:nvPr/>
        </p:nvPicPr>
        <p:blipFill>
          <a:blip r:embed="rId1"/>
          <a:srcRect t="42350" b="42350"/>
          <a:stretch>
            <a:fillRect/>
          </a:stretch>
        </p:blipFill>
        <p:spPr>
          <a:xfrm>
            <a:off x="777240" y="4572000"/>
            <a:ext cx="10625328" cy="9144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7240" y="4572000"/>
            <a:ext cx="10625328" cy="9144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4882896"/>
            <a:ext cx="9966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解决路径需要同时回答：建什么、谁来用、坏了谁修、费用怎么分摊。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 主要问题  ·  上页 问题导入  →  下页 解决方案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map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核心问题解决方案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以“基础设施 + 运营机制 + 服务采购”降低落地门槛，逐步扩大覆盖范围。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 核心问题解决方案  ·  上页 四类痛点  →  下页 基建平台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基建 + 平台：夯实运行底座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上页给出思路，本页先解决基础能力</a:t>
            </a:r>
            <a:endParaRPr lang="en-US" sz="1100" dirty="0"/>
          </a:p>
        </p:txBody>
      </p:sp>
      <p:pic>
        <p:nvPicPr>
          <p:cNvPr id="6" name="Image 0" descr="/mnt/data/agri_assets/map.jpg"/>
          <p:cNvPicPr>
            <a:picLocks noChangeAspect="1"/>
          </p:cNvPicPr>
          <p:nvPr/>
        </p:nvPicPr>
        <p:blipFill>
          <a:blip r:embed="rId1"/>
          <a:srcRect l="16996" r="16996"/>
          <a:stretch>
            <a:fillRect/>
          </a:stretch>
        </p:blipFill>
        <p:spPr>
          <a:xfrm>
            <a:off x="6172200" y="1280160"/>
            <a:ext cx="52578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4173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" y="154533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起降与补能节点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" y="1892808"/>
            <a:ext cx="455371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在中心村、合作社、田间服务站布局轻量化节点，形成“近场起降、就近维护”的基本网络。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85800" y="2578608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" y="2706624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通信与边缘处理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2104" y="3054096"/>
            <a:ext cx="455371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对重点作业区补齐通信盲点，支持任务下发、影像回传和异常提醒。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85800" y="3739896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" y="3867912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县级数据平台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2104" y="4215384"/>
            <a:ext cx="455371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建立地块、设备、服务队、作业记录和复核资料的一体化台账。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85800" y="4901184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" y="5029200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32104" y="5376672"/>
            <a:ext cx="4553712" cy="548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底座建好之后，下一页解决“谁能长期把服务跑起来”。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 解决方案  ·  上页 解决路径  →  下页 培训运维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培训 + 运维：形成闭环保障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上页是硬件和平台，本页聚焦人和维护</a:t>
            </a:r>
            <a:endParaRPr lang="en-US" sz="1100" dirty="0"/>
          </a:p>
        </p:txBody>
      </p:sp>
      <p:pic>
        <p:nvPicPr>
          <p:cNvPr id="6" name="Image 0" descr="/mnt/data/agri_assets/service.jpg"/>
          <p:cNvPicPr>
            <a:picLocks noChangeAspect="1"/>
          </p:cNvPicPr>
          <p:nvPr/>
        </p:nvPicPr>
        <p:blipFill>
          <a:blip r:embed="rId1"/>
          <a:srcRect l="17283" r="17283"/>
          <a:stretch>
            <a:fillRect/>
          </a:stretch>
        </p:blipFill>
        <p:spPr>
          <a:xfrm>
            <a:off x="685800" y="1325880"/>
            <a:ext cx="5212080" cy="448056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6309360" y="141732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6455664" y="1545336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三级培训体系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6455664" y="1892808"/>
            <a:ext cx="464515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县级培训中心负责规范，乡镇实训点负责演练，田间飞行圈负责跟场辅导。</a:t>
            </a:r>
            <a:endParaRPr lang="en-US" sz="92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6309360" y="2724912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6455664" y="2852928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服务队能力认证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6455664" y="3200400"/>
            <a:ext cx="464515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围绕安全飞行、药剂管理、数据上传、异常处置建立可追踪的能力档案。</a:t>
            </a:r>
            <a:endParaRPr lang="en-US" sz="92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6309360" y="4032504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6455664" y="4160520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本地运维网络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6455664" y="4507992"/>
            <a:ext cx="464515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常用配件就近存储，故障分级响应，关键农时设置备用设备。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309360" y="5340096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5664" y="5339842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55410" y="5588635"/>
            <a:ext cx="4645025" cy="22733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运营能力稳定后，下一页用购买服务降低前期投入压力。</a:t>
            </a:r>
            <a:endParaRPr lang="en-US" sz="92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 解决方案  ·  上页 基建平台  →  下页 购买服务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购买服务模式：破解资金瓶颈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上页建立能力，本页设计付款方式和风险分担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499616"/>
            <a:ext cx="48280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模式定位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" y="1847088"/>
            <a:ext cx="482803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政府和农业主体不以一次性采购为主，而是按作业量、任务类型和服务质量购买整包服务。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916936"/>
            <a:ext cx="21305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前期轻投入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" y="3264408"/>
            <a:ext cx="213055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减少设备购置和维护压力，便于先试后扩。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38328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2916936"/>
            <a:ext cx="21305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专业化保障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9584" y="3264408"/>
            <a:ext cx="213055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服务商负责设备、人员、维修和安全管理。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08076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916936"/>
            <a:ext cx="21305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弹性适配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27064" y="3264408"/>
            <a:ext cx="213055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按季节、作物、地形和任务强度配置服务。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77824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24544" y="2916936"/>
            <a:ext cx="21305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风险共担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24544" y="3264408"/>
            <a:ext cx="213055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故障、误作业和交付质量纳入合同约束。</a:t>
            </a:r>
            <a:endParaRPr lang="en-US" sz="920" dirty="0"/>
          </a:p>
        </p:txBody>
      </p:sp>
      <p:sp>
        <p:nvSpPr>
          <p:cNvPr id="21" name="Shape 19"/>
          <p:cNvSpPr/>
          <p:nvPr>
            <p:custDataLst>
              <p:tags r:id="rId1"/>
            </p:custDataLst>
          </p:nvPr>
        </p:nvSpPr>
        <p:spPr>
          <a:xfrm>
            <a:off x="685800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2"/>
            </p:custDataLst>
          </p:nvPr>
        </p:nvSpPr>
        <p:spPr>
          <a:xfrm>
            <a:off x="777240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>
            <p:custDataLst>
              <p:tags r:id="rId3"/>
            </p:custDataLst>
          </p:nvPr>
        </p:nvSpPr>
        <p:spPr>
          <a:xfrm>
            <a:off x="1069848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需求申报</a:t>
            </a:r>
            <a:endParaRPr lang="en-US" sz="1000" dirty="0"/>
          </a:p>
        </p:txBody>
      </p:sp>
      <p:sp>
        <p:nvSpPr>
          <p:cNvPr id="24" name="Shape 22"/>
          <p:cNvSpPr/>
          <p:nvPr>
            <p:custDataLst>
              <p:tags r:id="rId4"/>
            </p:custDataLst>
          </p:nvPr>
        </p:nvSpPr>
        <p:spPr>
          <a:xfrm>
            <a:off x="2810866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5"/>
            </p:custDataLst>
          </p:nvPr>
        </p:nvSpPr>
        <p:spPr>
          <a:xfrm>
            <a:off x="2902306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>
            <p:custDataLst>
              <p:tags r:id="rId6"/>
            </p:custDataLst>
          </p:nvPr>
        </p:nvSpPr>
        <p:spPr>
          <a:xfrm>
            <a:off x="3194914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平台派单</a:t>
            </a:r>
            <a:endParaRPr lang="en-US" sz="1000" dirty="0"/>
          </a:p>
        </p:txBody>
      </p:sp>
      <p:sp>
        <p:nvSpPr>
          <p:cNvPr id="27" name="Shape 25"/>
          <p:cNvSpPr/>
          <p:nvPr>
            <p:custDataLst>
              <p:tags r:id="rId7"/>
            </p:custDataLst>
          </p:nvPr>
        </p:nvSpPr>
        <p:spPr>
          <a:xfrm>
            <a:off x="4935931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8"/>
            </p:custDataLst>
          </p:nvPr>
        </p:nvSpPr>
        <p:spPr>
          <a:xfrm>
            <a:off x="5027371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>
            <p:custDataLst>
              <p:tags r:id="rId9"/>
            </p:custDataLst>
          </p:nvPr>
        </p:nvSpPr>
        <p:spPr>
          <a:xfrm>
            <a:off x="5319979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现场作业</a:t>
            </a:r>
            <a:endParaRPr lang="en-US" sz="1000" dirty="0"/>
          </a:p>
        </p:txBody>
      </p:sp>
      <p:sp>
        <p:nvSpPr>
          <p:cNvPr id="30" name="Shape 28"/>
          <p:cNvSpPr/>
          <p:nvPr>
            <p:custDataLst>
              <p:tags r:id="rId10"/>
            </p:custDataLst>
          </p:nvPr>
        </p:nvSpPr>
        <p:spPr>
          <a:xfrm>
            <a:off x="7060997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11"/>
            </p:custDataLst>
          </p:nvPr>
        </p:nvSpPr>
        <p:spPr>
          <a:xfrm>
            <a:off x="7152437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>
            <p:custDataLst>
              <p:tags r:id="rId12"/>
            </p:custDataLst>
          </p:nvPr>
        </p:nvSpPr>
        <p:spPr>
          <a:xfrm>
            <a:off x="7445045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结果复核</a:t>
            </a:r>
            <a:endParaRPr lang="en-US" sz="1000" dirty="0"/>
          </a:p>
        </p:txBody>
      </p:sp>
      <p:sp>
        <p:nvSpPr>
          <p:cNvPr id="33" name="Shape 31"/>
          <p:cNvSpPr/>
          <p:nvPr>
            <p:custDataLst>
              <p:tags r:id="rId13"/>
            </p:custDataLst>
          </p:nvPr>
        </p:nvSpPr>
        <p:spPr>
          <a:xfrm>
            <a:off x="9186062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34" name="Text 32"/>
          <p:cNvSpPr/>
          <p:nvPr>
            <p:custDataLst>
              <p:tags r:id="rId14"/>
            </p:custDataLst>
          </p:nvPr>
        </p:nvSpPr>
        <p:spPr>
          <a:xfrm>
            <a:off x="9277502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>
            <p:custDataLst>
              <p:tags r:id="rId15"/>
            </p:custDataLst>
          </p:nvPr>
        </p:nvSpPr>
        <p:spPr>
          <a:xfrm>
            <a:off x="9570110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服务结算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 解决方案  ·  上页 培训运维  →  下页 运营情景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ecosystem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购买服务模式运营情景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用虚构但真实可信的县域情景，展示不同作物和公共服务如何接入同一套运营闭环。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 购买服务模式运营情景  ·  上页 购买服务  →  下页 效益复盘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效益复盘与放大路径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上页进入运营情景，本页先看整体复盘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5448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稳步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33272" y="210312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40487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通过节本、保产和损耗下降释放价值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55448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较低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85032" y="210312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损耗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40487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山区短途运输减少等待与破损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55448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36792" y="210312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40487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灾害、巡护、复核由事后转向准实时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823960" y="141732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155448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96B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可扩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988552" y="210312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240487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飞手、维修、数据服务可在本地沉淀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68680" y="3749040"/>
            <a:ext cx="10332720" cy="1234440"/>
          </a:xfrm>
          <a:prstGeom prst="roundRect">
            <a:avLst>
              <a:gd name="adj" fmla="val 592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3877056"/>
            <a:ext cx="100401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放大路径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4984" y="4224528"/>
            <a:ext cx="100401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先覆盖重点作物和高频任务，再扩展到相邻乡镇；在服务稳定后叠加农产品展示、农事直播、观光航拍、保险复核等新场景，形成“服务—培训—产业”的县内循环。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 运营情景  ·  上页 运营导入  →  下页 小麦情景</a:t>
            </a:r>
            <a:endParaRPr lang="en-US" sz="7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大田作物：小麦飞防除草情景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上页看总体，本页进入作物作业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6761" r="16761"/>
          <a:stretch>
            <a:fillRect/>
          </a:stretch>
        </p:blipFill>
        <p:spPr>
          <a:xfrm>
            <a:off x="640080" y="1325880"/>
            <a:ext cx="53492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32588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1384" y="1453896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作业对象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01384" y="1801368"/>
            <a:ext cx="459943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连片冬小麦田，重点处理阔叶类杂草和早期虫害风险。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355080" y="2395728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1384" y="2523744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作业安排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01384" y="2871216"/>
            <a:ext cx="459943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根据天气、风力和田块边界安排低空喷洒，作业前进行药液配比复核。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355080" y="3465576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1384" y="3593592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结果回访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01384" y="3941064"/>
            <a:ext cx="459943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作业后由服务队与农技员联合观察植株状态，平台留存照片与说明。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355080" y="4535424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1384" y="4663440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1384" y="5010912"/>
            <a:ext cx="459943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大田作物强调效率与一致性，下一页转入丘陵果园，重点看地形适配。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 运营情景  ·  上页 效益复盘  →  下页 果园情景</a:t>
            </a:r>
            <a:endParaRPr lang="en-US" sz="7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丘陵果园：柑橘病虫害防治情景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上页是大田，本页把低空作业放到坡地果园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8750" r="18750"/>
          <a:stretch>
            <a:fillRect/>
          </a:stretch>
        </p:blipFill>
        <p:spPr>
          <a:xfrm>
            <a:off x="640080" y="1325880"/>
            <a:ext cx="502920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13258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6227064" y="1453896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地形特点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6227064" y="1801368"/>
            <a:ext cx="49651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果园分布在缓坡和台地，人工行走和地面机械转场较慢。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80760" y="248716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6227064" y="2615184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作业方式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6227064" y="2962656"/>
            <a:ext cx="49651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先生成地形与树冠分布图，再采用果树作业模式进行分层喷洒。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80760" y="3648456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6227064" y="3776472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质量控制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6227064" y="4123944"/>
            <a:ext cx="49651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重点关注喷洒穿透性、边缘覆盖和邻近地块防漂移。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080760" y="4809744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6227064" y="4937760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>
            <p:custDataLst>
              <p:tags r:id="rId9"/>
            </p:custDataLst>
          </p:nvPr>
        </p:nvSpPr>
        <p:spPr>
          <a:xfrm>
            <a:off x="6227064" y="5285232"/>
            <a:ext cx="4965192" cy="731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下一页继续经济作物，但从果园转向集中连片棉田的时期性任务。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 运营情景  ·  上页 小麦情景  →  下页 棉田情景</a:t>
            </a:r>
            <a:endParaRPr lang="en-US" sz="7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棉田作业：脱叶剂飞防情景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上页关注坡地，本页关注大面积集中作业的时效性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9602" r="19602"/>
          <a:stretch>
            <a:fillRect/>
          </a:stretch>
        </p:blipFill>
        <p:spPr>
          <a:xfrm>
            <a:off x="6400800" y="132588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731520" y="14173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877824" y="1545336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任务背景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877824" y="1892808"/>
            <a:ext cx="47365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采收前期对作业均匀度和时效性要求高，地面机械进入可能造成压苗损伤。</a:t>
            </a:r>
            <a:endParaRPr lang="en-US" sz="92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731520" y="2578608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877824" y="2706624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服务组织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877824" y="3054096"/>
            <a:ext cx="47365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多台设备分区协同，作业前通过平台校验地块边界和药液方案。</a:t>
            </a:r>
            <a:endParaRPr lang="en-US" sz="92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731520" y="3739896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877824" y="3867912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数据留痕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77824" y="4215384"/>
            <a:ext cx="47365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记录每架设备的航线、用量区间、作业面积和回访结果。</a:t>
            </a:r>
            <a:endParaRPr lang="en-US" sz="920" dirty="0"/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731520" y="4901184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877824" y="5029200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877570" y="5266690"/>
            <a:ext cx="4736465" cy="164465"/>
          </a:xfrm>
          <a:prstGeom prst="rect">
            <a:avLst/>
          </a:prstGeom>
          <a:noFill/>
        </p:spPr>
        <p:txBody>
          <a:bodyPr wrap="square" rtlCol="0" anchor="ctr">
            <a:normAutofit fontScale="25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36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下一页转向茶园，场景从连片大田变成障碍物更多的山地小块</a:t>
            </a: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92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 运营情景  ·  上页 果园情景  →  下页 茶园情景</a:t>
            </a:r>
            <a:endParaRPr lang="en-US" sz="7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茶园作业：蚜虫防控情景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上页是集中作业，本页转入小地块与人工难进入区域</a:t>
            </a:r>
            <a:endParaRPr lang="en-US" sz="1100" dirty="0"/>
          </a:p>
        </p:txBody>
      </p:sp>
      <p:pic>
        <p:nvPicPr>
          <p:cNvPr id="6" name="Image 0" descr="/mnt/data/agri_assets/service.jpg"/>
          <p:cNvPicPr>
            <a:picLocks noChangeAspect="1"/>
          </p:cNvPicPr>
          <p:nvPr/>
        </p:nvPicPr>
        <p:blipFill>
          <a:blip r:embed="rId1"/>
          <a:srcRect l="19318" r="19318"/>
          <a:stretch>
            <a:fillRect/>
          </a:stretch>
        </p:blipFill>
        <p:spPr>
          <a:xfrm>
            <a:off x="685800" y="1325880"/>
            <a:ext cx="49377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32588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81344" y="1453896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区域特征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81344" y="1801368"/>
            <a:ext cx="496519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茶园坡面、田埂和障碍物较多，需要人工确认边界与安全通道。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35040" y="2395728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81344" y="2523744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作业组合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81344" y="2871216"/>
            <a:ext cx="496519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规则地块采用预设航线，不规则地块由飞手辅助控制。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35040" y="3465576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81344" y="3593592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效果表达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81344" y="3941064"/>
            <a:ext cx="496519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重点关注虫害控制、人工效率提升和机械化覆盖程度。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035040" y="4535424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1344" y="4663440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81344" y="5010912"/>
            <a:ext cx="496519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下一页继续山地类作物，但转向药用植物，强调仿地飞行和低容量喷洒。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  运营情景  ·  上页 棉田情景  →  下页 药材情景</a:t>
            </a:r>
            <a:endParaRPr lang="en-US" sz="7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药用植物：山地蚜虫防治情景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上页处理茶园，本页进入更复杂的山地作物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9602" r="19602"/>
          <a:stretch>
            <a:fillRect/>
          </a:stretch>
        </p:blipFill>
        <p:spPr>
          <a:xfrm>
            <a:off x="6400800" y="132588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4173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545336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作物特征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" y="1892808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多年生药用作物分布在坡地，嫩梢虫害影响长势和采收质量。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31520" y="2487168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615184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执行方式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" y="2962656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测绘与仿地飞行结合，依据坡度调整高度与行距，提升覆盖稳定性。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31520" y="3557016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3685032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配套要求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" y="4032504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辅料、喷头、流量与天气条件同步复核，避免过度漂移。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31520" y="4626864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4754880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77824" y="5102352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下一页仍是果树类场景，重点变为虫害严重地块的复查和成效评价。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  运营情景  ·  上页 茶园情景  →  下页 桃园情景</a:t>
            </a:r>
            <a:endParaRPr lang="en-US" sz="7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桃园虫害防治：复查与评价情景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上页强调作业过程，本页强调效果复核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9602" r="19602"/>
          <a:stretch>
            <a:fillRect/>
          </a:stretch>
        </p:blipFill>
        <p:spPr>
          <a:xfrm>
            <a:off x="685800" y="132588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32588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81344" y="1453896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前期判断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81344" y="1801368"/>
            <a:ext cx="501091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先对虫害发生区域、树冠密度和地形障碍进行确认。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35040" y="2450592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81344" y="2578608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中期执行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81344" y="2926080"/>
            <a:ext cx="501091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服务队按树冠高度与行间距离设置喷洒方式，避免漏喷与重喷。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35040" y="3575304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81344" y="3703320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后期复查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81344" y="4050792"/>
            <a:ext cx="501091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由农户、服务队、农技员共同记录虫害变化和植株恢复情况。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035040" y="470001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1344" y="4828032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81344" y="5175504"/>
            <a:ext cx="5010912" cy="731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作物作业完成后，下一页进入灾害评估，低空能力从“作业”扩展到“认定”。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 运营情景  ·  上页 药材情景  →  下页 灾害评估</a:t>
            </a:r>
            <a:endParaRPr lang="en-US" sz="7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灾害评估：农田渍涝理赔辅助情景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上页是病虫害复查，本页转入受灾范围提取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6477" r="16477"/>
          <a:stretch>
            <a:fillRect/>
          </a:stretch>
        </p:blipFill>
        <p:spPr>
          <a:xfrm>
            <a:off x="685800" y="1325880"/>
            <a:ext cx="53949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37160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92824" y="149961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受灾识别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92824" y="1847088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无人机影像记录田块积水、倒伏、黄化和长势异常区域。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446520" y="248716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92824" y="2615184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范围提取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92824" y="2962656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将地块边界与影像特征结合，生成可复核的受损范围。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46520" y="3602736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92824" y="3730752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材料归档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92824" y="4078224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影像、位置、时间、复核记录进入平台，辅助保险与农业部门研判。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46520" y="4718304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92824" y="4846320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92824" y="5193792"/>
            <a:ext cx="446227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下一页进入公共治理巡护，继续使用空中影像和快速通知能力。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  运营情景  ·  上页 桃园情景  →  下页 秸秆巡护</a:t>
            </a:r>
            <a:endParaRPr lang="en-US" sz="7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秸秆禁烧：空中网格巡护情景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上页处理灾后评估，本页转到事前预警和事件处置</a:t>
            </a:r>
            <a:endParaRPr lang="en-US" sz="1100" dirty="0"/>
          </a:p>
        </p:txBody>
      </p:sp>
      <p:pic>
        <p:nvPicPr>
          <p:cNvPr id="6" name="Image 0" descr="/mnt/data/agri_assets/map.jpg"/>
          <p:cNvPicPr>
            <a:picLocks noChangeAspect="1"/>
          </p:cNvPicPr>
          <p:nvPr/>
        </p:nvPicPr>
        <p:blipFill>
          <a:blip r:embed="rId1"/>
          <a:srcRect l="19602" r="19602"/>
          <a:stretch>
            <a:fillRect/>
          </a:stretch>
        </p:blipFill>
        <p:spPr>
          <a:xfrm>
            <a:off x="6400800" y="132588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4173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545336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意识与巡查难点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" y="1892808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农忙时期焚烧隐患分散，地面网格员难以覆盖所有田块。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31520" y="2487168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615184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空中巡护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" y="2962656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无人机按固定航线巡查，发现烟点、火点或异常热源后提醒处置。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31520" y="3557016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3685032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联动处置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" y="4032504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平台将位置、照片与时间推送给网格员，必要时通过喊话设备规劝。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31520" y="4626864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4754880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77824" y="5102352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下一页进入运输任务，低空系统从“看见问题”变为“运送物资”。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  运营情景  ·  上页 灾害评估  →  下页 运输流程</a:t>
            </a:r>
            <a:endParaRPr lang="en-US" sz="7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运输任务：航线规划与飞行计划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上页是巡护发现问题，本页切换到低空运输流程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7857" r="17857"/>
          <a:stretch>
            <a:fillRect/>
          </a:stretch>
        </p:blipFill>
        <p:spPr>
          <a:xfrm>
            <a:off x="640080" y="1325880"/>
            <a:ext cx="51206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64808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确认起降点与目标点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7145122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36562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29170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输入货物类别与重量区间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8209483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0923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93531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检查天气与空域条件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9273845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65285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57893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生成航线并人工复核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10338206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9646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22254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执行任务并回传状态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6080760" y="4187952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27064" y="4315968"/>
            <a:ext cx="49194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应用边界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27064" y="4663440"/>
            <a:ext cx="49194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适合农资、样品、小批量高时效物资；不替代大宗运输，而是补齐山地、雨后和临时急需场景。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  运营情景  ·  上页 秸秆巡护  →  下页 运输执行</a:t>
            </a:r>
            <a:endParaRPr lang="en-US" sz="7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运输任务：起飞—交付—返航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上页规划任务，本页说明现场执行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6996" r="16996"/>
          <a:stretch>
            <a:fillRect/>
          </a:stretch>
        </p:blipFill>
        <p:spPr>
          <a:xfrm>
            <a:off x="6217920" y="1280160"/>
            <a:ext cx="52578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61288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飞行前设备检查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1795882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87322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79930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货物称重与固定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2814523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05963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98571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平台确认执行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3833165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24605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17213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目标点地勤接收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4851806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43246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35854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飞行器返航入库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777240" y="41605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" y="4288536"/>
            <a:ext cx="4690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质量要点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23544" y="4636008"/>
            <a:ext cx="46908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每次任务保留装载照片、起降点记录、飞行轨迹和交付确认，便于服务评价与责任界定。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  运营情景  ·  上页 运输流程  →  下页 图斑复核</a:t>
            </a:r>
            <a:endParaRPr lang="en-US" sz="7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图斑复核：空地协同核查情景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上页完成运输，本页进入田块与影像复核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6422" r="16422"/>
          <a:stretch>
            <a:fillRect/>
          </a:stretch>
        </p:blipFill>
        <p:spPr>
          <a:xfrm>
            <a:off x="685800" y="1325880"/>
            <a:ext cx="5349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417320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47104" y="1545336"/>
            <a:ext cx="4507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任务来源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47104" y="1892808"/>
            <a:ext cx="450799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耕地变化、设施占用、灾损边界或补贴核验等需要快速复核的图斑。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400800" y="2450592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47104" y="2578608"/>
            <a:ext cx="4507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空中采集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47104" y="2926080"/>
            <a:ext cx="450799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无人机按指定图斑飞行，获取俯视影像和边界记录。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00800" y="3483864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47104" y="3611880"/>
            <a:ext cx="4507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地面确认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47104" y="3959352"/>
            <a:ext cx="450799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必要时由工作人员补充近景照片和现场说明。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00800" y="4517136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47104" y="4645152"/>
            <a:ext cx="4507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47104" y="4992624"/>
            <a:ext cx="450799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下一页对比多种复核方式，说明低空方法适合什么任务。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  运营情景  ·  上页 运输执行  →  下页 复核方式</a:t>
            </a:r>
            <a:endParaRPr lang="en-US" sz="7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几种图斑复核方式对比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上页描述作业，本页比较取舍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545336"/>
            <a:ext cx="20848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人工踏勘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" y="1892808"/>
            <a:ext cx="208483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154533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83864" y="189280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准确但慢，适合少量复杂点位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406640" y="141732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2944" y="1545336"/>
            <a:ext cx="3639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适用建议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52944" y="1892808"/>
            <a:ext cx="363931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与无人机结合做重点确认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7240" y="242316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551176"/>
            <a:ext cx="20848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遥感底图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2898648"/>
            <a:ext cx="208483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337560" y="242316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83864" y="255117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特点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83864" y="289864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范围大但更新周期受限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406640" y="242316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2944" y="2551176"/>
            <a:ext cx="3639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适用建议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52944" y="2898648"/>
            <a:ext cx="363931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适合前期筛选与历史对比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77240" y="34290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" y="3557016"/>
            <a:ext cx="20848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无人机复核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3544" y="3904488"/>
            <a:ext cx="208483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337560" y="342900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3864" y="355701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特点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83864" y="390448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机动性强、资料直观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406640" y="34290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3557016"/>
            <a:ext cx="3639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适用建议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52944" y="3904488"/>
            <a:ext cx="363931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适合急件、边界争议和灾后核查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77240" y="443484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" y="4562856"/>
            <a:ext cx="20848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平台归档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3544" y="4910328"/>
            <a:ext cx="208483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3337560" y="443484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83864" y="456285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特点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83864" y="491032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结果可追溯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7406640" y="443484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52944" y="4562856"/>
            <a:ext cx="3639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适用建议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52944" y="4910328"/>
            <a:ext cx="363931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适合跨部门共享与后续抽查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下一页将复核结果接入灾损评估流程，形成“看得见、算得清、留得住”的资料链。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  运营情景  ·  上页 图斑复核  →  下页 理赔流程</a:t>
            </a:r>
            <a:endParaRPr lang="en-US" sz="7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图斑复核作业流程：从影像到结论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上页比较方法，本页形成流程闭环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20153" r="20153"/>
          <a:stretch>
            <a:fillRect/>
          </a:stretch>
        </p:blipFill>
        <p:spPr>
          <a:xfrm>
            <a:off x="6446520" y="1325880"/>
            <a:ext cx="475488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61288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接收核查任务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1859890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5133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43938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核验图斑边界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2942539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33979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6587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低空采集影像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025189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6629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09237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平台识别与人工复核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107838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99278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91886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形成结果包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777240" y="40690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" y="4197096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结果包内容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23544" y="4544568"/>
            <a:ext cx="50109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包括位置范围、采集时间、影像资料、复核说明、异常记录和建议处置方式，不包含个人联系方式或真实经营主体信息。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  运营情景  ·  上页 复核方式  →  下页 装备配置</a:t>
            </a:r>
            <a:endParaRPr lang="en-US" sz="7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植保无人机配置方案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上页完成流程，本页进入设备分型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8750" r="18750"/>
          <a:stretch>
            <a:fillRect/>
          </a:stretch>
        </p:blipFill>
        <p:spPr>
          <a:xfrm>
            <a:off x="658368" y="1325880"/>
            <a:ext cx="502920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1417320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7064" y="1545336"/>
            <a:ext cx="48737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27064" y="1892808"/>
            <a:ext cx="487375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大田、果园、茶园、药材地等喷洒和播撒任务。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80760" y="2487168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27064" y="2615184"/>
            <a:ext cx="48737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27064" y="2962656"/>
            <a:ext cx="487375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航线规划、变量作业、雾化喷洒、作业轨迹回传。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80760" y="3557016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064" y="3685032"/>
            <a:ext cx="48737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配置建议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27064" y="4032504"/>
            <a:ext cx="487375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以“主力机 + 备用电池 + 简易维护包 + 安全培训”组合部署。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080760" y="4626864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27064" y="4754880"/>
            <a:ext cx="48737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27064" y="5102352"/>
            <a:ext cx="487375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下一页配置运输类设备，服务对象从田间作业转向短途补链。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  运营情景  ·  上页 理赔流程  →  下页 运输配置</a:t>
            </a:r>
            <a:endParaRPr lang="en-US" sz="7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运输无人机配置方案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上页是植保设备，本页是短途物流设备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8466" r="18466"/>
          <a:stretch>
            <a:fillRect/>
          </a:stretch>
        </p:blipFill>
        <p:spPr>
          <a:xfrm>
            <a:off x="6217920" y="1325880"/>
            <a:ext cx="507492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41732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54533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23544" y="1892808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山地农资、小批量农产品、样品送检和应急物资。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77240" y="248716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3544" y="2615184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23544" y="2962656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载荷管理、航线规划、自动返航、交付确认。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77240" y="355701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3544" y="3685032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配置建议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23544" y="4032504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以“运输机 + 起降垫 + 货箱 + 地勤工具 + 平台账号”组合部署。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77240" y="462686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" y="4754880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23544" y="5102352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下一页进入巡检类设备，补足监测、巡护和复核能力。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  运营情景  ·  上页 植保配置  →  下页 巡检配置</a:t>
            </a:r>
            <a:endParaRPr lang="en-US" sz="7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巡检无人机配置方案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上页解决物资流动，本页解决信息获取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8466" r="18466"/>
          <a:stretch>
            <a:fillRect/>
          </a:stretch>
        </p:blipFill>
        <p:spPr>
          <a:xfrm>
            <a:off x="685800" y="1325880"/>
            <a:ext cx="507492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41732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18504" y="154533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18504" y="1892808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河渠巡线、农田巡查、秸秆禁烧、灾损影像、图斑复核。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172200" y="248716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18504" y="2615184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18504" y="2962656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高清成像、多光谱监测、定点巡航、异常提醒。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172200" y="355701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504" y="3685032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配置建议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8504" y="4032504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固定巡检点与移动补拍设备搭配，提高覆盖与机动性。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172200" y="462686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8504" y="4754880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18504" y="5102352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下一页补充移动设备，让偏远点位也能完成快速补采。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  运营情景  ·  上页 运输配置  →  下页 移动巡检</a:t>
            </a:r>
            <a:endParaRPr lang="en-US" sz="7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移动补拍巡检设备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上页是固定巡检，本页补充机动能力</a:t>
            </a:r>
            <a:endParaRPr lang="en-US" sz="1100" dirty="0"/>
          </a:p>
        </p:txBody>
      </p:sp>
      <p:pic>
        <p:nvPicPr>
          <p:cNvPr id="6" name="Image 0" descr="/mnt/data/agri_assets/service.jpg"/>
          <p:cNvPicPr>
            <a:picLocks noChangeAspect="1"/>
          </p:cNvPicPr>
          <p:nvPr/>
        </p:nvPicPr>
        <p:blipFill>
          <a:blip r:embed="rId1"/>
          <a:srcRect l="19318" r="19318"/>
          <a:stretch>
            <a:fillRect/>
          </a:stretch>
        </p:blipFill>
        <p:spPr>
          <a:xfrm>
            <a:off x="6309360" y="1325880"/>
            <a:ext cx="4937760" cy="452628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777240" y="14173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923544" y="154533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使用场景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923544" y="1892808"/>
            <a:ext cx="478231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当固定点位覆盖不足、图斑存在争议、灾害边界需要二次确认时，移动补拍设备及时补位。</a:t>
            </a:r>
            <a:endParaRPr lang="en-US" sz="92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777240" y="257860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923544" y="2706624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配置原则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923544" y="3054096"/>
            <a:ext cx="478231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轻便、易维护、可快速起飞，资料能直接同步至县级平台。</a:t>
            </a:r>
            <a:endParaRPr lang="en-US" sz="92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777240" y="373989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923544" y="3867912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运维要求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923544" y="4215384"/>
            <a:ext cx="478231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统一电池管理、任务编号、影像命名和交付规则，避免资料散落。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77240" y="4901184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" y="5029200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23925" y="5266055"/>
            <a:ext cx="4782185" cy="2025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设备组合讲清后，最后进入总结与未来拓展。</a:t>
            </a:r>
            <a:endParaRPr lang="en-US" sz="90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  运营情景  ·  上页 巡检配置  →  下页 总结展望</a:t>
            </a:r>
            <a:endParaRPr lang="en-US" sz="7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cover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总结与展望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以县域为单位，把低空作业、数据平台和本地服务队伍培养成长期能力。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  总结与展望  ·  上页 移动巡检  →  下页 监管平台</a:t>
            </a:r>
            <a:endParaRPr lang="en-US" sz="7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农产品流向与质量监管平台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上页进入展望，本页把低空数据延伸到农产品治理</a:t>
            </a:r>
            <a:endParaRPr lang="en-US" sz="1100" dirty="0"/>
          </a:p>
        </p:txBody>
      </p:sp>
      <p:pic>
        <p:nvPicPr>
          <p:cNvPr id="6" name="Image 0" descr="/mnt/data/agri_assets/ecosystem.jpg"/>
          <p:cNvPicPr>
            <a:picLocks noChangeAspect="1"/>
          </p:cNvPicPr>
          <p:nvPr/>
        </p:nvPicPr>
        <p:blipFill>
          <a:blip r:embed="rId1"/>
          <a:srcRect l="16477" r="16477"/>
          <a:stretch>
            <a:fillRect/>
          </a:stretch>
        </p:blipFill>
        <p:spPr>
          <a:xfrm>
            <a:off x="685800" y="1325880"/>
            <a:ext cx="53949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173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92824" y="154533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源头记录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92824" y="1892808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种植、施药、采收和检测节点逐步形成电子档案。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446520" y="2542032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92824" y="2670048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过程追踪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92824" y="3017520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低空巡检与平台数据结合，辅助监管、品控和品牌建设。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46520" y="3666744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92824" y="3794760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末端交付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92824" y="4142232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面向餐饮、商超和外销渠道提供可核验的产地与质量信息。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46520" y="4791456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92824" y="4919472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92824" y="5266944"/>
            <a:ext cx="4462272" cy="91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下一页将监管平台拆成架构层级。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  总结展望  ·  上页 总结导入  →  下页 平台架构</a:t>
            </a:r>
            <a:endParaRPr lang="en-US" sz="7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平台架构：从田间到监管端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上页说明监管价值，本页描述系统层次</a:t>
            </a:r>
            <a:endParaRPr lang="en-US" sz="11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777240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86868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161288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田间采集</a:t>
            </a:r>
            <a:endParaRPr lang="en-US" sz="10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2920594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3012034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304642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作业记录</a:t>
            </a:r>
            <a:endParaRPr lang="en-US" sz="100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5063947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5155387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5447995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质量检测</a:t>
            </a:r>
            <a:endParaRPr lang="en-US" sz="1000" dirty="0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7207301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7298741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7591349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流向追踪</a:t>
            </a:r>
            <a:endParaRPr lang="en-US" sz="10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9350654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9442094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9734702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监管看板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2743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28712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" y="3218688"/>
            <a:ext cx="29535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地块、作物、影像、作业轨迹、复核材料统一归档。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480560" y="2743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8712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26864" y="3218688"/>
            <a:ext cx="29535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植保、运输、巡检、理赔、监管等模块按权限调用。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183880" y="2743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0184" y="28712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30184" y="3218688"/>
            <a:ext cx="29535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农户、服务队、乡镇、监管部门看到各自需要的任务与结果。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920240" y="4645152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66544" y="4773168"/>
            <a:ext cx="8028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66544" y="5120640"/>
            <a:ext cx="8028432" cy="14630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平台结构明确后，下一页给出阶段性工作计划和扩展方向。</a:t>
            </a:r>
            <a:endParaRPr lang="en-US" sz="92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  总结展望  ·  上页 监管平台  →  下页 工作计划</a:t>
            </a:r>
            <a:endParaRPr lang="en-US" sz="7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近期工作计划与拓展方向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上页定义平台，本页安排推进节奏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54533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第一阶段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" y="1892808"/>
            <a:ext cx="30906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选择高频作业区开展试运行，验证需求申报、平台派单、作业回传、复核评价流程。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54533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第二阶段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81144" y="1892808"/>
            <a:ext cx="30906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扩大到更多乡镇和作物类型，培育本地飞手、运维和数据服务团队。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154533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第三阶段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30184" y="1892808"/>
            <a:ext cx="30906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联动农产品监管、保险复核、文旅展示和应急治理，形成综合应用体系。</a:t>
            </a:r>
            <a:endParaRPr lang="en-US" sz="920" dirty="0"/>
          </a:p>
        </p:txBody>
      </p:sp>
      <p:pic>
        <p:nvPicPr>
          <p:cNvPr id="15" name="Image 0" descr="/mnt/data/agri_assets/cover.jpg"/>
          <p:cNvPicPr>
            <a:picLocks noChangeAspect="1"/>
          </p:cNvPicPr>
          <p:nvPr/>
        </p:nvPicPr>
        <p:blipFill>
          <a:blip r:embed="rId1"/>
          <a:srcRect t="33940" b="33940"/>
          <a:stretch>
            <a:fillRect/>
          </a:stretch>
        </p:blipFill>
        <p:spPr>
          <a:xfrm>
            <a:off x="685800" y="2971800"/>
            <a:ext cx="10881360" cy="19659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5800" y="2971800"/>
            <a:ext cx="10881360" cy="196596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3813048"/>
            <a:ext cx="10241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未来方向：让低空应用既能“飞得起来”，也能“管得住、用得久、算得清”。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  总结展望  ·  上页 平台架构  →  下页 结束页</a:t>
            </a:r>
            <a:endParaRPr lang="en-US" sz="7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/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A7A1"/>
          </a:solidFill>
          <a:ln w="12700">
            <a:solidFill>
              <a:srgbClr val="25A7A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感谢观看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FED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县域农业低空应用，正在从单点作业走向长期运营</a:t>
            </a:r>
            <a:endParaRPr lang="en-US" sz="1100" dirty="0"/>
          </a:p>
        </p:txBody>
      </p:sp>
      <p:pic>
        <p:nvPicPr>
          <p:cNvPr id="6" name="Image 0" descr="/mnt/data/agri_assets/ecosystem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5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THANKS FOR YOUR TIME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10515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青岚县农业低空应用课题组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46  结束页  ·  上页 工作计划  →  收束</a:t>
            </a:r>
            <a:endParaRPr lang="en-US" sz="78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2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3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4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5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6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7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8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9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10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1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2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3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4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5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6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7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8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9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0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1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2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3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4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5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6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7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8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9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0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1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2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3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4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5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6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7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8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9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40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41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42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3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4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5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6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7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8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9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0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1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2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3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4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5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6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7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8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9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60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61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62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63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4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5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6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7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8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9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0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1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2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3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4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5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6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7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8072</Words>
  <Application>WPS 演示</Application>
  <PresentationFormat>On-screen Show (16:9)</PresentationFormat>
  <Paragraphs>1100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Arial</vt:lpstr>
      <vt:lpstr>宋体</vt:lpstr>
      <vt:lpstr>Wingdings</vt:lpstr>
      <vt:lpstr>Noto Sans CJK SC</vt:lpstr>
      <vt:lpstr>FFont-Family</vt:lpstr>
      <vt:lpstr>Noto Sans CJK SC</vt:lpstr>
      <vt:lpstr>Noto Sans CJK SC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