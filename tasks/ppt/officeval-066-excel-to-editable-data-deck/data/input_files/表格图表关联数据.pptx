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20094562647754"/>
          <c:y val="0.026984126984127"/>
          <c:w val="0.958770685579196"/>
          <c:h val="0.801111111111111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北岸片区</c:v>
                </c:pt>
              </c:strCache>
            </c:strRef>
          </c:tx>
          <c:spPr>
            <a:ln w="28575" cap="rnd" cmpd="sng" algn="ctr">
              <a:solidFill>
                <a:srgbClr val="2F66A4"/>
              </a:solidFill>
              <a:prstDash val="solid"/>
              <a:round/>
            </a:ln>
          </c:spPr>
          <c:marker>
            <c:symbol val="diamond"/>
            <c:size val="6"/>
            <c:spPr>
              <a:solidFill>
                <a:srgbClr val="2F66A4"/>
              </a:solidFill>
              <a:ln w="9525" cap="flat" cmpd="sng" algn="ctr">
                <a:solidFill>
                  <a:srgbClr val="FFFFFF"/>
                </a:solidFill>
                <a:prstDash val="solid"/>
                <a:round/>
              </a:ln>
            </c:spPr>
          </c:marker>
          <c:dLbls>
            <c:delete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48.2</c:v>
                </c:pt>
                <c:pt idx="1">
                  <c:v>41.6</c:v>
                </c:pt>
                <c:pt idx="2">
                  <c:v>55.4</c:v>
                </c:pt>
                <c:pt idx="3">
                  <c:v>49.8</c:v>
                </c:pt>
                <c:pt idx="4">
                  <c:v>63.1</c:v>
                </c:pt>
                <c:pt idx="5">
                  <c:v>68.5</c:v>
                </c:pt>
                <c:pt idx="6">
                  <c:v>73.2</c:v>
                </c:pt>
                <c:pt idx="7">
                  <c:v>68.9</c:v>
                </c:pt>
                <c:pt idx="8">
                  <c:v>82.4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云岭片区</c:v>
                </c:pt>
              </c:strCache>
            </c:strRef>
          </c:tx>
          <c:spPr>
            <a:ln w="28575" cap="rnd" cmpd="sng" algn="ctr">
              <a:solidFill>
                <a:srgbClr val="D9962A"/>
              </a:solidFill>
              <a:prstDash val="solid"/>
              <a:round/>
            </a:ln>
          </c:spPr>
          <c:marker>
            <c:symbol val="diamond"/>
            <c:size val="6"/>
            <c:spPr>
              <a:solidFill>
                <a:srgbClr val="D9962A"/>
              </a:solidFill>
              <a:ln w="9525" cap="flat" cmpd="sng" algn="ctr">
                <a:solidFill>
                  <a:srgbClr val="FFFFFF"/>
                </a:solidFill>
                <a:prstDash val="solid"/>
                <a:round/>
              </a:ln>
            </c:spPr>
          </c:marker>
          <c:dLbls>
            <c:delete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</c:numCache>
            </c:num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35.7</c:v>
                </c:pt>
                <c:pt idx="1">
                  <c:v>40.3</c:v>
                </c:pt>
                <c:pt idx="2">
                  <c:v>52.1</c:v>
                </c:pt>
                <c:pt idx="3">
                  <c:v>47</c:v>
                </c:pt>
                <c:pt idx="4">
                  <c:v>60.8</c:v>
                </c:pt>
                <c:pt idx="5">
                  <c:v>54.6</c:v>
                </c:pt>
                <c:pt idx="6">
                  <c:v>70.5</c:v>
                </c:pt>
                <c:pt idx="7">
                  <c:v>65.1</c:v>
                </c:pt>
                <c:pt idx="8">
                  <c:v>69.6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星湾片区</c:v>
                </c:pt>
              </c:strCache>
            </c:strRef>
          </c:tx>
          <c:spPr>
            <a:ln w="28575" cap="rnd" cmpd="sng" algn="ctr">
              <a:solidFill>
                <a:srgbClr val="7453AA"/>
              </a:solidFill>
              <a:prstDash val="solid"/>
              <a:round/>
            </a:ln>
          </c:spPr>
          <c:marker>
            <c:symbol val="diamond"/>
            <c:size val="6"/>
            <c:spPr>
              <a:solidFill>
                <a:srgbClr val="7453AA"/>
              </a:solidFill>
              <a:ln w="9525" cap="flat" cmpd="sng" algn="ctr">
                <a:solidFill>
                  <a:srgbClr val="FFFFFF"/>
                </a:solidFill>
                <a:prstDash val="solid"/>
                <a:round/>
              </a:ln>
            </c:spPr>
          </c:marker>
          <c:dLbls>
            <c:delete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</c:numCache>
            </c:numRef>
          </c:cat>
          <c:val>
            <c:numRef>
              <c:f>Sheet1!$D$2:$D$10</c:f>
              <c:numCache>
                <c:formatCode>General</c:formatCode>
                <c:ptCount val="9"/>
                <c:pt idx="0">
                  <c:v>22.8</c:v>
                </c:pt>
                <c:pt idx="1">
                  <c:v>36.5</c:v>
                </c:pt>
                <c:pt idx="2">
                  <c:v>30.3</c:v>
                </c:pt>
                <c:pt idx="3">
                  <c:v>33.9</c:v>
                </c:pt>
                <c:pt idx="4">
                  <c:v>38.7</c:v>
                </c:pt>
                <c:pt idx="5">
                  <c:v>41.2</c:v>
                </c:pt>
                <c:pt idx="6">
                  <c:v>56.4</c:v>
                </c:pt>
                <c:pt idx="7">
                  <c:v>51</c:v>
                </c:pt>
                <c:pt idx="8">
                  <c:v>56.3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90"/>
          <c:min val="2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38221b84-fbab-4038-a69b-15f1dea322c2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区域均值</c:v>
                </c:pt>
              </c:strCache>
            </c:strRef>
          </c:tx>
          <c:spPr>
            <a:ln w="28575" cap="rnd" cmpd="sng" algn="ctr">
              <a:solidFill>
                <a:srgbClr val="2F66A4"/>
              </a:solidFill>
              <a:prstDash val="solid"/>
              <a:round/>
            </a:ln>
          </c:spPr>
          <c:marker>
            <c:symbol val="diamond"/>
            <c:size val="6"/>
            <c:spPr>
              <a:solidFill>
                <a:srgbClr val="2F66A4"/>
              </a:solidFill>
              <a:ln w="9525" cap="flat" cmpd="sng" algn="ctr">
                <a:solidFill>
                  <a:srgbClr val="FFFFFF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Sheet1!$A$2:$A$10</c:f>
              <c:strCache>
                <c:ptCount val="9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35.6</c:v>
                </c:pt>
                <c:pt idx="1">
                  <c:v>39.5</c:v>
                </c:pt>
                <c:pt idx="2">
                  <c:v>45.9</c:v>
                </c:pt>
                <c:pt idx="3">
                  <c:v>43.6</c:v>
                </c:pt>
                <c:pt idx="4">
                  <c:v>54.2</c:v>
                </c:pt>
                <c:pt idx="5">
                  <c:v>54.8</c:v>
                </c:pt>
                <c:pt idx="6">
                  <c:v>66.7</c:v>
                </c:pt>
                <c:pt idx="7">
                  <c:v>61.7</c:v>
                </c:pt>
                <c:pt idx="8">
                  <c:v>69.4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区域均衡度</c:v>
                </c:pt>
              </c:strCache>
            </c:strRef>
          </c:tx>
          <c:spPr>
            <a:ln w="28575" cap="rnd" cmpd="sng" algn="ctr">
              <a:solidFill>
                <a:srgbClr val="D9962A"/>
              </a:solidFill>
              <a:prstDash val="solid"/>
              <a:round/>
            </a:ln>
          </c:spPr>
          <c:marker>
            <c:symbol val="diamond"/>
            <c:size val="6"/>
            <c:spPr>
              <a:solidFill>
                <a:srgbClr val="D9962A"/>
              </a:solidFill>
              <a:ln w="9525" cap="flat" cmpd="sng" algn="ctr">
                <a:solidFill>
                  <a:srgbClr val="FFFFFF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Sheet1!$A$2:$A$10</c:f>
              <c:strCache>
                <c:ptCount val="9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74.6</c:v>
                </c:pt>
                <c:pt idx="1">
                  <c:v>94.9</c:v>
                </c:pt>
                <c:pt idx="2">
                  <c:v>74.9</c:v>
                </c:pt>
                <c:pt idx="3">
                  <c:v>84.1</c:v>
                </c:pt>
                <c:pt idx="4">
                  <c:v>75.6</c:v>
                </c:pt>
                <c:pt idx="5">
                  <c:v>72.7</c:v>
                </c:pt>
                <c:pt idx="6">
                  <c:v>83.2</c:v>
                </c:pt>
                <c:pt idx="7">
                  <c:v>82.1</c:v>
                </c:pt>
                <c:pt idx="8">
                  <c:v>73.9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运营转化指数</c:v>
                </c:pt>
              </c:strCache>
            </c:strRef>
          </c:tx>
          <c:spPr>
            <a:ln w="28575" cap="rnd" cmpd="sng" algn="ctr">
              <a:solidFill>
                <a:srgbClr val="7453AA"/>
              </a:solidFill>
              <a:prstDash val="solid"/>
              <a:round/>
            </a:ln>
          </c:spPr>
          <c:marker>
            <c:symbol val="diamond"/>
            <c:size val="6"/>
            <c:spPr>
              <a:solidFill>
                <a:srgbClr val="7453AA"/>
              </a:solidFill>
              <a:ln w="9525" cap="flat" cmpd="sng" algn="ctr">
                <a:solidFill>
                  <a:srgbClr val="FFFFFF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Sheet1!$A$2:$A$10</c:f>
              <c:strCache>
                <c:ptCount val="9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48.1</c:v>
                </c:pt>
                <c:pt idx="1">
                  <c:v>57.2</c:v>
                </c:pt>
                <c:pt idx="2">
                  <c:v>55.2</c:v>
                </c:pt>
                <c:pt idx="3">
                  <c:v>56.6</c:v>
                </c:pt>
                <c:pt idx="4">
                  <c:v>61.0</c:v>
                </c:pt>
                <c:pt idx="5">
                  <c:v>60.5</c:v>
                </c:pt>
                <c:pt idx="6">
                  <c:v>72.0</c:v>
                </c:pt>
                <c:pt idx="7">
                  <c:v>68.2</c:v>
                </c:pt>
                <c:pt idx="8">
                  <c:v>70.8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00.0"/>
          <c:min val="0.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  <c:majorUnit val="20.0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e1875002-0454-4bc0-97a7-9c8b2ee273e4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228600" y="-182880"/>
            <a:ext cx="2834640" cy="502920"/>
          </a:xfrm>
          <a:prstGeom prst="parallelogram">
            <a:avLst/>
          </a:prstGeom>
          <a:solidFill>
            <a:srgbClr val="E2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9784080" y="5989320"/>
            <a:ext cx="2926080" cy="347472"/>
          </a:xfrm>
          <a:prstGeom prst="parallelogram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00050"/>
            <a:ext cx="7772400" cy="56959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2400" b="1">
                <a:solidFill>
                  <a:srgbClr val="233142"/>
                </a:solidFill>
                <a:latin typeface="微软雅黑" panose="020B0503020204020204" charset="-122"/>
              </a:rPr>
              <a:t>门店数字化运营指数</a:t>
            </a:r>
            <a:endParaRPr sz="2400" b="1">
              <a:solidFill>
                <a:srgbClr val="233142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078992"/>
          <a:ext cx="10972800" cy="4736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3215640"/>
                <a:gridCol w="3215640"/>
                <a:gridCol w="3215640"/>
              </a:tblGrid>
              <a:tr h="473659"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年份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2F66A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北岸片区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2F66A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云岭片区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2F66A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星湾片区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2F66A4"/>
                    </a:solidFill>
                  </a:tcPr>
                </a:tc>
              </a:tr>
              <a:tr h="473659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2016</a:t>
                      </a:r>
                      <a:endParaRPr sz="950" b="1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EBF1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48.2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lang="en-US"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3</a:t>
                      </a:r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5.7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lang="en-US"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2</a:t>
                      </a:r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2.8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3659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2017</a:t>
                      </a:r>
                      <a:endParaRPr sz="950" b="1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EBF1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lang="en-US"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4</a:t>
                      </a:r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1.6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4</a:t>
                      </a:r>
                      <a:r>
                        <a:rPr lang="en-US"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0</a:t>
                      </a:r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.3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lang="en-US"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3</a:t>
                      </a:r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6.5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2F7F9"/>
                    </a:solidFill>
                  </a:tcPr>
                </a:tc>
              </a:tr>
              <a:tr h="473659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2018</a:t>
                      </a:r>
                      <a:endParaRPr sz="950" b="1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EBF1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55.4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lang="en-US"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5</a:t>
                      </a:r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2.1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lang="en-US"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3</a:t>
                      </a:r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0.3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3659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2019</a:t>
                      </a:r>
                      <a:endParaRPr sz="950" b="1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EBF1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lang="en-US"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4</a:t>
                      </a:r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9.8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lang="en-US"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4</a:t>
                      </a:r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7.0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lang="en-US"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3</a:t>
                      </a:r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3.9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2F7F9"/>
                    </a:solidFill>
                  </a:tcPr>
                </a:tc>
              </a:tr>
              <a:tr h="473659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2020</a:t>
                      </a:r>
                      <a:endParaRPr sz="950" b="1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EBF1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63.1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lang="en-US"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6</a:t>
                      </a:r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0.8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lang="en-US"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3</a:t>
                      </a:r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8.7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3659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2021</a:t>
                      </a:r>
                      <a:endParaRPr sz="950" b="1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EBF1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68.5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lang="en-US"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5</a:t>
                      </a:r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4.6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lang="en-US"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4</a:t>
                      </a:r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1.2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2F7F9"/>
                    </a:solidFill>
                  </a:tcPr>
                </a:tc>
              </a:tr>
              <a:tr h="473659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2022</a:t>
                      </a:r>
                      <a:endParaRPr sz="950" b="1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EBF1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73.2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lang="en-US"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7</a:t>
                      </a:r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0.5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lang="en-US"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5</a:t>
                      </a:r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6.4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3659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2023</a:t>
                      </a:r>
                      <a:endParaRPr sz="950" b="1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EBF1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lang="en-US"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6</a:t>
                      </a:r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8.9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lang="en-US"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6</a:t>
                      </a:r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5.1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lang="en-US"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5</a:t>
                      </a:r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1.0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2F7F9"/>
                    </a:solidFill>
                  </a:tcPr>
                </a:tc>
              </a:tr>
              <a:tr h="473661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2024</a:t>
                      </a:r>
                      <a:endParaRPr sz="950" b="1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EBF1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82.4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lang="en-US"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6</a:t>
                      </a:r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9.6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lang="en-US"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5</a:t>
                      </a:r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6.3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7512" y="5925312"/>
            <a:ext cx="1400810" cy="122555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800">
                <a:solidFill>
                  <a:srgbClr val="607080"/>
                </a:solidFill>
                <a:latin typeface="微软雅黑" panose="020B0503020204020204" charset="-122"/>
              </a:rPr>
              <a:t>单位：综合指数（0–100）；</a:t>
            </a:r>
            <a:endParaRPr sz="800">
              <a:solidFill>
                <a:srgbClr val="6070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228600" y="-182880"/>
            <a:ext cx="2834640" cy="502920"/>
          </a:xfrm>
          <a:prstGeom prst="parallelogram">
            <a:avLst/>
          </a:prstGeom>
          <a:solidFill>
            <a:srgbClr val="E2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9784080" y="5989320"/>
            <a:ext cx="2926080" cy="347472"/>
          </a:xfrm>
          <a:prstGeom prst="parallelogram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59105"/>
            <a:ext cx="7772400" cy="35433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2400" b="1">
                <a:solidFill>
                  <a:srgbClr val="233142"/>
                </a:solidFill>
                <a:latin typeface="微软雅黑" panose="020B0503020204020204" charset="-122"/>
              </a:rPr>
              <a:t>门店数字化运营指数趋势</a:t>
            </a:r>
            <a:endParaRPr sz="2400" b="1">
              <a:solidFill>
                <a:srgbClr val="233142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76656" y="1033271"/>
          <a:ext cx="107442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8952" y="5669280"/>
            <a:ext cx="1995170" cy="13843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900">
                <a:solidFill>
                  <a:srgbClr val="607080"/>
                </a:solidFill>
                <a:latin typeface="微软雅黑" panose="020B0503020204020204" charset="-122"/>
              </a:rPr>
              <a:t>最高点：北岸片区在2024年达到 82.4</a:t>
            </a:r>
            <a:endParaRPr sz="900">
              <a:solidFill>
                <a:srgbClr val="6070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228600" y="-182880"/>
            <a:ext cx="2834640" cy="502920"/>
          </a:xfrm>
          <a:prstGeom prst="parallelogram">
            <a:avLst/>
          </a:prstGeom>
          <a:solidFill>
            <a:srgbClr val="E2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9784080" y="5989320"/>
            <a:ext cx="2926080" cy="347472"/>
          </a:xfrm>
          <a:prstGeom prst="parallelogram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69900"/>
            <a:ext cx="7772400" cy="4349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t>门店数字化运营关联指标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078992"/>
          <a:ext cx="10972800" cy="4736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3215640"/>
                <a:gridCol w="3215640"/>
                <a:gridCol w="3215640"/>
              </a:tblGrid>
              <a:tr h="473659">
                <a:tc>
                  <a:txBody>
                    <a:bodyPr wrap="none"/>
                    <a:lstStyle/>
                    <a:p>
                      <a:r>
                        <a:t>年份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269B91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区域均值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269B91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区域均衡度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269B91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运营转化指数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269B91"/>
                    </a:solidFill>
                  </a:tcPr>
                </a:tc>
              </a:tr>
              <a:tr h="473659">
                <a:tc>
                  <a:txBody>
                    <a:bodyPr wrap="none"/>
                    <a:lstStyle/>
                    <a:p>
                      <a:r>
                        <a:t>2016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EBF1F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35.6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74.6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48.1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3659">
                <a:tc>
                  <a:txBody>
                    <a:bodyPr wrap="none"/>
                    <a:lstStyle/>
                    <a:p>
                      <a:r>
                        <a:t>2017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EBF1F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39.5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94.9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57.2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2F7F9"/>
                    </a:solidFill>
                  </a:tcPr>
                </a:tc>
              </a:tr>
              <a:tr h="473659">
                <a:tc>
                  <a:txBody>
                    <a:bodyPr wrap="none"/>
                    <a:lstStyle/>
                    <a:p>
                      <a:r>
                        <a:t>2018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EBF1F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45.9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74.9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55.2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3659">
                <a:tc>
                  <a:txBody>
                    <a:bodyPr wrap="none"/>
                    <a:lstStyle/>
                    <a:p>
                      <a:r>
                        <a:t>2019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EBF1F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43.6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84.1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56.6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2F7F9"/>
                    </a:solidFill>
                  </a:tcPr>
                </a:tc>
              </a:tr>
              <a:tr h="473659">
                <a:tc>
                  <a:txBody>
                    <a:bodyPr wrap="none"/>
                    <a:lstStyle/>
                    <a:p>
                      <a:r>
                        <a:t>2020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EBF1F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54.2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75.6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61.0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3659">
                <a:tc>
                  <a:txBody>
                    <a:bodyPr wrap="none"/>
                    <a:lstStyle/>
                    <a:p>
                      <a:r>
                        <a:t>2021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EBF1F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54.8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72.7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60.5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2F7F9"/>
                    </a:solidFill>
                  </a:tcPr>
                </a:tc>
              </a:tr>
              <a:tr h="473659">
                <a:tc>
                  <a:txBody>
                    <a:bodyPr wrap="none"/>
                    <a:lstStyle/>
                    <a:p>
                      <a:r>
                        <a:t>2022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EBF1F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66.7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83.2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72.0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3659">
                <a:tc>
                  <a:txBody>
                    <a:bodyPr wrap="none"/>
                    <a:lstStyle/>
                    <a:p>
                      <a:r>
                        <a:t>2023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EBF1F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61.7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82.1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68.2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2F7F9"/>
                    </a:solidFill>
                  </a:tcPr>
                </a:tc>
              </a:tr>
              <a:tr h="473661">
                <a:tc>
                  <a:txBody>
                    <a:bodyPr wrap="none"/>
                    <a:lstStyle/>
                    <a:p>
                      <a:r>
                        <a:t>2024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EBF1F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69.4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73.9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70.8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925312"/>
            <a:ext cx="7772400" cy="201168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700"/>
              <a:t>单位：综合指数（0–100）；关联数据由第一个表格计算。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228600" y="-182880"/>
            <a:ext cx="2834640" cy="502920"/>
          </a:xfrm>
          <a:prstGeom prst="parallelogram">
            <a:avLst/>
          </a:prstGeom>
          <a:solidFill>
            <a:srgbClr val="E2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9784080" y="5989320"/>
            <a:ext cx="2926080" cy="347472"/>
          </a:xfrm>
          <a:prstGeom prst="parallelogram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50545"/>
            <a:ext cx="7772400" cy="32639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t>门店数字化运营关联指标趋势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76656" y="1033271"/>
          <a:ext cx="107442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669280"/>
            <a:ext cx="7772400" cy="201168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700"/>
              <a:t>最高点：区域均衡度在2017年达到 94.9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424</Words>
  <Application>WPS 演示</Application>
  <PresentationFormat>On-screen Show (4:3)</PresentationFormat>
  <Paragraphs>176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/>
</file>