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10"/>
    <p:sldId id="261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0094562647754"/>
          <c:y val="0.026984126984127"/>
          <c:w val="0.958770685579196"/>
          <c:h val="0.8011111111111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北岸片区</c:v>
                </c:pt>
              </c:strCache>
            </c:strRef>
          </c:tx>
          <c:spPr>
            <a:ln w="28575" cap="rnd" cmpd="sng" algn="ctr">
              <a:solidFill>
                <a:srgbClr val="2F66A4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2F66A4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48.2</c:v>
                </c:pt>
                <c:pt idx="1">
                  <c:v>41.6</c:v>
                </c:pt>
                <c:pt idx="2">
                  <c:v>55.4</c:v>
                </c:pt>
                <c:pt idx="3">
                  <c:v>49.8</c:v>
                </c:pt>
                <c:pt idx="4">
                  <c:v>63.1</c:v>
                </c:pt>
                <c:pt idx="5">
                  <c:v>68.5</c:v>
                </c:pt>
                <c:pt idx="6">
                  <c:v>73.2</c:v>
                </c:pt>
                <c:pt idx="7">
                  <c:v>68.9</c:v>
                </c:pt>
                <c:pt idx="8">
                  <c:v>82.4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云岭片区</c:v>
                </c:pt>
              </c:strCache>
            </c:strRef>
          </c:tx>
          <c:spPr>
            <a:ln w="28575" cap="rnd" cmpd="sng" algn="ctr">
              <a:solidFill>
                <a:srgbClr val="D9962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D9962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35.7</c:v>
                </c:pt>
                <c:pt idx="1">
                  <c:v>40.3</c:v>
                </c:pt>
                <c:pt idx="2">
                  <c:v>52.1</c:v>
                </c:pt>
                <c:pt idx="3">
                  <c:v>47</c:v>
                </c:pt>
                <c:pt idx="4">
                  <c:v>60.8</c:v>
                </c:pt>
                <c:pt idx="5">
                  <c:v>54.6</c:v>
                </c:pt>
                <c:pt idx="6">
                  <c:v>70.5</c:v>
                </c:pt>
                <c:pt idx="7">
                  <c:v>65.1</c:v>
                </c:pt>
                <c:pt idx="8">
                  <c:v>69.6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星湾片区</c:v>
                </c:pt>
              </c:strCache>
            </c:strRef>
          </c:tx>
          <c:spPr>
            <a:ln w="28575" cap="rnd" cmpd="sng" algn="ctr">
              <a:solidFill>
                <a:srgbClr val="7453A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7453A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22.8</c:v>
                </c:pt>
                <c:pt idx="1">
                  <c:v>36.5</c:v>
                </c:pt>
                <c:pt idx="2">
                  <c:v>30.3</c:v>
                </c:pt>
                <c:pt idx="3">
                  <c:v>33.9</c:v>
                </c:pt>
                <c:pt idx="4">
                  <c:v>38.7</c:v>
                </c:pt>
                <c:pt idx="5">
                  <c:v>41.2</c:v>
                </c:pt>
                <c:pt idx="6">
                  <c:v>56.4</c:v>
                </c:pt>
                <c:pt idx="7">
                  <c:v>51</c:v>
                </c:pt>
                <c:pt idx="8">
                  <c:v>56.3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0"/>
          <c:min val="2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221b84-fbab-4038-a69b-15f1dea322c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区域均值</c:v>
                </c:pt>
              </c:strCache>
            </c:strRef>
          </c:tx>
          <c:spPr>
            <a:ln w="28575" cap="rnd" cmpd="sng" algn="ctr">
              <a:solidFill>
                <a:srgbClr val="2F66A4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2F66A4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35.6</c:v>
                </c:pt>
                <c:pt idx="1">
                  <c:v>39.5</c:v>
                </c:pt>
                <c:pt idx="2">
                  <c:v>45.9</c:v>
                </c:pt>
                <c:pt idx="3">
                  <c:v>43.6</c:v>
                </c:pt>
                <c:pt idx="4">
                  <c:v>54.2</c:v>
                </c:pt>
                <c:pt idx="5">
                  <c:v>54.8</c:v>
                </c:pt>
                <c:pt idx="6">
                  <c:v>66.7</c:v>
                </c:pt>
                <c:pt idx="7">
                  <c:v>61.7</c:v>
                </c:pt>
                <c:pt idx="8">
                  <c:v>69.4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区域均衡度</c:v>
                </c:pt>
              </c:strCache>
            </c:strRef>
          </c:tx>
          <c:spPr>
            <a:ln w="28575" cap="rnd" cmpd="sng" algn="ctr">
              <a:solidFill>
                <a:srgbClr val="D9962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D9962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74.6</c:v>
                </c:pt>
                <c:pt idx="1">
                  <c:v>94.9</c:v>
                </c:pt>
                <c:pt idx="2">
                  <c:v>74.9</c:v>
                </c:pt>
                <c:pt idx="3">
                  <c:v>84.1</c:v>
                </c:pt>
                <c:pt idx="4">
                  <c:v>75.6</c:v>
                </c:pt>
                <c:pt idx="5">
                  <c:v>72.7</c:v>
                </c:pt>
                <c:pt idx="6">
                  <c:v>83.2</c:v>
                </c:pt>
                <c:pt idx="7">
                  <c:v>82.1</c:v>
                </c:pt>
                <c:pt idx="8">
                  <c:v>73.9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运营转化指数</c:v>
                </c:pt>
              </c:strCache>
            </c:strRef>
          </c:tx>
          <c:spPr>
            <a:ln w="28575" cap="rnd" cmpd="sng" algn="ctr">
              <a:solidFill>
                <a:srgbClr val="7453AA"/>
              </a:solidFill>
              <a:prstDash val="solid"/>
              <a:round/>
            </a:ln>
          </c:spPr>
          <c:marker>
            <c:symbol val="diamond"/>
            <c:size val="6"/>
            <c:spPr>
              <a:solidFill>
                <a:srgbClr val="7453AA"/>
              </a:solidFill>
              <a:ln w="9525" cap="flat" cmpd="sng" algn="ctr">
                <a:solidFill>
                  <a:srgbClr val="FFFF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48.1</c:v>
                </c:pt>
                <c:pt idx="1">
                  <c:v>57.2</c:v>
                </c:pt>
                <c:pt idx="2">
                  <c:v>55.2</c:v>
                </c:pt>
                <c:pt idx="3">
                  <c:v>56.6</c:v>
                </c:pt>
                <c:pt idx="4">
                  <c:v>61.0</c:v>
                </c:pt>
                <c:pt idx="5">
                  <c:v>60.5</c:v>
                </c:pt>
                <c:pt idx="6">
                  <c:v>72.0</c:v>
                </c:pt>
                <c:pt idx="7">
                  <c:v>68.2</c:v>
                </c:pt>
                <c:pt idx="8">
                  <c:v>70.8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  <c:majorUnit val="20.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1875002-0454-4bc0-97a7-9c8b2ee273e4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智慧门店响应率</c:v>
                </c:pt>
              </c:strCache>
            </c:strRef>
          </c:tx>
          <c:spPr>
            <a:ln w="25400">
              <a:solidFill>
                <a:srgbClr val="2F66A8"/>
              </a:solidFill>
            </a:ln>
          </c:spPr>
          <c:marker>
            <c:symbol val="circle"/>
            <c:size val="6"/>
            <c:spPr>
              <a:solidFill>
                <a:srgbClr val="2F66A8"/>
              </a:solidFill>
              <a:ln>
                <a:solidFill>
                  <a:srgbClr val="2F66A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31.8</c:v>
                </c:pt>
                <c:pt idx="1">
                  <c:v>34.9</c:v>
                </c:pt>
                <c:pt idx="2">
                  <c:v>42.6</c:v>
                </c:pt>
                <c:pt idx="3">
                  <c:v>45.7</c:v>
                </c:pt>
                <c:pt idx="4">
                  <c:v>53.4</c:v>
                </c:pt>
                <c:pt idx="5">
                  <c:v>58.6</c:v>
                </c:pt>
                <c:pt idx="6">
                  <c:v>66.7</c:v>
                </c:pt>
                <c:pt idx="7">
                  <c:v>71.6</c:v>
                </c:pt>
                <c:pt idx="8">
                  <c:v>78.9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线上订单占比</c:v>
                </c:pt>
              </c:strCache>
            </c:strRef>
          </c:tx>
          <c:spPr>
            <a:ln w="25400">
              <a:solidFill>
                <a:srgbClr val="D9901A"/>
              </a:solidFill>
            </a:ln>
          </c:spPr>
          <c:marker>
            <c:symbol val="square"/>
            <c:size val="6"/>
            <c:spPr>
              <a:solidFill>
                <a:srgbClr val="D9901A"/>
              </a:solidFill>
              <a:ln>
                <a:solidFill>
                  <a:srgbClr val="D9901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18.9</c:v>
                </c:pt>
                <c:pt idx="1">
                  <c:v>23.7</c:v>
                </c:pt>
                <c:pt idx="2">
                  <c:v>27.9</c:v>
                </c:pt>
                <c:pt idx="3">
                  <c:v>33.8</c:v>
                </c:pt>
                <c:pt idx="4">
                  <c:v>41.7</c:v>
                </c:pt>
                <c:pt idx="5">
                  <c:v>48.8</c:v>
                </c:pt>
                <c:pt idx="6">
                  <c:v>56.9</c:v>
                </c:pt>
                <c:pt idx="7">
                  <c:v>62.4</c:v>
                </c:pt>
                <c:pt idx="8">
                  <c:v>68.1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自助结算覆盖率</c:v>
                </c:pt>
              </c:strCache>
            </c:strRef>
          </c:tx>
          <c:spPr>
            <a:ln w="25400">
              <a:solidFill>
                <a:srgbClr val="6C4AA8"/>
              </a:solidFill>
            </a:ln>
          </c:spPr>
          <c:marker>
            <c:symbol val="diamond"/>
            <c:size val="6"/>
            <c:spPr>
              <a:solidFill>
                <a:srgbClr val="6C4AA8"/>
              </a:solidFill>
              <a:ln>
                <a:solidFill>
                  <a:srgbClr val="6C4AA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24.6</c:v>
                </c:pt>
                <c:pt idx="1">
                  <c:v>29.8</c:v>
                </c:pt>
                <c:pt idx="2">
                  <c:v>35.2</c:v>
                </c:pt>
                <c:pt idx="3">
                  <c:v>40.9</c:v>
                </c:pt>
                <c:pt idx="4">
                  <c:v>49.6</c:v>
                </c:pt>
                <c:pt idx="5">
                  <c:v>55.7</c:v>
                </c:pt>
                <c:pt idx="6">
                  <c:v>62.6</c:v>
                </c:pt>
                <c:pt idx="7">
                  <c:v>69.8</c:v>
                </c:pt>
                <c:pt idx="8">
                  <c:v>76.7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绿色到店客流占比</c:v>
                </c:pt>
              </c:strCache>
            </c:strRef>
          </c:tx>
          <c:spPr>
            <a:ln w="25400">
              <a:solidFill>
                <a:srgbClr val="2A9D8F"/>
              </a:solidFill>
            </a:ln>
          </c:spPr>
          <c:marker>
            <c:symbol val="triangle"/>
            <c:size val="6"/>
            <c:spPr>
              <a:solidFill>
                <a:srgbClr val="2A9D8F"/>
              </a:solidFill>
              <a:ln>
                <a:solidFill>
                  <a:srgbClr val="2A9D8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27.3</c:v>
                </c:pt>
                <c:pt idx="1">
                  <c:v>31.5</c:v>
                </c:pt>
                <c:pt idx="2">
                  <c:v>34.4</c:v>
                </c:pt>
                <c:pt idx="3">
                  <c:v>37.2</c:v>
                </c:pt>
                <c:pt idx="4">
                  <c:v>42.8</c:v>
                </c:pt>
                <c:pt idx="5">
                  <c:v>47.6</c:v>
                </c:pt>
                <c:pt idx="6">
                  <c:v>55.8</c:v>
                </c:pt>
                <c:pt idx="7">
                  <c:v>61.6</c:v>
                </c:pt>
                <c:pt idx="8">
                  <c:v>67.3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低碳配送完成率</c:v>
                </c:pt>
              </c:strCache>
            </c:strRef>
          </c:tx>
          <c:spPr>
            <a:ln w="25400">
              <a:solidFill>
                <a:srgbClr val="D65A6F"/>
              </a:solidFill>
            </a:ln>
          </c:spPr>
          <c:marker>
            <c:symbol val="plus"/>
            <c:size val="6"/>
            <c:spPr>
              <a:solidFill>
                <a:srgbClr val="D65A6F"/>
              </a:solidFill>
              <a:ln>
                <a:solidFill>
                  <a:srgbClr val="D65A6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22.6</c:v>
                </c:pt>
                <c:pt idx="1">
                  <c:v>26.1</c:v>
                </c:pt>
                <c:pt idx="2">
                  <c:v>30.6</c:v>
                </c:pt>
                <c:pt idx="3">
                  <c:v>35.9</c:v>
                </c:pt>
                <c:pt idx="4">
                  <c:v>44.3</c:v>
                </c:pt>
                <c:pt idx="5">
                  <c:v>49.7</c:v>
                </c:pt>
                <c:pt idx="6">
                  <c:v>57.4</c:v>
                </c:pt>
                <c:pt idx="7">
                  <c:v>64.9</c:v>
                </c:pt>
                <c:pt idx="8">
                  <c:v>72.6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末端接驳便利度</c:v>
                </c:pt>
              </c:strCache>
            </c:strRef>
          </c:tx>
          <c:spPr>
            <a:ln w="25400">
              <a:solidFill>
                <a:srgbClr val="5B7C99"/>
              </a:solidFill>
            </a:ln>
          </c:spPr>
          <c:marker>
            <c:symbol val="star"/>
            <c:size val="6"/>
            <c:spPr>
              <a:solidFill>
                <a:srgbClr val="5B7C99"/>
              </a:solidFill>
              <a:ln>
                <a:solidFill>
                  <a:srgbClr val="5B7C99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33.4</c:v>
                </c:pt>
                <c:pt idx="1">
                  <c:v>36.8</c:v>
                </c:pt>
                <c:pt idx="2">
                  <c:v>39.6</c:v>
                </c:pt>
                <c:pt idx="3">
                  <c:v>43.8</c:v>
                </c:pt>
                <c:pt idx="4">
                  <c:v>50.6</c:v>
                </c:pt>
                <c:pt idx="5">
                  <c:v>55.1</c:v>
                </c:pt>
                <c:pt idx="6">
                  <c:v>63.7</c:v>
                </c:pt>
                <c:pt idx="7">
                  <c:v>70.2</c:v>
                </c:pt>
                <c:pt idx="8">
                  <c:v>74.9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运营协同指数</c:v>
                </c:pt>
              </c:strCache>
            </c:strRef>
          </c:tx>
          <c:spPr>
            <a:ln w="25400">
              <a:solidFill>
                <a:srgbClr val="8C6D31"/>
              </a:solidFill>
            </a:ln>
          </c:spPr>
          <c:marker>
            <c:symbol val="x"/>
            <c:size val="6"/>
            <c:spPr>
              <a:solidFill>
                <a:srgbClr val="8C6D31"/>
              </a:solidFill>
              <a:ln>
                <a:solidFill>
                  <a:srgbClr val="8C6D31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29.7</c:v>
                </c:pt>
                <c:pt idx="1">
                  <c:v>34.1</c:v>
                </c:pt>
                <c:pt idx="2">
                  <c:v>39.8</c:v>
                </c:pt>
                <c:pt idx="3">
                  <c:v>44.7</c:v>
                </c:pt>
                <c:pt idx="4">
                  <c:v>52.9</c:v>
                </c:pt>
                <c:pt idx="5">
                  <c:v>58.4</c:v>
                </c:pt>
                <c:pt idx="6">
                  <c:v>66.2</c:v>
                </c:pt>
                <c:pt idx="7">
                  <c:v>72.1</c:v>
                </c:pt>
                <c:pt idx="8">
                  <c:v>78.2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0050"/>
            <a:ext cx="7772400" cy="5695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400" b="1">
                <a:solidFill>
                  <a:srgbClr val="233142"/>
                </a:solidFill>
                <a:latin typeface="微软雅黑" panose="020B0503020204020204" charset="-122"/>
              </a:rPr>
              <a:t>门店数字化运营指数</a:t>
            </a:r>
            <a:endParaRPr sz="2400" b="1">
              <a:solidFill>
                <a:srgbClr val="2331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78992"/>
          <a:ext cx="1097280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15640"/>
                <a:gridCol w="3215640"/>
                <a:gridCol w="3215640"/>
              </a:tblGrid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年份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北岸片区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云岭片区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星湾片区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F66A4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2016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48.2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5.7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2017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2018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55.4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2019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9.8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7.0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3.9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2020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63.1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0.8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3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8.7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2021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68.5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4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2022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73.2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7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2023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8.9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5.1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1.0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61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2024</a:t>
                      </a:r>
                      <a:endParaRPr sz="950" b="1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82.4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9.6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lang="en-US"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950" b="0">
                          <a:solidFill>
                            <a:srgbClr val="233142"/>
                          </a:solidFill>
                          <a:latin typeface="微软雅黑" panose="020B0503020204020204" charset="-122"/>
                        </a:rPr>
                        <a:t>6.3</a:t>
                      </a:r>
                      <a:endParaRPr sz="950" b="0">
                        <a:solidFill>
                          <a:srgbClr val="233142"/>
                        </a:solidFill>
                        <a:latin typeface="微软雅黑" panose="020B0503020204020204" charset="-122"/>
                      </a:endParaRP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" y="5925312"/>
            <a:ext cx="1400810" cy="122555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607080"/>
                </a:solidFill>
                <a:latin typeface="微软雅黑" panose="020B0503020204020204" charset="-122"/>
              </a:rPr>
              <a:t>单位：综合指数（0–100）；</a:t>
            </a:r>
            <a:endParaRPr sz="800">
              <a:solidFill>
                <a:srgbClr val="60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9105"/>
            <a:ext cx="7772400" cy="3543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2400" b="1">
                <a:solidFill>
                  <a:srgbClr val="233142"/>
                </a:solidFill>
                <a:latin typeface="微软雅黑" panose="020B0503020204020204" charset="-122"/>
              </a:rPr>
              <a:t>门店数字化运营指数趋势</a:t>
            </a:r>
            <a:endParaRPr sz="2400" b="1">
              <a:solidFill>
                <a:srgbClr val="2331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6656" y="1033271"/>
          <a:ext cx="10744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5669280"/>
            <a:ext cx="1995170" cy="13843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607080"/>
                </a:solidFill>
                <a:latin typeface="微软雅黑" panose="020B0503020204020204" charset="-122"/>
              </a:rPr>
              <a:t>最高点：北岸片区在2024年达到 82.4</a:t>
            </a:r>
            <a:endParaRPr sz="900">
              <a:solidFill>
                <a:srgbClr val="607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69900"/>
            <a:ext cx="7772400" cy="434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t>门店数字化运营关联指标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78992"/>
          <a:ext cx="1097280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15640"/>
                <a:gridCol w="3215640"/>
                <a:gridCol w="3215640"/>
              </a:tblGrid>
              <a:tr h="473659">
                <a:tc>
                  <a:txBody>
                    <a:bodyPr wrap="none"/>
                    <a:lstStyle/>
                    <a:p>
                      <a:r>
                        <a:t>年份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区域均值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区域均衡度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运营转化指数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269B91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35.6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74.6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48.1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39.5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94.9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57.2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45.9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74.9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55.2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2019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43.6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84.1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56.6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54.2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75.6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61.0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54.8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72.7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60.5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66.7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83.2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72.0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 wrap="none"/>
                    <a:lstStyle/>
                    <a:p>
                      <a:r>
                        <a:t>2023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61.7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82.1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68.2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2F7F9"/>
                    </a:solidFill>
                  </a:tcPr>
                </a:tc>
              </a:tr>
              <a:tr h="473661">
                <a:tc>
                  <a:txBody>
                    <a:bodyPr wrap="none"/>
                    <a:lstStyle/>
                    <a:p>
                      <a:r>
                        <a:t>2024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69.4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73.9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t>70.8</a:t>
                      </a:r>
                    </a:p>
                  </a:txBody>
                  <a:tcPr marL="25400" marR="25400" marT="12700" marB="12700" anchor="ctr">
                    <a:lnL w="6350">
                      <a:solidFill>
                        <a:srgbClr val="D6E0E8"/>
                      </a:solidFill>
                    </a:lnL>
                    <a:lnR w="6350">
                      <a:solidFill>
                        <a:srgbClr val="D6E0E8"/>
                      </a:solidFill>
                    </a:lnR>
                    <a:lnT w="6350">
                      <a:solidFill>
                        <a:srgbClr val="D6E0E8"/>
                      </a:solidFill>
                    </a:lnT>
                    <a:lnB w="6350">
                      <a:solidFill>
                        <a:srgbClr val="D6E0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25312"/>
            <a:ext cx="7772400" cy="201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00"/>
              <a:t>单位：综合指数（0–100）；关联数据由第一个表格计算。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50545"/>
            <a:ext cx="7772400" cy="3263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t>门店数字化运营关联指标趋势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6656" y="1033271"/>
          <a:ext cx="10744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7772400" cy="201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00"/>
              <a:t>最高点：区域均衡度在2017年达到 94.9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5364A"/>
                </a:solidFill>
                <a:latin typeface="Microsoft YaHei"/>
              </a:rPr>
              <a:t>门店数字化与低碳运营指标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78992"/>
          <a:ext cx="10972795" cy="473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470877"/>
                <a:gridCol w="1470877"/>
                <a:gridCol w="1470877"/>
                <a:gridCol w="1470877"/>
                <a:gridCol w="1470877"/>
                <a:gridCol w="1470877"/>
                <a:gridCol w="1470877"/>
              </a:tblGrid>
              <a:tr h="65836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智慧门店响应率（%）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线上订单占比（%）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自助结算覆盖率（%）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绿色到店客流占比（%）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低碳配送完成率（%）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末端接驳便利度（%）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运营协同指数（0–100）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2017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34.9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23.7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29.8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31.5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26.1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36.8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34.1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27.9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45.7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33.8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40.9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37.2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35.9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43.8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44.7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58.6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48.8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55.7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47.6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49.7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55.1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58.4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57.4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71.6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62.4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69.8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61.6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64.9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70.2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72.1</a:t>
                      </a:r>
                    </a:p>
                  </a:txBody>
                  <a:tcPr>
                    <a:solidFill>
                      <a:srgbClr val="EDF4F7"/>
                    </a:solidFill>
                  </a:tcPr>
                </a:tc>
              </a:tr>
              <a:tr h="452628"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1">
                          <a:solidFill>
                            <a:srgbClr val="25364A"/>
                          </a:solidFill>
                          <a:latin typeface="Microsoft YaHe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67.3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2860" rIns="22860" tIns="13716" bIns="13716"/>
                    <a:lstStyle/>
                    <a:p>
                      <a:pPr algn="ctr"/>
                      <a:r>
                        <a:rPr sz="1050" b="0">
                          <a:solidFill>
                            <a:srgbClr val="25364A"/>
                          </a:solidFill>
                          <a:latin typeface="Microsoft YaHei"/>
                        </a:rPr>
                        <a:t>78.2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" y="5952744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88A"/>
                </a:solidFill>
                <a:latin typeface="Microsoft YaHei"/>
              </a:rPr>
              <a:t>数据来源：PPT相关不同数据表.xlsx；单位见各指标表头。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" y="-182880"/>
            <a:ext cx="2834640" cy="502920"/>
          </a:xfrm>
          <a:prstGeom prst="parallelogram">
            <a:avLst/>
          </a:prstGeom>
          <a:solidFill>
            <a:srgbClr val="E2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784080" y="5989320"/>
            <a:ext cx="2926080" cy="347472"/>
          </a:xfrm>
          <a:prstGeom prst="parallelogram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5364A"/>
                </a:solidFill>
                <a:latin typeface="Microsoft YaHei"/>
              </a:rPr>
              <a:t>门店数字化与低碳运营指标趋势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060704"/>
          <a:ext cx="10899648" cy="4498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" y="5650992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6788A"/>
                </a:solidFill>
                <a:latin typeface="Microsoft YaHei"/>
              </a:rPr>
              <a:t>最高点：智慧门店响应率在2024年达到 78.9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WPS 演示</Application>
  <PresentationFormat>On-screen Show (4:3)</PresentationFormat>
  <Paragraphs>176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