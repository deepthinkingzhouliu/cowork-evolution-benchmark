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36576"/>
          <a:lstStyle/>
          <a:p>
            <a:pPr algn="l"/>
            <a:r>
              <a:rPr sz="2300" b="1">
                <a:solidFill>
                  <a:srgbClr val="17365D"/>
                </a:solidFill>
                <a:latin typeface="Aptos"/>
              </a:rPr>
              <a:t>Employee grievance routing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22960"/>
            <a:ext cx="1115568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36576"/>
          <a:lstStyle/>
          <a:p>
            <a:pPr algn="l"/>
            <a:r>
              <a:rPr sz="1000" b="0">
                <a:solidFill>
                  <a:srgbClr val="506070"/>
                </a:solidFill>
                <a:latin typeface="Aptos"/>
              </a:rPr>
              <a:t>8 cases · deterministic policy precedence · offline only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1965960" cy="685800"/>
          </a:xfrm>
          <a:prstGeom prst="roundRect">
            <a:avLst/>
          </a:prstGeom>
          <a:solidFill>
            <a:srgbClr val="DDEBF7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36576"/>
          <a:lstStyle/>
          <a:p>
            <a:pPr algn="ctr"/>
            <a:r>
              <a:rPr sz="2400" b="1">
                <a:solidFill>
                  <a:srgbClr val="17365D"/>
                </a:solidFill>
                <a:latin typeface="Aptos"/>
              </a:rPr>
              <a:t>8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920240"/>
            <a:ext cx="1965960" cy="30175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36576"/>
          <a:lstStyle/>
          <a:p>
            <a:pPr algn="ctr"/>
            <a:r>
              <a:rPr sz="900" b="1">
                <a:solidFill>
                  <a:srgbClr val="17365D"/>
                </a:solidFill>
                <a:latin typeface="Aptos"/>
              </a:rPr>
              <a:t>source cases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88920" y="1234440"/>
            <a:ext cx="1965960" cy="685800"/>
          </a:xfrm>
          <a:prstGeom prst="roundRect">
            <a:avLst/>
          </a:prstGeom>
          <a:solidFill>
            <a:srgbClr val="E2F0D9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36576"/>
          <a:lstStyle/>
          <a:p>
            <a:pPr algn="ctr"/>
            <a:r>
              <a:rPr sz="2400" b="1">
                <a:solidFill>
                  <a:srgbClr val="17365D"/>
                </a:solidFill>
                <a:latin typeface="Aptos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2788920" y="1920240"/>
            <a:ext cx="1965960" cy="30175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36576"/>
          <a:lstStyle/>
          <a:p>
            <a:pPr algn="ctr"/>
            <a:r>
              <a:rPr sz="900" b="1">
                <a:solidFill>
                  <a:srgbClr val="17365D"/>
                </a:solidFill>
                <a:latin typeface="Aptos"/>
              </a:rPr>
              <a:t>manager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74920" y="1234440"/>
            <a:ext cx="1965960" cy="685800"/>
          </a:xfrm>
          <a:prstGeom prst="roundRect">
            <a:avLst/>
          </a:prstGeom>
          <a:solidFill>
            <a:srgbClr val="FFF2CC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36576"/>
          <a:lstStyle/>
          <a:p>
            <a:pPr algn="ctr"/>
            <a:r>
              <a:rPr sz="2400" b="1">
                <a:solidFill>
                  <a:srgbClr val="17365D"/>
                </a:solidFill>
                <a:latin typeface="Aptos"/>
              </a:rPr>
              <a:t>4</a:t>
            </a:r>
          </a:p>
        </p:txBody>
      </p:sp>
      <p:sp>
        <p:nvSpPr>
          <p:cNvPr id="9" name="Rectangle 8"/>
          <p:cNvSpPr/>
          <p:nvPr/>
        </p:nvSpPr>
        <p:spPr>
          <a:xfrm>
            <a:off x="5074920" y="1920240"/>
            <a:ext cx="1965960" cy="30175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36576"/>
          <a:lstStyle/>
          <a:p>
            <a:pPr algn="ctr"/>
            <a:r>
              <a:rPr sz="900" b="1">
                <a:solidFill>
                  <a:srgbClr val="17365D"/>
                </a:solidFill>
                <a:latin typeface="Aptos"/>
              </a:rPr>
              <a:t>HRBP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60920" y="1234440"/>
            <a:ext cx="1965960" cy="685800"/>
          </a:xfrm>
          <a:prstGeom prst="roundRect">
            <a:avLst/>
          </a:prstGeom>
          <a:solidFill>
            <a:srgbClr val="F4CCCC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36576"/>
          <a:lstStyle/>
          <a:p>
            <a:pPr algn="ctr"/>
            <a:r>
              <a:rPr sz="2400" b="1">
                <a:solidFill>
                  <a:srgbClr val="17365D"/>
                </a:solidFill>
                <a:latin typeface="Aptos"/>
              </a:rPr>
              <a:t>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60920" y="1920240"/>
            <a:ext cx="1965960" cy="30175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36576"/>
          <a:lstStyle/>
          <a:p>
            <a:pPr algn="ctr"/>
            <a:r>
              <a:rPr sz="900" b="1">
                <a:solidFill>
                  <a:srgbClr val="17365D"/>
                </a:solidFill>
                <a:latin typeface="Aptos"/>
              </a:rPr>
              <a:t>Legal + HR Director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46920" y="1234440"/>
            <a:ext cx="1965960" cy="685800"/>
          </a:xfrm>
          <a:prstGeom prst="roundRect">
            <a:avLst/>
          </a:prstGeom>
          <a:solidFill>
            <a:srgbClr val="E2F0D9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36576"/>
          <a:lstStyle/>
          <a:p>
            <a:pPr algn="ctr"/>
            <a:r>
              <a:rPr sz="2400" b="1">
                <a:solidFill>
                  <a:srgbClr val="17365D"/>
                </a:solidFill>
                <a:latin typeface="Aptos"/>
              </a:rPr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46920" y="1920240"/>
            <a:ext cx="1965960" cy="30175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36576"/>
          <a:lstStyle/>
          <a:p>
            <a:pPr algn="ctr"/>
            <a:r>
              <a:rPr sz="900" b="1">
                <a:solidFill>
                  <a:srgbClr val="17365D"/>
                </a:solidFill>
                <a:latin typeface="Aptos"/>
              </a:rPr>
              <a:t>Slack posts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02920" y="2423160"/>
          <a:ext cx="109728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097280"/>
                <a:gridCol w="2926080"/>
                <a:gridCol w="2743200"/>
                <a:gridCol w="1097280"/>
                <a:gridCol w="1097280"/>
              </a:tblGrid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Route</a:t>
                      </a:r>
                    </a:p>
                  </a:txBody>
                  <a:tcPr marL="45720" marR="45720" marT="22860" marB="22860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Cases</a:t>
                      </a:r>
                    </a:p>
                  </a:txBody>
                  <a:tcPr marL="45720" marR="45720" marT="22860" marB="22860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Case IDs</a:t>
                      </a:r>
                    </a:p>
                  </a:txBody>
                  <a:tcPr marL="45720" marR="45720" marT="22860" marB="22860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Policy basis</a:t>
                      </a:r>
                    </a:p>
                  </a:txBody>
                  <a:tcPr marL="45720" marR="45720" marT="22860" marB="22860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Drafts</a:t>
                      </a:r>
                    </a:p>
                  </a:txBody>
                  <a:tcPr marL="45720" marR="45720" marT="22860" marB="22860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Sent</a:t>
                      </a:r>
                    </a:p>
                  </a:txBody>
                  <a:tcPr marL="45720" marR="45720" marT="22860" marB="22860" anchor="ctr">
                    <a:solidFill>
                      <a:srgbClr val="17365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7365D"/>
                          </a:solidFill>
                          <a:latin typeface="Aptos"/>
                        </a:rPr>
                        <a:t>MANAGER</a:t>
                      </a:r>
                    </a:p>
                  </a:txBody>
                  <a:tcPr marL="45720" marR="45720" marT="22860" marB="22860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7365D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45720" marR="45720" marT="22860" marB="22860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7365D"/>
                          </a:solidFill>
                          <a:latin typeface="Aptos"/>
                        </a:rPr>
                        <a:t>GR-2026-041</a:t>
                      </a:r>
                    </a:p>
                  </a:txBody>
                  <a:tcPr marL="45720" marR="45720" marT="22860" marB="22860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7365D"/>
                          </a:solidFill>
                          <a:latin typeface="Aptos"/>
                        </a:rPr>
                        <a:t>Level 1</a:t>
                      </a:r>
                    </a:p>
                  </a:txBody>
                  <a:tcPr marL="45720" marR="45720" marT="22860" marB="22860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7365D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45720" marR="45720" marT="22860" marB="22860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7365D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45720" marR="45720" marT="22860" marB="22860" anchor="ctr">
                    <a:solidFill>
                      <a:srgbClr val="DDEBF7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7365D"/>
                          </a:solidFill>
                          <a:latin typeface="Aptos"/>
                        </a:rPr>
                        <a:t>HRBP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7365D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7365D"/>
                          </a:solidFill>
                          <a:latin typeface="Aptos"/>
                        </a:rPr>
                        <a:t>042 · 045 · 046 · 048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7365D"/>
                          </a:solidFill>
                          <a:latin typeface="Aptos"/>
                        </a:rPr>
                        <a:t>Level 2 + Section 6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7365D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7365D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7365D"/>
                          </a:solidFill>
                          <a:latin typeface="Aptos"/>
                        </a:rPr>
                        <a:t>LEGAL_HR_DIRECTOR</a:t>
                      </a:r>
                    </a:p>
                  </a:txBody>
                  <a:tcPr marL="45720" marR="45720" marT="22860" marB="22860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7365D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marL="45720" marR="45720" marT="22860" marB="22860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7365D"/>
                          </a:solidFill>
                          <a:latin typeface="Aptos"/>
                        </a:rPr>
                        <a:t>043 · 044 · 047</a:t>
                      </a:r>
                    </a:p>
                  </a:txBody>
                  <a:tcPr marL="45720" marR="45720" marT="22860" marB="22860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7365D"/>
                          </a:solidFill>
                          <a:latin typeface="Aptos"/>
                        </a:rPr>
                        <a:t>Override + Level 3</a:t>
                      </a:r>
                    </a:p>
                  </a:txBody>
                  <a:tcPr marL="45720" marR="45720" marT="22860" marB="22860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7365D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marL="45720" marR="45720" marT="22860" marB="22860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7365D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45720" marR="45720" marT="22860" marB="22860" anchor="ctr">
                    <a:solidFill>
                      <a:srgbClr val="DDEBF7"/>
                    </a:solidFill>
                  </a:tcPr>
                </a:tc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502920" y="5074920"/>
            <a:ext cx="11155680" cy="640080"/>
          </a:xfrm>
          <a:prstGeom prst="roundRect">
            <a:avLst/>
          </a:prstGeom>
          <a:solidFill>
            <a:srgbClr val="DDEBF7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36576"/>
          <a:lstStyle/>
          <a:p>
            <a:pPr algn="ctr"/>
            <a:r>
              <a:rPr sz="1300" b="1">
                <a:solidFill>
                  <a:srgbClr val="17365D"/>
                </a:solidFill>
                <a:latin typeface="Aptos"/>
              </a:rPr>
              <a:t>Precedence: discrimination override -&gt; manager-subject exception -&gt; severity route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36576"/>
          <a:lstStyle/>
          <a:p>
            <a:pPr algn="l"/>
            <a:r>
              <a:rPr sz="2300" b="1">
                <a:solidFill>
                  <a:srgbClr val="17365D"/>
                </a:solidFill>
                <a:latin typeface="Aptos"/>
              </a:rPr>
              <a:t>Eight-case routing matrix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22960"/>
            <a:ext cx="1115568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36576"/>
          <a:lstStyle/>
          <a:p>
            <a:pPr algn="l"/>
            <a:r>
              <a:rPr sz="1000" b="0">
                <a:solidFill>
                  <a:srgbClr val="506070"/>
                </a:solidFill>
                <a:latin typeface="Aptos"/>
              </a:rPr>
              <a:t>Case IDs and policy controls only · no identity or grievance-description disclosure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234440"/>
          <a:ext cx="111556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194560"/>
                <a:gridCol w="1325880"/>
                <a:gridCol w="1371600"/>
                <a:gridCol w="1828800"/>
                <a:gridCol w="2606040"/>
              </a:tblGrid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Case ID</a:t>
                      </a:r>
                    </a:p>
                  </a:txBody>
                  <a:tcPr marL="45720" marR="45720" marT="22860" marB="22860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Category</a:t>
                      </a:r>
                    </a:p>
                  </a:txBody>
                  <a:tcPr marL="45720" marR="45720" marT="22860" marB="22860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Severity</a:t>
                      </a:r>
                    </a:p>
                  </a:txBody>
                  <a:tcPr marL="45720" marR="45720" marT="22860" marB="22860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Override</a:t>
                      </a:r>
                    </a:p>
                  </a:txBody>
                  <a:tcPr marL="45720" marR="45720" marT="22860" marB="22860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Manager subject</a:t>
                      </a:r>
                    </a:p>
                  </a:txBody>
                  <a:tcPr marL="45720" marR="45720" marT="22860" marB="22860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Route</a:t>
                      </a:r>
                    </a:p>
                  </a:txBody>
                  <a:tcPr marL="45720" marR="45720" marT="22860" marB="22860" anchor="ctr">
                    <a:solidFill>
                      <a:srgbClr val="17365D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17365D"/>
                          </a:solidFill>
                          <a:latin typeface="Aptos"/>
                        </a:rPr>
                        <a:t>GR-2026-041</a:t>
                      </a:r>
                    </a:p>
                  </a:txBody>
                  <a:tcPr marL="45720" marR="45720" marT="22860" marB="22860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17365D"/>
                          </a:solidFill>
                          <a:latin typeface="Aptos"/>
                        </a:rPr>
                        <a:t>Workplace Conduct</a:t>
                      </a:r>
                    </a:p>
                  </a:txBody>
                  <a:tcPr marL="45720" marR="45720" marT="22860" marB="22860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17365D"/>
                          </a:solidFill>
                          <a:latin typeface="Aptos"/>
                        </a:rPr>
                        <a:t>Level 1</a:t>
                      </a:r>
                    </a:p>
                  </a:txBody>
                  <a:tcPr marL="45720" marR="45720" marT="22860" marB="22860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17365D"/>
                          </a:solidFill>
                          <a:latin typeface="Aptos"/>
                        </a:rPr>
                        <a:t>NO</a:t>
                      </a:r>
                    </a:p>
                  </a:txBody>
                  <a:tcPr marL="45720" marR="45720" marT="22860" marB="22860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17365D"/>
                          </a:solidFill>
                          <a:latin typeface="Aptos"/>
                        </a:rPr>
                        <a:t>NO</a:t>
                      </a:r>
                    </a:p>
                  </a:txBody>
                  <a:tcPr marL="45720" marR="45720" marT="22860" marB="22860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17365D"/>
                          </a:solidFill>
                          <a:latin typeface="Aptos"/>
                        </a:rPr>
                        <a:t>MANAGER</a:t>
                      </a:r>
                    </a:p>
                  </a:txBody>
                  <a:tcPr marL="45720" marR="45720" marT="22860" marB="22860" anchor="ctr">
                    <a:solidFill>
                      <a:srgbClr val="DDEBF7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17365D"/>
                          </a:solidFill>
                          <a:latin typeface="Aptos"/>
                        </a:rPr>
                        <a:t>GR-2026-042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17365D"/>
                          </a:solidFill>
                          <a:latin typeface="Aptos"/>
                        </a:rPr>
                        <a:t>Compensation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17365D"/>
                          </a:solidFill>
                          <a:latin typeface="Aptos"/>
                        </a:rPr>
                        <a:t>Level 2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17365D"/>
                          </a:solidFill>
                          <a:latin typeface="Aptos"/>
                        </a:rPr>
                        <a:t>NO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17365D"/>
                          </a:solidFill>
                          <a:latin typeface="Aptos"/>
                        </a:rPr>
                        <a:t>NO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17365D"/>
                          </a:solidFill>
                          <a:latin typeface="Aptos"/>
                        </a:rPr>
                        <a:t>HRBP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17365D"/>
                          </a:solidFill>
                          <a:latin typeface="Aptos"/>
                        </a:rPr>
                        <a:t>GR-2026-043</a:t>
                      </a:r>
                    </a:p>
                  </a:txBody>
                  <a:tcPr marL="45720" marR="45720" marT="22860" marB="22860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17365D"/>
                          </a:solidFill>
                          <a:latin typeface="Aptos"/>
                        </a:rPr>
                        <a:t>Discrimination</a:t>
                      </a:r>
                    </a:p>
                  </a:txBody>
                  <a:tcPr marL="45720" marR="45720" marT="22860" marB="22860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17365D"/>
                          </a:solidFill>
                          <a:latin typeface="Aptos"/>
                        </a:rPr>
                        <a:t>Level 1</a:t>
                      </a:r>
                    </a:p>
                  </a:txBody>
                  <a:tcPr marL="45720" marR="45720" marT="22860" marB="22860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17365D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45720" marR="45720" marT="22860" marB="22860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17365D"/>
                          </a:solidFill>
                          <a:latin typeface="Aptos"/>
                        </a:rPr>
                        <a:t>NO</a:t>
                      </a:r>
                    </a:p>
                  </a:txBody>
                  <a:tcPr marL="45720" marR="45720" marT="22860" marB="22860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17365D"/>
                          </a:solidFill>
                          <a:latin typeface="Aptos"/>
                        </a:rPr>
                        <a:t>LEGAL_HR_DIRECTOR</a:t>
                      </a:r>
                    </a:p>
                  </a:txBody>
                  <a:tcPr marL="45720" marR="45720" marT="22860" marB="22860" anchor="ctr">
                    <a:solidFill>
                      <a:srgbClr val="DDEBF7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17365D"/>
                          </a:solidFill>
                          <a:latin typeface="Aptos"/>
                        </a:rPr>
                        <a:t>GR-2026-044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17365D"/>
                          </a:solidFill>
                          <a:latin typeface="Aptos"/>
                        </a:rPr>
                        <a:t>Safety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17365D"/>
                          </a:solidFill>
                          <a:latin typeface="Aptos"/>
                        </a:rPr>
                        <a:t>Level 3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17365D"/>
                          </a:solidFill>
                          <a:latin typeface="Aptos"/>
                        </a:rPr>
                        <a:t>NO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17365D"/>
                          </a:solidFill>
                          <a:latin typeface="Aptos"/>
                        </a:rPr>
                        <a:t>NO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17365D"/>
                          </a:solidFill>
                          <a:latin typeface="Aptos"/>
                        </a:rPr>
                        <a:t>LEGAL_HR_DIRECTOR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17365D"/>
                          </a:solidFill>
                          <a:latin typeface="Aptos"/>
                        </a:rPr>
                        <a:t>GR-2026-045</a:t>
                      </a:r>
                    </a:p>
                  </a:txBody>
                  <a:tcPr marL="45720" marR="45720" marT="22860" marB="22860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17365D"/>
                          </a:solidFill>
                          <a:latin typeface="Aptos"/>
                        </a:rPr>
                        <a:t>Workplace Conduct</a:t>
                      </a:r>
                    </a:p>
                  </a:txBody>
                  <a:tcPr marL="45720" marR="45720" marT="22860" marB="22860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17365D"/>
                          </a:solidFill>
                          <a:latin typeface="Aptos"/>
                        </a:rPr>
                        <a:t>Level 1</a:t>
                      </a:r>
                    </a:p>
                  </a:txBody>
                  <a:tcPr marL="45720" marR="45720" marT="22860" marB="22860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17365D"/>
                          </a:solidFill>
                          <a:latin typeface="Aptos"/>
                        </a:rPr>
                        <a:t>NO</a:t>
                      </a:r>
                    </a:p>
                  </a:txBody>
                  <a:tcPr marL="45720" marR="45720" marT="22860" marB="22860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17365D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45720" marR="45720" marT="22860" marB="22860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17365D"/>
                          </a:solidFill>
                          <a:latin typeface="Aptos"/>
                        </a:rPr>
                        <a:t>HRBP</a:t>
                      </a:r>
                    </a:p>
                  </a:txBody>
                  <a:tcPr marL="45720" marR="45720" marT="22860" marB="22860" anchor="ctr">
                    <a:solidFill>
                      <a:srgbClr val="DDEBF7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17365D"/>
                          </a:solidFill>
                          <a:latin typeface="Aptos"/>
                        </a:rPr>
                        <a:t>GR-2026-046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17365D"/>
                          </a:solidFill>
                          <a:latin typeface="Aptos"/>
                        </a:rPr>
                        <a:t>Policy Dispute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17365D"/>
                          </a:solidFill>
                          <a:latin typeface="Aptos"/>
                        </a:rPr>
                        <a:t>Level 2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17365D"/>
                          </a:solidFill>
                          <a:latin typeface="Aptos"/>
                        </a:rPr>
                        <a:t>NO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17365D"/>
                          </a:solidFill>
                          <a:latin typeface="Aptos"/>
                        </a:rPr>
                        <a:t>NO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17365D"/>
                          </a:solidFill>
                          <a:latin typeface="Aptos"/>
                        </a:rPr>
                        <a:t>HRBP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17365D"/>
                          </a:solidFill>
                          <a:latin typeface="Aptos"/>
                        </a:rPr>
                        <a:t>GR-2026-047</a:t>
                      </a:r>
                    </a:p>
                  </a:txBody>
                  <a:tcPr marL="45720" marR="45720" marT="22860" marB="22860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17365D"/>
                          </a:solidFill>
                          <a:latin typeface="Aptos"/>
                        </a:rPr>
                        <a:t>Discrimination</a:t>
                      </a:r>
                    </a:p>
                  </a:txBody>
                  <a:tcPr marL="45720" marR="45720" marT="22860" marB="22860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17365D"/>
                          </a:solidFill>
                          <a:latin typeface="Aptos"/>
                        </a:rPr>
                        <a:t>Level 2</a:t>
                      </a:r>
                    </a:p>
                  </a:txBody>
                  <a:tcPr marL="45720" marR="45720" marT="22860" marB="22860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17365D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45720" marR="45720" marT="22860" marB="22860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17365D"/>
                          </a:solidFill>
                          <a:latin typeface="Aptos"/>
                        </a:rPr>
                        <a:t>NO</a:t>
                      </a:r>
                    </a:p>
                  </a:txBody>
                  <a:tcPr marL="45720" marR="45720" marT="22860" marB="22860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17365D"/>
                          </a:solidFill>
                          <a:latin typeface="Aptos"/>
                        </a:rPr>
                        <a:t>LEGAL_HR_DIRECTOR</a:t>
                      </a:r>
                    </a:p>
                  </a:txBody>
                  <a:tcPr marL="45720" marR="45720" marT="22860" marB="22860" anchor="ctr">
                    <a:solidFill>
                      <a:srgbClr val="DDEBF7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17365D"/>
                          </a:solidFill>
                          <a:latin typeface="Aptos"/>
                        </a:rPr>
                        <a:t>GR-2026-048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17365D"/>
                          </a:solidFill>
                          <a:latin typeface="Aptos"/>
                        </a:rPr>
                        <a:t>Workplace Conduct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17365D"/>
                          </a:solidFill>
                          <a:latin typeface="Aptos"/>
                        </a:rPr>
                        <a:t>Level 2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17365D"/>
                          </a:solidFill>
                          <a:latin typeface="Aptos"/>
                        </a:rPr>
                        <a:t>NO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17365D"/>
                          </a:solidFill>
                          <a:latin typeface="Aptos"/>
                        </a:rPr>
                        <a:t>NO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17365D"/>
                          </a:solidFill>
                          <a:latin typeface="Aptos"/>
                        </a:rPr>
                        <a:t>HRBP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02920" y="5806440"/>
            <a:ext cx="11155680" cy="411480"/>
          </a:xfrm>
          <a:prstGeom prst="roundRect">
            <a:avLst/>
          </a:prstGeom>
          <a:solidFill>
            <a:srgbClr val="FFF2CC"/>
          </a:solidFill>
          <a:ln>
            <a:solidFill>
              <a:srgbClr val="FFF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36576"/>
          <a:lstStyle/>
          <a:p>
            <a:pPr algn="ctr"/>
            <a:r>
              <a:rPr sz="1050" b="1">
                <a:solidFill>
                  <a:srgbClr val="17365D"/>
                </a:solidFill>
                <a:latin typeface="Aptos"/>
              </a:rPr>
              <a:t>043 + 047 use the discrimination override · 045 skips its manager · 044 follows Level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36576"/>
          <a:lstStyle/>
          <a:p>
            <a:pPr algn="l"/>
            <a:r>
              <a:rPr sz="2300" b="1">
                <a:solidFill>
                  <a:srgbClr val="17365D"/>
                </a:solidFill>
                <a:latin typeface="Aptos"/>
              </a:rPr>
              <a:t>Confidential delivery controls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22960"/>
            <a:ext cx="1115568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36576"/>
          <a:lstStyle/>
          <a:p>
            <a:pPr algn="l"/>
            <a:r>
              <a:rPr sz="1000" b="0">
                <a:solidFill>
                  <a:srgbClr val="506070"/>
                </a:solidFill>
                <a:latin typeface="Aptos"/>
              </a:rPr>
              <a:t>Authorized email drafts only · Slack disclosure blocked · zero execution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325880"/>
          <a:ext cx="11155680" cy="3154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280160"/>
                <a:gridCol w="1371600"/>
                <a:gridCol w="2926080"/>
                <a:gridCol w="2651760"/>
              </a:tblGrid>
              <a:tr h="52578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Artifact</a:t>
                      </a:r>
                    </a:p>
                  </a:txBody>
                  <a:tcPr marL="45720" marR="45720" marT="22860" marB="22860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Drafts</a:t>
                      </a:r>
                    </a:p>
                  </a:txBody>
                  <a:tcPr marL="45720" marR="45720" marT="22860" marB="22860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Executed</a:t>
                      </a:r>
                    </a:p>
                  </a:txBody>
                  <a:tcPr marL="45720" marR="45720" marT="22860" marB="22860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Confidentiality</a:t>
                      </a:r>
                    </a:p>
                  </a:txBody>
                  <a:tcPr marL="45720" marR="45720" marT="22860" marB="22860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State</a:t>
                      </a:r>
                    </a:p>
                  </a:txBody>
                  <a:tcPr marL="45720" marR="45720" marT="22860" marB="22860" anchor="ctr">
                    <a:solidFill>
                      <a:srgbClr val="17365D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7365D"/>
                          </a:solidFill>
                          <a:latin typeface="Aptos"/>
                        </a:rPr>
                        <a:t>Notification emails</a:t>
                      </a:r>
                    </a:p>
                  </a:txBody>
                  <a:tcPr marL="45720" marR="45720" marT="22860" marB="22860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7365D"/>
                          </a:solidFill>
                          <a:latin typeface="Aptos"/>
                        </a:rPr>
                        <a:t>8</a:t>
                      </a:r>
                    </a:p>
                  </a:txBody>
                  <a:tcPr marL="45720" marR="45720" marT="22860" marB="22860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7365D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45720" marR="45720" marT="22860" marB="22860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7365D"/>
                          </a:solidFill>
                          <a:latin typeface="Aptos"/>
                        </a:rPr>
                        <a:t>AUTHORIZED_HANDLERS_ONLY</a:t>
                      </a:r>
                    </a:p>
                  </a:txBody>
                  <a:tcPr marL="45720" marR="45720" marT="22860" marB="22860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7365D"/>
                          </a:solidFill>
                          <a:latin typeface="Aptos"/>
                        </a:rPr>
                        <a:t>DRAFT_NOT_SENT</a:t>
                      </a:r>
                    </a:p>
                  </a:txBody>
                  <a:tcPr marL="45720" marR="45720" marT="22860" marB="22860" anchor="ctr">
                    <a:solidFill>
                      <a:srgbClr val="DDEBF7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7365D"/>
                          </a:solidFill>
                          <a:latin typeface="Aptos"/>
                        </a:rPr>
                        <a:t>Tracker updates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7365D"/>
                          </a:solidFill>
                          <a:latin typeface="Aptos"/>
                        </a:rPr>
                        <a:t>8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7365D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7365D"/>
                          </a:solidFill>
                          <a:latin typeface="Aptos"/>
                        </a:rPr>
                        <a:t>CASE_ID_CONTROL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7365D"/>
                          </a:solidFill>
                          <a:latin typeface="Aptos"/>
                        </a:rPr>
                        <a:t>DRAFT_NOT_APPLIED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7365D"/>
                          </a:solidFill>
                          <a:latin typeface="Aptos"/>
                        </a:rPr>
                        <a:t>Slack grievance messages</a:t>
                      </a:r>
                    </a:p>
                  </a:txBody>
                  <a:tcPr marL="45720" marR="45720" marT="22860" marB="22860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7365D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45720" marR="45720" marT="22860" marB="22860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7365D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45720" marR="45720" marT="22860" marB="22860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7365D"/>
                          </a:solidFill>
                          <a:latin typeface="Aptos"/>
                        </a:rPr>
                        <a:t>NO_CASE_DETAILS</a:t>
                      </a:r>
                    </a:p>
                  </a:txBody>
                  <a:tcPr marL="45720" marR="45720" marT="22860" marB="22860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7365D"/>
                          </a:solidFill>
                          <a:latin typeface="Aptos"/>
                        </a:rPr>
                        <a:t>BLOCKED_BY_POLICY</a:t>
                      </a:r>
                    </a:p>
                  </a:txBody>
                  <a:tcPr marL="45720" marR="45720" marT="22860" marB="22860" anchor="ctr">
                    <a:solidFill>
                      <a:srgbClr val="DDEBF7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7365D"/>
                          </a:solidFill>
                          <a:latin typeface="Aptos"/>
                        </a:rPr>
                        <a:t>Source workbook changes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7365D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7365D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7365D"/>
                          </a:solidFill>
                          <a:latin typeface="Aptos"/>
                        </a:rPr>
                        <a:t>SOURCE_PRESERVED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7365D"/>
                          </a:solidFill>
                          <a:latin typeface="Aptos"/>
                        </a:rPr>
                        <a:t>UNCHANGED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7365D"/>
                          </a:solidFill>
                          <a:latin typeface="Aptos"/>
                        </a:rPr>
                        <a:t>Real side effects</a:t>
                      </a:r>
                    </a:p>
                  </a:txBody>
                  <a:tcPr marL="45720" marR="45720" marT="22860" marB="22860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7365D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45720" marR="45720" marT="22860" marB="22860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7365D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45720" marR="45720" marT="22860" marB="22860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7365D"/>
                          </a:solidFill>
                          <a:latin typeface="Aptos"/>
                        </a:rPr>
                        <a:t>OFFLINE_ONLY</a:t>
                      </a:r>
                    </a:p>
                  </a:txBody>
                  <a:tcPr marL="45720" marR="45720" marT="22860" marB="22860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17365D"/>
                          </a:solidFill>
                          <a:latin typeface="Aptos"/>
                        </a:rPr>
                        <a:t>ZERO</a:t>
                      </a:r>
                    </a:p>
                  </a:txBody>
                  <a:tcPr marL="45720" marR="45720" marT="22860" marB="22860" anchor="ctr">
                    <a:solidFill>
                      <a:srgbClr val="DDEBF7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02920" y="4846320"/>
            <a:ext cx="3474720" cy="731520"/>
          </a:xfrm>
          <a:prstGeom prst="roundRect">
            <a:avLst/>
          </a:prstGeom>
          <a:solidFill>
            <a:srgbClr val="E2F0D9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36576"/>
          <a:lstStyle/>
          <a:p>
            <a:pPr algn="ctr"/>
            <a:r>
              <a:rPr sz="1300" b="1">
                <a:solidFill>
                  <a:srgbClr val="17365D"/>
                </a:solidFill>
                <a:latin typeface="Aptos"/>
              </a:rPr>
              <a:t>Email</a:t>
            </a:r>
          </a:p>
          <a:p>
            <a:pPr algn="ctr"/>
            <a:r>
              <a:rPr sz="1300" b="1">
                <a:solidFill>
                  <a:srgbClr val="17365D"/>
                </a:solidFill>
                <a:latin typeface="Aptos"/>
              </a:rPr>
              <a:t>8 drafts · 0 sent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61688" y="4846320"/>
            <a:ext cx="3474720" cy="731520"/>
          </a:xfrm>
          <a:prstGeom prst="roundRect">
            <a:avLst/>
          </a:prstGeom>
          <a:solidFill>
            <a:srgbClr val="FFF2CC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36576"/>
          <a:lstStyle/>
          <a:p>
            <a:pPr algn="ctr"/>
            <a:r>
              <a:rPr sz="1300" b="1">
                <a:solidFill>
                  <a:srgbClr val="17365D"/>
                </a:solidFill>
                <a:latin typeface="Aptos"/>
              </a:rPr>
              <a:t>Tracker</a:t>
            </a:r>
          </a:p>
          <a:p>
            <a:pPr algn="ctr"/>
            <a:r>
              <a:rPr sz="1300" b="1">
                <a:solidFill>
                  <a:srgbClr val="17365D"/>
                </a:solidFill>
                <a:latin typeface="Aptos"/>
              </a:rPr>
              <a:t>8 drafts · 0 applied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0456" y="4846320"/>
            <a:ext cx="3474720" cy="731520"/>
          </a:xfrm>
          <a:prstGeom prst="roundRect">
            <a:avLst/>
          </a:prstGeom>
          <a:solidFill>
            <a:srgbClr val="E2F0D9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36576"/>
          <a:lstStyle/>
          <a:p>
            <a:pPr algn="ctr"/>
            <a:r>
              <a:rPr sz="1300" b="1">
                <a:solidFill>
                  <a:srgbClr val="17365D"/>
                </a:solidFill>
                <a:latin typeface="Aptos"/>
              </a:rPr>
              <a:t>Slack</a:t>
            </a:r>
          </a:p>
          <a:p>
            <a:pPr algn="ctr"/>
            <a:r>
              <a:rPr sz="1300" b="1">
                <a:solidFill>
                  <a:srgbClr val="17365D"/>
                </a:solidFill>
                <a:latin typeface="Aptos"/>
              </a:rPr>
              <a:t>0 drafts · 0 posts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833872"/>
            <a:ext cx="11155680" cy="384048"/>
          </a:xfrm>
          <a:prstGeom prst="roundRect">
            <a:avLst/>
          </a:prstGeom>
          <a:solidFill>
            <a:srgbClr val="DDEBF7"/>
          </a:solidFill>
          <a:ln>
            <a:solidFill>
              <a:srgbClr val="DDE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36576"/>
          <a:lstStyle/>
          <a:p>
            <a:pPr algn="ctr"/>
            <a:r>
              <a:rPr sz="1019" b="1">
                <a:solidFill>
                  <a:srgbClr val="17365D"/>
                </a:solidFill>
                <a:latin typeface="Aptos"/>
              </a:rPr>
              <a:t>No employee or manager identities, personal email addresses, or grievance descriptions in this review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Employee Grievance Routing Review</dc:title>
  <dc:subject>AutomationBench 5117 deterministic routing and confidentiality</dc:subject>
  <dc:creator>EvoCowork</dc:creator>
  <cp:keywords/>
  <dc:description>generated using python-pptx</dc:description>
  <cp:lastModifiedBy>EvoCowork</cp:lastModifiedBy>
  <cp:revision>1</cp:revision>
  <dcterms:created xsi:type="dcterms:W3CDTF">2026-04-15T09:00:00Z</dcterms:created>
  <dcterms:modified xsi:type="dcterms:W3CDTF">2026-04-15T09:00:00Z</dcterms:modified>
  <cp:category/>
</cp:coreProperties>
</file>