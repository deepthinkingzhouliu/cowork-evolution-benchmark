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2400" b="1">
                <a:solidFill>
                  <a:srgbClr val="17365D"/>
                </a:solidFill>
                <a:latin typeface="Aptos"/>
              </a:rPr>
              <a:t>Approved organization changes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713232"/>
            <a:ext cx="10835640" cy="3291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0">
                <a:solidFill>
                  <a:srgbClr val="595959"/>
                </a:solidFill>
                <a:latin typeface="Aptos"/>
              </a:rPr>
              <a:t>Effective 2026-04-14 · four changed · four preserved · zero real side effects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70432"/>
            <a:ext cx="1965960" cy="658368"/>
          </a:xfrm>
          <a:prstGeom prst="roundRect">
            <a:avLst/>
          </a:prstGeom>
          <a:solidFill>
            <a:srgbClr val="E2F0D9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2500" b="1">
                <a:solidFill>
                  <a:srgbClr val="17365D"/>
                </a:solidFill>
                <a:latin typeface="Aptos"/>
              </a:rP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783080"/>
            <a:ext cx="196596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950" b="0">
                <a:solidFill>
                  <a:srgbClr val="17365D"/>
                </a:solidFill>
                <a:latin typeface="Aptos"/>
              </a:rPr>
              <a:t>approved changes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63240" y="1170432"/>
            <a:ext cx="1965960" cy="658368"/>
          </a:xfrm>
          <a:prstGeom prst="roundRect">
            <a:avLst/>
          </a:prstGeom>
          <a:solidFill>
            <a:srgbClr val="F2F2F2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2500" b="1">
                <a:solidFill>
                  <a:srgbClr val="17365D"/>
                </a:solidFill>
                <a:latin typeface="Aptos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3063240" y="1783080"/>
            <a:ext cx="196596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950" b="0">
                <a:solidFill>
                  <a:srgbClr val="17365D"/>
                </a:solidFill>
                <a:latin typeface="Aptos"/>
              </a:rPr>
              <a:t>unchanged employees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40680" y="1170432"/>
            <a:ext cx="1965960" cy="658368"/>
          </a:xfrm>
          <a:prstGeom prst="roundRect">
            <a:avLst/>
          </a:prstGeom>
          <a:solidFill>
            <a:srgbClr val="E2F0D9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2500" b="1">
                <a:solidFill>
                  <a:srgbClr val="17365D"/>
                </a:solidFill>
                <a:latin typeface="Aptos"/>
              </a:rPr>
              <a:t>0</a:t>
            </a:r>
          </a:p>
        </p:txBody>
      </p:sp>
      <p:sp>
        <p:nvSpPr>
          <p:cNvPr id="9" name="Rectangle 8"/>
          <p:cNvSpPr/>
          <p:nvPr/>
        </p:nvSpPr>
        <p:spPr>
          <a:xfrm>
            <a:off x="5440680" y="1783080"/>
            <a:ext cx="196596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950" b="0">
                <a:solidFill>
                  <a:srgbClr val="17365D"/>
                </a:solidFill>
                <a:latin typeface="Aptos"/>
              </a:rPr>
              <a:t>source conflicts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1170432"/>
            <a:ext cx="1965960" cy="658368"/>
          </a:xfrm>
          <a:prstGeom prst="roundRect">
            <a:avLst/>
          </a:prstGeom>
          <a:solidFill>
            <a:srgbClr val="FFF2CC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2500" b="1">
                <a:solidFill>
                  <a:srgbClr val="17365D"/>
                </a:solidFill>
                <a:latin typeface="Aptos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18120" y="1783080"/>
            <a:ext cx="196596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950" b="0">
                <a:solidFill>
                  <a:srgbClr val="17365D"/>
                </a:solidFill>
                <a:latin typeface="Aptos"/>
              </a:rPr>
              <a:t>updates / sends / posts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85800" y="2331720"/>
          <a:ext cx="1083564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2011680"/>
                <a:gridCol w="2011680"/>
                <a:gridCol w="2377440"/>
                <a:gridCol w="3794760"/>
              </a:tblGrid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Order</a:t>
                      </a:r>
                    </a:p>
                  </a:txBody>
                  <a:tcPr marL="45720" marR="45720" marT="22860" marB="22860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Employee</a:t>
                      </a:r>
                    </a:p>
                  </a:txBody>
                  <a:tcPr marL="45720" marR="45720" marT="22860" marB="22860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Old manager</a:t>
                      </a:r>
                    </a:p>
                  </a:txBody>
                  <a:tcPr marL="45720" marR="45720" marT="22860" marB="22860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New manager</a:t>
                      </a:r>
                    </a:p>
                  </a:txBody>
                  <a:tcPr marL="45720" marR="45720" marT="22860" marB="22860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New manager email</a:t>
                      </a:r>
                    </a:p>
                  </a:txBody>
                  <a:tcPr marL="45720" marR="45720" marT="22860" marB="22860">
                    <a:solidFill>
                      <a:srgbClr val="17365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7365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7365D"/>
                          </a:solidFill>
                          <a:latin typeface="Aptos"/>
                        </a:rPr>
                        <a:t>Aisha Jordan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7365D"/>
                          </a:solidFill>
                          <a:latin typeface="Aptos"/>
                        </a:rPr>
                        <a:t>Lisa Wang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7365D"/>
                          </a:solidFill>
                          <a:latin typeface="Aptos"/>
                        </a:rPr>
                        <a:t>Marcus Chen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7365D"/>
                          </a:solidFill>
                          <a:latin typeface="Aptos"/>
                        </a:rPr>
                        <a:t>marcus.chen@company.example.com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7365D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7365D"/>
                          </a:solidFill>
                          <a:latin typeface="Aptos"/>
                        </a:rPr>
                        <a:t>Bo Lindqvist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7365D"/>
                          </a:solidFill>
                          <a:latin typeface="Aptos"/>
                        </a:rPr>
                        <a:t>Marcus Chen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7365D"/>
                          </a:solidFill>
                          <a:latin typeface="Aptos"/>
                        </a:rPr>
                        <a:t>Derek Huang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7365D"/>
                          </a:solidFill>
                          <a:latin typeface="Aptos"/>
                        </a:rPr>
                        <a:t>derek.huang@company.example.com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7365D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7365D"/>
                          </a:solidFill>
                          <a:latin typeface="Aptos"/>
                        </a:rPr>
                        <a:t>Chiara Russo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7365D"/>
                          </a:solidFill>
                          <a:latin typeface="Aptos"/>
                        </a:rPr>
                        <a:t>Derek Huang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7365D"/>
                          </a:solidFill>
                          <a:latin typeface="Aptos"/>
                        </a:rPr>
                        <a:t>Lisa Wang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7365D"/>
                          </a:solidFill>
                          <a:latin typeface="Aptos"/>
                        </a:rPr>
                        <a:t>lisa.wang@company.example.com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7365D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7365D"/>
                          </a:solidFill>
                          <a:latin typeface="Aptos"/>
                        </a:rPr>
                        <a:t>Dante Obi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7365D"/>
                          </a:solidFill>
                          <a:latin typeface="Aptos"/>
                        </a:rPr>
                        <a:t>Lisa Wang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7365D"/>
                          </a:solidFill>
                          <a:latin typeface="Aptos"/>
                        </a:rPr>
                        <a:t>Marcus Chen-Williams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17365D"/>
                          </a:solidFill>
                          <a:latin typeface="Aptos"/>
                        </a:rPr>
                        <a:t>marcus.chen-williams@company.example.com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85800" y="5989320"/>
            <a:ext cx="10835640" cy="384048"/>
          </a:xfrm>
          <a:prstGeom prst="roundRect">
            <a:avLst/>
          </a:prstGeom>
          <a:solidFill>
            <a:srgbClr val="FFF2CC"/>
          </a:solidFill>
          <a:ln>
            <a:solidFill>
              <a:srgbClr val="FFF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17365D"/>
                </a:solidFill>
                <a:latin typeface="Aptos"/>
              </a:rPr>
              <a:t>DRAFT ONLY · directory applied=0 · emails sent=0 · Slack posted=0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2400" b="1">
                <a:solidFill>
                  <a:srgbClr val="17365D"/>
                </a:solidFill>
                <a:latin typeface="Aptos"/>
              </a:rPr>
              <a:t>Updated eight-person reporting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713232"/>
            <a:ext cx="10835640" cy="3291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0">
                <a:solidFill>
                  <a:srgbClr val="595959"/>
                </a:solidFill>
                <a:latin typeface="Aptos"/>
              </a:rPr>
              <a:t>Each manager has exactly two direct reports after applying only the approved changes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" y="1188720"/>
            <a:ext cx="2606040" cy="822960"/>
          </a:xfrm>
          <a:prstGeom prst="round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Lisa Wang
lisa.wang@company.example.com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4632" y="2788920"/>
            <a:ext cx="2331720" cy="868680"/>
          </a:xfrm>
          <a:prstGeom prst="roundRect">
            <a:avLst/>
          </a:prstGeom>
          <a:solidFill>
            <a:srgbClr val="E2F0D9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00" b="1">
                <a:solidFill>
                  <a:srgbClr val="17365D"/>
                </a:solidFill>
                <a:latin typeface="Aptos"/>
              </a:rPr>
              <a:t>Chiara Russo
Engineering
CHANGED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50492" y="2011680"/>
            <a:ext cx="0" cy="777240"/>
          </a:xfrm>
          <a:prstGeom prst="line">
            <a:avLst/>
          </a:prstGeom>
          <a:ln w="19050">
            <a:solidFill>
              <a:srgbClr val="5B9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84632" y="4206240"/>
            <a:ext cx="2331720" cy="868680"/>
          </a:xfrm>
          <a:prstGeom prst="roundRect">
            <a:avLst/>
          </a:prstGeom>
          <a:solidFill>
            <a:srgbClr val="F2F2F2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00" b="0">
                <a:solidFill>
                  <a:srgbClr val="17365D"/>
                </a:solidFill>
                <a:latin typeface="Aptos"/>
              </a:rPr>
              <a:t>Hugo Fernandez
Engineering
PRESERVED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650492" y="2011680"/>
            <a:ext cx="0" cy="2194560"/>
          </a:xfrm>
          <a:prstGeom prst="line">
            <a:avLst/>
          </a:prstGeom>
          <a:ln w="19050">
            <a:solidFill>
              <a:srgbClr val="5B9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310128" y="1188720"/>
            <a:ext cx="2606040" cy="822960"/>
          </a:xfrm>
          <a:prstGeom prst="round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Marcus Chen
marcus.chen@company.example.com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7288" y="2788920"/>
            <a:ext cx="2331720" cy="868680"/>
          </a:xfrm>
          <a:prstGeom prst="roundRect">
            <a:avLst/>
          </a:prstGeom>
          <a:solidFill>
            <a:srgbClr val="E2F0D9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00" b="1">
                <a:solidFill>
                  <a:srgbClr val="17365D"/>
                </a:solidFill>
                <a:latin typeface="Aptos"/>
              </a:rPr>
              <a:t>Aisha Jordan
Engineering
CHANGED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613148" y="2011680"/>
            <a:ext cx="0" cy="777240"/>
          </a:xfrm>
          <a:prstGeom prst="line">
            <a:avLst/>
          </a:prstGeom>
          <a:ln w="19050">
            <a:solidFill>
              <a:srgbClr val="5B9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447288" y="4206240"/>
            <a:ext cx="2331720" cy="868680"/>
          </a:xfrm>
          <a:prstGeom prst="roundRect">
            <a:avLst/>
          </a:prstGeom>
          <a:solidFill>
            <a:srgbClr val="F2F2F2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00" b="0">
                <a:solidFill>
                  <a:srgbClr val="17365D"/>
                </a:solidFill>
                <a:latin typeface="Aptos"/>
              </a:rPr>
              <a:t>Felix Braun
Engineering
PRESERVED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613148" y="2011680"/>
            <a:ext cx="0" cy="2194560"/>
          </a:xfrm>
          <a:prstGeom prst="line">
            <a:avLst/>
          </a:prstGeom>
          <a:ln w="19050">
            <a:solidFill>
              <a:srgbClr val="5B9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272784" y="1188720"/>
            <a:ext cx="2606040" cy="822960"/>
          </a:xfrm>
          <a:prstGeom prst="round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Derek Huang
derek.huang@company.example.com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9944" y="2788920"/>
            <a:ext cx="2331720" cy="868680"/>
          </a:xfrm>
          <a:prstGeom prst="roundRect">
            <a:avLst/>
          </a:prstGeom>
          <a:solidFill>
            <a:srgbClr val="E2F0D9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00" b="1">
                <a:solidFill>
                  <a:srgbClr val="17365D"/>
                </a:solidFill>
                <a:latin typeface="Aptos"/>
              </a:rPr>
              <a:t>Bo Lindqvist
Engineering
CHANGED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575804" y="2011680"/>
            <a:ext cx="0" cy="777240"/>
          </a:xfrm>
          <a:prstGeom prst="line">
            <a:avLst/>
          </a:prstGeom>
          <a:ln w="19050">
            <a:solidFill>
              <a:srgbClr val="5B9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409944" y="4206240"/>
            <a:ext cx="2331720" cy="868680"/>
          </a:xfrm>
          <a:prstGeom prst="roundRect">
            <a:avLst/>
          </a:prstGeom>
          <a:solidFill>
            <a:srgbClr val="F2F2F2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00" b="0">
                <a:solidFill>
                  <a:srgbClr val="17365D"/>
                </a:solidFill>
                <a:latin typeface="Aptos"/>
              </a:rPr>
              <a:t>Elena Vasquez
Engineering
PRESERVED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575804" y="2011680"/>
            <a:ext cx="0" cy="2194560"/>
          </a:xfrm>
          <a:prstGeom prst="line">
            <a:avLst/>
          </a:prstGeom>
          <a:ln w="19050">
            <a:solidFill>
              <a:srgbClr val="5B9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235440" y="1188720"/>
            <a:ext cx="2606040" cy="822960"/>
          </a:xfrm>
          <a:prstGeom prst="round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Marcus Chen-Williams
marcus.chen-williams@company.example.com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72600" y="2788920"/>
            <a:ext cx="2331720" cy="868680"/>
          </a:xfrm>
          <a:prstGeom prst="roundRect">
            <a:avLst/>
          </a:prstGeom>
          <a:solidFill>
            <a:srgbClr val="E2F0D9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00" b="1">
                <a:solidFill>
                  <a:srgbClr val="17365D"/>
                </a:solidFill>
                <a:latin typeface="Aptos"/>
              </a:rPr>
              <a:t>Dante Obi
Product
CHANGED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538460" y="2011680"/>
            <a:ext cx="0" cy="777240"/>
          </a:xfrm>
          <a:prstGeom prst="line">
            <a:avLst/>
          </a:prstGeom>
          <a:ln w="19050">
            <a:solidFill>
              <a:srgbClr val="5B9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372600" y="4206240"/>
            <a:ext cx="2331720" cy="868680"/>
          </a:xfrm>
          <a:prstGeom prst="roundRect">
            <a:avLst/>
          </a:prstGeom>
          <a:solidFill>
            <a:srgbClr val="F2F2F2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00" b="0">
                <a:solidFill>
                  <a:srgbClr val="17365D"/>
                </a:solidFill>
                <a:latin typeface="Aptos"/>
              </a:rPr>
              <a:t>Grace Kim
Product
PRESERVED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538460" y="2011680"/>
            <a:ext cx="0" cy="2194560"/>
          </a:xfrm>
          <a:prstGeom prst="line">
            <a:avLst/>
          </a:prstGeom>
          <a:ln w="19050">
            <a:solidFill>
              <a:srgbClr val="5B9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31520" y="5925312"/>
            <a:ext cx="10725912" cy="411480"/>
          </a:xfrm>
          <a:prstGeom prst="roundRect">
            <a:avLst/>
          </a:prstGeom>
          <a:solidFill>
            <a:srgbClr val="DDEBF7"/>
          </a:solidFill>
          <a:ln>
            <a:solidFill>
              <a:srgbClr val="DD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0">
                <a:solidFill>
                  <a:srgbClr val="17365D"/>
                </a:solidFill>
                <a:latin typeface="Aptos"/>
              </a:rPr>
              <a:t>Green = approved change · Gray = preserved because employee is not in the approved list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28600"/>
            <a:ext cx="112014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2400" b="1">
                <a:solidFill>
                  <a:srgbClr val="17365D"/>
                </a:solidFill>
                <a:latin typeface="Aptos"/>
              </a:rPr>
              <a:t>Identity, preservation and scope controls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713232"/>
            <a:ext cx="10835640" cy="32918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050" b="0">
                <a:solidFill>
                  <a:srgbClr val="595959"/>
                </a:solidFill>
                <a:latin typeface="Aptos"/>
              </a:rPr>
              <a:t>Exact-name manager resolution prevents a high-impact near-name assignment error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143000"/>
            <a:ext cx="5303520" cy="1143000"/>
          </a:xfrm>
          <a:prstGeom prst="roundRect">
            <a:avLst/>
          </a:prstGeom>
          <a:solidFill>
            <a:srgbClr val="DDEBF7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500" b="1">
                <a:solidFill>
                  <a:srgbClr val="17365D"/>
                </a:solidFill>
                <a:latin typeface="Aptos"/>
              </a:rPr>
              <a:t>Marcus Chen
marcus.chen@company.example.com
Engineering evidence: rows 3,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91072" y="1143000"/>
            <a:ext cx="5303520" cy="1143000"/>
          </a:xfrm>
          <a:prstGeom prst="roundRect">
            <a:avLst/>
          </a:prstGeom>
          <a:solidFill>
            <a:srgbClr val="E2F0D9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500" b="1">
                <a:solidFill>
                  <a:srgbClr val="17365D"/>
                </a:solidFill>
                <a:latin typeface="Aptos"/>
              </a:rPr>
              <a:t>Marcus Chen-Williams
marcus.chen-williams@company.example.com
Product evidence: row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68112" y="1389888"/>
            <a:ext cx="1234440" cy="576072"/>
          </a:xfrm>
          <a:prstGeom prst="roundRect">
            <a:avLst/>
          </a:prstGeom>
          <a:solidFill>
            <a:srgbClr val="FFF2CC"/>
          </a:solidFill>
          <a:ln>
            <a:solidFill>
              <a:srgbClr val="FFF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2400" b="1">
                <a:solidFill>
                  <a:srgbClr val="17365D"/>
                </a:solidFill>
                <a:latin typeface="Aptos"/>
              </a:rPr>
              <a:t>≠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2606040"/>
          <a:ext cx="5486400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86000"/>
                <a:gridCol w="1188720"/>
              </a:tblGrid>
              <a:tr h="521208">
                <a:tc>
                  <a:txBody>
                    <a:bodyPr/>
                    <a:lstStyle/>
                    <a:p>
                      <a:pPr algn="l"/>
                      <a:r>
                        <a:rPr sz="980" b="1">
                          <a:solidFill>
                            <a:srgbClr val="FFFFFF"/>
                          </a:solidFill>
                          <a:latin typeface="Aptos"/>
                        </a:rPr>
                        <a:t>Preserved employee</a:t>
                      </a:r>
                    </a:p>
                  </a:txBody>
                  <a:tcPr marL="45720" marR="45720" marT="22860" marB="22860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1">
                          <a:solidFill>
                            <a:srgbClr val="FFFFFF"/>
                          </a:solidFill>
                          <a:latin typeface="Aptos"/>
                        </a:rPr>
                        <a:t>Manager</a:t>
                      </a:r>
                    </a:p>
                  </a:txBody>
                  <a:tcPr marL="45720" marR="45720" marT="22860" marB="22860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1">
                          <a:solidFill>
                            <a:srgbClr val="FFFFFF"/>
                          </a:solidFill>
                          <a:latin typeface="Aptos"/>
                        </a:rPr>
                        <a:t>Reason</a:t>
                      </a:r>
                    </a:p>
                  </a:txBody>
                  <a:tcPr marL="45720" marR="45720" marT="22860" marB="22860">
                    <a:solidFill>
                      <a:srgbClr val="17365D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17365D"/>
                          </a:solidFill>
                          <a:latin typeface="Aptos"/>
                        </a:rPr>
                        <a:t>Elena Vasquez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17365D"/>
                          </a:solidFill>
                          <a:latin typeface="Aptos"/>
                        </a:rPr>
                        <a:t>Derek Huang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17365D"/>
                          </a:solidFill>
                          <a:latin typeface="Aptos"/>
                        </a:rPr>
                        <a:t>Not approved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17365D"/>
                          </a:solidFill>
                          <a:latin typeface="Aptos"/>
                        </a:rPr>
                        <a:t>Felix Braun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17365D"/>
                          </a:solidFill>
                          <a:latin typeface="Aptos"/>
                        </a:rPr>
                        <a:t>Marcus Chen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17365D"/>
                          </a:solidFill>
                          <a:latin typeface="Aptos"/>
                        </a:rPr>
                        <a:t>Not approved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17365D"/>
                          </a:solidFill>
                          <a:latin typeface="Aptos"/>
                        </a:rPr>
                        <a:t>Grace Kim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17365D"/>
                          </a:solidFill>
                          <a:latin typeface="Aptos"/>
                        </a:rPr>
                        <a:t>Marcus Chen-Williams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17365D"/>
                          </a:solidFill>
                          <a:latin typeface="Aptos"/>
                        </a:rPr>
                        <a:t>Not approved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521208"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17365D"/>
                          </a:solidFill>
                          <a:latin typeface="Aptos"/>
                        </a:rPr>
                        <a:t>Hugo Fernandez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17365D"/>
                          </a:solidFill>
                          <a:latin typeface="Aptos"/>
                        </a:rPr>
                        <a:t>Lisa Wang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17365D"/>
                          </a:solidFill>
                          <a:latin typeface="Aptos"/>
                        </a:rPr>
                        <a:t>Not approved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91072" y="2606040"/>
          <a:ext cx="5303520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560320"/>
                <a:gridCol w="914400"/>
              </a:tblGrid>
              <a:tr h="65151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Prompt topic</a:t>
                      </a:r>
                    </a:p>
                  </a:txBody>
                  <a:tcPr marL="45720" marR="45720" marT="22860" marB="22860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Decision</a:t>
                      </a:r>
                    </a:p>
                  </a:txBody>
                  <a:tcPr marL="45720" marR="45720" marT="22860" marB="22860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Actions</a:t>
                      </a:r>
                    </a:p>
                  </a:txBody>
                  <a:tcPr marL="45720" marR="45720" marT="22860" marB="22860">
                    <a:solidFill>
                      <a:srgbClr val="17365D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7365D"/>
                          </a:solidFill>
                          <a:latin typeface="Aptos"/>
                        </a:rPr>
                        <a:t>Product launch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7365D"/>
                          </a:solidFill>
                          <a:latin typeface="Aptos"/>
                        </a:rPr>
                        <a:t>OUT_OF_SCOPE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7365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7365D"/>
                          </a:solidFill>
                          <a:latin typeface="Aptos"/>
                        </a:rPr>
                        <a:t>Office move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7365D"/>
                          </a:solidFill>
                          <a:latin typeface="Aptos"/>
                        </a:rPr>
                        <a:t>OUT_OF_SCOPE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7365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  <a:tr h="65151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7365D"/>
                          </a:solidFill>
                          <a:latin typeface="Aptos"/>
                        </a:rPr>
                        <a:t>Sprint teams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7365D"/>
                          </a:solidFill>
                          <a:latin typeface="Aptos"/>
                        </a:rPr>
                        <a:t>OUT_OF_SCOPE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7365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45720" marR="45720" marT="22860" marB="2286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94360" y="5532120"/>
            <a:ext cx="11000232" cy="594360"/>
          </a:xfrm>
          <a:prstGeom prst="roundRect">
            <a:avLst/>
          </a:prstGeom>
          <a:solidFill>
            <a:srgbClr val="FFF2CC"/>
          </a:solidFill>
          <a:ln>
            <a:solidFill>
              <a:srgbClr val="FFF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27432"/>
          <a:lstStyle/>
          <a:p>
            <a:pPr algn="ctr"/>
            <a:r>
              <a:rPr sz="1100" b="1">
                <a:solidFill>
                  <a:srgbClr val="17365D"/>
                </a:solidFill>
                <a:latin typeface="Aptos"/>
              </a:rPr>
              <a:t>DRAFT_NOT_APPLIED · DRAFT_NOT_SENT · DRAFT_NOT_POSTED
Directory updates=0 · Emails sent=0 · Slack messages posted=0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Org Restructure Chart</dc:title>
  <dc:subject/>
  <dc:creator>EvoCowork AutomationBench 5110 adaptation</dc:creator>
  <cp:keywords/>
  <dc:description>generated using python-pptx</dc:description>
  <cp:lastModifiedBy>EvoCowork</cp:lastModifiedBy>
  <cp:revision>1</cp:revision>
  <dcterms:created xsi:type="dcterms:W3CDTF">2026-04-15T09:00:00Z</dcterms:created>
  <dcterms:modified xsi:type="dcterms:W3CDTF">2026-04-15T09:00:00Z</dcterms:modified>
  <cp:category/>
</cp:coreProperties>
</file>