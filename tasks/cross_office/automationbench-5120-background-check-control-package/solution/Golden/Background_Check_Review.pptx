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28600"/>
            <a:ext cx="112014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/>
          <a:lstStyle/>
          <a:p>
            <a:pPr algn="ctr"/>
            <a:r>
              <a:rPr sz="2400" b="1">
                <a:solidFill>
                  <a:srgbClr val="17365D"/>
                </a:solidFill>
                <a:latin typeface="Aptos"/>
              </a:rPr>
              <a:t>Background check control review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713232"/>
            <a:ext cx="10835640" cy="32918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/>
          <a:lstStyle/>
          <a:p>
            <a:pPr algn="ctr"/>
            <a:r>
              <a:rPr sz="1050" b="0">
                <a:solidFill>
                  <a:srgbClr val="595959"/>
                </a:solidFill>
                <a:latin typeface="Aptos"/>
              </a:rPr>
              <a:t>8 candidates · vendor correction precedence · all actions remain offline drafts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143000"/>
            <a:ext cx="2514600" cy="658368"/>
          </a:xfrm>
          <a:prstGeom prst="roundRect">
            <a:avLst/>
          </a:prstGeom>
          <a:solidFill>
            <a:srgbClr val="E2F0D9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/>
          <a:lstStyle/>
          <a:p>
            <a:pPr algn="ctr"/>
            <a:r>
              <a:rPr sz="2500" b="1">
                <a:solidFill>
                  <a:srgbClr val="17365D"/>
                </a:solidFill>
                <a:latin typeface="Aptos"/>
              </a:rPr>
              <a:t>3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755648"/>
            <a:ext cx="2514600" cy="31089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/>
          <a:lstStyle/>
          <a:p>
            <a:pPr algn="ctr"/>
            <a:r>
              <a:rPr sz="900" b="0">
                <a:solidFill>
                  <a:srgbClr val="17365D"/>
                </a:solidFill>
                <a:latin typeface="Aptos"/>
              </a:rPr>
              <a:t>clear / manager route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20439" y="1143000"/>
            <a:ext cx="2514600" cy="658368"/>
          </a:xfrm>
          <a:prstGeom prst="roundRect">
            <a:avLst/>
          </a:prstGeom>
          <a:solidFill>
            <a:srgbClr val="F4CCCC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/>
          <a:lstStyle/>
          <a:p>
            <a:pPr algn="ctr"/>
            <a:r>
              <a:rPr sz="2500" b="1">
                <a:solidFill>
                  <a:srgbClr val="17365D"/>
                </a:solidFill>
                <a:latin typeface="Aptos"/>
              </a:rPr>
              <a:t>2</a:t>
            </a:r>
          </a:p>
        </p:txBody>
      </p:sp>
      <p:sp>
        <p:nvSpPr>
          <p:cNvPr id="7" name="Rectangle 6"/>
          <p:cNvSpPr/>
          <p:nvPr/>
        </p:nvSpPr>
        <p:spPr>
          <a:xfrm>
            <a:off x="3520439" y="1755648"/>
            <a:ext cx="2514600" cy="31089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/>
          <a:lstStyle/>
          <a:p>
            <a:pPr algn="ctr"/>
            <a:r>
              <a:rPr sz="900" b="0">
                <a:solidFill>
                  <a:srgbClr val="17365D"/>
                </a:solidFill>
                <a:latin typeface="Aptos"/>
              </a:rPr>
              <a:t>failed / HR Director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143000"/>
            <a:ext cx="2514600" cy="658368"/>
          </a:xfrm>
          <a:prstGeom prst="roundRect">
            <a:avLst/>
          </a:prstGeom>
          <a:solidFill>
            <a:srgbClr val="FFF2CC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/>
          <a:lstStyle/>
          <a:p>
            <a:pPr algn="ctr"/>
            <a:r>
              <a:rPr sz="2500" b="1">
                <a:solidFill>
                  <a:srgbClr val="17365D"/>
                </a:solidFill>
                <a:latin typeface="Aptos"/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755648"/>
            <a:ext cx="2514600" cy="31089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/>
          <a:lstStyle/>
          <a:p>
            <a:pPr algn="ctr"/>
            <a:r>
              <a:rPr sz="900" b="0">
                <a:solidFill>
                  <a:srgbClr val="17365D"/>
                </a:solidFill>
                <a:latin typeface="Aptos"/>
              </a:rPr>
              <a:t>conditional / Legal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281159" y="1143000"/>
            <a:ext cx="2514600" cy="658368"/>
          </a:xfrm>
          <a:prstGeom prst="roundRect">
            <a:avLst/>
          </a:prstGeom>
          <a:solidFill>
            <a:srgbClr val="DDEBF7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/>
          <a:lstStyle/>
          <a:p>
            <a:pPr algn="ctr"/>
            <a:r>
              <a:rPr sz="2500" b="1">
                <a:solidFill>
                  <a:srgbClr val="17365D"/>
                </a:solidFill>
                <a:latin typeface="Aptos"/>
              </a:rPr>
              <a:t>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281159" y="1755648"/>
            <a:ext cx="2514600" cy="31089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/>
          <a:lstStyle/>
          <a:p>
            <a:pPr algn="ctr"/>
            <a:r>
              <a:rPr sz="900" b="0">
                <a:solidFill>
                  <a:srgbClr val="17365D"/>
                </a:solidFill>
                <a:latin typeface="Aptos"/>
              </a:rPr>
              <a:t>pending / no action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11480" y="2267712"/>
          <a:ext cx="1138428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40"/>
                <a:gridCol w="640080"/>
                <a:gridCol w="2331720"/>
                <a:gridCol w="1965960"/>
                <a:gridCol w="2971800"/>
                <a:gridCol w="2240280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Class</a:t>
                      </a:r>
                    </a:p>
                  </a:txBody>
                  <a:tcPr marL="36576" marR="36576" marT="18288" marB="18288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Count</a:t>
                      </a:r>
                    </a:p>
                  </a:txBody>
                  <a:tcPr marL="36576" marR="36576" marT="18288" marB="18288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Candidates</a:t>
                      </a:r>
                    </a:p>
                  </a:txBody>
                  <a:tcPr marL="36576" marR="36576" marT="18288" marB="18288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Route</a:t>
                      </a:r>
                    </a:p>
                  </a:txBody>
                  <a:tcPr marL="36576" marR="36576" marT="18288" marB="18288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Proposed status</a:t>
                      </a:r>
                    </a:p>
                  </a:txBody>
                  <a:tcPr marL="36576" marR="36576" marT="18288" marB="18288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Execution</a:t>
                      </a:r>
                    </a:p>
                  </a:txBody>
                  <a:tcPr marL="36576" marR="36576" marT="18288" marB="18288" anchor="ctr">
                    <a:solidFill>
                      <a:srgbClr val="17365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780" b="0">
                          <a:solidFill>
                            <a:srgbClr val="17365D"/>
                          </a:solidFill>
                          <a:latin typeface="Aptos"/>
                        </a:rPr>
                        <a:t>Clear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80" b="0">
                          <a:solidFill>
                            <a:srgbClr val="17365D"/>
                          </a:solidFill>
                          <a:latin typeface="Aptos"/>
                        </a:rPr>
                        <a:t>3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80" b="0">
                          <a:solidFill>
                            <a:srgbClr val="17365D"/>
                          </a:solidFill>
                          <a:latin typeface="Aptos"/>
                        </a:rPr>
                        <a:t>Liam; Petra; Rosa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80" b="0">
                          <a:solidFill>
                            <a:srgbClr val="17365D"/>
                          </a:solidFill>
                          <a:latin typeface="Aptos"/>
                        </a:rPr>
                        <a:t>respective manager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80" b="0">
                          <a:solidFill>
                            <a:srgbClr val="17365D"/>
                          </a:solidFill>
                          <a:latin typeface="Aptos"/>
                        </a:rPr>
                        <a:t>Cleared - Proceed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80" b="0">
                          <a:solidFill>
                            <a:srgbClr val="17365D"/>
                          </a:solidFill>
                          <a:latin typeface="Aptos"/>
                        </a:rPr>
                        <a:t>3 drafts / 0 sent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780" b="0">
                          <a:solidFill>
                            <a:srgbClr val="17365D"/>
                          </a:solidFill>
                          <a:latin typeface="Aptos"/>
                        </a:rPr>
                        <a:t>Failed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80" b="0">
                          <a:solidFill>
                            <a:srgbClr val="17365D"/>
                          </a:solidFill>
                          <a:latin typeface="Aptos"/>
                        </a:rPr>
                        <a:t>2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80" b="0">
                          <a:solidFill>
                            <a:srgbClr val="17365D"/>
                          </a:solidFill>
                          <a:latin typeface="Aptos"/>
                        </a:rPr>
                        <a:t>Maya; Quinn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80" b="0">
                          <a:solidFill>
                            <a:srgbClr val="17365D"/>
                          </a:solidFill>
                          <a:latin typeface="Aptos"/>
                        </a:rPr>
                        <a:t>HR Director only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80" b="0">
                          <a:solidFill>
                            <a:srgbClr val="17365D"/>
                          </a:solidFill>
                          <a:latin typeface="Aptos"/>
                        </a:rPr>
                        <a:t>Failed - Offer Rescinded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80" b="0">
                          <a:solidFill>
                            <a:srgbClr val="17365D"/>
                          </a:solidFill>
                          <a:latin typeface="Aptos"/>
                        </a:rPr>
                        <a:t>2 drafts / 0 sent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780" b="0">
                          <a:solidFill>
                            <a:srgbClr val="17365D"/>
                          </a:solidFill>
                          <a:latin typeface="Aptos"/>
                        </a:rPr>
                        <a:t>Conditional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80" b="0">
                          <a:solidFill>
                            <a:srgbClr val="17365D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80" b="0">
                          <a:solidFill>
                            <a:srgbClr val="17365D"/>
                          </a:solidFill>
                          <a:latin typeface="Aptos"/>
                        </a:rPr>
                        <a:t>Naomi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80" b="0">
                          <a:solidFill>
                            <a:srgbClr val="17365D"/>
                          </a:solidFill>
                          <a:latin typeface="Aptos"/>
                        </a:rPr>
                        <a:t>Legal only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80" b="0">
                          <a:solidFill>
                            <a:srgbClr val="17365D"/>
                          </a:solidFill>
                          <a:latin typeface="Aptos"/>
                        </a:rPr>
                        <a:t>Conditional - Legal Notified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80" b="0">
                          <a:solidFill>
                            <a:srgbClr val="17365D"/>
                          </a:solidFill>
                          <a:latin typeface="Aptos"/>
                        </a:rPr>
                        <a:t>1 draft / 0 sent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780" b="0">
                          <a:solidFill>
                            <a:srgbClr val="17365D"/>
                          </a:solidFill>
                          <a:latin typeface="Aptos"/>
                        </a:rPr>
                        <a:t>Pending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80" b="0">
                          <a:solidFill>
                            <a:srgbClr val="17365D"/>
                          </a:solidFill>
                          <a:latin typeface="Aptos"/>
                        </a:rPr>
                        <a:t>2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80" b="0">
                          <a:solidFill>
                            <a:srgbClr val="17365D"/>
                          </a:solidFill>
                          <a:latin typeface="Aptos"/>
                        </a:rPr>
                        <a:t>Oliver; Sanjay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80" b="0">
                          <a:solidFill>
                            <a:srgbClr val="17365D"/>
                          </a:solidFill>
                          <a:latin typeface="Aptos"/>
                        </a:rPr>
                        <a:t>no email / update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80" b="0">
                          <a:solidFill>
                            <a:srgbClr val="17365D"/>
                          </a:solidFill>
                          <a:latin typeface="Aptos"/>
                        </a:rPr>
                        <a:t>Awaiting Action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80" b="0">
                          <a:solidFill>
                            <a:srgbClr val="17365D"/>
                          </a:solidFill>
                          <a:latin typeface="Aptos"/>
                        </a:rPr>
                        <a:t>0 action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502920" y="5029200"/>
            <a:ext cx="11155680" cy="594360"/>
          </a:xfrm>
          <a:prstGeom prst="roundRect">
            <a:avLst/>
          </a:prstGeom>
          <a:solidFill>
            <a:srgbClr val="FFF2CC"/>
          </a:solidFill>
          <a:ln>
            <a:solidFill>
              <a:srgbClr val="FFF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/>
          <a:lstStyle/>
          <a:p>
            <a:pPr algn="ctr"/>
            <a:r>
              <a:rPr sz="1300" b="1">
                <a:solidFill>
                  <a:srgbClr val="17365D"/>
                </a:solidFill>
                <a:latin typeface="Aptos"/>
              </a:rPr>
              <a:t>Naomi: tracker Clear -&gt; vendor correction Conditional -&gt; Legal only before start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5779008"/>
            <a:ext cx="11155680" cy="411480"/>
          </a:xfrm>
          <a:prstGeom prst="roundRect">
            <a:avLst/>
          </a:prstGeom>
          <a:solidFill>
            <a:srgbClr val="F4CCCC"/>
          </a:solidFill>
          <a:ln>
            <a:solidFill>
              <a:srgbClr val="F4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/>
          <a:lstStyle/>
          <a:p>
            <a:pPr algn="ctr"/>
            <a:r>
              <a:rPr sz="1019" b="1">
                <a:solidFill>
                  <a:srgbClr val="17365D"/>
                </a:solidFill>
                <a:latin typeface="Aptos"/>
              </a:rPr>
              <a:t>Sensitive vendor reason stays restricted · Lisa Wang is not notified · open-channel draft uses safe labels only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6327648"/>
            <a:ext cx="11155680" cy="25603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/>
          <a:lstStyle/>
          <a:p>
            <a:pPr algn="ctr"/>
            <a:r>
              <a:rPr sz="940" b="0">
                <a:solidFill>
                  <a:srgbClr val="17365D"/>
                </a:solidFill>
                <a:latin typeface="Aptos"/>
              </a:rPr>
              <a:t>Email sent=0 · tracker applied=0 · Slack posted=0 · real side effects=0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28600"/>
            <a:ext cx="112014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/>
          <a:lstStyle/>
          <a:p>
            <a:pPr algn="ctr"/>
            <a:r>
              <a:rPr sz="2400" b="1">
                <a:solidFill>
                  <a:srgbClr val="17365D"/>
                </a:solidFill>
                <a:latin typeface="Aptos"/>
              </a:rPr>
              <a:t>Complete eight-candidate decision register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713232"/>
            <a:ext cx="10835640" cy="32918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/>
          <a:lstStyle/>
          <a:p>
            <a:pPr algn="ctr"/>
            <a:r>
              <a:rPr sz="1050" b="0">
                <a:solidFill>
                  <a:srgbClr val="595959"/>
                </a:solidFill>
                <a:latin typeface="Aptos"/>
              </a:rPr>
              <a:t>Source result · vendor override · effective result · controlled route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82880" y="1078992"/>
          <a:ext cx="11841480" cy="534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1325880"/>
                <a:gridCol w="960120"/>
                <a:gridCol w="1143000"/>
                <a:gridCol w="1371600"/>
                <a:gridCol w="685800"/>
                <a:gridCol w="868680"/>
                <a:gridCol w="777240"/>
                <a:gridCol w="1325880"/>
                <a:gridCol w="2926080"/>
              </a:tblGrid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Row</a:t>
                      </a:r>
                    </a:p>
                  </a:txBody>
                  <a:tcPr marL="36576" marR="36576" marT="18288" marB="18288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Candidate</a:t>
                      </a:r>
                    </a:p>
                  </a:txBody>
                  <a:tcPr marL="36576" marR="36576" marT="18288" marB="18288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ID</a:t>
                      </a:r>
                    </a:p>
                  </a:txBody>
                  <a:tcPr marL="36576" marR="36576" marT="18288" marB="18288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Manager</a:t>
                      </a:r>
                    </a:p>
                  </a:txBody>
                  <a:tcPr marL="36576" marR="36576" marT="18288" marB="18288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Position</a:t>
                      </a:r>
                    </a:p>
                  </a:txBody>
                  <a:tcPr marL="36576" marR="36576" marT="18288" marB="18288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Source</a:t>
                      </a:r>
                    </a:p>
                  </a:txBody>
                  <a:tcPr marL="36576" marR="36576" marT="18288" marB="18288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Override</a:t>
                      </a:r>
                    </a:p>
                  </a:txBody>
                  <a:tcPr marL="36576" marR="36576" marT="18288" marB="18288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Effective</a:t>
                      </a:r>
                    </a:p>
                  </a:txBody>
                  <a:tcPr marL="36576" marR="36576" marT="18288" marB="18288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Decision</a:t>
                      </a:r>
                    </a:p>
                  </a:txBody>
                  <a:tcPr marL="36576" marR="36576" marT="18288" marB="18288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Notify to</a:t>
                      </a:r>
                    </a:p>
                  </a:txBody>
                  <a:tcPr marL="36576" marR="36576" marT="18288" marB="18288" anchor="ctr">
                    <a:solidFill>
                      <a:srgbClr val="17365D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670" b="0">
                          <a:solidFill>
                            <a:srgbClr val="17365D"/>
                          </a:solidFill>
                          <a:latin typeface="Aptos"/>
                        </a:rPr>
                        <a:t>2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70" b="0">
                          <a:solidFill>
                            <a:srgbClr val="17365D"/>
                          </a:solidFill>
                          <a:latin typeface="Aptos"/>
                        </a:rPr>
                        <a:t>Liam Chen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70" b="0">
                          <a:solidFill>
                            <a:srgbClr val="17365D"/>
                          </a:solidFill>
                          <a:latin typeface="Aptos"/>
                        </a:rPr>
                        <a:t>BGC-4401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70" b="0">
                          <a:solidFill>
                            <a:srgbClr val="17365D"/>
                          </a:solidFill>
                          <a:latin typeface="Aptos"/>
                        </a:rPr>
                        <a:t>Derek Huang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70" b="0">
                          <a:solidFill>
                            <a:srgbClr val="17365D"/>
                          </a:solidFill>
                          <a:latin typeface="Aptos"/>
                        </a:rPr>
                        <a:t>Software Engineer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70" b="0">
                          <a:solidFill>
                            <a:srgbClr val="17365D"/>
                          </a:solidFill>
                          <a:latin typeface="Aptos"/>
                        </a:rPr>
                        <a:t>Clear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70" b="0">
                          <a:solidFill>
                            <a:srgbClr val="17365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70" b="0">
                          <a:solidFill>
                            <a:srgbClr val="17365D"/>
                          </a:solidFill>
                          <a:latin typeface="Aptos"/>
                        </a:rPr>
                        <a:t>Clear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70" b="0">
                          <a:solidFill>
                            <a:srgbClr val="17365D"/>
                          </a:solidFill>
                          <a:latin typeface="Aptos"/>
                        </a:rPr>
                        <a:t>CLEARED_PROCEED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70" b="0">
                          <a:solidFill>
                            <a:srgbClr val="17365D"/>
                          </a:solidFill>
                          <a:latin typeface="Aptos"/>
                        </a:rPr>
                        <a:t>derek.huang@company.example.com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670" b="0">
                          <a:solidFill>
                            <a:srgbClr val="17365D"/>
                          </a:solidFill>
                          <a:latin typeface="Aptos"/>
                        </a:rPr>
                        <a:t>3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70" b="0">
                          <a:solidFill>
                            <a:srgbClr val="17365D"/>
                          </a:solidFill>
                          <a:latin typeface="Aptos"/>
                        </a:rPr>
                        <a:t>Maya Okafor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70" b="0">
                          <a:solidFill>
                            <a:srgbClr val="17365D"/>
                          </a:solidFill>
                          <a:latin typeface="Aptos"/>
                        </a:rPr>
                        <a:t>BGC-4405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70" b="0">
                          <a:solidFill>
                            <a:srgbClr val="17365D"/>
                          </a:solidFill>
                          <a:latin typeface="Aptos"/>
                        </a:rPr>
                        <a:t>Mira Patel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70" b="0">
                          <a:solidFill>
                            <a:srgbClr val="17365D"/>
                          </a:solidFill>
                          <a:latin typeface="Aptos"/>
                        </a:rPr>
                        <a:t>Marketing Analyst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70" b="0">
                          <a:solidFill>
                            <a:srgbClr val="17365D"/>
                          </a:solidFill>
                          <a:latin typeface="Aptos"/>
                        </a:rPr>
                        <a:t>Failed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70" b="0">
                          <a:solidFill>
                            <a:srgbClr val="17365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70" b="0">
                          <a:solidFill>
                            <a:srgbClr val="17365D"/>
                          </a:solidFill>
                          <a:latin typeface="Aptos"/>
                        </a:rPr>
                        <a:t>Failed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70" b="0">
                          <a:solidFill>
                            <a:srgbClr val="17365D"/>
                          </a:solidFill>
                          <a:latin typeface="Aptos"/>
                        </a:rPr>
                        <a:t>FAILED_RESCIND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70" b="0">
                          <a:solidFill>
                            <a:srgbClr val="17365D"/>
                          </a:solidFill>
                          <a:latin typeface="Aptos"/>
                        </a:rPr>
                        <a:t>hr-director@company.example.com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670" b="0">
                          <a:solidFill>
                            <a:srgbClr val="17365D"/>
                          </a:solidFill>
                          <a:latin typeface="Aptos"/>
                        </a:rPr>
                        <a:t>4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70" b="0">
                          <a:solidFill>
                            <a:srgbClr val="17365D"/>
                          </a:solidFill>
                          <a:latin typeface="Aptos"/>
                        </a:rPr>
                        <a:t>Naomi Yoshida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70" b="0">
                          <a:solidFill>
                            <a:srgbClr val="17365D"/>
                          </a:solidFill>
                          <a:latin typeface="Aptos"/>
                        </a:rPr>
                        <a:t>BGC-4412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70" b="0">
                          <a:solidFill>
                            <a:srgbClr val="17365D"/>
                          </a:solidFill>
                          <a:latin typeface="Aptos"/>
                        </a:rPr>
                        <a:t>Lisa Wang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70" b="0">
                          <a:solidFill>
                            <a:srgbClr val="17365D"/>
                          </a:solidFill>
                          <a:latin typeface="Aptos"/>
                        </a:rPr>
                        <a:t>Account Executive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70" b="0">
                          <a:solidFill>
                            <a:srgbClr val="17365D"/>
                          </a:solidFill>
                          <a:latin typeface="Aptos"/>
                        </a:rPr>
                        <a:t>Clear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70" b="0">
                          <a:solidFill>
                            <a:srgbClr val="17365D"/>
                          </a:solidFill>
                          <a:latin typeface="Aptos"/>
                        </a:rPr>
                        <a:t>Conditional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70" b="0">
                          <a:solidFill>
                            <a:srgbClr val="17365D"/>
                          </a:solidFill>
                          <a:latin typeface="Aptos"/>
                        </a:rPr>
                        <a:t>Conditional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70" b="0">
                          <a:solidFill>
                            <a:srgbClr val="17365D"/>
                          </a:solidFill>
                          <a:latin typeface="Aptos"/>
                        </a:rPr>
                        <a:t>CONDITIONAL_LEGAL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70" b="0">
                          <a:solidFill>
                            <a:srgbClr val="17365D"/>
                          </a:solidFill>
                          <a:latin typeface="Aptos"/>
                        </a:rPr>
                        <a:t>legal@company.example.com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670" b="0">
                          <a:solidFill>
                            <a:srgbClr val="17365D"/>
                          </a:solidFill>
                          <a:latin typeface="Aptos"/>
                        </a:rPr>
                        <a:t>5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70" b="0">
                          <a:solidFill>
                            <a:srgbClr val="17365D"/>
                          </a:solidFill>
                          <a:latin typeface="Aptos"/>
                        </a:rPr>
                        <a:t>Oliver Strand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70" b="0">
                          <a:solidFill>
                            <a:srgbClr val="17365D"/>
                          </a:solidFill>
                          <a:latin typeface="Aptos"/>
                        </a:rPr>
                        <a:t>BGC-4418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70" b="0">
                          <a:solidFill>
                            <a:srgbClr val="17365D"/>
                          </a:solidFill>
                          <a:latin typeface="Aptos"/>
                        </a:rPr>
                        <a:t>Derek Huang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70" b="0">
                          <a:solidFill>
                            <a:srgbClr val="17365D"/>
                          </a:solidFill>
                          <a:latin typeface="Aptos"/>
                        </a:rPr>
                        <a:t>DevOps Engineer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70" b="0">
                          <a:solidFill>
                            <a:srgbClr val="17365D"/>
                          </a:solidFill>
                          <a:latin typeface="Aptos"/>
                        </a:rPr>
                        <a:t>Pending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70" b="0">
                          <a:solidFill>
                            <a:srgbClr val="17365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70" b="0">
                          <a:solidFill>
                            <a:srgbClr val="17365D"/>
                          </a:solidFill>
                          <a:latin typeface="Aptos"/>
                        </a:rPr>
                        <a:t>Pending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70" b="0">
                          <a:solidFill>
                            <a:srgbClr val="17365D"/>
                          </a:solidFill>
                          <a:latin typeface="Aptos"/>
                        </a:rPr>
                        <a:t>PENDING_NO_ACTION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70" b="0">
                          <a:solidFill>
                            <a:srgbClr val="17365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670" b="0">
                          <a:solidFill>
                            <a:srgbClr val="17365D"/>
                          </a:solidFill>
                          <a:latin typeface="Aptos"/>
                        </a:rPr>
                        <a:t>6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70" b="0">
                          <a:solidFill>
                            <a:srgbClr val="17365D"/>
                          </a:solidFill>
                          <a:latin typeface="Aptos"/>
                        </a:rPr>
                        <a:t>Petra Johansson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70" b="0">
                          <a:solidFill>
                            <a:srgbClr val="17365D"/>
                          </a:solidFill>
                          <a:latin typeface="Aptos"/>
                        </a:rPr>
                        <a:t>BGC-4422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70" b="0">
                          <a:solidFill>
                            <a:srgbClr val="17365D"/>
                          </a:solidFill>
                          <a:latin typeface="Aptos"/>
                        </a:rPr>
                        <a:t>Mira Patel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70" b="0">
                          <a:solidFill>
                            <a:srgbClr val="17365D"/>
                          </a:solidFill>
                          <a:latin typeface="Aptos"/>
                        </a:rPr>
                        <a:t>Content Writer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70" b="0">
                          <a:solidFill>
                            <a:srgbClr val="17365D"/>
                          </a:solidFill>
                          <a:latin typeface="Aptos"/>
                        </a:rPr>
                        <a:t>Clear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70" b="0">
                          <a:solidFill>
                            <a:srgbClr val="17365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70" b="0">
                          <a:solidFill>
                            <a:srgbClr val="17365D"/>
                          </a:solidFill>
                          <a:latin typeface="Aptos"/>
                        </a:rPr>
                        <a:t>Clear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70" b="0">
                          <a:solidFill>
                            <a:srgbClr val="17365D"/>
                          </a:solidFill>
                          <a:latin typeface="Aptos"/>
                        </a:rPr>
                        <a:t>CLEARED_PROCEED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70" b="0">
                          <a:solidFill>
                            <a:srgbClr val="17365D"/>
                          </a:solidFill>
                          <a:latin typeface="Aptos"/>
                        </a:rPr>
                        <a:t>mira.patel@company.example.com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670" b="0">
                          <a:solidFill>
                            <a:srgbClr val="17365D"/>
                          </a:solidFill>
                          <a:latin typeface="Aptos"/>
                        </a:rPr>
                        <a:t>7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70" b="0">
                          <a:solidFill>
                            <a:srgbClr val="17365D"/>
                          </a:solidFill>
                          <a:latin typeface="Aptos"/>
                        </a:rPr>
                        <a:t>Quinn Davis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70" b="0">
                          <a:solidFill>
                            <a:srgbClr val="17365D"/>
                          </a:solidFill>
                          <a:latin typeface="Aptos"/>
                        </a:rPr>
                        <a:t>BGC-4430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70" b="0">
                          <a:solidFill>
                            <a:srgbClr val="17365D"/>
                          </a:solidFill>
                          <a:latin typeface="Aptos"/>
                        </a:rPr>
                        <a:t>Lisa Wang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70" b="0">
                          <a:solidFill>
                            <a:srgbClr val="17365D"/>
                          </a:solidFill>
                          <a:latin typeface="Aptos"/>
                        </a:rPr>
                        <a:t>Sales Rep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70" b="0">
                          <a:solidFill>
                            <a:srgbClr val="17365D"/>
                          </a:solidFill>
                          <a:latin typeface="Aptos"/>
                        </a:rPr>
                        <a:t>Failed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70" b="0">
                          <a:solidFill>
                            <a:srgbClr val="17365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70" b="0">
                          <a:solidFill>
                            <a:srgbClr val="17365D"/>
                          </a:solidFill>
                          <a:latin typeface="Aptos"/>
                        </a:rPr>
                        <a:t>Failed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70" b="0">
                          <a:solidFill>
                            <a:srgbClr val="17365D"/>
                          </a:solidFill>
                          <a:latin typeface="Aptos"/>
                        </a:rPr>
                        <a:t>FAILED_RESCIND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70" b="0">
                          <a:solidFill>
                            <a:srgbClr val="17365D"/>
                          </a:solidFill>
                          <a:latin typeface="Aptos"/>
                        </a:rPr>
                        <a:t>hr-director@company.example.com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670" b="0">
                          <a:solidFill>
                            <a:srgbClr val="17365D"/>
                          </a:solidFill>
                          <a:latin typeface="Aptos"/>
                        </a:rPr>
                        <a:t>8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70" b="0">
                          <a:solidFill>
                            <a:srgbClr val="17365D"/>
                          </a:solidFill>
                          <a:latin typeface="Aptos"/>
                        </a:rPr>
                        <a:t>Rosa Martinez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70" b="0">
                          <a:solidFill>
                            <a:srgbClr val="17365D"/>
                          </a:solidFill>
                          <a:latin typeface="Aptos"/>
                        </a:rPr>
                        <a:t>BGC-4435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70" b="0">
                          <a:solidFill>
                            <a:srgbClr val="17365D"/>
                          </a:solidFill>
                          <a:latin typeface="Aptos"/>
                        </a:rPr>
                        <a:t>Derek Huang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70" b="0">
                          <a:solidFill>
                            <a:srgbClr val="17365D"/>
                          </a:solidFill>
                          <a:latin typeface="Aptos"/>
                        </a:rPr>
                        <a:t>QA Engineer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70" b="0">
                          <a:solidFill>
                            <a:srgbClr val="17365D"/>
                          </a:solidFill>
                          <a:latin typeface="Aptos"/>
                        </a:rPr>
                        <a:t>Clear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70" b="0">
                          <a:solidFill>
                            <a:srgbClr val="17365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70" b="0">
                          <a:solidFill>
                            <a:srgbClr val="17365D"/>
                          </a:solidFill>
                          <a:latin typeface="Aptos"/>
                        </a:rPr>
                        <a:t>Clear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70" b="0">
                          <a:solidFill>
                            <a:srgbClr val="17365D"/>
                          </a:solidFill>
                          <a:latin typeface="Aptos"/>
                        </a:rPr>
                        <a:t>CLEARED_PROCEED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70" b="0">
                          <a:solidFill>
                            <a:srgbClr val="17365D"/>
                          </a:solidFill>
                          <a:latin typeface="Aptos"/>
                        </a:rPr>
                        <a:t>derek.huang@company.example.com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670" b="0">
                          <a:solidFill>
                            <a:srgbClr val="17365D"/>
                          </a:solidFill>
                          <a:latin typeface="Aptos"/>
                        </a:rPr>
                        <a:t>9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70" b="0">
                          <a:solidFill>
                            <a:srgbClr val="17365D"/>
                          </a:solidFill>
                          <a:latin typeface="Aptos"/>
                        </a:rPr>
                        <a:t>Sanjay Gupta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70" b="0">
                          <a:solidFill>
                            <a:srgbClr val="17365D"/>
                          </a:solidFill>
                          <a:latin typeface="Aptos"/>
                        </a:rPr>
                        <a:t>BGC-4441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70" b="0">
                          <a:solidFill>
                            <a:srgbClr val="17365D"/>
                          </a:solidFill>
                          <a:latin typeface="Aptos"/>
                        </a:rPr>
                        <a:t>Mira Patel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70" b="0">
                          <a:solidFill>
                            <a:srgbClr val="17365D"/>
                          </a:solidFill>
                          <a:latin typeface="Aptos"/>
                        </a:rPr>
                        <a:t>Data Analyst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70" b="0">
                          <a:solidFill>
                            <a:srgbClr val="17365D"/>
                          </a:solidFill>
                          <a:latin typeface="Aptos"/>
                        </a:rPr>
                        <a:t>Pending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70" b="0">
                          <a:solidFill>
                            <a:srgbClr val="17365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70" b="0">
                          <a:solidFill>
                            <a:srgbClr val="17365D"/>
                          </a:solidFill>
                          <a:latin typeface="Aptos"/>
                        </a:rPr>
                        <a:t>Pending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70" b="0">
                          <a:solidFill>
                            <a:srgbClr val="17365D"/>
                          </a:solidFill>
                          <a:latin typeface="Aptos"/>
                        </a:rPr>
                        <a:t>PENDING_NO_ACTION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70" b="0">
                          <a:solidFill>
                            <a:srgbClr val="17365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384048" y="6345936"/>
            <a:ext cx="11411712" cy="246888"/>
          </a:xfrm>
          <a:prstGeom prst="roundRect">
            <a:avLst/>
          </a:prstGeom>
          <a:solidFill>
            <a:srgbClr val="DDEBF7"/>
          </a:solidFill>
          <a:ln>
            <a:solidFill>
              <a:srgbClr val="DDE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/>
          <a:lstStyle/>
          <a:p>
            <a:pPr algn="ctr"/>
            <a:r>
              <a:rPr sz="919" b="1">
                <a:solidFill>
                  <a:srgbClr val="17365D"/>
                </a:solidFill>
                <a:latin typeface="Aptos"/>
              </a:rPr>
              <a:t>No source row omitted · Pending rows unchanged · Failed candidates never contacted directly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28600"/>
            <a:ext cx="112014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/>
          <a:lstStyle/>
          <a:p>
            <a:pPr algn="ctr"/>
            <a:r>
              <a:rPr sz="2400" b="1">
                <a:solidFill>
                  <a:srgbClr val="17365D"/>
                </a:solidFill>
                <a:latin typeface="Aptos"/>
              </a:rPr>
              <a:t>Controlled communications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713232"/>
            <a:ext cx="10835640" cy="32918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/>
          <a:lstStyle/>
          <a:p>
            <a:pPr algn="ctr"/>
            <a:r>
              <a:rPr sz="1050" b="0">
                <a:solidFill>
                  <a:srgbClr val="595959"/>
                </a:solidFill>
                <a:latin typeface="Aptos"/>
              </a:rPr>
              <a:t>Six source-ordered email and tracker drafts · one minimized recruiting draft · zero execution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28600" y="1078992"/>
          <a:ext cx="11750040" cy="3401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1417320"/>
                <a:gridCol w="914400"/>
                <a:gridCol w="1508760"/>
                <a:gridCol w="2743200"/>
                <a:gridCol w="2880360"/>
                <a:gridCol w="1737360"/>
              </a:tblGrid>
              <a:tr h="485938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Order</a:t>
                      </a:r>
                    </a:p>
                  </a:txBody>
                  <a:tcPr marL="36576" marR="36576" marT="18288" marB="18288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Candidate</a:t>
                      </a:r>
                    </a:p>
                  </a:txBody>
                  <a:tcPr marL="36576" marR="36576" marT="18288" marB="18288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Effective</a:t>
                      </a:r>
                    </a:p>
                  </a:txBody>
                  <a:tcPr marL="36576" marR="36576" marT="18288" marB="18288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Decision</a:t>
                      </a:r>
                    </a:p>
                  </a:txBody>
                  <a:tcPr marL="36576" marR="36576" marT="18288" marB="18288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To</a:t>
                      </a:r>
                    </a:p>
                  </a:txBody>
                  <a:tcPr marL="36576" marR="36576" marT="18288" marB="18288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Proposed status</a:t>
                      </a:r>
                    </a:p>
                  </a:txBody>
                  <a:tcPr marL="36576" marR="36576" marT="18288" marB="18288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State</a:t>
                      </a:r>
                    </a:p>
                  </a:txBody>
                  <a:tcPr marL="36576" marR="36576" marT="18288" marB="18288" anchor="ctr">
                    <a:solidFill>
                      <a:srgbClr val="17365D"/>
                    </a:solidFill>
                  </a:tcPr>
                </a:tc>
              </a:tr>
              <a:tr h="485938">
                <a:tc>
                  <a:txBody>
                    <a:bodyPr/>
                    <a:lstStyle/>
                    <a:p>
                      <a:pPr algn="l"/>
                      <a:r>
                        <a:rPr sz="680" b="0">
                          <a:solidFill>
                            <a:srgbClr val="17365D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0">
                          <a:solidFill>
                            <a:srgbClr val="17365D"/>
                          </a:solidFill>
                          <a:latin typeface="Aptos"/>
                        </a:rPr>
                        <a:t>Liam Chen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0">
                          <a:solidFill>
                            <a:srgbClr val="17365D"/>
                          </a:solidFill>
                          <a:latin typeface="Aptos"/>
                        </a:rPr>
                        <a:t>Clear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0">
                          <a:solidFill>
                            <a:srgbClr val="17365D"/>
                          </a:solidFill>
                          <a:latin typeface="Aptos"/>
                        </a:rPr>
                        <a:t>CLEARED_PROCEED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0">
                          <a:solidFill>
                            <a:srgbClr val="17365D"/>
                          </a:solidFill>
                          <a:latin typeface="Aptos"/>
                        </a:rPr>
                        <a:t>derek.huang@company.example.com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0">
                          <a:solidFill>
                            <a:srgbClr val="17365D"/>
                          </a:solidFill>
                          <a:latin typeface="Aptos"/>
                        </a:rPr>
                        <a:t>Cleared - Proceed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0">
                          <a:solidFill>
                            <a:srgbClr val="17365D"/>
                          </a:solidFill>
                          <a:latin typeface="Aptos"/>
                        </a:rPr>
                        <a:t>DRAFT_ONLY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</a:tr>
              <a:tr h="485938">
                <a:tc>
                  <a:txBody>
                    <a:bodyPr/>
                    <a:lstStyle/>
                    <a:p>
                      <a:pPr algn="l"/>
                      <a:r>
                        <a:rPr sz="680" b="0">
                          <a:solidFill>
                            <a:srgbClr val="17365D"/>
                          </a:solidFill>
                          <a:latin typeface="Aptos"/>
                        </a:rPr>
                        <a:t>2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0">
                          <a:solidFill>
                            <a:srgbClr val="17365D"/>
                          </a:solidFill>
                          <a:latin typeface="Aptos"/>
                        </a:rPr>
                        <a:t>Maya Okafor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0">
                          <a:solidFill>
                            <a:srgbClr val="17365D"/>
                          </a:solidFill>
                          <a:latin typeface="Aptos"/>
                        </a:rPr>
                        <a:t>Failed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0">
                          <a:solidFill>
                            <a:srgbClr val="17365D"/>
                          </a:solidFill>
                          <a:latin typeface="Aptos"/>
                        </a:rPr>
                        <a:t>FAILED_RESCIND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0">
                          <a:solidFill>
                            <a:srgbClr val="17365D"/>
                          </a:solidFill>
                          <a:latin typeface="Aptos"/>
                        </a:rPr>
                        <a:t>hr-director@company.example.com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0">
                          <a:solidFill>
                            <a:srgbClr val="17365D"/>
                          </a:solidFill>
                          <a:latin typeface="Aptos"/>
                        </a:rPr>
                        <a:t>Failed - Offer Rescinded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0">
                          <a:solidFill>
                            <a:srgbClr val="17365D"/>
                          </a:solidFill>
                          <a:latin typeface="Aptos"/>
                        </a:rPr>
                        <a:t>DRAFT_ONLY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</a:tr>
              <a:tr h="485938">
                <a:tc>
                  <a:txBody>
                    <a:bodyPr/>
                    <a:lstStyle/>
                    <a:p>
                      <a:pPr algn="l"/>
                      <a:r>
                        <a:rPr sz="680" b="0">
                          <a:solidFill>
                            <a:srgbClr val="17365D"/>
                          </a:solidFill>
                          <a:latin typeface="Aptos"/>
                        </a:rPr>
                        <a:t>3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0">
                          <a:solidFill>
                            <a:srgbClr val="17365D"/>
                          </a:solidFill>
                          <a:latin typeface="Aptos"/>
                        </a:rPr>
                        <a:t>Naomi Yoshida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0">
                          <a:solidFill>
                            <a:srgbClr val="17365D"/>
                          </a:solidFill>
                          <a:latin typeface="Aptos"/>
                        </a:rPr>
                        <a:t>Conditional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0">
                          <a:solidFill>
                            <a:srgbClr val="17365D"/>
                          </a:solidFill>
                          <a:latin typeface="Aptos"/>
                        </a:rPr>
                        <a:t>CONDITIONAL_LEGAL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0">
                          <a:solidFill>
                            <a:srgbClr val="17365D"/>
                          </a:solidFill>
                          <a:latin typeface="Aptos"/>
                        </a:rPr>
                        <a:t>legal@company.example.com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0">
                          <a:solidFill>
                            <a:srgbClr val="17365D"/>
                          </a:solidFill>
                          <a:latin typeface="Aptos"/>
                        </a:rPr>
                        <a:t>Conditional - Legal Notified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0">
                          <a:solidFill>
                            <a:srgbClr val="17365D"/>
                          </a:solidFill>
                          <a:latin typeface="Aptos"/>
                        </a:rPr>
                        <a:t>DRAFT_ONLY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</a:tr>
              <a:tr h="485938">
                <a:tc>
                  <a:txBody>
                    <a:bodyPr/>
                    <a:lstStyle/>
                    <a:p>
                      <a:pPr algn="l"/>
                      <a:r>
                        <a:rPr sz="680" b="0">
                          <a:solidFill>
                            <a:srgbClr val="17365D"/>
                          </a:solidFill>
                          <a:latin typeface="Aptos"/>
                        </a:rPr>
                        <a:t>4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0">
                          <a:solidFill>
                            <a:srgbClr val="17365D"/>
                          </a:solidFill>
                          <a:latin typeface="Aptos"/>
                        </a:rPr>
                        <a:t>Petra Johansson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0">
                          <a:solidFill>
                            <a:srgbClr val="17365D"/>
                          </a:solidFill>
                          <a:latin typeface="Aptos"/>
                        </a:rPr>
                        <a:t>Clear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0">
                          <a:solidFill>
                            <a:srgbClr val="17365D"/>
                          </a:solidFill>
                          <a:latin typeface="Aptos"/>
                        </a:rPr>
                        <a:t>CLEARED_PROCEED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0">
                          <a:solidFill>
                            <a:srgbClr val="17365D"/>
                          </a:solidFill>
                          <a:latin typeface="Aptos"/>
                        </a:rPr>
                        <a:t>mira.patel@company.example.com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0">
                          <a:solidFill>
                            <a:srgbClr val="17365D"/>
                          </a:solidFill>
                          <a:latin typeface="Aptos"/>
                        </a:rPr>
                        <a:t>Cleared - Proceed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0">
                          <a:solidFill>
                            <a:srgbClr val="17365D"/>
                          </a:solidFill>
                          <a:latin typeface="Aptos"/>
                        </a:rPr>
                        <a:t>DRAFT_ONLY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</a:tr>
              <a:tr h="485938">
                <a:tc>
                  <a:txBody>
                    <a:bodyPr/>
                    <a:lstStyle/>
                    <a:p>
                      <a:pPr algn="l"/>
                      <a:r>
                        <a:rPr sz="680" b="0">
                          <a:solidFill>
                            <a:srgbClr val="17365D"/>
                          </a:solidFill>
                          <a:latin typeface="Aptos"/>
                        </a:rPr>
                        <a:t>5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0">
                          <a:solidFill>
                            <a:srgbClr val="17365D"/>
                          </a:solidFill>
                          <a:latin typeface="Aptos"/>
                        </a:rPr>
                        <a:t>Quinn Davis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0">
                          <a:solidFill>
                            <a:srgbClr val="17365D"/>
                          </a:solidFill>
                          <a:latin typeface="Aptos"/>
                        </a:rPr>
                        <a:t>Failed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0">
                          <a:solidFill>
                            <a:srgbClr val="17365D"/>
                          </a:solidFill>
                          <a:latin typeface="Aptos"/>
                        </a:rPr>
                        <a:t>FAILED_RESCIND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0">
                          <a:solidFill>
                            <a:srgbClr val="17365D"/>
                          </a:solidFill>
                          <a:latin typeface="Aptos"/>
                        </a:rPr>
                        <a:t>hr-director@company.example.com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0">
                          <a:solidFill>
                            <a:srgbClr val="17365D"/>
                          </a:solidFill>
                          <a:latin typeface="Aptos"/>
                        </a:rPr>
                        <a:t>Failed - Offer Rescinded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0">
                          <a:solidFill>
                            <a:srgbClr val="17365D"/>
                          </a:solidFill>
                          <a:latin typeface="Aptos"/>
                        </a:rPr>
                        <a:t>DRAFT_ONLY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</a:tr>
              <a:tr h="485940">
                <a:tc>
                  <a:txBody>
                    <a:bodyPr/>
                    <a:lstStyle/>
                    <a:p>
                      <a:pPr algn="l"/>
                      <a:r>
                        <a:rPr sz="680" b="0">
                          <a:solidFill>
                            <a:srgbClr val="17365D"/>
                          </a:solidFill>
                          <a:latin typeface="Aptos"/>
                        </a:rPr>
                        <a:t>6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0">
                          <a:solidFill>
                            <a:srgbClr val="17365D"/>
                          </a:solidFill>
                          <a:latin typeface="Aptos"/>
                        </a:rPr>
                        <a:t>Rosa Martinez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0">
                          <a:solidFill>
                            <a:srgbClr val="17365D"/>
                          </a:solidFill>
                          <a:latin typeface="Aptos"/>
                        </a:rPr>
                        <a:t>Clear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0">
                          <a:solidFill>
                            <a:srgbClr val="17365D"/>
                          </a:solidFill>
                          <a:latin typeface="Aptos"/>
                        </a:rPr>
                        <a:t>CLEARED_PROCEED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0">
                          <a:solidFill>
                            <a:srgbClr val="17365D"/>
                          </a:solidFill>
                          <a:latin typeface="Aptos"/>
                        </a:rPr>
                        <a:t>derek.huang@company.example.com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0">
                          <a:solidFill>
                            <a:srgbClr val="17365D"/>
                          </a:solidFill>
                          <a:latin typeface="Aptos"/>
                        </a:rPr>
                        <a:t>Cleared - Proceed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0">
                          <a:solidFill>
                            <a:srgbClr val="17365D"/>
                          </a:solidFill>
                          <a:latin typeface="Aptos"/>
                        </a:rPr>
                        <a:t>DRAFT_ONLY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502920" y="4736592"/>
            <a:ext cx="3474720" cy="658368"/>
          </a:xfrm>
          <a:prstGeom prst="roundRect">
            <a:avLst/>
          </a:prstGeom>
          <a:solidFill>
            <a:srgbClr val="E2F0D9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/>
          <a:lstStyle/>
          <a:p>
            <a:pPr algn="ctr"/>
            <a:r>
              <a:rPr sz="1300" b="1">
                <a:solidFill>
                  <a:srgbClr val="17365D"/>
                </a:solidFill>
                <a:latin typeface="Aptos"/>
              </a:rPr>
              <a:t>Email
6 drafts · 0 sent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61688" y="4736592"/>
            <a:ext cx="3474720" cy="658368"/>
          </a:xfrm>
          <a:prstGeom prst="roundRect">
            <a:avLst/>
          </a:prstGeom>
          <a:solidFill>
            <a:srgbClr val="FFF2CC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/>
          <a:lstStyle/>
          <a:p>
            <a:pPr algn="ctr"/>
            <a:r>
              <a:rPr sz="1300" b="1">
                <a:solidFill>
                  <a:srgbClr val="17365D"/>
                </a:solidFill>
                <a:latin typeface="Aptos"/>
              </a:rPr>
              <a:t>Tracker
6 drafts · 0 applied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0456" y="4736592"/>
            <a:ext cx="3474720" cy="658368"/>
          </a:xfrm>
          <a:prstGeom prst="roundRect">
            <a:avLst/>
          </a:prstGeom>
          <a:solidFill>
            <a:srgbClr val="DDEBF7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/>
          <a:lstStyle/>
          <a:p>
            <a:pPr algn="ctr"/>
            <a:r>
              <a:rPr sz="1300" b="1">
                <a:solidFill>
                  <a:srgbClr val="17365D"/>
                </a:solidFill>
                <a:latin typeface="Aptos"/>
              </a:rPr>
              <a:t>Recruiting Slack
1 draft · 0 posted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596128"/>
            <a:ext cx="11155680" cy="502920"/>
          </a:xfrm>
          <a:prstGeom prst="roundRect">
            <a:avLst/>
          </a:prstGeom>
          <a:solidFill>
            <a:srgbClr val="F4CCCC"/>
          </a:solidFill>
          <a:ln>
            <a:solidFill>
              <a:srgbClr val="F4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/>
          <a:lstStyle/>
          <a:p>
            <a:pPr algn="ctr"/>
            <a:r>
              <a:rPr sz="960" b="1">
                <a:solidFill>
                  <a:srgbClr val="17365D"/>
                </a:solidFill>
                <a:latin typeface="Aptos"/>
              </a:rPr>
              <a:t>Slack: all eight names in source order + operational labels only; no IDs, emails, positions, raw result words or investigation reason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254496"/>
            <a:ext cx="11155680" cy="30175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/>
          <a:lstStyle/>
          <a:p>
            <a:pPr algn="ctr"/>
            <a:r>
              <a:rPr sz="919" b="0">
                <a:solidFill>
                  <a:srgbClr val="17365D"/>
                </a:solidFill>
                <a:latin typeface="Aptos"/>
              </a:rPr>
              <a:t>Oliver and Sanjay: email=0 · tracker update=0 · source status remains Awaiting Action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Background Check Review</dc:title>
  <dc:subject/>
  <dc:creator>EvoCowork AutomationBench 5120</dc:creator>
  <cp:keywords/>
  <dc:description>generated using python-pptx</dc:description>
  <cp:lastModifiedBy>EvoCowork</cp:lastModifiedBy>
  <cp:revision>1</cp:revision>
  <dcterms:created xsi:type="dcterms:W3CDTF">2026-04-15T09:00:00Z</dcterms:created>
  <dcterms:modified xsi:type="dcterms:W3CDTF">2026-04-15T09:00:00Z</dcterms:modified>
  <cp:category/>
</cp:coreProperties>
</file>