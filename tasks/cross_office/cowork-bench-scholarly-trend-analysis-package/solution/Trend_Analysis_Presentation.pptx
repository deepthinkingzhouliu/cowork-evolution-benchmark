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1B6C4"/>
                </a:solidFill>
                <a:latin typeface="Arial"/>
              </a:rPr>
              <a:t>SCHOLARLY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4747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Научные
тренды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Сопоставление статей
с внешними метриками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5D6E8"/>
                </a:solidFill>
                <a:latin typeface="Arial"/>
              </a:rPr>
              <a:t>Март 2026 · исследовательская группа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05156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2344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2D76B6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01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Arial"/>
              </a:rPr>
              <a:t>статьи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05156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2344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41B6C4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01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Arial"/>
              </a:rPr>
              <a:t>области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051560"/>
            <a:ext cx="1645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12344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00" b="1">
                <a:solidFill>
                  <a:srgbClr val="EF6F5C"/>
                </a:solidFill>
                <a:latin typeface="Arial"/>
              </a:rP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01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Arial"/>
              </a:rPr>
              <a:t>макс.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06324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D76B6"/>
                </a:solidFill>
                <a:latin typeface="Arial"/>
              </a:rP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520440"/>
            <a:ext cx="5852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142D4E"/>
                </a:solidFill>
                <a:latin typeface="Arial"/>
              </a:rPr>
              <a:t>Large Language Models —
ведущая область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983480"/>
            <a:ext cx="5715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Trending_Score 95 · Avg_Citations 12.3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D76B6"/>
                </a:solidFill>
                <a:latin typeface="Arial"/>
              </a:rPr>
              <a:t>МЕТОД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rial"/>
              </a:rPr>
              <a:t>Как собраны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B6B7F"/>
                </a:solidFill>
                <a:latin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5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D76B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2D4E"/>
                </a:solidFill>
                <a:latin typeface="Arial"/>
              </a:rPr>
              <a:t>scholarly_papers.json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4 статьи
Paper_ID · Title ·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1B6C4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8775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2D4E"/>
                </a:solidFill>
                <a:latin typeface="Arial"/>
              </a:rPr>
              <a:t>Точное сопоставление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0128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Area = Research_Area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74519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F6F5C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58775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42D4E"/>
                </a:solidFill>
                <a:latin typeface="Arial"/>
              </a:rPr>
              <a:t>dashboard.html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310128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Citations = Avg_Citations
Relevance = Trending_Score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76148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D76B6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76148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2D76B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378440" cy="914400"/>
          </a:xfrm>
          <a:prstGeom prst="round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19472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D4E"/>
                </a:solidFill>
                <a:latin typeface="Arial"/>
              </a:rPr>
              <a:t>Проверка: каждая Area должна иметь ровно одну строку на панели; пропуск останавливает анализ.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5B6B7F"/>
                </a:solidFill>
                <a:latin typeface="Arial"/>
              </a:rPr>
              <a:t>Источники: scholarly_papers.json + dashboard.html · срез март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D76B6"/>
                </a:solidFill>
                <a:latin typeface="Arial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rial"/>
              </a:rPr>
              <a:t>Портфель: 4 статьи × 4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B6B7F"/>
                </a:solidFill>
                <a:latin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5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691640"/>
          </a:xfrm>
          <a:prstGeom prst="rect">
            <a:avLst/>
          </a:prstGeom>
          <a:solidFill>
            <a:srgbClr val="2D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8006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Vision Transformer Advances
Paper_ID 2302.05678
Citations 10.8  ·  Relevance 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73152" cy="1691640"/>
          </a:xfrm>
          <a:prstGeom prst="rect">
            <a:avLst/>
          </a:prstGeom>
          <a:solidFill>
            <a:srgbClr val="41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67335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Federated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103120"/>
            <a:ext cx="48006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Federated Learning Survey
Paper_ID 2304.03456
Citations 7.2  ·  Relevance 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691640"/>
          </a:xfrm>
          <a:prstGeom prst="rect">
            <a:avLst/>
          </a:prstGeom>
          <a:solidFill>
            <a:srgbClr val="E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48006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Scaling Laws for LLMs
Paper_ID 2301.01234
Citations 12.3  ·  Relevance 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6576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657600"/>
            <a:ext cx="73152" cy="169164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82219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Reinforcement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51960"/>
            <a:ext cx="48006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Multi-Agent RL Framework
Paper_ID 2303.09012
Citations 8.5  ·  Relevance 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5B6B7F"/>
                </a:solidFill>
                <a:latin typeface="Arial"/>
              </a:rPr>
              <a:t>Источники: scholarly_papers.json + dashboard.html · срез март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D76B6"/>
                </a:solidFill>
                <a:latin typeface="Arial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rial"/>
              </a:rPr>
              <a:t>Где сосредоточить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B6B7F"/>
                </a:solidFill>
                <a:latin typeface="Arial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5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D4E"/>
                </a:solidFill>
                <a:latin typeface="Arial"/>
              </a:rPr>
              <a:t>Relevance_Score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Large Language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901951"/>
            <a:ext cx="2971800" cy="246888"/>
          </a:xfrm>
          <a:prstGeom prst="rect">
            <a:avLst/>
          </a:prstGeom>
          <a:solidFill>
            <a:srgbClr val="E2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901951"/>
            <a:ext cx="2823210" cy="246888"/>
          </a:xfrm>
          <a:prstGeom prst="rect">
            <a:avLst/>
          </a:prstGeom>
          <a:solidFill>
            <a:srgbClr val="2D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85623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42D4E"/>
                </a:solidFill>
                <a:latin typeface="Arial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56231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Arial"/>
              </a:rPr>
              <a:t>cit. 12.3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7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Computer 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724911"/>
            <a:ext cx="2971800" cy="246888"/>
          </a:xfrm>
          <a:prstGeom prst="rect">
            <a:avLst/>
          </a:prstGeom>
          <a:solidFill>
            <a:srgbClr val="E2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2724911"/>
            <a:ext cx="2436876" cy="246888"/>
          </a:xfrm>
          <a:prstGeom prst="rect">
            <a:avLst/>
          </a:prstGeom>
          <a:solidFill>
            <a:srgbClr val="41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67919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42D4E"/>
                </a:solidFill>
                <a:latin typeface="Arial"/>
              </a:rP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79191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Arial"/>
              </a:rPr>
              <a:t>cit. 10.8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39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Reinforcement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547871"/>
            <a:ext cx="2971800" cy="246888"/>
          </a:xfrm>
          <a:prstGeom prst="rect">
            <a:avLst/>
          </a:prstGeom>
          <a:solidFill>
            <a:srgbClr val="E2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3547871"/>
            <a:ext cx="2109978" cy="246888"/>
          </a:xfrm>
          <a:prstGeom prst="rect">
            <a:avLst/>
          </a:prstGeom>
          <a:solidFill>
            <a:srgbClr val="41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50215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42D4E"/>
                </a:solidFill>
                <a:latin typeface="Arial"/>
              </a:rPr>
              <a:t>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502151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Arial"/>
              </a:rPr>
              <a:t>cit. 8.5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rial"/>
              </a:rPr>
              <a:t>Federated Learning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370832"/>
            <a:ext cx="2971800" cy="246888"/>
          </a:xfrm>
          <a:prstGeom prst="rect">
            <a:avLst/>
          </a:prstGeom>
          <a:solidFill>
            <a:srgbClr val="E2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4370832"/>
            <a:ext cx="2020824" cy="246888"/>
          </a:xfrm>
          <a:prstGeom prst="rect">
            <a:avLst/>
          </a:prstGeom>
          <a:solidFill>
            <a:srgbClr val="41B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432511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42D4E"/>
                </a:solidFill>
                <a:latin typeface="Arial"/>
              </a:rPr>
              <a:t>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2511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Arial"/>
              </a:rPr>
              <a:t>cit. 7.2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508760"/>
            <a:ext cx="2834640" cy="4069080"/>
          </a:xfrm>
          <a:prstGeom prst="roundRect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7830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Сводные метрики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4231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1B6C4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49631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Total_Papers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154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1B6C4"/>
                </a:solidFill>
                <a:latin typeface="Arial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22783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Avg_Citations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886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1B6C4"/>
                </a:solidFill>
                <a:latin typeface="Arial"/>
              </a:rPr>
              <a:t>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95935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Avg_Relevance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754880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Top_Area
Large Language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5B6B7F"/>
                </a:solidFill>
                <a:latin typeface="Arial"/>
              </a:rPr>
              <a:t>Источники: scholarly_papers.json + dashboard.html · срез март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D76B6"/>
                </a:solidFill>
                <a:latin typeface="Arial"/>
              </a:rPr>
              <a:t>ДЕЙСТВИЯ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142D4E"/>
                </a:solidFill>
                <a:latin typeface="Arial"/>
              </a:rPr>
              <a:t>Рекомендации и границы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B6B7F"/>
                </a:solidFill>
                <a:latin typeface="Arial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D5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965960"/>
          </a:xfrm>
          <a:prstGeom prst="rect">
            <a:avLst/>
          </a:prstGeom>
          <a:solidFill>
            <a:srgbClr val="E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High · Large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754880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Prioritize quarterly literature review and replication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66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73152" cy="1965960"/>
          </a:xfrm>
          <a:prstGeom prst="rect">
            <a:avLst/>
          </a:prstGeom>
          <a:solidFill>
            <a:srgbClr val="2D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Medium · 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754880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rial"/>
              </a:rPr>
              <a:t>Track benchmark movement and prepare a focused methods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698480" cy="1508760"/>
          </a:xfrm>
          <a:prstGeom prst="round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rial"/>
              </a:rPr>
              <a:t>Граница вывода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160520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rial"/>
              </a:rPr>
              <a:t>Gap и направление тренда не рассчитывались: во входе нет сопоставимой внутренней базы и временного ряда.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D4E"/>
                </a:solidFill>
                <a:latin typeface="Arial"/>
              </a:rPr>
              <a:t>Следующий шаг: обновлять HTML-срез ежеквартально и повторно запускать тот же процессор.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5B6B7F"/>
                </a:solidFill>
                <a:latin typeface="Arial"/>
              </a:rPr>
              <a:t>Источники: scholarly_papers.json + dashboard.html · срез март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