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2400" b="1">
                <a:solidFill>
                  <a:srgbClr val="17365D"/>
                </a:solidFill>
                <a:latin typeface="Aptos"/>
              </a:rPr>
              <a:t>Q1 promotion announcement governance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13232"/>
            <a:ext cx="10835640" cy="3291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0">
                <a:solidFill>
                  <a:srgbClr val="595959"/>
                </a:solidFill>
                <a:latin typeface="Aptos"/>
              </a:rPr>
              <a:t>Eight reviewed · five company eligible · three excluded · zero real side effects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1874519" cy="658368"/>
          </a:xfrm>
          <a:prstGeom prst="roundRect">
            <a:avLst/>
          </a:prstGeom>
          <a:solidFill>
            <a:srgbClr val="DDEB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2500" b="1">
                <a:solidFill>
                  <a:srgbClr val="17365D"/>
                </a:solidFill>
                <a:latin typeface="Aptos"/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55648"/>
            <a:ext cx="1874519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950" b="0">
                <a:solidFill>
                  <a:srgbClr val="17365D"/>
                </a:solidFill>
                <a:latin typeface="Aptos"/>
              </a:rPr>
              <a:t>roster records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0360" y="1143000"/>
            <a:ext cx="1874519" cy="658368"/>
          </a:xfrm>
          <a:prstGeom prst="roundRect">
            <a:avLst/>
          </a:prstGeom>
          <a:solidFill>
            <a:srgbClr val="E2F0D9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2500" b="1">
                <a:solidFill>
                  <a:srgbClr val="17365D"/>
                </a:solidFill>
                <a:latin typeface="Aptos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360" y="1755648"/>
            <a:ext cx="1874519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950" b="0">
                <a:solidFill>
                  <a:srgbClr val="17365D"/>
                </a:solidFill>
                <a:latin typeface="Aptos"/>
              </a:rPr>
              <a:t>company eligible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60" y="1143000"/>
            <a:ext cx="1874519" cy="658368"/>
          </a:xfrm>
          <a:prstGeom prst="roundRect">
            <a:avLst/>
          </a:prstGeom>
          <a:solidFill>
            <a:srgbClr val="FFF2CC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2500" b="1">
                <a:solidFill>
                  <a:srgbClr val="17365D"/>
                </a:solidFill>
                <a:latin typeface="Aptos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5166360" y="1755648"/>
            <a:ext cx="1874519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950" b="0">
                <a:solidFill>
                  <a:srgbClr val="17365D"/>
                </a:solidFill>
                <a:latin typeface="Aptos"/>
              </a:rPr>
              <a:t>lateral excluded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1143000"/>
            <a:ext cx="1874519" cy="658368"/>
          </a:xfrm>
          <a:prstGeom prst="roundRect">
            <a:avLst/>
          </a:prstGeom>
          <a:solidFill>
            <a:srgbClr val="F4CCCC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2500" b="1">
                <a:solidFill>
                  <a:srgbClr val="17365D"/>
                </a:solidFill>
                <a:latin typeface="Aptos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52360" y="1755648"/>
            <a:ext cx="1874519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950" b="0">
                <a:solidFill>
                  <a:srgbClr val="17365D"/>
                </a:solidFill>
                <a:latin typeface="Aptos"/>
              </a:rPr>
              <a:t>pending hold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38360" y="1143000"/>
            <a:ext cx="1874519" cy="658368"/>
          </a:xfrm>
          <a:prstGeom prst="roundRect">
            <a:avLst/>
          </a:prstGeom>
          <a:solidFill>
            <a:srgbClr val="FFF2CC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2500" b="1">
                <a:solidFill>
                  <a:srgbClr val="17365D"/>
                </a:solidFill>
                <a:latin typeface="Aptos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738360" y="1755648"/>
            <a:ext cx="1874519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950" b="0">
                <a:solidFill>
                  <a:srgbClr val="17365D"/>
                </a:solidFill>
                <a:latin typeface="Aptos"/>
              </a:rPr>
              <a:t>real side effects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94360" y="2286000"/>
          <a:ext cx="1101852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194560"/>
                <a:gridCol w="2834640"/>
                <a:gridCol w="3108960"/>
                <a:gridCol w="2148840"/>
              </a:tblGrid>
              <a:tr h="541020">
                <a:tc>
                  <a:txBody>
                    <a:bodyPr/>
                    <a:lstStyle/>
                    <a:p>
                      <a:pPr algn="l"/>
                      <a:r>
                        <a:rPr sz="1010" b="1">
                          <a:solidFill>
                            <a:srgbClr val="FFFFFF"/>
                          </a:solidFill>
                          <a:latin typeface="Aptos"/>
                        </a:rPr>
                        <a:t>Order</a:t>
                      </a:r>
                    </a:p>
                  </a:txBody>
                  <a:tcPr marL="45720" marR="45720" marT="22860" marB="2286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0" b="1">
                          <a:solidFill>
                            <a:srgbClr val="FFFFFF"/>
                          </a:solidFill>
                          <a:latin typeface="Aptos"/>
                        </a:rPr>
                        <a:t>Employee</a:t>
                      </a:r>
                    </a:p>
                  </a:txBody>
                  <a:tcPr marL="45720" marR="45720" marT="22860" marB="2286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0" b="1">
                          <a:solidFill>
                            <a:srgbClr val="FFFFFF"/>
                          </a:solidFill>
                          <a:latin typeface="Aptos"/>
                        </a:rPr>
                        <a:t>Previous title</a:t>
                      </a:r>
                    </a:p>
                  </a:txBody>
                  <a:tcPr marL="45720" marR="45720" marT="22860" marB="2286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0" b="1">
                          <a:solidFill>
                            <a:srgbClr val="FFFFFF"/>
                          </a:solidFill>
                          <a:latin typeface="Aptos"/>
                        </a:rPr>
                        <a:t>New title</a:t>
                      </a:r>
                    </a:p>
                  </a:txBody>
                  <a:tcPr marL="45720" marR="45720" marT="22860" marB="2286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0" b="1">
                          <a:solidFill>
                            <a:srgbClr val="FFFFFF"/>
                          </a:solidFill>
                          <a:latin typeface="Aptos"/>
                        </a:rPr>
                        <a:t>Department</a:t>
                      </a:r>
                    </a:p>
                  </a:txBody>
                  <a:tcPr marL="45720" marR="45720" marT="22860" marB="22860">
                    <a:solidFill>
                      <a:srgbClr val="17365D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l"/>
                      <a:r>
                        <a:rPr sz="1010" b="0">
                          <a:solidFill>
                            <a:srgbClr val="17365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0" b="0">
                          <a:solidFill>
                            <a:srgbClr val="17365D"/>
                          </a:solidFill>
                          <a:latin typeface="Aptos"/>
                        </a:rPr>
                        <a:t>Ava Chen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0" b="0">
                          <a:solidFill>
                            <a:srgbClr val="17365D"/>
                          </a:solidFill>
                          <a:latin typeface="Aptos"/>
                        </a:rPr>
                        <a:t>Software Engineer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0" b="0">
                          <a:solidFill>
                            <a:srgbClr val="17365D"/>
                          </a:solidFill>
                          <a:latin typeface="Aptos"/>
                        </a:rPr>
                        <a:t>Senior Software Engineer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0" b="0">
                          <a:solidFill>
                            <a:srgbClr val="17365D"/>
                          </a:solidFill>
                          <a:latin typeface="Aptos"/>
                        </a:rPr>
                        <a:t>Engineering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l"/>
                      <a:r>
                        <a:rPr sz="1010" b="0">
                          <a:solidFill>
                            <a:srgbClr val="17365D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0" b="0">
                          <a:solidFill>
                            <a:srgbClr val="17365D"/>
                          </a:solidFill>
                          <a:latin typeface="Aptos"/>
                        </a:rPr>
                        <a:t>Brandon Osei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0" b="0">
                          <a:solidFill>
                            <a:srgbClr val="17365D"/>
                          </a:solidFill>
                          <a:latin typeface="Aptos"/>
                        </a:rPr>
                        <a:t>Account Executive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0" b="0">
                          <a:solidFill>
                            <a:srgbClr val="17365D"/>
                          </a:solidFill>
                          <a:latin typeface="Aptos"/>
                        </a:rPr>
                        <a:t>Senior Account Executive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0" b="0">
                          <a:solidFill>
                            <a:srgbClr val="17365D"/>
                          </a:solidFill>
                          <a:latin typeface="Aptos"/>
                        </a:rPr>
                        <a:t>Sales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l"/>
                      <a:r>
                        <a:rPr sz="1010" b="0">
                          <a:solidFill>
                            <a:srgbClr val="17365D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0" b="0">
                          <a:solidFill>
                            <a:srgbClr val="17365D"/>
                          </a:solidFill>
                          <a:latin typeface="Aptos"/>
                        </a:rPr>
                        <a:t>Elena Vasquez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0" b="0">
                          <a:solidFill>
                            <a:srgbClr val="17365D"/>
                          </a:solidFill>
                          <a:latin typeface="Aptos"/>
                        </a:rPr>
                        <a:t>Tech Lead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0" b="0">
                          <a:solidFill>
                            <a:srgbClr val="17365D"/>
                          </a:solidFill>
                          <a:latin typeface="Aptos"/>
                        </a:rPr>
                        <a:t>Engineering Manager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0" b="0">
                          <a:solidFill>
                            <a:srgbClr val="17365D"/>
                          </a:solidFill>
                          <a:latin typeface="Aptos"/>
                        </a:rPr>
                        <a:t>Engineering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l"/>
                      <a:r>
                        <a:rPr sz="1010" b="0">
                          <a:solidFill>
                            <a:srgbClr val="17365D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0" b="0">
                          <a:solidFill>
                            <a:srgbClr val="17365D"/>
                          </a:solidFill>
                          <a:latin typeface="Aptos"/>
                        </a:rPr>
                        <a:t>Greta Nilsson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0" b="0">
                          <a:solidFill>
                            <a:srgbClr val="17365D"/>
                          </a:solidFill>
                          <a:latin typeface="Aptos"/>
                        </a:rPr>
                        <a:t>Support Specialist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0" b="0">
                          <a:solidFill>
                            <a:srgbClr val="17365D"/>
                          </a:solidFill>
                          <a:latin typeface="Aptos"/>
                        </a:rPr>
                        <a:t>Senior Support Specialist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0" b="0">
                          <a:solidFill>
                            <a:srgbClr val="17365D"/>
                          </a:solidFill>
                          <a:latin typeface="Aptos"/>
                        </a:rPr>
                        <a:t>Support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l"/>
                      <a:r>
                        <a:rPr sz="1010" b="0">
                          <a:solidFill>
                            <a:srgbClr val="17365D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0" b="0">
                          <a:solidFill>
                            <a:srgbClr val="17365D"/>
                          </a:solidFill>
                          <a:latin typeface="Aptos"/>
                        </a:rPr>
                        <a:t>Hugo Fernandez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0" b="0">
                          <a:solidFill>
                            <a:srgbClr val="17365D"/>
                          </a:solidFill>
                          <a:latin typeface="Aptos"/>
                        </a:rPr>
                        <a:t>Junior Engineer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0" b="0">
                          <a:solidFill>
                            <a:srgbClr val="17365D"/>
                          </a:solidFill>
                          <a:latin typeface="Aptos"/>
                        </a:rPr>
                        <a:t>Software Engineer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0" b="0">
                          <a:solidFill>
                            <a:srgbClr val="17365D"/>
                          </a:solidFill>
                          <a:latin typeface="Aptos"/>
                        </a:rPr>
                        <a:t>Engineering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594360" y="5760720"/>
            <a:ext cx="11018520" cy="429768"/>
          </a:xfrm>
          <a:prstGeom prst="roundRect">
            <a:avLst/>
          </a:prstGeom>
          <a:solidFill>
            <a:srgbClr val="FFF2CC"/>
          </a:solidFill>
          <a:ln>
            <a:solidFill>
              <a:srgbClr val="FFF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17365D"/>
                </a:solidFill>
                <a:latin typeface="Aptos"/>
              </a:rPr>
              <a:t>One all-company draft · email sent=0 · manager drafts=0 · Slack drafts/posts=0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2400" b="1">
                <a:solidFill>
                  <a:srgbClr val="17365D"/>
                </a:solidFill>
                <a:latin typeface="Aptos"/>
              </a:rPr>
              <a:t>Complete eight-person eligibility register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13232"/>
            <a:ext cx="10835640" cy="3291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0">
                <a:solidFill>
                  <a:srgbClr val="595959"/>
                </a:solidFill>
                <a:latin typeface="Aptos"/>
              </a:rPr>
              <a:t>Greta is included by full policy evaluation even though upstream assertions do not name her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143000"/>
          <a:ext cx="11548872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737360"/>
                <a:gridCol w="1325880"/>
                <a:gridCol w="960120"/>
                <a:gridCol w="640080"/>
                <a:gridCol w="777240"/>
                <a:gridCol w="777240"/>
                <a:gridCol w="777240"/>
                <a:gridCol w="4005072"/>
              </a:tblGrid>
              <a:tr h="523240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  <a:latin typeface="Aptos"/>
                        </a:rPr>
                        <a:t>Row</a:t>
                      </a:r>
                    </a:p>
                  </a:txBody>
                  <a:tcPr marL="45720" marR="45720" marT="22860" marB="2286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  <a:latin typeface="Aptos"/>
                        </a:rPr>
                        <a:t>Employee</a:t>
                      </a:r>
                    </a:p>
                  </a:txBody>
                  <a:tcPr marL="45720" marR="45720" marT="22860" marB="2286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  <a:latin typeface="Aptos"/>
                        </a:rPr>
                        <a:t>Department</a:t>
                      </a:r>
                    </a:p>
                  </a:txBody>
                  <a:tcPr marL="45720" marR="45720" marT="22860" marB="2286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  <a:latin typeface="Aptos"/>
                        </a:rPr>
                        <a:t>Type</a:t>
                      </a:r>
                    </a:p>
                  </a:txBody>
                  <a:tcPr marL="45720" marR="45720" marT="22860" marB="2286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  <a:latin typeface="Aptos"/>
                        </a:rPr>
                        <a:t>Hold</a:t>
                      </a:r>
                    </a:p>
                  </a:txBody>
                  <a:tcPr marL="45720" marR="45720" marT="22860" marB="2286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  <a:latin typeface="Aptos"/>
                        </a:rPr>
                        <a:t>Eligible</a:t>
                      </a:r>
                    </a:p>
                  </a:txBody>
                  <a:tcPr marL="45720" marR="45720" marT="22860" marB="2286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  <a:latin typeface="Aptos"/>
                        </a:rPr>
                        <a:t>Company</a:t>
                      </a:r>
                    </a:p>
                  </a:txBody>
                  <a:tcPr marL="45720" marR="45720" marT="22860" marB="2286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  <a:latin typeface="Aptos"/>
                        </a:rPr>
                        <a:t>Manager</a:t>
                      </a:r>
                    </a:p>
                  </a:txBody>
                  <a:tcPr marL="45720" marR="45720" marT="22860" marB="2286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  <a:latin typeface="Aptos"/>
                        </a:rPr>
                        <a:t>Final status</a:t>
                      </a:r>
                    </a:p>
                  </a:txBody>
                  <a:tcPr marL="45720" marR="45720" marT="22860" marB="22860">
                    <a:solidFill>
                      <a:srgbClr val="17365D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17365D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17365D"/>
                          </a:solidFill>
                          <a:latin typeface="Aptos"/>
                        </a:rPr>
                        <a:t>Ava Chen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17365D"/>
                          </a:solidFill>
                          <a:latin typeface="Aptos"/>
                        </a:rPr>
                        <a:t>Engineering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17365D"/>
                          </a:solidFill>
                          <a:latin typeface="Aptos"/>
                        </a:rPr>
                        <a:t>Vertical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17365D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17365D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17365D"/>
                          </a:solidFill>
                          <a:latin typeface="Aptos"/>
                        </a:rPr>
                        <a:t>ELIGIBLE_COMPANY_ANNOUNCEMENT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17365D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17365D"/>
                          </a:solidFill>
                          <a:latin typeface="Aptos"/>
                        </a:rPr>
                        <a:t>Brandon Osei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17365D"/>
                          </a:solidFill>
                          <a:latin typeface="Aptos"/>
                        </a:rPr>
                        <a:t>Sales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17365D"/>
                          </a:solidFill>
                          <a:latin typeface="Aptos"/>
                        </a:rPr>
                        <a:t>Vertical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17365D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17365D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17365D"/>
                          </a:solidFill>
                          <a:latin typeface="Aptos"/>
                        </a:rPr>
                        <a:t>ELIGIBLE_COMPANY_ANNOUNCEMENT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17365D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17365D"/>
                          </a:solidFill>
                          <a:latin typeface="Aptos"/>
                        </a:rPr>
                        <a:t>Clara Dubois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17365D"/>
                          </a:solidFill>
                          <a:latin typeface="Aptos"/>
                        </a:rPr>
                        <a:t>Product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17365D"/>
                          </a:solidFill>
                          <a:latin typeface="Aptos"/>
                        </a:rPr>
                        <a:t>Lateral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17365D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17365D"/>
                          </a:solidFill>
                          <a:latin typeface="Aptos"/>
                        </a:rPr>
                        <a:t>RECEIVING_MANAGER_COMMUNICATION_REQUIRED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17365D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17365D"/>
                          </a:solidFill>
                          <a:latin typeface="Aptos"/>
                        </a:rPr>
                        <a:t>Derek Holm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17365D"/>
                          </a:solidFill>
                          <a:latin typeface="Aptos"/>
                        </a:rPr>
                        <a:t>Engineering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17365D"/>
                          </a:solidFill>
                          <a:latin typeface="Aptos"/>
                        </a:rPr>
                        <a:t>Vertical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17365D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17365D"/>
                          </a:solidFill>
                          <a:latin typeface="Aptos"/>
                        </a:rPr>
                        <a:t>PENDING_HOLD_NOT_CLEARED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17365D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17365D"/>
                          </a:solidFill>
                          <a:latin typeface="Aptos"/>
                        </a:rPr>
                        <a:t>Elena Vasquez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17365D"/>
                          </a:solidFill>
                          <a:latin typeface="Aptos"/>
                        </a:rPr>
                        <a:t>Engineering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17365D"/>
                          </a:solidFill>
                          <a:latin typeface="Aptos"/>
                        </a:rPr>
                        <a:t>Vertical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17365D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17365D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17365D"/>
                          </a:solidFill>
                          <a:latin typeface="Aptos"/>
                        </a:rPr>
                        <a:t>ELIGIBLE_COMPANY_ANNOUNCEMENT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17365D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17365D"/>
                          </a:solidFill>
                          <a:latin typeface="Aptos"/>
                        </a:rPr>
                        <a:t>Faisal Rahman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17365D"/>
                          </a:solidFill>
                          <a:latin typeface="Aptos"/>
                        </a:rPr>
                        <a:t>Marketing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17365D"/>
                          </a:solidFill>
                          <a:latin typeface="Aptos"/>
                        </a:rPr>
                        <a:t>Lateral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17365D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17365D"/>
                          </a:solidFill>
                          <a:latin typeface="Aptos"/>
                        </a:rPr>
                        <a:t>RECEIVING_MANAGER_COMMUNICATION_REQUIRED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17365D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17365D"/>
                          </a:solidFill>
                          <a:latin typeface="Aptos"/>
                        </a:rPr>
                        <a:t>Greta Nilsson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17365D"/>
                          </a:solidFill>
                          <a:latin typeface="Aptos"/>
                        </a:rPr>
                        <a:t>Support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17365D"/>
                          </a:solidFill>
                          <a:latin typeface="Aptos"/>
                        </a:rPr>
                        <a:t>Vertical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17365D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17365D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17365D"/>
                          </a:solidFill>
                          <a:latin typeface="Aptos"/>
                        </a:rPr>
                        <a:t>ELIGIBLE_COMPANY_ANNOUNCEMENT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17365D"/>
                          </a:solidFill>
                          <a:latin typeface="Aptos"/>
                        </a:rPr>
                        <a:t>9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17365D"/>
                          </a:solidFill>
                          <a:latin typeface="Aptos"/>
                        </a:rPr>
                        <a:t>Hugo Fernandez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17365D"/>
                          </a:solidFill>
                          <a:latin typeface="Aptos"/>
                        </a:rPr>
                        <a:t>Engineering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17365D"/>
                          </a:solidFill>
                          <a:latin typeface="Aptos"/>
                        </a:rPr>
                        <a:t>Vertical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17365D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17365D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17365D"/>
                          </a:solidFill>
                          <a:latin typeface="Aptos"/>
                        </a:rPr>
                        <a:t>ELIGIBLE_COMPANY_ANNOUNCEMENT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94360" y="5916168"/>
            <a:ext cx="11000232" cy="384048"/>
          </a:xfrm>
          <a:prstGeom prst="roundRect">
            <a:avLst/>
          </a:prstGeom>
          <a:solidFill>
            <a:srgbClr val="DDEBF7"/>
          </a:solidFill>
          <a:ln>
            <a:solidFill>
              <a:srgbClr val="DD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17365D"/>
                </a:solidFill>
                <a:latin typeface="Aptos"/>
              </a:rPr>
              <a:t>Policy wins over the request to include lateral moves · no manager identity is invented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2400" b="1">
                <a:solidFill>
                  <a:srgbClr val="17365D"/>
                </a:solidFill>
                <a:latin typeface="Aptos"/>
              </a:rPr>
              <a:t>Exclusion and channel controls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13232"/>
            <a:ext cx="10835640" cy="3291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0">
                <a:solidFill>
                  <a:srgbClr val="595959"/>
                </a:solidFill>
                <a:latin typeface="Aptos"/>
              </a:rPr>
              <a:t>Latest VP People policy governs scope; prior-quarter email governs format only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143000"/>
          <a:ext cx="11365992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822960"/>
                <a:gridCol w="3017520"/>
                <a:gridCol w="3291840"/>
                <a:gridCol w="1965960"/>
                <a:gridCol w="758952"/>
              </a:tblGrid>
              <a:tr h="60579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Employee</a:t>
                      </a:r>
                    </a:p>
                  </a:txBody>
                  <a:tcPr marL="45720" marR="45720" marT="22860" marB="2286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Type</a:t>
                      </a:r>
                    </a:p>
                  </a:txBody>
                  <a:tcPr marL="45720" marR="45720" marT="22860" marB="2286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Notes</a:t>
                      </a:r>
                    </a:p>
                  </a:txBody>
                  <a:tcPr marL="45720" marR="45720" marT="22860" marB="2286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Reason</a:t>
                      </a:r>
                    </a:p>
                  </a:txBody>
                  <a:tcPr marL="45720" marR="45720" marT="22860" marB="2286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Owner</a:t>
                      </a:r>
                    </a:p>
                  </a:txBody>
                  <a:tcPr marL="45720" marR="45720" marT="22860" marB="2286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Draft / sent</a:t>
                      </a:r>
                    </a:p>
                  </a:txBody>
                  <a:tcPr marL="45720" marR="45720" marT="22860" marB="22860">
                    <a:solidFill>
                      <a:srgbClr val="17365D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365D"/>
                          </a:solidFill>
                          <a:latin typeface="Aptos"/>
                        </a:rPr>
                        <a:t>Clara Dubois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365D"/>
                          </a:solidFill>
                          <a:latin typeface="Aptos"/>
                        </a:rPr>
                        <a:t>Lateral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365D"/>
                          </a:solidFill>
                          <a:latin typeface="Aptos"/>
                        </a:rPr>
                        <a:t>Moving from Growth to Platform team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365D"/>
                          </a:solidFill>
                          <a:latin typeface="Aptos"/>
                        </a:rPr>
                        <a:t>LATERAL_COMPANY_ANNOUNCEMENT_PROHIBITED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365D"/>
                          </a:solidFill>
                          <a:latin typeface="Aptos"/>
                        </a:rPr>
                        <a:t>receiving_team_manager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365D"/>
                          </a:solidFill>
                          <a:latin typeface="Aptos"/>
                        </a:rPr>
                        <a:t>0 / 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365D"/>
                          </a:solidFill>
                          <a:latin typeface="Aptos"/>
                        </a:rPr>
                        <a:t>Derek Holm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365D"/>
                          </a:solidFill>
                          <a:latin typeface="Aptos"/>
                        </a:rPr>
                        <a:t>Vertical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365D"/>
                          </a:solidFill>
                          <a:latin typeface="Aptos"/>
                        </a:rPr>
                        <a:t>Pending - awaiting final sign-off from CTO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365D"/>
                          </a:solidFill>
                          <a:latin typeface="Aptos"/>
                        </a:rPr>
                        <a:t>PENDING_HOLD_NOT_CLEARED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365D"/>
                          </a:solidFill>
                          <a:latin typeface="Aptos"/>
                        </a:rPr>
                        <a:t>HR_APPROVAL_CLEARANCE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365D"/>
                          </a:solidFill>
                          <a:latin typeface="Aptos"/>
                        </a:rPr>
                        <a:t>0 / 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365D"/>
                          </a:solidFill>
                          <a:latin typeface="Aptos"/>
                        </a:rPr>
                        <a:t>Faisal Rahman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365D"/>
                          </a:solidFill>
                          <a:latin typeface="Aptos"/>
                        </a:rPr>
                        <a:t>Lateral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365D"/>
                          </a:solidFill>
                          <a:latin typeface="Aptos"/>
                        </a:rPr>
                        <a:t>Transfer to EMEA team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365D"/>
                          </a:solidFill>
                          <a:latin typeface="Aptos"/>
                        </a:rPr>
                        <a:t>LATERAL_COMPANY_ANNOUNCEMENT_PROHIBITED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365D"/>
                          </a:solidFill>
                          <a:latin typeface="Aptos"/>
                        </a:rPr>
                        <a:t>receiving_team_manager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365D"/>
                          </a:solidFill>
                          <a:latin typeface="Aptos"/>
                        </a:rPr>
                        <a:t>0 / 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11480" y="3886200"/>
            <a:ext cx="3520440" cy="987552"/>
          </a:xfrm>
          <a:prstGeom prst="roundRect">
            <a:avLst/>
          </a:prstGeom>
          <a:solidFill>
            <a:srgbClr val="E2F0D9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300" b="1">
                <a:solidFill>
                  <a:srgbClr val="17365D"/>
                </a:solidFill>
                <a:latin typeface="Aptos"/>
              </a:rPr>
              <a:t>Company email
1 draft · 0 sent
all-company@company.example.com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34256" y="3886200"/>
            <a:ext cx="3520440" cy="987552"/>
          </a:xfrm>
          <a:prstGeom prst="roundRect">
            <a:avLst/>
          </a:prstGeom>
          <a:solidFill>
            <a:srgbClr val="FFF2CC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300" b="1">
                <a:solidFill>
                  <a:srgbClr val="17365D"/>
                </a:solidFill>
                <a:latin typeface="Aptos"/>
              </a:rPr>
              <a:t>Receiving managers
2 routes required
0 identities · 0 drafts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57031" y="3886200"/>
            <a:ext cx="3520440" cy="987552"/>
          </a:xfrm>
          <a:prstGeom prst="roundRect">
            <a:avLst/>
          </a:prstGeom>
          <a:solidFill>
            <a:srgbClr val="FFF2CC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300" b="1">
                <a:solidFill>
                  <a:srgbClr val="17365D"/>
                </a:solidFill>
                <a:latin typeface="Aptos"/>
              </a:rPr>
              <a:t>#general Slack
NOT_AUTHORIZED_CHANNEL
0 drafts · 0 posts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5257800"/>
            <a:ext cx="11365992" cy="566928"/>
          </a:xfrm>
          <a:prstGeom prst="roundRect">
            <a:avLst/>
          </a:prstGeom>
          <a:solidFill>
            <a:srgbClr val="DDEBF7"/>
          </a:solidFill>
          <a:ln>
            <a:solidFill>
              <a:srgbClr val="DD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100" b="1">
                <a:solidFill>
                  <a:srgbClr val="17365D"/>
                </a:solidFill>
                <a:latin typeface="Aptos"/>
              </a:rPr>
              <a:t>DRAFT_NOT_SENT · BLOCKED_IDENTITY_UNAVAILABLE · no excluded employee in company email or Slack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5943600"/>
            <a:ext cx="11365992" cy="365760"/>
          </a:xfrm>
          <a:prstGeom prst="roundRect">
            <a:avLst/>
          </a:prstGeom>
          <a:solidFill>
            <a:srgbClr val="E2F0D9"/>
          </a:solidFill>
          <a:ln>
            <a:solidFill>
              <a:srgbClr val="E2F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17365D"/>
                </a:solidFill>
                <a:latin typeface="Aptos"/>
              </a:rPr>
              <a:t>Company emails sent=0 · Manager notifications sent=0 · Slack posts=0 · Real side effects=0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Promotion Announcement Review</dc:title>
  <dc:subject/>
  <dc:creator>EvoCowork AutomationBench 5112 adaptation</dc:creator>
  <cp:keywords/>
  <dc:description>generated using python-pptx</dc:description>
  <cp:lastModifiedBy>EvoCowork</cp:lastModifiedBy>
  <cp:revision>1</cp:revision>
  <dcterms:created xsi:type="dcterms:W3CDTF">2026-04-15T09:00:00Z</dcterms:created>
  <dcterms:modified xsi:type="dcterms:W3CDTF">2026-04-15T09:00:00Z</dcterms:modified>
  <cp:category/>
</cp:coreProperties>
</file>