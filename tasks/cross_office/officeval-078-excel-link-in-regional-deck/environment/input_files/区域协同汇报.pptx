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high_tech_command_center_opera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667512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200" b="1">
                <a:solidFill>
                  <a:srgbClr val="71DAE4"/>
                </a:solidFill>
                <a:latin typeface="Aptos"/>
              </a:defRPr>
            </a:pPr>
            <a:r>
              <a:t>REGIONAL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822960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3400" b="1">
                <a:solidFill>
                  <a:srgbClr val="F4F9FB"/>
                </a:solidFill>
                <a:latin typeface="Aptos"/>
              </a:defRPr>
            </a:pPr>
            <a:r>
              <a:t>Q1 2026 Operating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572768"/>
            <a:ext cx="93268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500" b="0">
                <a:solidFill>
                  <a:srgbClr val="B2C8D4"/>
                </a:solidFill>
                <a:latin typeface="Aptos"/>
              </a:defRPr>
            </a:pPr>
            <a:r>
              <a:t>Financial health · execution rhythm · pipeline readiness · leadership alignment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4663440" cy="246888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73152" cy="246888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4343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500" b="1">
                <a:solidFill>
                  <a:srgbClr val="F6B743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383280"/>
            <a:ext cx="4343400" cy="19659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Financial result overview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Performance scorecard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Progress, roadblocks and risk focus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Q2 actions and leadership decisions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Pipeline status and rolling forecast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977639"/>
            <a:ext cx="4480560" cy="123444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3977639"/>
            <a:ext cx="73152" cy="123444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1" y="4087368"/>
            <a:ext cx="4160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0C2CC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4407407"/>
            <a:ext cx="4160520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A board-ready view of the operating rhythm, priorities and decision path.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01/10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high_resolution_futuristic_data_dashboard_u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Financial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Q1 margin remains positive while finance costs and one-off items need attention.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20574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73152" cy="114300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709928"/>
            <a:ext cx="1737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00C2CC"/>
                </a:solidFill>
                <a:latin typeface="Aptos"/>
              </a:defRPr>
            </a:pPr>
            <a:r>
              <a:t>Gross profit vs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002536"/>
            <a:ext cx="1691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F4F9FB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68880"/>
            <a:ext cx="16916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900" b="0">
                <a:solidFill>
                  <a:srgbClr val="B2C8D4"/>
                </a:solidFill>
                <a:latin typeface="Aptos"/>
              </a:defRPr>
            </a:pPr>
            <a:r>
              <a:t>Healthy but slightly below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600200"/>
            <a:ext cx="20574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360" y="1600200"/>
            <a:ext cx="73152" cy="1143000"/>
          </a:xfrm>
          <a:prstGeom prst="rect">
            <a:avLst/>
          </a:prstGeom>
          <a:solidFill>
            <a:srgbClr val="3AD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709928"/>
            <a:ext cx="1737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3AD293"/>
                </a:solidFill>
                <a:latin typeface="Aptos"/>
              </a:defRPr>
            </a:pPr>
            <a:r>
              <a:t>Operating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002536"/>
            <a:ext cx="1691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F4F9FB"/>
                </a:solidFill>
                <a:latin typeface="Aptos"/>
              </a:defRPr>
            </a:pPr>
            <a:r>
              <a:t>3% lower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468880"/>
            <a:ext cx="16916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900" b="0">
                <a:solidFill>
                  <a:srgbClr val="B2C8D4"/>
                </a:solidFill>
                <a:latin typeface="Aptos"/>
              </a:defRPr>
            </a:pPr>
            <a:r>
              <a:t>Spend discipline maintained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1600200"/>
            <a:ext cx="20574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1600200"/>
            <a:ext cx="73152" cy="114300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0952" y="1709928"/>
            <a:ext cx="1737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F6B743"/>
                </a:solidFill>
                <a:latin typeface="Aptos"/>
              </a:defRPr>
            </a:pPr>
            <a:r>
              <a:t>EBIT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002536"/>
            <a:ext cx="1691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F4F9FB"/>
                </a:solidFill>
                <a:latin typeface="Aptos"/>
              </a:defRPr>
            </a:pPr>
            <a:r>
              <a:t>On 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468880"/>
            <a:ext cx="16916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900" b="0">
                <a:solidFill>
                  <a:srgbClr val="B2C8D4"/>
                </a:solidFill>
                <a:latin typeface="Aptos"/>
              </a:defRPr>
            </a:pPr>
            <a:r>
              <a:t>Small positive contribution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00200"/>
            <a:ext cx="20574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1600200"/>
            <a:ext cx="73152" cy="1143000"/>
          </a:xfrm>
          <a:prstGeom prst="rect">
            <a:avLst/>
          </a:prstGeom>
          <a:solidFill>
            <a:srgbClr val="F5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2" y="1709928"/>
            <a:ext cx="1737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F56262"/>
                </a:solidFill>
                <a:latin typeface="Aptos"/>
              </a:defRPr>
            </a:pPr>
            <a:r>
              <a:t>Net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002536"/>
            <a:ext cx="1691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F4F9FB"/>
                </a:solidFill>
                <a:latin typeface="Aptos"/>
              </a:defRPr>
            </a:pPr>
            <a:r>
              <a:t>Watch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468880"/>
            <a:ext cx="16916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900" b="0">
                <a:solidFill>
                  <a:srgbClr val="B2C8D4"/>
                </a:solidFill>
                <a:latin typeface="Aptos"/>
              </a:defRPr>
            </a:pPr>
            <a:r>
              <a:t>Below target after finance items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40080" y="315468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Line item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FY26 Actual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FY26 Plan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Variance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FY25 Actual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4,860.5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5,420.0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(559.5)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3,740.3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Cost of services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(3,708.2)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(4,145.6)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437.4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(2,936.8)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Gross profit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1,152.3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1,274.4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(122.1)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803.5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Payroll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(842.5)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(869.0)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26.5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(798.1)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(38.2)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(42.6)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4.4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(32.5)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Other OPEX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(216.1)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(237.9)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21.8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(214.4)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EBIT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55.5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124.9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(69.4)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(241.5)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Finance &amp; other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(118.6)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(58.4)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(60.2)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68.2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Net income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(63.1)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66.5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(129.6)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(173.3)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543800" y="3246120"/>
            <a:ext cx="384048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• Revenue mix improved with stronger controlled lanes.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• Gross margin held up despite softer project timing.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• Finance charges and one-off adjustments remain the main drag.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02/10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Performance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Targets and Q1 delivery are organized to show momentum, gaps and control 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08760"/>
          <a:ext cx="6766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097280"/>
                <a:gridCol w="1097280"/>
                <a:gridCol w="914400"/>
              </a:tblGrid>
              <a:tr h="497840"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Indicator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FY26 Target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Q1 Target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Q1 Result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Gross Profit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9.4M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2.1M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2.0M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Large accounts in active portfolio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Green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Controlled shipments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1,420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355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330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Relevant recurring customers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1,180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295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276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Cargo volume operated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6,500T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1,620T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1,410T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EBIT %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2.6%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0.7%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0.5%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TEU equivalent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8,600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2,150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1,920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Job files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11,800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2,950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2,680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458200" y="1554480"/>
            <a:ext cx="2971800" cy="109728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1554480"/>
            <a:ext cx="73152" cy="109728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1664207"/>
            <a:ext cx="26517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1984248"/>
            <a:ext cx="2651760" cy="59435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0">
                <a:solidFill>
                  <a:srgbClr val="F4F9FB"/>
                </a:solidFill>
                <a:latin typeface="Aptos"/>
              </a:defRPr>
            </a:pPr>
            <a:r>
              <a:t>Commercial quality is improving, but volume-driven metrics need a stronger Q2 push.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880360"/>
            <a:ext cx="29718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2880360"/>
            <a:ext cx="73152" cy="1143000"/>
          </a:xfrm>
          <a:prstGeom prst="rect">
            <a:avLst/>
          </a:prstGeom>
          <a:solidFill>
            <a:srgbClr val="F5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990088"/>
            <a:ext cx="26517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56262"/>
                </a:solidFill>
                <a:latin typeface="Aptos"/>
              </a:defRPr>
            </a:pPr>
            <a:r>
              <a:t>Primary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3310128"/>
            <a:ext cx="265176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0">
                <a:solidFill>
                  <a:srgbClr val="F4F9FB"/>
                </a:solidFill>
                <a:latin typeface="Aptos"/>
              </a:defRPr>
            </a:pPr>
            <a:r>
              <a:t>Job file creation and ocean-equivalent volume are lagging behind the execution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251960"/>
            <a:ext cx="29718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200" y="4251960"/>
            <a:ext cx="73152" cy="114300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4361688"/>
            <a:ext cx="26517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Control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4681728"/>
            <a:ext cx="265176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0">
                <a:solidFill>
                  <a:srgbClr val="F4F9FB"/>
                </a:solidFill>
                <a:latin typeface="Aptos"/>
              </a:defRPr>
            </a:pPr>
            <a:r>
              <a:t>Weekly pipeline review and clean handoffs between sales, operations and finance.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03/10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highly_detailed_digital_illus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Diagnosis: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The region started the year with stronger controlled business and cleaner operational routines.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5486400" cy="3931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Core export lanes secured in two priority markets, with early contribution to routed cargo.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Air and ocean solutions gained traction in technology, industrial and time-critical sectors.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Local-market acquisition improved through flexible sales coverage in selected countries.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Network participation increased in aerospace and aftermarket parts movement.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January margin volatility normalized as account mix returned to average quality.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45920"/>
            <a:ext cx="4297680" cy="100584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1645920"/>
            <a:ext cx="73152" cy="100584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1755648"/>
            <a:ext cx="3977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1">
                <a:solidFill>
                  <a:srgbClr val="00C2CC"/>
                </a:solidFill>
                <a:latin typeface="Aptos"/>
              </a:defRPr>
            </a:pPr>
            <a:r>
              <a:t>Common thread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075688"/>
            <a:ext cx="39776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Secure recurring traffic first; then expand into cross-border projects and value-added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971800"/>
            <a:ext cx="4297680" cy="100584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2971800"/>
            <a:ext cx="73152" cy="100584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3081528"/>
            <a:ext cx="3977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1">
                <a:solidFill>
                  <a:srgbClr val="F6B743"/>
                </a:solidFill>
                <a:latin typeface="Aptos"/>
              </a:defRPr>
            </a:pPr>
            <a:r>
              <a:t>Momentum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3401568"/>
            <a:ext cx="39776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Controlled business, local market wins, and more disciplined operational planning.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4297680"/>
            <a:ext cx="4297680" cy="100584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4297680"/>
            <a:ext cx="73152" cy="1005840"/>
          </a:xfrm>
          <a:prstGeom prst="rect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4407408"/>
            <a:ext cx="3977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1">
                <a:solidFill>
                  <a:srgbClr val="7A6BFF"/>
                </a:solidFill>
                <a:latin typeface="Aptos"/>
              </a:defRPr>
            </a:pPr>
            <a:r>
              <a:t>Dependency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4727448"/>
            <a:ext cx="39776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Routed cargo support and financing cadence must keep pace with demand.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04/10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Diagnosis: Roadblocks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Growth opportunities remain intact, but execution risk is concentrated in funding, capacity and collections.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73152" cy="1143000"/>
          </a:xfrm>
          <a:prstGeom prst="rect">
            <a:avLst/>
          </a:prstGeom>
          <a:solidFill>
            <a:srgbClr val="F5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61848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56262"/>
                </a:solidFill>
                <a:latin typeface="Aptos"/>
              </a:defRPr>
            </a:pPr>
            <a:r>
              <a:t>Funding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3852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Investment approvals are not yet fully confirmed, slowing project kick-off windows.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0876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73152" cy="114300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61848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Project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93852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Some 2026 opportunities have moved from active execution to standby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26080"/>
            <a:ext cx="73152" cy="1143000"/>
          </a:xfrm>
          <a:prstGeom prst="rect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03580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7A6BFF"/>
                </a:solidFill>
                <a:latin typeface="Aptos"/>
              </a:defRPr>
            </a:pPr>
            <a:r>
              <a:t>Network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35584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Air and aerospace service options need faster pricing and operational confirmation.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92608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926080"/>
            <a:ext cx="73152" cy="1143000"/>
          </a:xfrm>
          <a:prstGeom prst="rect">
            <a:avLst/>
          </a:prstGeom>
          <a:solidFill>
            <a:srgbClr val="F5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03580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56262"/>
                </a:solidFill>
                <a:latin typeface="Aptos"/>
              </a:defRPr>
            </a:pPr>
            <a:r>
              <a:t>Receivable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35584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Intercompany overdue recovery may affect service continuity if left unresolved.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4340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343400"/>
            <a:ext cx="73152" cy="114300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45312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Volume shortfall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77316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TEU-equivalent, air tonnage, TCC files and total job files are below the target curve.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77840"/>
            <a:ext cx="1828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600" b="1">
                <a:solidFill>
                  <a:srgbClr val="F6B743"/>
                </a:solidFill>
                <a:latin typeface="Aptos"/>
              </a:defRPr>
            </a:pPr>
            <a:r>
              <a:t>Focus for Q2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550408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Keep the business moving while replacing ad-hoc reactions with a predictable weekly control rhythm.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05/10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futuristic_infographic_concept_art_scene_a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Actions and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Execution priorities are sequenced to stabilize the base, grow controlled cargo and reduce operational exposure.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08760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508760"/>
            <a:ext cx="73152" cy="118872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61848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Stabilize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938528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Protect service continuity, documentation accuracy and vendor payment discipline.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508760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508760"/>
            <a:ext cx="73152" cy="118872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161848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Launch Q2 rhythm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1938528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Weekly budget-to-actual review with a clear action owner for each variance.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508760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508760"/>
            <a:ext cx="73152" cy="1188720"/>
          </a:xfrm>
          <a:prstGeom prst="rect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161848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7A6BFF"/>
                </a:solidFill>
                <a:latin typeface="Aptos"/>
              </a:defRPr>
            </a:pPr>
            <a:r>
              <a:t>Grow controlled cargo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938528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Prioritize local wins that contribute positive margin and repeatable volume.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063239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063239"/>
            <a:ext cx="73152" cy="1188720"/>
          </a:xfrm>
          <a:prstGeom prst="rect">
            <a:avLst/>
          </a:prstGeom>
          <a:solidFill>
            <a:srgbClr val="3AD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17296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3AD293"/>
                </a:solidFill>
                <a:latin typeface="Aptos"/>
              </a:defRPr>
            </a:pPr>
            <a:r>
              <a:t>Prepare special 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493007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Structure charter and oversized moves with vetted funding and risk checks.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063239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3063239"/>
            <a:ext cx="73152" cy="118872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1" y="317296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Strengthen solutions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3493007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Codify repeatable ocean, air and project-cargo playbooks for the region.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063239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063239"/>
            <a:ext cx="73152" cy="118872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1" y="317296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Clean finance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3493007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Align payroll, corporate fees and intercompany transfers with standard practice.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06/10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Leadership Alignment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These requests convert the Q2 plan into decisions that can be tracked and audited.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5760720" cy="43891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Execute global products through documented local playbooks.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Provide more regular updates on cash position, loan lines and credit availability.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Reduce legal and liability exposure through cleaner approval thresholds.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Simplify month-end closing to match common sector practice.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Increase automation in reporting and minimize manual spreadsheet handling.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Set compliant inter-company transfer pricing aligned with international rules.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Summarize Q2 leadership initiatives in no more than five trackable points.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03720" y="169164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81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Decision area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Timing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Expected output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Cash visibility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Finance lead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Weekly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Short cash bridge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Transfer pricing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Regional finance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Approved policy note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Reporting automation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Ops excellence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Dashboard prototype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Project governance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Commercial lead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Risk-gated pipeline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03720" y="4800600"/>
            <a:ext cx="4572000" cy="86868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4800600"/>
            <a:ext cx="73152" cy="86868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8312" y="4910328"/>
            <a:ext cx="4251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Working 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5230368"/>
            <a:ext cx="4251960" cy="36575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Fewer decisions, clearer ownership, faster escalation.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07/10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futuristic_infographic_concept_art_scene_a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Strategic Pipeline Status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Q1 opportunity status is organized by sector, scope, stage and Q2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572768"/>
          <a:ext cx="8641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417320"/>
                <a:gridCol w="1828800"/>
                <a:gridCol w="1143000"/>
                <a:gridCol w="2011680"/>
                <a:gridCol w="914400"/>
              </a:tblGrid>
              <a:tr h="565785"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Pipeline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Sector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Scope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Q2 action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Value band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HarborLink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Retail &amp; consumer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Ocean + customs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Proposal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Validate lane cost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AeroPulse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Aerospace parts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Time-critical air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Qualified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Run service trial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GreenCart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Food logistics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Cold-chain routing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Discovery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Confirm compliance path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AtlasWorks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Industrial projects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Oversized cargo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Negotiation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Finalize risk sheet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NovaCare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Healthcare supply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Regional replenishment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Qualified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Pilot two lanes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BlueGrid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Energy equipment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Project cargo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Standby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Recheck funding window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NorthBay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E-commerce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Cross-border parcel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Discovery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Build rate card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190488"/>
            <a:ext cx="59436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000" b="0">
                <a:solidFill>
                  <a:srgbClr val="B2C8D4"/>
                </a:solidFill>
                <a:latin typeface="Aptos"/>
              </a:defRPr>
            </a:pPr>
            <a:r>
              <a:t>Pipeline view: opportunities, next actions and priority bands.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08/10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high_tech_command_center_opera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Agreements and Request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Decisions from the call are organized around owners, due dates and evidence of completion.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002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01040"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Agreement / request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Due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Proof point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 budget rhythm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Approved weekly variance review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Finance + ops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Apr week 2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Dashboard shared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Special-project gating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Use risk checklist before pricing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Commercial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Apr week 3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Checklist signed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Receivable recovery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Escalate overdue items above threshold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Finance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Aging tracker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Reporting automation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Replace manual rollups where possible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Ops excellence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Prototype review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Talent allocation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Review external resource charges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Regional leader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Role map updated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" y="5715000"/>
            <a:ext cx="10332720" cy="566928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715000"/>
            <a:ext cx="73152" cy="566928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824728"/>
            <a:ext cx="100126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F6B743"/>
                </a:solidFill>
                <a:latin typeface="Aptos"/>
              </a:defRPr>
            </a:pPr>
            <a:r>
              <a:t>Follow-up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6144768"/>
            <a:ext cx="10012680" cy="640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0">
                <a:solidFill>
                  <a:srgbClr val="F4F9FB"/>
                </a:solidFill>
                <a:latin typeface="Aptos"/>
              </a:defRPr>
            </a:pPr>
            <a:r>
              <a:t>Every item must have one accountable owner, one date and one visible proof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09/10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highly_detailed_cinematic_photorealistic_cgi_s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Rolling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Forecast reflects the Q1 baseline and links directly to the Q2 action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54480"/>
          <a:ext cx="5669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480060"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Q1 Actual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Q2 Forecast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Q3 Forecast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 Run-rate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4.9M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5.7M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6.2M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23.4M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Gross profit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1.15M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1.36M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1.48M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5.45M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EBIT 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0.5%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1.0%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1.5%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1.3%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Job files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2,680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3,100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3,340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12,500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TEU eq.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1,920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2,300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2,520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9,100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95160" y="1691640"/>
            <a:ext cx="4343400" cy="292608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1691640"/>
            <a:ext cx="73152" cy="292608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1801368"/>
            <a:ext cx="4023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Revenue run-rate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114800"/>
            <a:ext cx="3429000" cy="18288"/>
          </a:xfrm>
          <a:prstGeom prst="rect">
            <a:avLst/>
          </a:prstGeom>
          <a:solidFill>
            <a:srgbClr val="507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2286000"/>
            <a:ext cx="18288" cy="1828800"/>
          </a:xfrm>
          <a:prstGeom prst="rect">
            <a:avLst/>
          </a:prstGeom>
          <a:solidFill>
            <a:srgbClr val="507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34656" y="3781958"/>
            <a:ext cx="109728" cy="109728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4178808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700" b="0">
                <a:solidFill>
                  <a:srgbClr val="B2C8D4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19" name="Oval 18"/>
          <p:cNvSpPr/>
          <p:nvPr/>
        </p:nvSpPr>
        <p:spPr>
          <a:xfrm>
            <a:off x="8494776" y="3226003"/>
            <a:ext cx="109728" cy="109728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78808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700" b="0">
                <a:solidFill>
                  <a:srgbClr val="B2C8D4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21" name="Oval 20"/>
          <p:cNvSpPr/>
          <p:nvPr/>
        </p:nvSpPr>
        <p:spPr>
          <a:xfrm>
            <a:off x="9454896" y="2878531"/>
            <a:ext cx="109728" cy="109728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4178808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700" b="0">
                <a:solidFill>
                  <a:srgbClr val="B2C8D4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23" name="Oval 22"/>
          <p:cNvSpPr/>
          <p:nvPr/>
        </p:nvSpPr>
        <p:spPr>
          <a:xfrm>
            <a:off x="10415016" y="2600553"/>
            <a:ext cx="109728" cy="109728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4178808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700" b="0">
                <a:solidFill>
                  <a:srgbClr val="B2C8D4"/>
                </a:solidFill>
                <a:latin typeface="Aptos"/>
              </a:defRPr>
            </a:pPr>
            <a:r>
              <a:t>Q4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589520" y="3280867"/>
            <a:ext cx="960120" cy="555955"/>
          </a:xfrm>
          <a:prstGeom prst="line">
            <a:avLst/>
          </a:prstGeom>
          <a:ln w="25400">
            <a:solidFill>
              <a:srgbClr val="00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549640" y="2933395"/>
            <a:ext cx="960120" cy="347472"/>
          </a:xfrm>
          <a:prstGeom prst="line">
            <a:avLst/>
          </a:prstGeom>
          <a:ln w="25400">
            <a:solidFill>
              <a:srgbClr val="00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0" y="2655417"/>
            <a:ext cx="960120" cy="277978"/>
          </a:xfrm>
          <a:prstGeom prst="line">
            <a:avLst/>
          </a:prstGeom>
          <a:ln w="25400">
            <a:solidFill>
              <a:srgbClr val="00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4800600"/>
            <a:ext cx="1033272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4F9FB"/>
                </a:solidFill>
                <a:latin typeface="Aptos"/>
              </a:defRPr>
            </a:pPr>
            <a:r>
              <a:t>• Base case: Q2 recovery starts with controlled cargo and receivable discipline.</a:t>
            </a:r>
          </a:p>
          <a:p>
            <a:pPr>
              <a:spcAft>
                <a:spcPts val="0"/>
              </a:spcAft>
              <a:defRPr sz="1300" b="0">
                <a:solidFill>
                  <a:srgbClr val="F4F9FB"/>
                </a:solidFill>
                <a:latin typeface="Aptos"/>
              </a:defRPr>
            </a:pPr>
            <a:r>
              <a:t>• Upside case: project cargo resumes with approved funding gates.</a:t>
            </a:r>
          </a:p>
          <a:p>
            <a:pPr>
              <a:spcAft>
                <a:spcPts val="0"/>
              </a:spcAft>
              <a:defRPr sz="1300" b="0">
                <a:solidFill>
                  <a:srgbClr val="F4F9FB"/>
                </a:solidFill>
                <a:latin typeface="Aptos"/>
              </a:defRPr>
            </a:pPr>
            <a:r>
              <a:t>• Downside watch: manual reporting and credit delays slow execution.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10/10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