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228600"/>
            <a:ext cx="11201400" cy="50292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4008" rIns="64008" tIns="27432" bIns="27432"/>
          <a:lstStyle/>
          <a:p>
            <a:pPr algn="ctr"/>
            <a:r>
              <a:rPr sz="2400" b="1">
                <a:solidFill>
                  <a:srgbClr val="17365D"/>
                </a:solidFill>
                <a:latin typeface="Aptos"/>
              </a:rPr>
              <a:t>Visa expiration monitoring</a:t>
            </a:r>
          </a:p>
        </p:txBody>
      </p:sp>
      <p:sp>
        <p:nvSpPr>
          <p:cNvPr id="3" name="Rectangle 2"/>
          <p:cNvSpPr/>
          <p:nvPr/>
        </p:nvSpPr>
        <p:spPr>
          <a:xfrm>
            <a:off x="685800" y="713232"/>
            <a:ext cx="10835640" cy="329184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4008" rIns="64008" tIns="27432" bIns="27432"/>
          <a:lstStyle/>
          <a:p>
            <a:pPr algn="ctr"/>
            <a:r>
              <a:rPr sz="1050" b="0">
                <a:solidFill>
                  <a:srgbClr val="595959"/>
                </a:solidFill>
                <a:latin typeface="Aptos"/>
              </a:rPr>
              <a:t>8 reviewed · 1 urgent · 2 action required · 1 already filed · 4 monitoring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02920" y="1143000"/>
            <a:ext cx="1965960" cy="658368"/>
          </a:xfrm>
          <a:prstGeom prst="roundRect">
            <a:avLst/>
          </a:prstGeom>
          <a:solidFill>
            <a:srgbClr val="DDEBF7"/>
          </a:solidFill>
          <a:ln>
            <a:solidFill>
              <a:srgbClr val="5B9B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4008" rIns="64008" tIns="27432" bIns="27432"/>
          <a:lstStyle/>
          <a:p>
            <a:pPr algn="ctr"/>
            <a:r>
              <a:rPr sz="2500" b="1">
                <a:solidFill>
                  <a:srgbClr val="17365D"/>
                </a:solidFill>
                <a:latin typeface="Aptos"/>
              </a:rPr>
              <a:t>8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755648"/>
            <a:ext cx="1965960" cy="310896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4008" rIns="64008" tIns="27432" bIns="27432"/>
          <a:lstStyle/>
          <a:p>
            <a:pPr algn="ctr"/>
            <a:r>
              <a:rPr sz="900" b="0">
                <a:solidFill>
                  <a:srgbClr val="17365D"/>
                </a:solidFill>
                <a:latin typeface="Aptos"/>
              </a:rPr>
              <a:t>source visas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788920" y="1143000"/>
            <a:ext cx="1965960" cy="658368"/>
          </a:xfrm>
          <a:prstGeom prst="roundRect">
            <a:avLst/>
          </a:prstGeom>
          <a:solidFill>
            <a:srgbClr val="F4CCCC"/>
          </a:solidFill>
          <a:ln>
            <a:solidFill>
              <a:srgbClr val="5B9B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4008" rIns="64008" tIns="27432" bIns="27432"/>
          <a:lstStyle/>
          <a:p>
            <a:pPr algn="ctr"/>
            <a:r>
              <a:rPr sz="2500" b="1">
                <a:solidFill>
                  <a:srgbClr val="17365D"/>
                </a:solidFill>
                <a:latin typeface="Aptos"/>
              </a:rPr>
              <a:t>1</a:t>
            </a:r>
          </a:p>
        </p:txBody>
      </p:sp>
      <p:sp>
        <p:nvSpPr>
          <p:cNvPr id="7" name="Rectangle 6"/>
          <p:cNvSpPr/>
          <p:nvPr/>
        </p:nvSpPr>
        <p:spPr>
          <a:xfrm>
            <a:off x="2788920" y="1755648"/>
            <a:ext cx="1965960" cy="310896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4008" rIns="64008" tIns="27432" bIns="27432"/>
          <a:lstStyle/>
          <a:p>
            <a:pPr algn="ctr"/>
            <a:r>
              <a:rPr sz="900" b="0">
                <a:solidFill>
                  <a:srgbClr val="17365D"/>
                </a:solidFill>
                <a:latin typeface="Aptos"/>
              </a:rPr>
              <a:t>urgent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74920" y="1143000"/>
            <a:ext cx="1965960" cy="658368"/>
          </a:xfrm>
          <a:prstGeom prst="roundRect">
            <a:avLst/>
          </a:prstGeom>
          <a:solidFill>
            <a:srgbClr val="FFF2CC"/>
          </a:solidFill>
          <a:ln>
            <a:solidFill>
              <a:srgbClr val="5B9B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4008" rIns="64008" tIns="27432" bIns="27432"/>
          <a:lstStyle/>
          <a:p>
            <a:pPr algn="ctr"/>
            <a:r>
              <a:rPr sz="2500" b="1">
                <a:solidFill>
                  <a:srgbClr val="17365D"/>
                </a:solidFill>
                <a:latin typeface="Aptos"/>
              </a:rPr>
              <a:t>2</a:t>
            </a:r>
          </a:p>
        </p:txBody>
      </p:sp>
      <p:sp>
        <p:nvSpPr>
          <p:cNvPr id="9" name="Rectangle 8"/>
          <p:cNvSpPr/>
          <p:nvPr/>
        </p:nvSpPr>
        <p:spPr>
          <a:xfrm>
            <a:off x="5074920" y="1755648"/>
            <a:ext cx="1965960" cy="310896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4008" rIns="64008" tIns="27432" bIns="27432"/>
          <a:lstStyle/>
          <a:p>
            <a:pPr algn="ctr"/>
            <a:r>
              <a:rPr sz="900" b="0">
                <a:solidFill>
                  <a:srgbClr val="17365D"/>
                </a:solidFill>
                <a:latin typeface="Aptos"/>
              </a:rPr>
              <a:t>action required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60920" y="1143000"/>
            <a:ext cx="1965960" cy="658368"/>
          </a:xfrm>
          <a:prstGeom prst="roundRect">
            <a:avLst/>
          </a:prstGeom>
          <a:solidFill>
            <a:srgbClr val="E2F0D9"/>
          </a:solidFill>
          <a:ln>
            <a:solidFill>
              <a:srgbClr val="5B9B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4008" rIns="64008" tIns="27432" bIns="27432"/>
          <a:lstStyle/>
          <a:p>
            <a:pPr algn="ctr"/>
            <a:r>
              <a:rPr sz="2500" b="1">
                <a:solidFill>
                  <a:srgbClr val="17365D"/>
                </a:solidFill>
                <a:latin typeface="Aptos"/>
              </a:rPr>
              <a:t>1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360920" y="1755648"/>
            <a:ext cx="1965960" cy="310896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4008" rIns="64008" tIns="27432" bIns="27432"/>
          <a:lstStyle/>
          <a:p>
            <a:pPr algn="ctr"/>
            <a:r>
              <a:rPr sz="900" b="0">
                <a:solidFill>
                  <a:srgbClr val="17365D"/>
                </a:solidFill>
                <a:latin typeface="Aptos"/>
              </a:rPr>
              <a:t>already filed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646920" y="1143000"/>
            <a:ext cx="1965960" cy="658368"/>
          </a:xfrm>
          <a:prstGeom prst="roundRect">
            <a:avLst/>
          </a:prstGeom>
          <a:solidFill>
            <a:srgbClr val="DDEBF7"/>
          </a:solidFill>
          <a:ln>
            <a:solidFill>
              <a:srgbClr val="5B9B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4008" rIns="64008" tIns="27432" bIns="27432"/>
          <a:lstStyle/>
          <a:p>
            <a:pPr algn="ctr"/>
            <a:r>
              <a:rPr sz="2500" b="1">
                <a:solidFill>
                  <a:srgbClr val="17365D"/>
                </a:solidFill>
                <a:latin typeface="Aptos"/>
              </a:rPr>
              <a:t>4</a:t>
            </a:r>
          </a:p>
        </p:txBody>
      </p:sp>
      <p:sp>
        <p:nvSpPr>
          <p:cNvPr id="13" name="Rectangle 12"/>
          <p:cNvSpPr/>
          <p:nvPr/>
        </p:nvSpPr>
        <p:spPr>
          <a:xfrm>
            <a:off x="9646920" y="1755648"/>
            <a:ext cx="1965960" cy="310896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4008" rIns="64008" tIns="27432" bIns="27432"/>
          <a:lstStyle/>
          <a:p>
            <a:pPr algn="ctr"/>
            <a:r>
              <a:rPr sz="900" b="0">
                <a:solidFill>
                  <a:srgbClr val="17365D"/>
                </a:solidFill>
                <a:latin typeface="Aptos"/>
              </a:rPr>
              <a:t>monitoring</a:t>
            </a:r>
          </a:p>
        </p:txBody>
      </p:sp>
      <p:graphicFrame>
        <p:nvGraphicFramePr>
          <p:cNvPr id="14" name="Table 13"/>
          <p:cNvGraphicFramePr>
            <a:graphicFrameLocks noGrp="1"/>
          </p:cNvGraphicFramePr>
          <p:nvPr/>
        </p:nvGraphicFramePr>
        <p:xfrm>
          <a:off x="502920" y="2286000"/>
          <a:ext cx="11155680" cy="2514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94560"/>
                <a:gridCol w="914400"/>
                <a:gridCol w="3383280"/>
                <a:gridCol w="2377440"/>
                <a:gridCol w="2286000"/>
              </a:tblGrid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900" b="1">
                          <a:solidFill>
                            <a:srgbClr val="FFFFFF"/>
                          </a:solidFill>
                          <a:latin typeface="Aptos"/>
                        </a:rPr>
                        <a:t>Decision</a:t>
                      </a:r>
                    </a:p>
                  </a:txBody>
                  <a:tcPr marL="36576" marR="36576" marT="18288" marB="18288" anchor="ctr">
                    <a:solidFill>
                      <a:srgbClr val="17365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1">
                          <a:solidFill>
                            <a:srgbClr val="FFFFFF"/>
                          </a:solidFill>
                          <a:latin typeface="Aptos"/>
                        </a:rPr>
                        <a:t>Count</a:t>
                      </a:r>
                    </a:p>
                  </a:txBody>
                  <a:tcPr marL="36576" marR="36576" marT="18288" marB="18288" anchor="ctr">
                    <a:solidFill>
                      <a:srgbClr val="17365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1">
                          <a:solidFill>
                            <a:srgbClr val="FFFFFF"/>
                          </a:solidFill>
                          <a:latin typeface="Aptos"/>
                        </a:rPr>
                        <a:t>Employees</a:t>
                      </a:r>
                    </a:p>
                  </a:txBody>
                  <a:tcPr marL="36576" marR="36576" marT="18288" marB="18288" anchor="ctr">
                    <a:solidFill>
                      <a:srgbClr val="17365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1">
                          <a:solidFill>
                            <a:srgbClr val="FFFFFF"/>
                          </a:solidFill>
                          <a:latin typeface="Aptos"/>
                        </a:rPr>
                        <a:t>Authority</a:t>
                      </a:r>
                    </a:p>
                  </a:txBody>
                  <a:tcPr marL="36576" marR="36576" marT="18288" marB="18288" anchor="ctr">
                    <a:solidFill>
                      <a:srgbClr val="17365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1">
                          <a:solidFill>
                            <a:srgbClr val="FFFFFF"/>
                          </a:solidFill>
                          <a:latin typeface="Aptos"/>
                        </a:rPr>
                        <a:t>Execution</a:t>
                      </a:r>
                    </a:p>
                  </a:txBody>
                  <a:tcPr marL="36576" marR="36576" marT="18288" marB="18288" anchor="ctr">
                    <a:solidFill>
                      <a:srgbClr val="17365D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17365D"/>
                          </a:solidFill>
                          <a:latin typeface="Aptos"/>
                        </a:rPr>
                        <a:t>URGENT</a:t>
                      </a:r>
                    </a:p>
                  </a:txBody>
                  <a:tcPr marL="36576" marR="36576" marT="18288" marB="18288" anchor="ctr"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17365D"/>
                          </a:solidFill>
                          <a:latin typeface="Aptos"/>
                        </a:rPr>
                        <a:t>1</a:t>
                      </a:r>
                    </a:p>
                  </a:txBody>
                  <a:tcPr marL="36576" marR="36576" marT="18288" marB="18288" anchor="ctr"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17365D"/>
                          </a:solidFill>
                          <a:latin typeface="Aptos"/>
                        </a:rPr>
                        <a:t>Gustavo</a:t>
                      </a:r>
                    </a:p>
                  </a:txBody>
                  <a:tcPr marL="36576" marR="36576" marT="18288" marB="18288" anchor="ctr"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17365D"/>
                          </a:solidFill>
                          <a:latin typeface="Aptos"/>
                        </a:rPr>
                        <a:t>&lt;=30 days</a:t>
                      </a:r>
                    </a:p>
                  </a:txBody>
                  <a:tcPr marL="36576" marR="36576" marT="18288" marB="18288" anchor="ctr"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17365D"/>
                          </a:solidFill>
                          <a:latin typeface="Aptos"/>
                        </a:rPr>
                        <a:t>1 draft / 0 sent</a:t>
                      </a:r>
                    </a:p>
                  </a:txBody>
                  <a:tcPr marL="36576" marR="36576" marT="18288" marB="18288" anchor="ctr">
                    <a:solidFill>
                      <a:srgbClr val="DDEBF7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17365D"/>
                          </a:solidFill>
                          <a:latin typeface="Aptos"/>
                        </a:rPr>
                        <a:t>ACTION_REQUIRED</a:t>
                      </a:r>
                    </a:p>
                  </a:txBody>
                  <a:tcPr marL="36576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17365D"/>
                          </a:solidFill>
                          <a:latin typeface="Aptos"/>
                        </a:rPr>
                        <a:t>2</a:t>
                      </a:r>
                    </a:p>
                  </a:txBody>
                  <a:tcPr marL="36576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17365D"/>
                          </a:solidFill>
                          <a:latin typeface="Aptos"/>
                        </a:rPr>
                        <a:t>Akiko; Chen</a:t>
                      </a:r>
                    </a:p>
                  </a:txBody>
                  <a:tcPr marL="36576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17365D"/>
                          </a:solidFill>
                          <a:latin typeface="Aptos"/>
                        </a:rPr>
                        <a:t>effective window</a:t>
                      </a:r>
                    </a:p>
                  </a:txBody>
                  <a:tcPr marL="36576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17365D"/>
                          </a:solidFill>
                          <a:latin typeface="Aptos"/>
                        </a:rPr>
                        <a:t>2 drafts / 0 sent</a:t>
                      </a:r>
                    </a:p>
                  </a:txBody>
                  <a:tcPr marL="36576" marR="36576" marT="18288" marB="18288" anchor="ctr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17365D"/>
                          </a:solidFill>
                          <a:latin typeface="Aptos"/>
                        </a:rPr>
                        <a:t>ALREADY_FILED</a:t>
                      </a:r>
                    </a:p>
                  </a:txBody>
                  <a:tcPr marL="36576" marR="36576" marT="18288" marB="18288" anchor="ctr"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17365D"/>
                          </a:solidFill>
                          <a:latin typeface="Aptos"/>
                        </a:rPr>
                        <a:t>1</a:t>
                      </a:r>
                    </a:p>
                  </a:txBody>
                  <a:tcPr marL="36576" marR="36576" marT="18288" marB="18288" anchor="ctr"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17365D"/>
                          </a:solidFill>
                          <a:latin typeface="Aptos"/>
                        </a:rPr>
                        <a:t>Deepa</a:t>
                      </a:r>
                    </a:p>
                  </a:txBody>
                  <a:tcPr marL="36576" marR="36576" marT="18288" marB="18288" anchor="ctr"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17365D"/>
                          </a:solidFill>
                          <a:latin typeface="Aptos"/>
                        </a:rPr>
                        <a:t>timeline override</a:t>
                      </a:r>
                    </a:p>
                  </a:txBody>
                  <a:tcPr marL="36576" marR="36576" marT="18288" marB="18288" anchor="ctr"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17365D"/>
                          </a:solidFill>
                          <a:latin typeface="Aptos"/>
                        </a:rPr>
                        <a:t>0 action</a:t>
                      </a:r>
                    </a:p>
                  </a:txBody>
                  <a:tcPr marL="36576" marR="36576" marT="18288" marB="18288" anchor="ctr">
                    <a:solidFill>
                      <a:srgbClr val="DDEBF7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17365D"/>
                          </a:solidFill>
                          <a:latin typeface="Aptos"/>
                        </a:rPr>
                        <a:t>MONITORING</a:t>
                      </a:r>
                    </a:p>
                  </a:txBody>
                  <a:tcPr marL="36576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17365D"/>
                          </a:solidFill>
                          <a:latin typeface="Aptos"/>
                        </a:rPr>
                        <a:t>4</a:t>
                      </a:r>
                    </a:p>
                  </a:txBody>
                  <a:tcPr marL="36576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17365D"/>
                          </a:solidFill>
                          <a:latin typeface="Aptos"/>
                        </a:rPr>
                        <a:t>Boris; Esteban; Fatima; Haruto</a:t>
                      </a:r>
                    </a:p>
                  </a:txBody>
                  <a:tcPr marL="36576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17365D"/>
                          </a:solidFill>
                          <a:latin typeface="Aptos"/>
                        </a:rPr>
                        <a:t>beyond cutoff</a:t>
                      </a:r>
                    </a:p>
                  </a:txBody>
                  <a:tcPr marL="36576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17365D"/>
                          </a:solidFill>
                          <a:latin typeface="Aptos"/>
                        </a:rPr>
                        <a:t>0 action</a:t>
                      </a:r>
                    </a:p>
                  </a:txBody>
                  <a:tcPr marL="36576" marR="36576" marT="18288" marB="18288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5" name="Rounded Rectangle 14"/>
          <p:cNvSpPr/>
          <p:nvPr/>
        </p:nvSpPr>
        <p:spPr>
          <a:xfrm>
            <a:off x="502920" y="5138928"/>
            <a:ext cx="11155680" cy="566928"/>
          </a:xfrm>
          <a:prstGeom prst="roundRect">
            <a:avLst/>
          </a:prstGeom>
          <a:solidFill>
            <a:srgbClr val="FFF2CC"/>
          </a:solidFill>
          <a:ln>
            <a:solidFill>
              <a:srgbClr val="FFF2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4008" rIns="64008" tIns="27432" bIns="27432"/>
          <a:lstStyle/>
          <a:p>
            <a:pPr algn="ctr"/>
            <a:r>
              <a:rPr sz="1200" b="1">
                <a:solidFill>
                  <a:srgbClr val="17365D"/>
                </a:solidFill>
                <a:latin typeface="Aptos"/>
              </a:rPr>
              <a:t>H-1B: 6 -&gt; 8 months by attorney update · Akiko is exactly on the 2026-12-15 edge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02920" y="5870448"/>
            <a:ext cx="11155680" cy="384048"/>
          </a:xfrm>
          <a:prstGeom prst="roundRect">
            <a:avLst/>
          </a:prstGeom>
          <a:solidFill>
            <a:srgbClr val="DDEBF7"/>
          </a:solidFill>
          <a:ln>
            <a:solidFill>
              <a:srgbClr val="DDEB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4008" rIns="64008" tIns="27432" bIns="27432"/>
          <a:lstStyle/>
          <a:p>
            <a:pPr algn="ctr"/>
            <a:r>
              <a:rPr sz="1050" b="1">
                <a:solidFill>
                  <a:srgbClr val="17365D"/>
                </a:solidFill>
                <a:latin typeface="Aptos"/>
              </a:rPr>
              <a:t>Precedence: Already Filed -&gt; Urgent -&gt; Action Required -&gt; Monitoring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228600"/>
            <a:ext cx="11201400" cy="50292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4008" rIns="64008" tIns="27432" bIns="27432"/>
          <a:lstStyle/>
          <a:p>
            <a:pPr algn="ctr"/>
            <a:r>
              <a:rPr sz="2400" b="1">
                <a:solidFill>
                  <a:srgbClr val="17365D"/>
                </a:solidFill>
                <a:latin typeface="Aptos"/>
              </a:rPr>
              <a:t>Complete eight-person decision register</a:t>
            </a:r>
          </a:p>
        </p:txBody>
      </p:sp>
      <p:sp>
        <p:nvSpPr>
          <p:cNvPr id="3" name="Rectangle 2"/>
          <p:cNvSpPr/>
          <p:nvPr/>
        </p:nvSpPr>
        <p:spPr>
          <a:xfrm>
            <a:off x="685800" y="713232"/>
            <a:ext cx="10835640" cy="329184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4008" rIns="64008" tIns="27432" bIns="27432"/>
          <a:lstStyle/>
          <a:p>
            <a:pPr algn="ctr"/>
            <a:r>
              <a:rPr sz="1050" b="0">
                <a:solidFill>
                  <a:srgbClr val="595959"/>
                </a:solidFill>
                <a:latin typeface="Aptos"/>
              </a:rPr>
              <a:t>Calendar-month cutoffs · inclusive boundaries · frozen date 2026-04-15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228600" y="1097280"/>
          <a:ext cx="11731752" cy="51206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02920"/>
                <a:gridCol w="1600200"/>
                <a:gridCol w="640080"/>
                <a:gridCol w="1143000"/>
                <a:gridCol w="594360"/>
                <a:gridCol w="548640"/>
                <a:gridCol w="685800"/>
                <a:gridCol w="1143000"/>
                <a:gridCol w="594360"/>
                <a:gridCol w="4279392"/>
              </a:tblGrid>
              <a:tr h="568960">
                <a:tc>
                  <a:txBody>
                    <a:bodyPr/>
                    <a:lstStyle/>
                    <a:p>
                      <a:pPr algn="l"/>
                      <a:r>
                        <a:rPr sz="900" b="1">
                          <a:solidFill>
                            <a:srgbClr val="FFFFFF"/>
                          </a:solidFill>
                          <a:latin typeface="Aptos"/>
                        </a:rPr>
                        <a:t>Row</a:t>
                      </a:r>
                    </a:p>
                  </a:txBody>
                  <a:tcPr marL="36576" marR="36576" marT="18288" marB="18288" anchor="ctr">
                    <a:solidFill>
                      <a:srgbClr val="17365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1">
                          <a:solidFill>
                            <a:srgbClr val="FFFFFF"/>
                          </a:solidFill>
                          <a:latin typeface="Aptos"/>
                        </a:rPr>
                        <a:t>Employee</a:t>
                      </a:r>
                    </a:p>
                  </a:txBody>
                  <a:tcPr marL="36576" marR="36576" marT="18288" marB="18288" anchor="ctr">
                    <a:solidFill>
                      <a:srgbClr val="17365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1">
                          <a:solidFill>
                            <a:srgbClr val="FFFFFF"/>
                          </a:solidFill>
                          <a:latin typeface="Aptos"/>
                        </a:rPr>
                        <a:t>Visa</a:t>
                      </a:r>
                    </a:p>
                  </a:txBody>
                  <a:tcPr marL="36576" marR="36576" marT="18288" marB="18288" anchor="ctr">
                    <a:solidFill>
                      <a:srgbClr val="17365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1">
                          <a:solidFill>
                            <a:srgbClr val="FFFFFF"/>
                          </a:solidFill>
                          <a:latin typeface="Aptos"/>
                        </a:rPr>
                        <a:t>Expiration</a:t>
                      </a:r>
                    </a:p>
                  </a:txBody>
                  <a:tcPr marL="36576" marR="36576" marT="18288" marB="18288" anchor="ctr">
                    <a:solidFill>
                      <a:srgbClr val="17365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1">
                          <a:solidFill>
                            <a:srgbClr val="FFFFFF"/>
                          </a:solidFill>
                          <a:latin typeface="Aptos"/>
                        </a:rPr>
                        <a:t>Days</a:t>
                      </a:r>
                    </a:p>
                  </a:txBody>
                  <a:tcPr marL="36576" marR="36576" marT="18288" marB="18288" anchor="ctr">
                    <a:solidFill>
                      <a:srgbClr val="17365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1">
                          <a:solidFill>
                            <a:srgbClr val="FFFFFF"/>
                          </a:solidFill>
                          <a:latin typeface="Aptos"/>
                        </a:rPr>
                        <a:t>Base</a:t>
                      </a:r>
                    </a:p>
                  </a:txBody>
                  <a:tcPr marL="36576" marR="36576" marT="18288" marB="18288" anchor="ctr">
                    <a:solidFill>
                      <a:srgbClr val="17365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1">
                          <a:solidFill>
                            <a:srgbClr val="FFFFFF"/>
                          </a:solidFill>
                          <a:latin typeface="Aptos"/>
                        </a:rPr>
                        <a:t>Effective</a:t>
                      </a:r>
                    </a:p>
                  </a:txBody>
                  <a:tcPr marL="36576" marR="36576" marT="18288" marB="18288" anchor="ctr">
                    <a:solidFill>
                      <a:srgbClr val="17365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1">
                          <a:solidFill>
                            <a:srgbClr val="FFFFFF"/>
                          </a:solidFill>
                          <a:latin typeface="Aptos"/>
                        </a:rPr>
                        <a:t>Cutoff</a:t>
                      </a:r>
                    </a:p>
                  </a:txBody>
                  <a:tcPr marL="36576" marR="36576" marT="18288" marB="18288" anchor="ctr">
                    <a:solidFill>
                      <a:srgbClr val="17365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1">
                          <a:solidFill>
                            <a:srgbClr val="FFFFFF"/>
                          </a:solidFill>
                          <a:latin typeface="Aptos"/>
                        </a:rPr>
                        <a:t>Filed</a:t>
                      </a:r>
                    </a:p>
                  </a:txBody>
                  <a:tcPr marL="36576" marR="36576" marT="18288" marB="18288" anchor="ctr">
                    <a:solidFill>
                      <a:srgbClr val="17365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1">
                          <a:solidFill>
                            <a:srgbClr val="FFFFFF"/>
                          </a:solidFill>
                          <a:latin typeface="Aptos"/>
                        </a:rPr>
                        <a:t>Decision</a:t>
                      </a:r>
                    </a:p>
                  </a:txBody>
                  <a:tcPr marL="36576" marR="36576" marT="18288" marB="18288" anchor="ctr">
                    <a:solidFill>
                      <a:srgbClr val="17365D"/>
                    </a:solidFill>
                  </a:tcPr>
                </a:tc>
              </a:tr>
              <a:tr h="568960">
                <a:tc>
                  <a:txBody>
                    <a:bodyPr/>
                    <a:lstStyle/>
                    <a:p>
                      <a:pPr algn="l"/>
                      <a:r>
                        <a:rPr sz="770" b="0">
                          <a:solidFill>
                            <a:srgbClr val="17365D"/>
                          </a:solidFill>
                          <a:latin typeface="Aptos"/>
                        </a:rPr>
                        <a:t>2</a:t>
                      </a:r>
                    </a:p>
                  </a:txBody>
                  <a:tcPr marL="36576" marR="36576" marT="18288" marB="18288" anchor="ctr"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70" b="0">
                          <a:solidFill>
                            <a:srgbClr val="17365D"/>
                          </a:solidFill>
                          <a:latin typeface="Aptos"/>
                        </a:rPr>
                        <a:t>Akiko Yamamoto</a:t>
                      </a:r>
                    </a:p>
                  </a:txBody>
                  <a:tcPr marL="36576" marR="36576" marT="18288" marB="18288" anchor="ctr"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70" b="0">
                          <a:solidFill>
                            <a:srgbClr val="17365D"/>
                          </a:solidFill>
                          <a:latin typeface="Aptos"/>
                        </a:rPr>
                        <a:t>H-1B</a:t>
                      </a:r>
                    </a:p>
                  </a:txBody>
                  <a:tcPr marL="36576" marR="36576" marT="18288" marB="18288" anchor="ctr"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70" b="0">
                          <a:solidFill>
                            <a:srgbClr val="17365D"/>
                          </a:solidFill>
                          <a:latin typeface="Aptos"/>
                        </a:rPr>
                        <a:t>2026-12-15</a:t>
                      </a:r>
                    </a:p>
                  </a:txBody>
                  <a:tcPr marL="36576" marR="36576" marT="18288" marB="18288" anchor="ctr"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70" b="0">
                          <a:solidFill>
                            <a:srgbClr val="17365D"/>
                          </a:solidFill>
                          <a:latin typeface="Aptos"/>
                        </a:rPr>
                        <a:t>244</a:t>
                      </a:r>
                    </a:p>
                  </a:txBody>
                  <a:tcPr marL="36576" marR="36576" marT="18288" marB="18288" anchor="ctr"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70" b="0">
                          <a:solidFill>
                            <a:srgbClr val="17365D"/>
                          </a:solidFill>
                          <a:latin typeface="Aptos"/>
                        </a:rPr>
                        <a:t>6</a:t>
                      </a:r>
                    </a:p>
                  </a:txBody>
                  <a:tcPr marL="36576" marR="36576" marT="18288" marB="18288" anchor="ctr"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70" b="0">
                          <a:solidFill>
                            <a:srgbClr val="17365D"/>
                          </a:solidFill>
                          <a:latin typeface="Aptos"/>
                        </a:rPr>
                        <a:t>8</a:t>
                      </a:r>
                    </a:p>
                  </a:txBody>
                  <a:tcPr marL="36576" marR="36576" marT="18288" marB="18288" anchor="ctr"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70" b="0">
                          <a:solidFill>
                            <a:srgbClr val="17365D"/>
                          </a:solidFill>
                          <a:latin typeface="Aptos"/>
                        </a:rPr>
                        <a:t>2026-12-15</a:t>
                      </a:r>
                    </a:p>
                  </a:txBody>
                  <a:tcPr marL="36576" marR="36576" marT="18288" marB="18288" anchor="ctr"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70" b="0">
                          <a:solidFill>
                            <a:srgbClr val="17365D"/>
                          </a:solidFill>
                          <a:latin typeface="Aptos"/>
                        </a:rPr>
                        <a:t>NO</a:t>
                      </a:r>
                    </a:p>
                  </a:txBody>
                  <a:tcPr marL="36576" marR="36576" marT="18288" marB="18288" anchor="ctr"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70" b="0">
                          <a:solidFill>
                            <a:srgbClr val="17365D"/>
                          </a:solidFill>
                          <a:latin typeface="Aptos"/>
                        </a:rPr>
                        <a:t>ACTION_REQUIRED</a:t>
                      </a:r>
                    </a:p>
                  </a:txBody>
                  <a:tcPr marL="36576" marR="36576" marT="18288" marB="18288" anchor="ctr">
                    <a:solidFill>
                      <a:srgbClr val="DDEBF7"/>
                    </a:solidFill>
                  </a:tcPr>
                </a:tc>
              </a:tr>
              <a:tr h="568960">
                <a:tc>
                  <a:txBody>
                    <a:bodyPr/>
                    <a:lstStyle/>
                    <a:p>
                      <a:pPr algn="l"/>
                      <a:r>
                        <a:rPr sz="770" b="0">
                          <a:solidFill>
                            <a:srgbClr val="17365D"/>
                          </a:solidFill>
                          <a:latin typeface="Aptos"/>
                        </a:rPr>
                        <a:t>3</a:t>
                      </a:r>
                    </a:p>
                  </a:txBody>
                  <a:tcPr marL="36576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70" b="0">
                          <a:solidFill>
                            <a:srgbClr val="17365D"/>
                          </a:solidFill>
                          <a:latin typeface="Aptos"/>
                        </a:rPr>
                        <a:t>Boris Kuznetsov</a:t>
                      </a:r>
                    </a:p>
                  </a:txBody>
                  <a:tcPr marL="36576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70" b="0">
                          <a:solidFill>
                            <a:srgbClr val="17365D"/>
                          </a:solidFill>
                          <a:latin typeface="Aptos"/>
                        </a:rPr>
                        <a:t>H-1B</a:t>
                      </a:r>
                    </a:p>
                  </a:txBody>
                  <a:tcPr marL="36576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70" b="0">
                          <a:solidFill>
                            <a:srgbClr val="17365D"/>
                          </a:solidFill>
                          <a:latin typeface="Aptos"/>
                        </a:rPr>
                        <a:t>2027-03-01</a:t>
                      </a:r>
                    </a:p>
                  </a:txBody>
                  <a:tcPr marL="36576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70" b="0">
                          <a:solidFill>
                            <a:srgbClr val="17365D"/>
                          </a:solidFill>
                          <a:latin typeface="Aptos"/>
                        </a:rPr>
                        <a:t>320</a:t>
                      </a:r>
                    </a:p>
                  </a:txBody>
                  <a:tcPr marL="36576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70" b="0">
                          <a:solidFill>
                            <a:srgbClr val="17365D"/>
                          </a:solidFill>
                          <a:latin typeface="Aptos"/>
                        </a:rPr>
                        <a:t>6</a:t>
                      </a:r>
                    </a:p>
                  </a:txBody>
                  <a:tcPr marL="36576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70" b="0">
                          <a:solidFill>
                            <a:srgbClr val="17365D"/>
                          </a:solidFill>
                          <a:latin typeface="Aptos"/>
                        </a:rPr>
                        <a:t>8</a:t>
                      </a:r>
                    </a:p>
                  </a:txBody>
                  <a:tcPr marL="36576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70" b="0">
                          <a:solidFill>
                            <a:srgbClr val="17365D"/>
                          </a:solidFill>
                          <a:latin typeface="Aptos"/>
                        </a:rPr>
                        <a:t>2026-12-15</a:t>
                      </a:r>
                    </a:p>
                  </a:txBody>
                  <a:tcPr marL="36576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70" b="0">
                          <a:solidFill>
                            <a:srgbClr val="17365D"/>
                          </a:solidFill>
                          <a:latin typeface="Aptos"/>
                        </a:rPr>
                        <a:t>NO</a:t>
                      </a:r>
                    </a:p>
                  </a:txBody>
                  <a:tcPr marL="36576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70" b="0">
                          <a:solidFill>
                            <a:srgbClr val="17365D"/>
                          </a:solidFill>
                          <a:latin typeface="Aptos"/>
                        </a:rPr>
                        <a:t>MONITORING</a:t>
                      </a:r>
                    </a:p>
                  </a:txBody>
                  <a:tcPr marL="36576" marR="36576" marT="18288" marB="18288" anchor="ctr">
                    <a:solidFill>
                      <a:srgbClr val="FFFFFF"/>
                    </a:solidFill>
                  </a:tcPr>
                </a:tc>
              </a:tr>
              <a:tr h="568960">
                <a:tc>
                  <a:txBody>
                    <a:bodyPr/>
                    <a:lstStyle/>
                    <a:p>
                      <a:pPr algn="l"/>
                      <a:r>
                        <a:rPr sz="770" b="0">
                          <a:solidFill>
                            <a:srgbClr val="17365D"/>
                          </a:solidFill>
                          <a:latin typeface="Aptos"/>
                        </a:rPr>
                        <a:t>4</a:t>
                      </a:r>
                    </a:p>
                  </a:txBody>
                  <a:tcPr marL="36576" marR="36576" marT="18288" marB="18288" anchor="ctr"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70" b="0">
                          <a:solidFill>
                            <a:srgbClr val="17365D"/>
                          </a:solidFill>
                          <a:latin typeface="Aptos"/>
                        </a:rPr>
                        <a:t>Chen Wei</a:t>
                      </a:r>
                    </a:p>
                  </a:txBody>
                  <a:tcPr marL="36576" marR="36576" marT="18288" marB="18288" anchor="ctr"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70" b="0">
                          <a:solidFill>
                            <a:srgbClr val="17365D"/>
                          </a:solidFill>
                          <a:latin typeface="Aptos"/>
                        </a:rPr>
                        <a:t>L-1</a:t>
                      </a:r>
                    </a:p>
                  </a:txBody>
                  <a:tcPr marL="36576" marR="36576" marT="18288" marB="18288" anchor="ctr"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70" b="0">
                          <a:solidFill>
                            <a:srgbClr val="17365D"/>
                          </a:solidFill>
                          <a:latin typeface="Aptos"/>
                        </a:rPr>
                        <a:t>2026-06-30</a:t>
                      </a:r>
                    </a:p>
                  </a:txBody>
                  <a:tcPr marL="36576" marR="36576" marT="18288" marB="18288" anchor="ctr"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70" b="0">
                          <a:solidFill>
                            <a:srgbClr val="17365D"/>
                          </a:solidFill>
                          <a:latin typeface="Aptos"/>
                        </a:rPr>
                        <a:t>76</a:t>
                      </a:r>
                    </a:p>
                  </a:txBody>
                  <a:tcPr marL="36576" marR="36576" marT="18288" marB="18288" anchor="ctr"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70" b="0">
                          <a:solidFill>
                            <a:srgbClr val="17365D"/>
                          </a:solidFill>
                          <a:latin typeface="Aptos"/>
                        </a:rPr>
                        <a:t>4</a:t>
                      </a:r>
                    </a:p>
                  </a:txBody>
                  <a:tcPr marL="36576" marR="36576" marT="18288" marB="18288" anchor="ctr"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70" b="0">
                          <a:solidFill>
                            <a:srgbClr val="17365D"/>
                          </a:solidFill>
                          <a:latin typeface="Aptos"/>
                        </a:rPr>
                        <a:t>4</a:t>
                      </a:r>
                    </a:p>
                  </a:txBody>
                  <a:tcPr marL="36576" marR="36576" marT="18288" marB="18288" anchor="ctr"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70" b="0">
                          <a:solidFill>
                            <a:srgbClr val="17365D"/>
                          </a:solidFill>
                          <a:latin typeface="Aptos"/>
                        </a:rPr>
                        <a:t>2026-08-15</a:t>
                      </a:r>
                    </a:p>
                  </a:txBody>
                  <a:tcPr marL="36576" marR="36576" marT="18288" marB="18288" anchor="ctr"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70" b="0">
                          <a:solidFill>
                            <a:srgbClr val="17365D"/>
                          </a:solidFill>
                          <a:latin typeface="Aptos"/>
                        </a:rPr>
                        <a:t>NO</a:t>
                      </a:r>
                    </a:p>
                  </a:txBody>
                  <a:tcPr marL="36576" marR="36576" marT="18288" marB="18288" anchor="ctr"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70" b="0">
                          <a:solidFill>
                            <a:srgbClr val="17365D"/>
                          </a:solidFill>
                          <a:latin typeface="Aptos"/>
                        </a:rPr>
                        <a:t>ACTION_REQUIRED</a:t>
                      </a:r>
                    </a:p>
                  </a:txBody>
                  <a:tcPr marL="36576" marR="36576" marT="18288" marB="18288" anchor="ctr">
                    <a:solidFill>
                      <a:srgbClr val="DDEBF7"/>
                    </a:solidFill>
                  </a:tcPr>
                </a:tc>
              </a:tr>
              <a:tr h="568960">
                <a:tc>
                  <a:txBody>
                    <a:bodyPr/>
                    <a:lstStyle/>
                    <a:p>
                      <a:pPr algn="l"/>
                      <a:r>
                        <a:rPr sz="770" b="0">
                          <a:solidFill>
                            <a:srgbClr val="17365D"/>
                          </a:solidFill>
                          <a:latin typeface="Aptos"/>
                        </a:rPr>
                        <a:t>5</a:t>
                      </a:r>
                    </a:p>
                  </a:txBody>
                  <a:tcPr marL="36576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70" b="0">
                          <a:solidFill>
                            <a:srgbClr val="17365D"/>
                          </a:solidFill>
                          <a:latin typeface="Aptos"/>
                        </a:rPr>
                        <a:t>Deepa Krishnan</a:t>
                      </a:r>
                    </a:p>
                  </a:txBody>
                  <a:tcPr marL="36576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70" b="0">
                          <a:solidFill>
                            <a:srgbClr val="17365D"/>
                          </a:solidFill>
                          <a:latin typeface="Aptos"/>
                        </a:rPr>
                        <a:t>H-1B</a:t>
                      </a:r>
                    </a:p>
                  </a:txBody>
                  <a:tcPr marL="36576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70" b="0">
                          <a:solidFill>
                            <a:srgbClr val="17365D"/>
                          </a:solidFill>
                          <a:latin typeface="Aptos"/>
                        </a:rPr>
                        <a:t>2026-05-30</a:t>
                      </a:r>
                    </a:p>
                  </a:txBody>
                  <a:tcPr marL="36576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70" b="0">
                          <a:solidFill>
                            <a:srgbClr val="17365D"/>
                          </a:solidFill>
                          <a:latin typeface="Aptos"/>
                        </a:rPr>
                        <a:t>45</a:t>
                      </a:r>
                    </a:p>
                  </a:txBody>
                  <a:tcPr marL="36576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70" b="0">
                          <a:solidFill>
                            <a:srgbClr val="17365D"/>
                          </a:solidFill>
                          <a:latin typeface="Aptos"/>
                        </a:rPr>
                        <a:t>6</a:t>
                      </a:r>
                    </a:p>
                  </a:txBody>
                  <a:tcPr marL="36576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70" b="0">
                          <a:solidFill>
                            <a:srgbClr val="17365D"/>
                          </a:solidFill>
                          <a:latin typeface="Aptos"/>
                        </a:rPr>
                        <a:t>8</a:t>
                      </a:r>
                    </a:p>
                  </a:txBody>
                  <a:tcPr marL="36576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70" b="0">
                          <a:solidFill>
                            <a:srgbClr val="17365D"/>
                          </a:solidFill>
                          <a:latin typeface="Aptos"/>
                        </a:rPr>
                        <a:t>2026-12-15</a:t>
                      </a:r>
                    </a:p>
                  </a:txBody>
                  <a:tcPr marL="36576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70" b="0">
                          <a:solidFill>
                            <a:srgbClr val="17365D"/>
                          </a:solidFill>
                          <a:latin typeface="Aptos"/>
                        </a:rPr>
                        <a:t>YES</a:t>
                      </a:r>
                    </a:p>
                  </a:txBody>
                  <a:tcPr marL="36576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70" b="0">
                          <a:solidFill>
                            <a:srgbClr val="17365D"/>
                          </a:solidFill>
                          <a:latin typeface="Aptos"/>
                        </a:rPr>
                        <a:t>ALREADY_FILED</a:t>
                      </a:r>
                    </a:p>
                  </a:txBody>
                  <a:tcPr marL="36576" marR="36576" marT="18288" marB="18288" anchor="ctr">
                    <a:solidFill>
                      <a:srgbClr val="FFFFFF"/>
                    </a:solidFill>
                  </a:tcPr>
                </a:tc>
              </a:tr>
              <a:tr h="568960">
                <a:tc>
                  <a:txBody>
                    <a:bodyPr/>
                    <a:lstStyle/>
                    <a:p>
                      <a:pPr algn="l"/>
                      <a:r>
                        <a:rPr sz="770" b="0">
                          <a:solidFill>
                            <a:srgbClr val="17365D"/>
                          </a:solidFill>
                          <a:latin typeface="Aptos"/>
                        </a:rPr>
                        <a:t>6</a:t>
                      </a:r>
                    </a:p>
                  </a:txBody>
                  <a:tcPr marL="36576" marR="36576" marT="18288" marB="18288" anchor="ctr"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70" b="0">
                          <a:solidFill>
                            <a:srgbClr val="17365D"/>
                          </a:solidFill>
                          <a:latin typeface="Aptos"/>
                        </a:rPr>
                        <a:t>Esteban Ruiz</a:t>
                      </a:r>
                    </a:p>
                  </a:txBody>
                  <a:tcPr marL="36576" marR="36576" marT="18288" marB="18288" anchor="ctr"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70" b="0">
                          <a:solidFill>
                            <a:srgbClr val="17365D"/>
                          </a:solidFill>
                          <a:latin typeface="Aptos"/>
                        </a:rPr>
                        <a:t>TN</a:t>
                      </a:r>
                    </a:p>
                  </a:txBody>
                  <a:tcPr marL="36576" marR="36576" marT="18288" marB="18288" anchor="ctr"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70" b="0">
                          <a:solidFill>
                            <a:srgbClr val="17365D"/>
                          </a:solidFill>
                          <a:latin typeface="Aptos"/>
                        </a:rPr>
                        <a:t>2026-09-15</a:t>
                      </a:r>
                    </a:p>
                  </a:txBody>
                  <a:tcPr marL="36576" marR="36576" marT="18288" marB="18288" anchor="ctr"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70" b="0">
                          <a:solidFill>
                            <a:srgbClr val="17365D"/>
                          </a:solidFill>
                          <a:latin typeface="Aptos"/>
                        </a:rPr>
                        <a:t>153</a:t>
                      </a:r>
                    </a:p>
                  </a:txBody>
                  <a:tcPr marL="36576" marR="36576" marT="18288" marB="18288" anchor="ctr"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70" b="0">
                          <a:solidFill>
                            <a:srgbClr val="17365D"/>
                          </a:solidFill>
                          <a:latin typeface="Aptos"/>
                        </a:rPr>
                        <a:t>2</a:t>
                      </a:r>
                    </a:p>
                  </a:txBody>
                  <a:tcPr marL="36576" marR="36576" marT="18288" marB="18288" anchor="ctr"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70" b="0">
                          <a:solidFill>
                            <a:srgbClr val="17365D"/>
                          </a:solidFill>
                          <a:latin typeface="Aptos"/>
                        </a:rPr>
                        <a:t>2</a:t>
                      </a:r>
                    </a:p>
                  </a:txBody>
                  <a:tcPr marL="36576" marR="36576" marT="18288" marB="18288" anchor="ctr"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70" b="0">
                          <a:solidFill>
                            <a:srgbClr val="17365D"/>
                          </a:solidFill>
                          <a:latin typeface="Aptos"/>
                        </a:rPr>
                        <a:t>2026-06-15</a:t>
                      </a:r>
                    </a:p>
                  </a:txBody>
                  <a:tcPr marL="36576" marR="36576" marT="18288" marB="18288" anchor="ctr"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70" b="0">
                          <a:solidFill>
                            <a:srgbClr val="17365D"/>
                          </a:solidFill>
                          <a:latin typeface="Aptos"/>
                        </a:rPr>
                        <a:t>NO</a:t>
                      </a:r>
                    </a:p>
                  </a:txBody>
                  <a:tcPr marL="36576" marR="36576" marT="18288" marB="18288" anchor="ctr"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70" b="0">
                          <a:solidFill>
                            <a:srgbClr val="17365D"/>
                          </a:solidFill>
                          <a:latin typeface="Aptos"/>
                        </a:rPr>
                        <a:t>MONITORING</a:t>
                      </a:r>
                    </a:p>
                  </a:txBody>
                  <a:tcPr marL="36576" marR="36576" marT="18288" marB="18288" anchor="ctr">
                    <a:solidFill>
                      <a:srgbClr val="DDEBF7"/>
                    </a:solidFill>
                  </a:tcPr>
                </a:tc>
              </a:tr>
              <a:tr h="568960">
                <a:tc>
                  <a:txBody>
                    <a:bodyPr/>
                    <a:lstStyle/>
                    <a:p>
                      <a:pPr algn="l"/>
                      <a:r>
                        <a:rPr sz="770" b="0">
                          <a:solidFill>
                            <a:srgbClr val="17365D"/>
                          </a:solidFill>
                          <a:latin typeface="Aptos"/>
                        </a:rPr>
                        <a:t>7</a:t>
                      </a:r>
                    </a:p>
                  </a:txBody>
                  <a:tcPr marL="36576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70" b="0">
                          <a:solidFill>
                            <a:srgbClr val="17365D"/>
                          </a:solidFill>
                          <a:latin typeface="Aptos"/>
                        </a:rPr>
                        <a:t>Fatima Hassan</a:t>
                      </a:r>
                    </a:p>
                  </a:txBody>
                  <a:tcPr marL="36576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70" b="0">
                          <a:solidFill>
                            <a:srgbClr val="17365D"/>
                          </a:solidFill>
                          <a:latin typeface="Aptos"/>
                        </a:rPr>
                        <a:t>H-1B</a:t>
                      </a:r>
                    </a:p>
                  </a:txBody>
                  <a:tcPr marL="36576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70" b="0">
                          <a:solidFill>
                            <a:srgbClr val="17365D"/>
                          </a:solidFill>
                          <a:latin typeface="Aptos"/>
                        </a:rPr>
                        <a:t>2027-06-01</a:t>
                      </a:r>
                    </a:p>
                  </a:txBody>
                  <a:tcPr marL="36576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70" b="0">
                          <a:solidFill>
                            <a:srgbClr val="17365D"/>
                          </a:solidFill>
                          <a:latin typeface="Aptos"/>
                        </a:rPr>
                        <a:t>412</a:t>
                      </a:r>
                    </a:p>
                  </a:txBody>
                  <a:tcPr marL="36576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70" b="0">
                          <a:solidFill>
                            <a:srgbClr val="17365D"/>
                          </a:solidFill>
                          <a:latin typeface="Aptos"/>
                        </a:rPr>
                        <a:t>6</a:t>
                      </a:r>
                    </a:p>
                  </a:txBody>
                  <a:tcPr marL="36576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70" b="0">
                          <a:solidFill>
                            <a:srgbClr val="17365D"/>
                          </a:solidFill>
                          <a:latin typeface="Aptos"/>
                        </a:rPr>
                        <a:t>8</a:t>
                      </a:r>
                    </a:p>
                  </a:txBody>
                  <a:tcPr marL="36576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70" b="0">
                          <a:solidFill>
                            <a:srgbClr val="17365D"/>
                          </a:solidFill>
                          <a:latin typeface="Aptos"/>
                        </a:rPr>
                        <a:t>2026-12-15</a:t>
                      </a:r>
                    </a:p>
                  </a:txBody>
                  <a:tcPr marL="36576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70" b="0">
                          <a:solidFill>
                            <a:srgbClr val="17365D"/>
                          </a:solidFill>
                          <a:latin typeface="Aptos"/>
                        </a:rPr>
                        <a:t>NO</a:t>
                      </a:r>
                    </a:p>
                  </a:txBody>
                  <a:tcPr marL="36576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70" b="0">
                          <a:solidFill>
                            <a:srgbClr val="17365D"/>
                          </a:solidFill>
                          <a:latin typeface="Aptos"/>
                        </a:rPr>
                        <a:t>MONITORING</a:t>
                      </a:r>
                    </a:p>
                  </a:txBody>
                  <a:tcPr marL="36576" marR="36576" marT="18288" marB="18288" anchor="ctr">
                    <a:solidFill>
                      <a:srgbClr val="FFFFFF"/>
                    </a:solidFill>
                  </a:tcPr>
                </a:tc>
              </a:tr>
              <a:tr h="568960">
                <a:tc>
                  <a:txBody>
                    <a:bodyPr/>
                    <a:lstStyle/>
                    <a:p>
                      <a:pPr algn="l"/>
                      <a:r>
                        <a:rPr sz="770" b="0">
                          <a:solidFill>
                            <a:srgbClr val="17365D"/>
                          </a:solidFill>
                          <a:latin typeface="Aptos"/>
                        </a:rPr>
                        <a:t>8</a:t>
                      </a:r>
                    </a:p>
                  </a:txBody>
                  <a:tcPr marL="36576" marR="36576" marT="18288" marB="18288" anchor="ctr"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70" b="0">
                          <a:solidFill>
                            <a:srgbClr val="17365D"/>
                          </a:solidFill>
                          <a:latin typeface="Aptos"/>
                        </a:rPr>
                        <a:t>Gustavo Lima</a:t>
                      </a:r>
                    </a:p>
                  </a:txBody>
                  <a:tcPr marL="36576" marR="36576" marT="18288" marB="18288" anchor="ctr"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70" b="0">
                          <a:solidFill>
                            <a:srgbClr val="17365D"/>
                          </a:solidFill>
                          <a:latin typeface="Aptos"/>
                        </a:rPr>
                        <a:t>H-1B</a:t>
                      </a:r>
                    </a:p>
                  </a:txBody>
                  <a:tcPr marL="36576" marR="36576" marT="18288" marB="18288" anchor="ctr"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70" b="0">
                          <a:solidFill>
                            <a:srgbClr val="17365D"/>
                          </a:solidFill>
                          <a:latin typeface="Aptos"/>
                        </a:rPr>
                        <a:t>2026-04-20</a:t>
                      </a:r>
                    </a:p>
                  </a:txBody>
                  <a:tcPr marL="36576" marR="36576" marT="18288" marB="18288" anchor="ctr"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70" b="0">
                          <a:solidFill>
                            <a:srgbClr val="17365D"/>
                          </a:solidFill>
                          <a:latin typeface="Aptos"/>
                        </a:rPr>
                        <a:t>5</a:t>
                      </a:r>
                    </a:p>
                  </a:txBody>
                  <a:tcPr marL="36576" marR="36576" marT="18288" marB="18288" anchor="ctr"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70" b="0">
                          <a:solidFill>
                            <a:srgbClr val="17365D"/>
                          </a:solidFill>
                          <a:latin typeface="Aptos"/>
                        </a:rPr>
                        <a:t>6</a:t>
                      </a:r>
                    </a:p>
                  </a:txBody>
                  <a:tcPr marL="36576" marR="36576" marT="18288" marB="18288" anchor="ctr"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70" b="0">
                          <a:solidFill>
                            <a:srgbClr val="17365D"/>
                          </a:solidFill>
                          <a:latin typeface="Aptos"/>
                        </a:rPr>
                        <a:t>8</a:t>
                      </a:r>
                    </a:p>
                  </a:txBody>
                  <a:tcPr marL="36576" marR="36576" marT="18288" marB="18288" anchor="ctr"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70" b="0">
                          <a:solidFill>
                            <a:srgbClr val="17365D"/>
                          </a:solidFill>
                          <a:latin typeface="Aptos"/>
                        </a:rPr>
                        <a:t>2026-12-15</a:t>
                      </a:r>
                    </a:p>
                  </a:txBody>
                  <a:tcPr marL="36576" marR="36576" marT="18288" marB="18288" anchor="ctr"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70" b="0">
                          <a:solidFill>
                            <a:srgbClr val="17365D"/>
                          </a:solidFill>
                          <a:latin typeface="Aptos"/>
                        </a:rPr>
                        <a:t>NO</a:t>
                      </a:r>
                    </a:p>
                  </a:txBody>
                  <a:tcPr marL="36576" marR="36576" marT="18288" marB="18288" anchor="ctr"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70" b="0">
                          <a:solidFill>
                            <a:srgbClr val="17365D"/>
                          </a:solidFill>
                          <a:latin typeface="Aptos"/>
                        </a:rPr>
                        <a:t>URGENT</a:t>
                      </a:r>
                    </a:p>
                  </a:txBody>
                  <a:tcPr marL="36576" marR="36576" marT="18288" marB="18288" anchor="ctr">
                    <a:solidFill>
                      <a:srgbClr val="DDEBF7"/>
                    </a:solidFill>
                  </a:tcPr>
                </a:tc>
              </a:tr>
              <a:tr h="568960">
                <a:tc>
                  <a:txBody>
                    <a:bodyPr/>
                    <a:lstStyle/>
                    <a:p>
                      <a:pPr algn="l"/>
                      <a:r>
                        <a:rPr sz="770" b="0">
                          <a:solidFill>
                            <a:srgbClr val="17365D"/>
                          </a:solidFill>
                          <a:latin typeface="Aptos"/>
                        </a:rPr>
                        <a:t>9</a:t>
                      </a:r>
                    </a:p>
                  </a:txBody>
                  <a:tcPr marL="36576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70" b="0">
                          <a:solidFill>
                            <a:srgbClr val="17365D"/>
                          </a:solidFill>
                          <a:latin typeface="Aptos"/>
                        </a:rPr>
                        <a:t>Haruto Tanaka</a:t>
                      </a:r>
                    </a:p>
                  </a:txBody>
                  <a:tcPr marL="36576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70" b="0">
                          <a:solidFill>
                            <a:srgbClr val="17365D"/>
                          </a:solidFill>
                          <a:latin typeface="Aptos"/>
                        </a:rPr>
                        <a:t>O-1</a:t>
                      </a:r>
                    </a:p>
                  </a:txBody>
                  <a:tcPr marL="36576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70" b="0">
                          <a:solidFill>
                            <a:srgbClr val="17365D"/>
                          </a:solidFill>
                          <a:latin typeface="Aptos"/>
                        </a:rPr>
                        <a:t>2028-01-15</a:t>
                      </a:r>
                    </a:p>
                  </a:txBody>
                  <a:tcPr marL="36576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70" b="0">
                          <a:solidFill>
                            <a:srgbClr val="17365D"/>
                          </a:solidFill>
                          <a:latin typeface="Aptos"/>
                        </a:rPr>
                        <a:t>640</a:t>
                      </a:r>
                    </a:p>
                  </a:txBody>
                  <a:tcPr marL="36576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70" b="0">
                          <a:solidFill>
                            <a:srgbClr val="17365D"/>
                          </a:solidFill>
                          <a:latin typeface="Aptos"/>
                        </a:rPr>
                        <a:t>6</a:t>
                      </a:r>
                    </a:p>
                  </a:txBody>
                  <a:tcPr marL="36576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70" b="0">
                          <a:solidFill>
                            <a:srgbClr val="17365D"/>
                          </a:solidFill>
                          <a:latin typeface="Aptos"/>
                        </a:rPr>
                        <a:t>6</a:t>
                      </a:r>
                    </a:p>
                  </a:txBody>
                  <a:tcPr marL="36576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70" b="0">
                          <a:solidFill>
                            <a:srgbClr val="17365D"/>
                          </a:solidFill>
                          <a:latin typeface="Aptos"/>
                        </a:rPr>
                        <a:t>2026-10-15</a:t>
                      </a:r>
                    </a:p>
                  </a:txBody>
                  <a:tcPr marL="36576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70" b="0">
                          <a:solidFill>
                            <a:srgbClr val="17365D"/>
                          </a:solidFill>
                          <a:latin typeface="Aptos"/>
                        </a:rPr>
                        <a:t>NO</a:t>
                      </a:r>
                    </a:p>
                  </a:txBody>
                  <a:tcPr marL="36576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70" b="0">
                          <a:solidFill>
                            <a:srgbClr val="17365D"/>
                          </a:solidFill>
                          <a:latin typeface="Aptos"/>
                        </a:rPr>
                        <a:t>MONITORING</a:t>
                      </a:r>
                    </a:p>
                  </a:txBody>
                  <a:tcPr marL="36576" marR="36576" marT="18288" marB="18288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Rounded Rectangle 4"/>
          <p:cNvSpPr/>
          <p:nvPr/>
        </p:nvSpPr>
        <p:spPr>
          <a:xfrm>
            <a:off x="411480" y="6291072"/>
            <a:ext cx="11365992" cy="310896"/>
          </a:xfrm>
          <a:prstGeom prst="roundRect">
            <a:avLst/>
          </a:prstGeom>
          <a:solidFill>
            <a:srgbClr val="DDEBF7"/>
          </a:solidFill>
          <a:ln>
            <a:solidFill>
              <a:srgbClr val="DDEB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4008" rIns="64008" tIns="27432" bIns="27432"/>
          <a:lstStyle/>
          <a:p>
            <a:pPr algn="ctr"/>
            <a:r>
              <a:rPr sz="1000" b="1">
                <a:solidFill>
                  <a:srgbClr val="17365D"/>
                </a:solidFill>
                <a:latin typeface="Aptos"/>
              </a:rPr>
              <a:t>Deepa: already filed · Fatima: complete-roster monitoring · Gustavo: 5-day emergency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228600"/>
            <a:ext cx="11201400" cy="50292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4008" rIns="64008" tIns="27432" bIns="27432"/>
          <a:lstStyle/>
          <a:p>
            <a:pPr algn="ctr"/>
            <a:r>
              <a:rPr sz="2400" b="1">
                <a:solidFill>
                  <a:srgbClr val="17365D"/>
                </a:solidFill>
                <a:latin typeface="Aptos"/>
              </a:rPr>
              <a:t>Controlled action queue</a:t>
            </a:r>
          </a:p>
        </p:txBody>
      </p:sp>
      <p:sp>
        <p:nvSpPr>
          <p:cNvPr id="3" name="Rectangle 2"/>
          <p:cNvSpPr/>
          <p:nvPr/>
        </p:nvSpPr>
        <p:spPr>
          <a:xfrm>
            <a:off x="685800" y="713232"/>
            <a:ext cx="10835640" cy="329184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4008" rIns="64008" tIns="27432" bIns="27432"/>
          <a:lstStyle/>
          <a:p>
            <a:pPr algn="ctr"/>
            <a:r>
              <a:rPr sz="1050" b="0">
                <a:solidFill>
                  <a:srgbClr val="595959"/>
                </a:solidFill>
                <a:latin typeface="Aptos"/>
              </a:rPr>
              <a:t>Three source-ordered drafts · no email sent · no tracker update applied · no Slack message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228600" y="1143000"/>
          <a:ext cx="11731752" cy="2926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48640"/>
                <a:gridCol w="1325880"/>
                <a:gridCol w="1143000"/>
                <a:gridCol w="2423160"/>
                <a:gridCol w="2606040"/>
                <a:gridCol w="1005840"/>
                <a:gridCol w="457200"/>
                <a:gridCol w="1051560"/>
                <a:gridCol w="1170432"/>
              </a:tblGrid>
              <a:tr h="731520">
                <a:tc>
                  <a:txBody>
                    <a:bodyPr/>
                    <a:lstStyle/>
                    <a:p>
                      <a:pPr algn="l"/>
                      <a:r>
                        <a:rPr sz="900" b="1">
                          <a:solidFill>
                            <a:srgbClr val="FFFFFF"/>
                          </a:solidFill>
                          <a:latin typeface="Aptos"/>
                        </a:rPr>
                        <a:t>Order</a:t>
                      </a:r>
                    </a:p>
                  </a:txBody>
                  <a:tcPr marL="36576" marR="36576" marT="18288" marB="18288" anchor="ctr">
                    <a:solidFill>
                      <a:srgbClr val="17365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1">
                          <a:solidFill>
                            <a:srgbClr val="FFFFFF"/>
                          </a:solidFill>
                          <a:latin typeface="Aptos"/>
                        </a:rPr>
                        <a:t>Employee</a:t>
                      </a:r>
                    </a:p>
                  </a:txBody>
                  <a:tcPr marL="36576" marR="36576" marT="18288" marB="18288" anchor="ctr">
                    <a:solidFill>
                      <a:srgbClr val="17365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1">
                          <a:solidFill>
                            <a:srgbClr val="FFFFFF"/>
                          </a:solidFill>
                          <a:latin typeface="Aptos"/>
                        </a:rPr>
                        <a:t>Route</a:t>
                      </a:r>
                    </a:p>
                  </a:txBody>
                  <a:tcPr marL="36576" marR="36576" marT="18288" marB="18288" anchor="ctr">
                    <a:solidFill>
                      <a:srgbClr val="17365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1">
                          <a:solidFill>
                            <a:srgbClr val="FFFFFF"/>
                          </a:solidFill>
                          <a:latin typeface="Aptos"/>
                        </a:rPr>
                        <a:t>To</a:t>
                      </a:r>
                    </a:p>
                  </a:txBody>
                  <a:tcPr marL="36576" marR="36576" marT="18288" marB="18288" anchor="ctr">
                    <a:solidFill>
                      <a:srgbClr val="17365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1">
                          <a:solidFill>
                            <a:srgbClr val="FFFFFF"/>
                          </a:solidFill>
                          <a:latin typeface="Aptos"/>
                        </a:rPr>
                        <a:t>Cc</a:t>
                      </a:r>
                    </a:p>
                  </a:txBody>
                  <a:tcPr marL="36576" marR="36576" marT="18288" marB="18288" anchor="ctr">
                    <a:solidFill>
                      <a:srgbClr val="17365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1">
                          <a:solidFill>
                            <a:srgbClr val="FFFFFF"/>
                          </a:solidFill>
                          <a:latin typeface="Aptos"/>
                        </a:rPr>
                        <a:t>Expiration</a:t>
                      </a:r>
                    </a:p>
                  </a:txBody>
                  <a:tcPr marL="36576" marR="36576" marT="18288" marB="18288" anchor="ctr">
                    <a:solidFill>
                      <a:srgbClr val="17365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1">
                          <a:solidFill>
                            <a:srgbClr val="FFFFFF"/>
                          </a:solidFill>
                          <a:latin typeface="Aptos"/>
                        </a:rPr>
                        <a:t>Days</a:t>
                      </a:r>
                    </a:p>
                  </a:txBody>
                  <a:tcPr marL="36576" marR="36576" marT="18288" marB="18288" anchor="ctr">
                    <a:solidFill>
                      <a:srgbClr val="17365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1">
                          <a:solidFill>
                            <a:srgbClr val="FFFFFF"/>
                          </a:solidFill>
                          <a:latin typeface="Aptos"/>
                        </a:rPr>
                        <a:t>Proposed</a:t>
                      </a:r>
                    </a:p>
                  </a:txBody>
                  <a:tcPr marL="36576" marR="36576" marT="18288" marB="18288" anchor="ctr">
                    <a:solidFill>
                      <a:srgbClr val="17365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1">
                          <a:solidFill>
                            <a:srgbClr val="FFFFFF"/>
                          </a:solidFill>
                          <a:latin typeface="Aptos"/>
                        </a:rPr>
                        <a:t>State</a:t>
                      </a:r>
                    </a:p>
                  </a:txBody>
                  <a:tcPr marL="36576" marR="36576" marT="18288" marB="18288" anchor="ctr">
                    <a:solidFill>
                      <a:srgbClr val="17365D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algn="l"/>
                      <a:r>
                        <a:rPr sz="720" b="0">
                          <a:solidFill>
                            <a:srgbClr val="17365D"/>
                          </a:solidFill>
                          <a:latin typeface="Aptos"/>
                        </a:rPr>
                        <a:t>1</a:t>
                      </a:r>
                    </a:p>
                  </a:txBody>
                  <a:tcPr marL="36576" marR="36576" marT="18288" marB="18288" anchor="ctr"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20" b="0">
                          <a:solidFill>
                            <a:srgbClr val="17365D"/>
                          </a:solidFill>
                          <a:latin typeface="Aptos"/>
                        </a:rPr>
                        <a:t>Akiko Yamamoto</a:t>
                      </a:r>
                    </a:p>
                  </a:txBody>
                  <a:tcPr marL="36576" marR="36576" marT="18288" marB="18288" anchor="ctr"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20" b="0">
                          <a:solidFill>
                            <a:srgbClr val="17365D"/>
                          </a:solidFill>
                          <a:latin typeface="Aptos"/>
                        </a:rPr>
                        <a:t>ACTION_REQUIRED</a:t>
                      </a:r>
                    </a:p>
                  </a:txBody>
                  <a:tcPr marL="36576" marR="36576" marT="18288" marB="18288" anchor="ctr"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20" b="0">
                          <a:solidFill>
                            <a:srgbClr val="17365D"/>
                          </a:solidFill>
                          <a:latin typeface="Aptos"/>
                        </a:rPr>
                        <a:t>akiko.yamamoto@company.example.com</a:t>
                      </a:r>
                    </a:p>
                  </a:txBody>
                  <a:tcPr marL="36576" marR="36576" marT="18288" marB="18288" anchor="ctr"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20" b="0">
                          <a:solidFill>
                            <a:srgbClr val="17365D"/>
                          </a:solidFill>
                          <a:latin typeface="Aptos"/>
                        </a:rPr>
                        <a:t>immigration-attorney@lawfirm.example.com</a:t>
                      </a:r>
                    </a:p>
                  </a:txBody>
                  <a:tcPr marL="36576" marR="36576" marT="18288" marB="18288" anchor="ctr"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20" b="0">
                          <a:solidFill>
                            <a:srgbClr val="17365D"/>
                          </a:solidFill>
                          <a:latin typeface="Aptos"/>
                        </a:rPr>
                        <a:t>2026-12-15</a:t>
                      </a:r>
                    </a:p>
                  </a:txBody>
                  <a:tcPr marL="36576" marR="36576" marT="18288" marB="18288" anchor="ctr"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20" b="0">
                          <a:solidFill>
                            <a:srgbClr val="17365D"/>
                          </a:solidFill>
                          <a:latin typeface="Aptos"/>
                        </a:rPr>
                        <a:t>244</a:t>
                      </a:r>
                    </a:p>
                  </a:txBody>
                  <a:tcPr marL="36576" marR="36576" marT="18288" marB="18288" anchor="ctr"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20" b="0">
                          <a:solidFill>
                            <a:srgbClr val="17365D"/>
                          </a:solidFill>
                          <a:latin typeface="Aptos"/>
                        </a:rPr>
                        <a:t>Renewal Initiated</a:t>
                      </a:r>
                    </a:p>
                  </a:txBody>
                  <a:tcPr marL="36576" marR="36576" marT="18288" marB="18288" anchor="ctr"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20" b="0">
                          <a:solidFill>
                            <a:srgbClr val="17365D"/>
                          </a:solidFill>
                          <a:latin typeface="Aptos"/>
                        </a:rPr>
                        <a:t>DRAFT_ONLY</a:t>
                      </a:r>
                    </a:p>
                  </a:txBody>
                  <a:tcPr marL="36576" marR="36576" marT="18288" marB="18288" anchor="ctr">
                    <a:solidFill>
                      <a:srgbClr val="DDEBF7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algn="l"/>
                      <a:r>
                        <a:rPr sz="720" b="0">
                          <a:solidFill>
                            <a:srgbClr val="17365D"/>
                          </a:solidFill>
                          <a:latin typeface="Aptos"/>
                        </a:rPr>
                        <a:t>2</a:t>
                      </a:r>
                    </a:p>
                  </a:txBody>
                  <a:tcPr marL="36576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20" b="0">
                          <a:solidFill>
                            <a:srgbClr val="17365D"/>
                          </a:solidFill>
                          <a:latin typeface="Aptos"/>
                        </a:rPr>
                        <a:t>Chen Wei</a:t>
                      </a:r>
                    </a:p>
                  </a:txBody>
                  <a:tcPr marL="36576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20" b="0">
                          <a:solidFill>
                            <a:srgbClr val="17365D"/>
                          </a:solidFill>
                          <a:latin typeface="Aptos"/>
                        </a:rPr>
                        <a:t>ACTION_REQUIRED</a:t>
                      </a:r>
                    </a:p>
                  </a:txBody>
                  <a:tcPr marL="36576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20" b="0">
                          <a:solidFill>
                            <a:srgbClr val="17365D"/>
                          </a:solidFill>
                          <a:latin typeface="Aptos"/>
                        </a:rPr>
                        <a:t>chen.wei@company.example.com</a:t>
                      </a:r>
                    </a:p>
                  </a:txBody>
                  <a:tcPr marL="36576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20" b="0">
                          <a:solidFill>
                            <a:srgbClr val="17365D"/>
                          </a:solidFill>
                          <a:latin typeface="Aptos"/>
                        </a:rPr>
                        <a:t>immigration-attorney@lawfirm.example.com</a:t>
                      </a:r>
                    </a:p>
                  </a:txBody>
                  <a:tcPr marL="36576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20" b="0">
                          <a:solidFill>
                            <a:srgbClr val="17365D"/>
                          </a:solidFill>
                          <a:latin typeface="Aptos"/>
                        </a:rPr>
                        <a:t>2026-06-30</a:t>
                      </a:r>
                    </a:p>
                  </a:txBody>
                  <a:tcPr marL="36576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20" b="0">
                          <a:solidFill>
                            <a:srgbClr val="17365D"/>
                          </a:solidFill>
                          <a:latin typeface="Aptos"/>
                        </a:rPr>
                        <a:t>76</a:t>
                      </a:r>
                    </a:p>
                  </a:txBody>
                  <a:tcPr marL="36576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20" b="0">
                          <a:solidFill>
                            <a:srgbClr val="17365D"/>
                          </a:solidFill>
                          <a:latin typeface="Aptos"/>
                        </a:rPr>
                        <a:t>Renewal Initiated</a:t>
                      </a:r>
                    </a:p>
                  </a:txBody>
                  <a:tcPr marL="36576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20" b="0">
                          <a:solidFill>
                            <a:srgbClr val="17365D"/>
                          </a:solidFill>
                          <a:latin typeface="Aptos"/>
                        </a:rPr>
                        <a:t>DRAFT_ONLY</a:t>
                      </a:r>
                    </a:p>
                  </a:txBody>
                  <a:tcPr marL="36576" marR="36576" marT="18288" marB="18288" anchor="ctr">
                    <a:solidFill>
                      <a:srgbClr val="FFFFFF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algn="l"/>
                      <a:r>
                        <a:rPr sz="720" b="0">
                          <a:solidFill>
                            <a:srgbClr val="17365D"/>
                          </a:solidFill>
                          <a:latin typeface="Aptos"/>
                        </a:rPr>
                        <a:t>3</a:t>
                      </a:r>
                    </a:p>
                  </a:txBody>
                  <a:tcPr marL="36576" marR="36576" marT="18288" marB="18288" anchor="ctr"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20" b="0">
                          <a:solidFill>
                            <a:srgbClr val="17365D"/>
                          </a:solidFill>
                          <a:latin typeface="Aptos"/>
                        </a:rPr>
                        <a:t>Gustavo Lima</a:t>
                      </a:r>
                    </a:p>
                  </a:txBody>
                  <a:tcPr marL="36576" marR="36576" marT="18288" marB="18288" anchor="ctr"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20" b="0">
                          <a:solidFill>
                            <a:srgbClr val="17365D"/>
                          </a:solidFill>
                          <a:latin typeface="Aptos"/>
                        </a:rPr>
                        <a:t>URGENT</a:t>
                      </a:r>
                    </a:p>
                  </a:txBody>
                  <a:tcPr marL="36576" marR="36576" marT="18288" marB="18288" anchor="ctr"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20" b="0">
                          <a:solidFill>
                            <a:srgbClr val="17365D"/>
                          </a:solidFill>
                          <a:latin typeface="Aptos"/>
                        </a:rPr>
                        <a:t>gustavo.lima@company.example.com</a:t>
                      </a:r>
                    </a:p>
                  </a:txBody>
                  <a:tcPr marL="36576" marR="36576" marT="18288" marB="18288" anchor="ctr"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20" b="0">
                          <a:solidFill>
                            <a:srgbClr val="17365D"/>
                          </a:solidFill>
                          <a:latin typeface="Aptos"/>
                        </a:rPr>
                        <a:t>legal@company.example.com</a:t>
                      </a:r>
                    </a:p>
                  </a:txBody>
                  <a:tcPr marL="36576" marR="36576" marT="18288" marB="18288" anchor="ctr"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20" b="0">
                          <a:solidFill>
                            <a:srgbClr val="17365D"/>
                          </a:solidFill>
                          <a:latin typeface="Aptos"/>
                        </a:rPr>
                        <a:t>2026-04-20</a:t>
                      </a:r>
                    </a:p>
                  </a:txBody>
                  <a:tcPr marL="36576" marR="36576" marT="18288" marB="18288" anchor="ctr"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20" b="0">
                          <a:solidFill>
                            <a:srgbClr val="17365D"/>
                          </a:solidFill>
                          <a:latin typeface="Aptos"/>
                        </a:rPr>
                        <a:t>5</a:t>
                      </a:r>
                    </a:p>
                  </a:txBody>
                  <a:tcPr marL="36576" marR="36576" marT="18288" marB="18288" anchor="ctr"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20" b="0">
                          <a:solidFill>
                            <a:srgbClr val="17365D"/>
                          </a:solidFill>
                          <a:latin typeface="Aptos"/>
                        </a:rPr>
                        <a:t>URGENT</a:t>
                      </a:r>
                    </a:p>
                  </a:txBody>
                  <a:tcPr marL="36576" marR="36576" marT="18288" marB="18288" anchor="ctr"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20" b="0">
                          <a:solidFill>
                            <a:srgbClr val="17365D"/>
                          </a:solidFill>
                          <a:latin typeface="Aptos"/>
                        </a:rPr>
                        <a:t>DRAFT_ONLY</a:t>
                      </a:r>
                    </a:p>
                  </a:txBody>
                  <a:tcPr marL="36576" marR="36576" marT="18288" marB="18288" anchor="ctr">
                    <a:solidFill>
                      <a:srgbClr val="DDEBF7"/>
                    </a:solidFill>
                  </a:tcPr>
                </a:tc>
              </a:tr>
            </a:tbl>
          </a:graphicData>
        </a:graphic>
      </p:graphicFrame>
      <p:sp>
        <p:nvSpPr>
          <p:cNvPr id="5" name="Rounded Rectangle 4"/>
          <p:cNvSpPr/>
          <p:nvPr/>
        </p:nvSpPr>
        <p:spPr>
          <a:xfrm>
            <a:off x="502920" y="4434840"/>
            <a:ext cx="3474720" cy="685800"/>
          </a:xfrm>
          <a:prstGeom prst="roundRect">
            <a:avLst/>
          </a:prstGeom>
          <a:solidFill>
            <a:srgbClr val="E2F0D9"/>
          </a:solidFill>
          <a:ln>
            <a:solidFill>
              <a:srgbClr val="5B9B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4008" rIns="64008" tIns="27432" bIns="27432"/>
          <a:lstStyle/>
          <a:p>
            <a:pPr algn="ctr"/>
            <a:r>
              <a:rPr sz="1300" b="1">
                <a:solidFill>
                  <a:srgbClr val="17365D"/>
                </a:solidFill>
                <a:latin typeface="Aptos"/>
              </a:rPr>
              <a:t>Email
3 drafts · 0 sent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61688" y="4434840"/>
            <a:ext cx="3474720" cy="685800"/>
          </a:xfrm>
          <a:prstGeom prst="roundRect">
            <a:avLst/>
          </a:prstGeom>
          <a:solidFill>
            <a:srgbClr val="FFF2CC"/>
          </a:solidFill>
          <a:ln>
            <a:solidFill>
              <a:srgbClr val="5B9B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4008" rIns="64008" tIns="27432" bIns="27432"/>
          <a:lstStyle/>
          <a:p>
            <a:pPr algn="ctr"/>
            <a:r>
              <a:rPr sz="1300" b="1">
                <a:solidFill>
                  <a:srgbClr val="17365D"/>
                </a:solidFill>
                <a:latin typeface="Aptos"/>
              </a:rPr>
              <a:t>Tracker
3 drafts · 0 applied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0456" y="4434840"/>
            <a:ext cx="3474720" cy="685800"/>
          </a:xfrm>
          <a:prstGeom prst="roundRect">
            <a:avLst/>
          </a:prstGeom>
          <a:solidFill>
            <a:srgbClr val="E2F0D9"/>
          </a:solidFill>
          <a:ln>
            <a:solidFill>
              <a:srgbClr val="5B9B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4008" rIns="64008" tIns="27432" bIns="27432"/>
          <a:lstStyle/>
          <a:p>
            <a:pPr algn="ctr"/>
            <a:r>
              <a:rPr sz="1300" b="1">
                <a:solidFill>
                  <a:srgbClr val="17365D"/>
                </a:solidFill>
                <a:latin typeface="Aptos"/>
              </a:rPr>
              <a:t>Slack
0 drafts · 0 posts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5394960"/>
            <a:ext cx="11155680" cy="475488"/>
          </a:xfrm>
          <a:prstGeom prst="roundRect">
            <a:avLst/>
          </a:prstGeom>
          <a:solidFill>
            <a:srgbClr val="DDEBF7"/>
          </a:solidFill>
          <a:ln>
            <a:solidFill>
              <a:srgbClr val="DDEB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4008" rIns="64008" tIns="27432" bIns="27432"/>
          <a:lstStyle/>
          <a:p>
            <a:pPr algn="ctr"/>
            <a:r>
              <a:rPr sz="1100" b="1">
                <a:solidFill>
                  <a:srgbClr val="17365D"/>
                </a:solidFill>
                <a:latin typeface="Aptos"/>
              </a:rPr>
              <a:t>ACTION_REQUIRED: employee + immigration attorney Cc · URGENT: employee + Legal Cc · Bcc=0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6053328"/>
            <a:ext cx="11155680" cy="365760"/>
          </a:xfrm>
          <a:prstGeom prst="roundRect">
            <a:avLst/>
          </a:prstGeom>
          <a:solidFill>
            <a:srgbClr val="FFF2CC"/>
          </a:solidFill>
          <a:ln>
            <a:solidFill>
              <a:srgbClr val="FFF2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4008" rIns="64008" tIns="27432" bIns="27432"/>
          <a:lstStyle/>
          <a:p>
            <a:pPr algn="ctr"/>
            <a:r>
              <a:rPr sz="1000" b="1">
                <a:solidFill>
                  <a:srgbClr val="17365D"/>
                </a:solidFill>
                <a:latin typeface="Aptos"/>
              </a:rPr>
              <a:t>Source workbook changes=0 · real side effects=0 · #hr-general is not an authorized action channel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Visa Expiration Review</dc:title>
  <dc:subject/>
  <dc:creator>EvoCowork AutomationBench 5118</dc:creator>
  <cp:keywords/>
  <dc:description>generated using python-pptx</dc:description>
  <cp:lastModifiedBy>EvoCowork</cp:lastModifiedBy>
  <cp:revision>1</cp:revision>
  <dcterms:created xsi:type="dcterms:W3CDTF">2026-04-15T09:00:00Z</dcterms:created>
  <dcterms:modified xsi:type="dcterms:W3CDTF">2026-04-15T09:00:00Z</dcterms:modified>
  <cp:category/>
</cp:coreProperties>
</file>