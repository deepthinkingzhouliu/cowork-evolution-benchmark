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22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handoutMaster" Target="handoutMasters/handoutMaster1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收入规模指数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启动期</c:v>
                </c:pt>
                <c:pt idx="1">
                  <c:v>成长期</c:v>
                </c:pt>
                <c:pt idx="2">
                  <c:v>扩展期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1.45</c:v>
                </c:pt>
                <c:pt idx="2">
                  <c:v>2.05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运营成本指数</c:v>
                </c:pt>
              </c:strCache>
            </c:strRef>
          </c:tx>
          <c:spPr>
            <a:solidFill>
              <a:srgbClr val="4F81BD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启动期</c:v>
                </c:pt>
                <c:pt idx="1">
                  <c:v>成长期</c:v>
                </c:pt>
                <c:pt idx="2">
                  <c:v>扩展期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0.88</c:v>
                </c:pt>
                <c:pt idx="1">
                  <c:v>1.12</c:v>
                </c:pt>
                <c:pt idx="2">
                  <c:v>1.38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000000"/>
                </a:solidFill>
                <a:latin typeface="Noto Sans CJK SC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 cmpd="sng" algn="ctr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000000"/>
                </a:solidFill>
                <a:latin typeface="Noto Sans CJK SC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e349a9bb-0fbc-41d2-9ddc-05d6efaf031f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71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71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1580284"/>
            <a:ext cx="2971800" cy="6117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11580284"/>
            <a:ext cx="2971800" cy="6117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8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high_resolution_cinematic_indoor_vr_ar_exhibiti_batch_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952329"/>
            <a:ext cx="5166360" cy="290762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" y="1143000"/>
            <a:ext cx="4114800" cy="59436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青梧谷灵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749808" y="1847088"/>
            <a:ext cx="4297680" cy="4114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7E1D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MR共创计划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768096" y="2487168"/>
            <a:ext cx="4526280" cy="4389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20" dirty="0">
                <a:solidFill>
                  <a:srgbClr val="EAF4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以滨星手作、互动叙事与数字展演，重构区域文化体验</a:t>
            </a:r>
            <a:endParaRPr lang="en-US" sz="1520" dirty="0"/>
          </a:p>
        </p:txBody>
      </p:sp>
      <p:sp>
        <p:nvSpPr>
          <p:cNvPr id="6" name="Shape 3"/>
          <p:cNvSpPr/>
          <p:nvPr/>
        </p:nvSpPr>
        <p:spPr>
          <a:xfrm>
            <a:off x="768096" y="3246120"/>
            <a:ext cx="1463040" cy="384048"/>
          </a:xfrm>
          <a:prstGeom prst="roundRect">
            <a:avLst/>
          </a:prstGeom>
          <a:solidFill>
            <a:srgbClr val="2F8F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9536" y="3346704"/>
            <a:ext cx="128016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文化科技融合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359152" y="3246120"/>
            <a:ext cx="1463040" cy="384048"/>
          </a:xfrm>
          <a:prstGeom prst="roundRect">
            <a:avLst/>
          </a:prstGeom>
          <a:solidFill>
            <a:srgbClr val="B96F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450592" y="3346704"/>
            <a:ext cx="128016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沉浸式文旅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950208" y="3246120"/>
            <a:ext cx="1234440" cy="384048"/>
          </a:xfrm>
          <a:prstGeom prst="roundRect">
            <a:avLst/>
          </a:prstGeom>
          <a:solidFill>
            <a:srgbClr val="D2A24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41648" y="3346704"/>
            <a:ext cx="105156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共创工坊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68096" y="6099048"/>
            <a:ext cx="420624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D6E6E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项目策划 / 技术方案 / 商业路径 / 运营规划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29260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F8F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CONTENTS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658368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目录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66928" y="1115568"/>
            <a:ext cx="1508760" cy="0"/>
          </a:xfrm>
          <a:prstGeom prst="line">
            <a:avLst/>
          </a:prstGeom>
          <a:noFill/>
          <a:ln w="27940">
            <a:solidFill>
              <a:srgbClr val="B96F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256032"/>
            <a:ext cx="594360" cy="23774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5E69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49808" y="1508760"/>
            <a:ext cx="4800600" cy="9601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9DE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1700784"/>
            <a:ext cx="475488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8F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91056" y="1709928"/>
            <a:ext cx="2103120" cy="23774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洞察与背景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00200" y="2039112"/>
            <a:ext cx="3611880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E69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政策环境、用户变化、体验断点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27648" y="1508760"/>
            <a:ext cx="4800600" cy="9601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9DEC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28816" y="1700784"/>
            <a:ext cx="475488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8F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二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168896" y="1709928"/>
            <a:ext cx="2103120" cy="23774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项目定位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78040" y="2039112"/>
            <a:ext cx="3611880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E69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价值主张、目标客群、产品体系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49808" y="2926080"/>
            <a:ext cx="4800600" cy="9601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9DEC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0976" y="3118104"/>
            <a:ext cx="475488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8F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91056" y="3127248"/>
            <a:ext cx="2103120" cy="23774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技术实现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3456432"/>
            <a:ext cx="3611880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E69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场景搭建、交互流程、设备方案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327648" y="2926080"/>
            <a:ext cx="4800600" cy="9601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9DEC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28816" y="3118104"/>
            <a:ext cx="475488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8F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168896" y="3127248"/>
            <a:ext cx="2103120" cy="23774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商业模型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178040" y="3456432"/>
            <a:ext cx="3611880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E69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收入路径、资源整合、运营节奏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49808" y="4343400"/>
            <a:ext cx="4800600" cy="9601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9DEC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0976" y="4535424"/>
            <a:ext cx="475488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8F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五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591056" y="4544568"/>
            <a:ext cx="2103120" cy="23774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社会价值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600200" y="4873752"/>
            <a:ext cx="3611880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E69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文化传播、教育共创、人才培养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327648" y="4343400"/>
            <a:ext cx="4800600" cy="9601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9DEC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28816" y="4535424"/>
            <a:ext cx="475488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8F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六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168896" y="4544568"/>
            <a:ext cx="2103120" cy="23774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落地规划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78040" y="4873752"/>
            <a:ext cx="3611880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E69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阶段计划、风险控制、长期愿景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66928" y="6446520"/>
            <a:ext cx="274320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73808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青梧谷灵 MR 共创计划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869680" y="6537960"/>
            <a:ext cx="2697480" cy="0"/>
          </a:xfrm>
          <a:prstGeom prst="line">
            <a:avLst/>
          </a:prstGeom>
          <a:noFill/>
          <a:ln w="10160">
            <a:solidFill>
              <a:srgbClr val="D9D2C7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29260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F8F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INSIGHT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658368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背景洞察：传统技艺需要新表达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66928" y="1115568"/>
            <a:ext cx="1508760" cy="0"/>
          </a:xfrm>
          <a:prstGeom prst="line">
            <a:avLst/>
          </a:prstGeom>
          <a:noFill/>
          <a:ln w="27940">
            <a:solidFill>
              <a:srgbClr val="B96F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256032"/>
            <a:ext cx="594360" cy="23774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5E69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950" dirty="0"/>
          </a:p>
        </p:txBody>
      </p:sp>
      <p:pic>
        <p:nvPicPr>
          <p:cNvPr id="6" name="Image 0" descr="/mnt/data/a_still_life_scene_on_a_light_wooden_tabletop_with_batch_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201238"/>
            <a:ext cx="5029200" cy="283042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89320" y="1417320"/>
            <a:ext cx="5440680" cy="43708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291072" y="1737360"/>
            <a:ext cx="960120" cy="310896"/>
          </a:xfrm>
          <a:prstGeom prst="roundRect">
            <a:avLst/>
          </a:prstGeom>
          <a:solidFill>
            <a:srgbClr val="2F8F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64224" y="1805940"/>
            <a:ext cx="813816" cy="13716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需求转向</a:t>
            </a:r>
            <a:endParaRPr lang="en-US" sz="880" dirty="0"/>
          </a:p>
        </p:txBody>
      </p:sp>
      <p:sp>
        <p:nvSpPr>
          <p:cNvPr id="10" name="Text 7"/>
          <p:cNvSpPr/>
          <p:nvPr/>
        </p:nvSpPr>
        <p:spPr>
          <a:xfrm>
            <a:off x="7424928" y="1728216"/>
            <a:ext cx="3474720" cy="3200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文旅消费从“观看展品”转向“参与故事”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355080" y="2331720"/>
            <a:ext cx="4526280" cy="123444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50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年轻客群偏好可分享、可互动、可二次创作的文化体验
</a:t>
            </a:r>
            <a:endParaRPr lang="en-US" sz="1250" dirty="0"/>
          </a:p>
          <a:p>
            <a:r>
              <a:rPr lang="en-US" sz="1250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传统手作展示仍以静态陈列为主，体验链条较短
</a:t>
            </a:r>
            <a:endParaRPr lang="en-US" sz="1250" dirty="0"/>
          </a:p>
          <a:p>
            <a:r>
              <a:rPr lang="en-US" sz="1250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地区文化IP缺少可持续运营的内容容器与跨场景渠道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291072" y="3904488"/>
            <a:ext cx="960120" cy="310896"/>
          </a:xfrm>
          <a:prstGeom prst="roundRect">
            <a:avLst/>
          </a:prstGeom>
          <a:solidFill>
            <a:srgbClr val="B96F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64224" y="3973068"/>
            <a:ext cx="813816" cy="13716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机会窗口</a:t>
            </a:r>
            <a:endParaRPr lang="en-US" sz="880" dirty="0"/>
          </a:p>
        </p:txBody>
      </p:sp>
      <p:sp>
        <p:nvSpPr>
          <p:cNvPr id="14" name="Text 11"/>
          <p:cNvSpPr/>
          <p:nvPr/>
        </p:nvSpPr>
        <p:spPr>
          <a:xfrm>
            <a:off x="7424928" y="3886200"/>
            <a:ext cx="3474720" cy="3200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MR、空间叙事与工坊课程可以形成闭环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355080" y="4480560"/>
            <a:ext cx="4526280" cy="98755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50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以“看剧—上手—带走—复访”的方式提高停留时长
</a:t>
            </a:r>
            <a:endParaRPr lang="en-US" sz="1250" dirty="0"/>
          </a:p>
          <a:p>
            <a:r>
              <a:rPr lang="en-US" sz="1250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把手作文化转译成沉浸剧情、数字藏景与线下课程
</a:t>
            </a:r>
            <a:endParaRPr lang="en-US" sz="1250" dirty="0"/>
          </a:p>
          <a:p>
            <a:r>
              <a:rPr lang="en-US" sz="1250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与商圈、景区、研学机构形成灵活合作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66928" y="6446520"/>
            <a:ext cx="274320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73808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青梧谷灵 MR 共创计划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8869680" y="6537960"/>
            <a:ext cx="2697480" cy="0"/>
          </a:xfrm>
          <a:prstGeom prst="line">
            <a:avLst/>
          </a:prstGeom>
          <a:noFill/>
          <a:ln w="10160">
            <a:solidFill>
              <a:srgbClr val="D9D2C7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29260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F8F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PAIN POINTS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658368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痛点分析：体验断点阻碍传播转化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66928" y="1115568"/>
            <a:ext cx="1508760" cy="0"/>
          </a:xfrm>
          <a:prstGeom prst="line">
            <a:avLst/>
          </a:prstGeom>
          <a:noFill/>
          <a:ln w="27940">
            <a:solidFill>
              <a:srgbClr val="B96F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256032"/>
            <a:ext cx="594360" cy="23774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5E69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58952" y="1508760"/>
            <a:ext cx="2395728" cy="36118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9264" y="1783080"/>
            <a:ext cx="475488" cy="475488"/>
          </a:xfrm>
          <a:prstGeom prst="roundRect">
            <a:avLst/>
          </a:prstGeom>
          <a:solidFill>
            <a:srgbClr val="2F8F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1901952"/>
            <a:ext cx="201168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87552" y="2487168"/>
            <a:ext cx="1920240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传承断层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7552" y="2971800"/>
            <a:ext cx="1901952" cy="105156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5E69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课程依赖个人经验，缺少标准化内容包与新媒体表达。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3575304" y="1508760"/>
            <a:ext cx="2395728" cy="3611880"/>
          </a:xfrm>
          <a:prstGeom prst="roundRect">
            <a:avLst/>
          </a:prstGeom>
          <a:solidFill>
            <a:srgbClr val="FEFBF7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85616" y="1783080"/>
            <a:ext cx="475488" cy="475488"/>
          </a:xfrm>
          <a:prstGeom prst="roundRect">
            <a:avLst/>
          </a:prstGeom>
          <a:solidFill>
            <a:srgbClr val="B96F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0" y="1901952"/>
            <a:ext cx="201168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03904" y="2487168"/>
            <a:ext cx="1920240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产品单一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803904" y="2971800"/>
            <a:ext cx="1901952" cy="105156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5E69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工艺品、研学课、展陈彼此割裂，难以形成持续复购。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6391656" y="1508760"/>
            <a:ext cx="2395728" cy="36118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01968" y="1783080"/>
            <a:ext cx="475488" cy="475488"/>
          </a:xfrm>
          <a:prstGeom prst="roundRect">
            <a:avLst/>
          </a:prstGeom>
          <a:solidFill>
            <a:srgbClr val="D2A24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48272" y="1901952"/>
            <a:ext cx="201168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20256" y="2487168"/>
            <a:ext cx="1920240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场景不足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20256" y="2971800"/>
            <a:ext cx="1901952" cy="105156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5E69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观众只能观看成品，缺少角色代入与创作反馈。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9208008" y="1508760"/>
            <a:ext cx="2395728" cy="3611880"/>
          </a:xfrm>
          <a:prstGeom prst="roundRect">
            <a:avLst/>
          </a:prstGeom>
          <a:solidFill>
            <a:srgbClr val="FEFBF7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18320" y="1783080"/>
            <a:ext cx="475488" cy="475488"/>
          </a:xfrm>
          <a:prstGeom prst="roundRect">
            <a:avLst/>
          </a:prstGeom>
          <a:solidFill>
            <a:srgbClr val="477C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64624" y="1901952"/>
            <a:ext cx="201168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436608" y="2487168"/>
            <a:ext cx="1920240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运营偏弱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436608" y="2971800"/>
            <a:ext cx="1901952" cy="105156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5E69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数据沉淀、票务联动、IP衍生开发能力不足。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960120" y="5623560"/>
            <a:ext cx="10241280" cy="3200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F8F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核心判断：文化内容不是缺少价值，而是缺少可被年轻受众持续进入的体验入口。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66928" y="6446520"/>
            <a:ext cx="274320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73808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青梧谷灵 MR 共创计划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869680" y="6537960"/>
            <a:ext cx="2697480" cy="0"/>
          </a:xfrm>
          <a:prstGeom prst="line">
            <a:avLst/>
          </a:prstGeom>
          <a:noFill/>
          <a:ln w="10160">
            <a:solidFill>
              <a:srgbClr val="D9D2C7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8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bright_indoor_craft_workshop_classroom_scene_ove_batch_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242288"/>
            <a:ext cx="4846320" cy="27275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530352"/>
            <a:ext cx="2926080" cy="4572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项目起源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713232" y="1152144"/>
            <a:ext cx="4937760" cy="4114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E5F3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从一次手作工作坊开始，把“看得见的技艺”转化为“能参与的故事”。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822960" y="4434840"/>
            <a:ext cx="2395728" cy="1234440"/>
          </a:xfrm>
          <a:prstGeom prst="roundRect">
            <a:avLst/>
          </a:prstGeom>
          <a:solidFill>
            <a:srgbClr val="2F8F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87552" y="4645152"/>
            <a:ext cx="2029968" cy="2286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手艺采集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42416" y="5010912"/>
            <a:ext cx="1938528" cy="3474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EDF4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记录工具、纹样、流程与口述故事</a:t>
            </a:r>
            <a:endParaRPr lang="en-US" sz="980" dirty="0"/>
          </a:p>
        </p:txBody>
      </p:sp>
      <p:sp>
        <p:nvSpPr>
          <p:cNvPr id="8" name="Shape 5"/>
          <p:cNvSpPr/>
          <p:nvPr/>
        </p:nvSpPr>
        <p:spPr>
          <a:xfrm>
            <a:off x="3639312" y="4434840"/>
            <a:ext cx="2395728" cy="1234440"/>
          </a:xfrm>
          <a:prstGeom prst="roundRect">
            <a:avLst/>
          </a:prstGeom>
          <a:solidFill>
            <a:srgbClr val="B96F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03904" y="4645152"/>
            <a:ext cx="2029968" cy="2286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数字建模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858768" y="5010912"/>
            <a:ext cx="1938528" cy="3474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EDF4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形成可复用的虚拟材料库与动作库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6455664" y="4434840"/>
            <a:ext cx="2395728" cy="1234440"/>
          </a:xfrm>
          <a:prstGeom prst="roundRect">
            <a:avLst/>
          </a:prstGeom>
          <a:solidFill>
            <a:srgbClr val="D2A24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20256" y="4645152"/>
            <a:ext cx="2029968" cy="2286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叙事改编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675120" y="5010912"/>
            <a:ext cx="1938528" cy="3474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EDF4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将地域传说改写为多线互动剧情</a:t>
            </a:r>
            <a:endParaRPr lang="en-US" sz="980" dirty="0"/>
          </a:p>
        </p:txBody>
      </p:sp>
      <p:sp>
        <p:nvSpPr>
          <p:cNvPr id="14" name="Shape 11"/>
          <p:cNvSpPr/>
          <p:nvPr/>
        </p:nvSpPr>
        <p:spPr>
          <a:xfrm>
            <a:off x="9272016" y="4434840"/>
            <a:ext cx="2395728" cy="1234440"/>
          </a:xfrm>
          <a:prstGeom prst="roundRect">
            <a:avLst/>
          </a:prstGeom>
          <a:solidFill>
            <a:srgbClr val="477C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436608" y="4645152"/>
            <a:ext cx="2029968" cy="2286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空间联动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491472" y="5010912"/>
            <a:ext cx="1938528" cy="34747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EDF4F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在工坊、展厅、商圈快速部署体验点</a:t>
            </a:r>
            <a:endParaRPr lang="en-US" sz="9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29260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F8F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POSITIONING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658368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项目概述：文化、科技、消费三位一体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66928" y="1115568"/>
            <a:ext cx="1508760" cy="0"/>
          </a:xfrm>
          <a:prstGeom prst="line">
            <a:avLst/>
          </a:prstGeom>
          <a:noFill/>
          <a:ln w="27940">
            <a:solidFill>
              <a:srgbClr val="B96F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256032"/>
            <a:ext cx="594360" cy="23774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5E69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13232" y="1353312"/>
            <a:ext cx="3383280" cy="41605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91640"/>
            <a:ext cx="2011680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价值主张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176272"/>
            <a:ext cx="2514600" cy="169164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50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让观众进入地域故事，而不是只看展品
</a:t>
            </a:r>
            <a:endParaRPr lang="en-US" sz="1250" dirty="0"/>
          </a:p>
          <a:p>
            <a:r>
              <a:rPr lang="en-US" sz="1250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把手作课程、沉浸体验、文创消费串成一条链路
</a:t>
            </a:r>
            <a:endParaRPr lang="en-US" sz="1250" dirty="0"/>
          </a:p>
          <a:p>
            <a:r>
              <a:rPr lang="en-US" sz="1250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为合作方提供可复制的文化科技活动包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87552" y="4315968"/>
            <a:ext cx="2423160" cy="640080"/>
          </a:xfrm>
          <a:prstGeom prst="roundRect">
            <a:avLst/>
          </a:prstGeom>
          <a:solidFill>
            <a:srgbClr val="DDEF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4535424"/>
            <a:ext cx="210312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2F8F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定位：轻量化 MR 文化体验综合体</a:t>
            </a:r>
            <a:endParaRPr lang="en-US" sz="1080" dirty="0"/>
          </a:p>
        </p:txBody>
      </p:sp>
      <p:pic>
        <p:nvPicPr>
          <p:cNvPr id="11" name="Image 0" descr="/mnt/data/wide_high_resolution_daylight_street_heritage_sce_batch_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2442922"/>
            <a:ext cx="3520440" cy="19813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8275320" y="1353312"/>
            <a:ext cx="3063240" cy="41605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49640" y="1691640"/>
            <a:ext cx="2286000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目标客群与场景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8540496" y="2221992"/>
            <a:ext cx="2395728" cy="384048"/>
          </a:xfrm>
          <a:prstGeom prst="roundRect">
            <a:avLst/>
          </a:prstGeom>
          <a:solidFill>
            <a:srgbClr val="F2EF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705088" y="2331720"/>
            <a:ext cx="786384" cy="12801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亲子游客</a:t>
            </a:r>
            <a:endParaRPr lang="en-US" sz="920" dirty="0"/>
          </a:p>
        </p:txBody>
      </p:sp>
      <p:sp>
        <p:nvSpPr>
          <p:cNvPr id="16" name="Text 13"/>
          <p:cNvSpPr/>
          <p:nvPr/>
        </p:nvSpPr>
        <p:spPr>
          <a:xfrm>
            <a:off x="9555480" y="2331720"/>
            <a:ext cx="1280160" cy="12801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5E69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周末打卡、手作体验</a:t>
            </a:r>
            <a:endParaRPr lang="en-US" sz="860" dirty="0"/>
          </a:p>
        </p:txBody>
      </p:sp>
      <p:sp>
        <p:nvSpPr>
          <p:cNvPr id="17" name="Shape 14"/>
          <p:cNvSpPr/>
          <p:nvPr/>
        </p:nvSpPr>
        <p:spPr>
          <a:xfrm>
            <a:off x="8540496" y="2834640"/>
            <a:ext cx="2395728" cy="384048"/>
          </a:xfrm>
          <a:prstGeom prst="roundRect">
            <a:avLst/>
          </a:prstGeom>
          <a:solidFill>
            <a:srgbClr val="EBF5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705088" y="2944368"/>
            <a:ext cx="786384" cy="12801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青年客群</a:t>
            </a:r>
            <a:endParaRPr lang="en-US" sz="920" dirty="0"/>
          </a:p>
        </p:txBody>
      </p:sp>
      <p:sp>
        <p:nvSpPr>
          <p:cNvPr id="19" name="Text 16"/>
          <p:cNvSpPr/>
          <p:nvPr/>
        </p:nvSpPr>
        <p:spPr>
          <a:xfrm>
            <a:off x="9555480" y="2944368"/>
            <a:ext cx="1280160" cy="12801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5E69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社交传播、IP周边</a:t>
            </a:r>
            <a:endParaRPr lang="en-US" sz="860" dirty="0"/>
          </a:p>
        </p:txBody>
      </p:sp>
      <p:sp>
        <p:nvSpPr>
          <p:cNvPr id="20" name="Shape 17"/>
          <p:cNvSpPr/>
          <p:nvPr/>
        </p:nvSpPr>
        <p:spPr>
          <a:xfrm>
            <a:off x="8540496" y="3447288"/>
            <a:ext cx="2395728" cy="384048"/>
          </a:xfrm>
          <a:prstGeom prst="roundRect">
            <a:avLst/>
          </a:prstGeom>
          <a:solidFill>
            <a:srgbClr val="F8ED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705088" y="3557016"/>
            <a:ext cx="786384" cy="12801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研学机构</a:t>
            </a:r>
            <a:endParaRPr lang="en-US" sz="920" dirty="0"/>
          </a:p>
        </p:txBody>
      </p:sp>
      <p:sp>
        <p:nvSpPr>
          <p:cNvPr id="22" name="Text 19"/>
          <p:cNvSpPr/>
          <p:nvPr/>
        </p:nvSpPr>
        <p:spPr>
          <a:xfrm>
            <a:off x="9555480" y="3557016"/>
            <a:ext cx="1280160" cy="12801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5E69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课程共创、活动包</a:t>
            </a:r>
            <a:endParaRPr lang="en-US" sz="860" dirty="0"/>
          </a:p>
        </p:txBody>
      </p:sp>
      <p:sp>
        <p:nvSpPr>
          <p:cNvPr id="23" name="Shape 20"/>
          <p:cNvSpPr/>
          <p:nvPr/>
        </p:nvSpPr>
        <p:spPr>
          <a:xfrm>
            <a:off x="8540496" y="4059936"/>
            <a:ext cx="2395728" cy="384048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705088" y="4169664"/>
            <a:ext cx="786384" cy="12801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商业空间</a:t>
            </a:r>
            <a:endParaRPr lang="en-US" sz="920" dirty="0"/>
          </a:p>
        </p:txBody>
      </p:sp>
      <p:sp>
        <p:nvSpPr>
          <p:cNvPr id="25" name="Text 22"/>
          <p:cNvSpPr/>
          <p:nvPr/>
        </p:nvSpPr>
        <p:spPr>
          <a:xfrm>
            <a:off x="9555480" y="4169664"/>
            <a:ext cx="1280160" cy="12801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5E69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快闪引流、品牌联名</a:t>
            </a:r>
            <a:endParaRPr lang="en-US" sz="860" dirty="0"/>
          </a:p>
        </p:txBody>
      </p:sp>
      <p:sp>
        <p:nvSpPr>
          <p:cNvPr id="26" name="Text 23"/>
          <p:cNvSpPr/>
          <p:nvPr/>
        </p:nvSpPr>
        <p:spPr>
          <a:xfrm>
            <a:off x="566928" y="6446520"/>
            <a:ext cx="274320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73808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青梧谷灵 MR 共创计划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8869680" y="6537960"/>
            <a:ext cx="2697480" cy="0"/>
          </a:xfrm>
          <a:prstGeom prst="line">
            <a:avLst/>
          </a:prstGeom>
          <a:noFill/>
          <a:ln w="10160">
            <a:solidFill>
              <a:srgbClr val="D9D2C7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29260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F8F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PRODUCT SYSTEM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658368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产品体系：从沉浸剧到长期内容资产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66928" y="1115568"/>
            <a:ext cx="1508760" cy="0"/>
          </a:xfrm>
          <a:prstGeom prst="line">
            <a:avLst/>
          </a:prstGeom>
          <a:noFill/>
          <a:ln w="27940">
            <a:solidFill>
              <a:srgbClr val="B96F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256032"/>
            <a:ext cx="594360" cy="23774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5E69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13232" y="1417320"/>
            <a:ext cx="4892040" cy="135331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" y="1627632"/>
            <a:ext cx="502920" cy="502920"/>
          </a:xfrm>
          <a:prstGeom prst="arc">
            <a:avLst/>
          </a:prstGeom>
          <a:solidFill>
            <a:srgbClr val="2F8F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1673352"/>
            <a:ext cx="192024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MR沉浸剧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554480" y="2112264"/>
            <a:ext cx="3474720" cy="2103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E69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多线剧情、手势交互、场景任务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45352" y="1417320"/>
            <a:ext cx="4892040" cy="135331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9944" y="1627632"/>
            <a:ext cx="502920" cy="502920"/>
          </a:xfrm>
          <a:prstGeom prst="arc">
            <a:avLst/>
          </a:prstGeom>
          <a:solidFill>
            <a:srgbClr val="B96F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86600" y="1673352"/>
            <a:ext cx="192024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共创工坊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086600" y="2112264"/>
            <a:ext cx="3474720" cy="2103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E69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入门课、主题课、亲子协作课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13232" y="3319272"/>
            <a:ext cx="4892040" cy="135331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7824" y="3529584"/>
            <a:ext cx="502920" cy="502920"/>
          </a:xfrm>
          <a:prstGeom prst="arc">
            <a:avLst/>
          </a:prstGeom>
          <a:solidFill>
            <a:srgbClr val="D2A24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54480" y="3575304"/>
            <a:ext cx="192024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文创零售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554480" y="4014216"/>
            <a:ext cx="3474720" cy="2103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E69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手作套装、城市纹样周边、礼盒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45352" y="3319272"/>
            <a:ext cx="4892040" cy="135331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9944" y="3529584"/>
            <a:ext cx="502920" cy="502920"/>
          </a:xfrm>
          <a:prstGeom prst="arc">
            <a:avLst/>
          </a:prstGeom>
          <a:solidFill>
            <a:srgbClr val="477C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86600" y="3575304"/>
            <a:ext cx="192024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品牌活动包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7086600" y="4014216"/>
            <a:ext cx="3474720" cy="2103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E69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商圈快闪、企业定制、节庆联动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89888" y="5413248"/>
            <a:ext cx="9372600" cy="402336"/>
          </a:xfrm>
          <a:prstGeom prst="chevron">
            <a:avLst/>
          </a:prstGeom>
          <a:solidFill>
            <a:srgbClr val="DDEF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91640" y="5522976"/>
            <a:ext cx="8138160" cy="17373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2F8F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看见文化 → 走进故事 → 动手创作 → 带走记忆 → 线上复访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566928" y="6446520"/>
            <a:ext cx="274320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73808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青梧谷灵 MR 共创计划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869680" y="6537960"/>
            <a:ext cx="2697480" cy="0"/>
          </a:xfrm>
          <a:prstGeom prst="line">
            <a:avLst/>
          </a:prstGeom>
          <a:noFill/>
          <a:ln w="10160">
            <a:solidFill>
              <a:srgbClr val="D9D2C7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29260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F8F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COMPARISON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658368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竞争分析：轻空间、强互动、可复用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66928" y="1115568"/>
            <a:ext cx="1508760" cy="0"/>
          </a:xfrm>
          <a:prstGeom prst="line">
            <a:avLst/>
          </a:prstGeom>
          <a:noFill/>
          <a:ln w="27940">
            <a:solidFill>
              <a:srgbClr val="B96F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256032"/>
            <a:ext cx="594360" cy="23774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5E69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1325880" cy="475488"/>
          </a:xfrm>
          <a:prstGeom prst="rect">
            <a:avLst/>
          </a:prstGeom>
          <a:solidFill>
            <a:srgbClr val="2F8F88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" y="1572768"/>
            <a:ext cx="1216152" cy="12801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维度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011680" y="1417320"/>
            <a:ext cx="2788920" cy="475488"/>
          </a:xfrm>
          <a:prstGeom prst="rect">
            <a:avLst/>
          </a:prstGeom>
          <a:solidFill>
            <a:srgbClr val="2F8F88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66544" y="1572768"/>
            <a:ext cx="2679192" cy="12801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本项目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00600" y="1417320"/>
            <a:ext cx="2057400" cy="475488"/>
          </a:xfrm>
          <a:prstGeom prst="rect">
            <a:avLst/>
          </a:prstGeom>
          <a:solidFill>
            <a:srgbClr val="2F8F88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55464" y="1572768"/>
            <a:ext cx="1947672" cy="12801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传统展陈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858000" y="1417320"/>
            <a:ext cx="2395728" cy="475488"/>
          </a:xfrm>
          <a:prstGeom prst="rect">
            <a:avLst/>
          </a:prstGeom>
          <a:solidFill>
            <a:srgbClr val="2F8F88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12864" y="1572768"/>
            <a:ext cx="2286000" cy="12801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大型实景演艺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253728" y="1417320"/>
            <a:ext cx="2148840" cy="475488"/>
          </a:xfrm>
          <a:prstGeom prst="rect">
            <a:avLst/>
          </a:prstGeom>
          <a:solidFill>
            <a:srgbClr val="2F8F88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08592" y="1572768"/>
            <a:ext cx="2039112" cy="12801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普通手作课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5800" y="1892808"/>
            <a:ext cx="132588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2093976"/>
            <a:ext cx="1179576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空间要求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2011680" y="1892808"/>
            <a:ext cx="2788920" cy="603504"/>
          </a:xfrm>
          <a:prstGeom prst="rect">
            <a:avLst/>
          </a:prstGeom>
          <a:solidFill>
            <a:srgbClr val="EBF5F2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84832" y="2093976"/>
            <a:ext cx="2642616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2F8F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轻量部署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4800600" y="1892808"/>
            <a:ext cx="205740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73752" y="2093976"/>
            <a:ext cx="1911096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中等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6858000" y="1892808"/>
            <a:ext cx="2395728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31152" y="2093976"/>
            <a:ext cx="2249424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较高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9253728" y="1892808"/>
            <a:ext cx="21488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26880" y="2093976"/>
            <a:ext cx="2002536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较低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685800" y="2496312"/>
            <a:ext cx="132588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" y="2697480"/>
            <a:ext cx="1179576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互动深度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2011680" y="2496312"/>
            <a:ext cx="2788920" cy="603504"/>
          </a:xfrm>
          <a:prstGeom prst="rect">
            <a:avLst/>
          </a:prstGeom>
          <a:solidFill>
            <a:srgbClr val="EBF5F2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84832" y="2697480"/>
            <a:ext cx="2642616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2F8F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剧情+手作+反馈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4800600" y="2496312"/>
            <a:ext cx="205740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73752" y="2697480"/>
            <a:ext cx="1911096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以观看为主</a:t>
            </a:r>
            <a:endParaRPr lang="en-US" sz="860" dirty="0"/>
          </a:p>
        </p:txBody>
      </p:sp>
      <p:sp>
        <p:nvSpPr>
          <p:cNvPr id="32" name="Shape 30"/>
          <p:cNvSpPr/>
          <p:nvPr/>
        </p:nvSpPr>
        <p:spPr>
          <a:xfrm>
            <a:off x="6858000" y="2496312"/>
            <a:ext cx="2395728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31152" y="2697480"/>
            <a:ext cx="2249424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演员带动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9253728" y="2496312"/>
            <a:ext cx="21488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26880" y="2697480"/>
            <a:ext cx="2002536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以教学为主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685800" y="3099816"/>
            <a:ext cx="132588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8952" y="3300984"/>
            <a:ext cx="1179576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内容复用</a:t>
            </a:r>
            <a:endParaRPr lang="en-US" sz="860" dirty="0"/>
          </a:p>
        </p:txBody>
      </p:sp>
      <p:sp>
        <p:nvSpPr>
          <p:cNvPr id="38" name="Shape 36"/>
          <p:cNvSpPr/>
          <p:nvPr/>
        </p:nvSpPr>
        <p:spPr>
          <a:xfrm>
            <a:off x="2011680" y="3099816"/>
            <a:ext cx="2788920" cy="603504"/>
          </a:xfrm>
          <a:prstGeom prst="rect">
            <a:avLst/>
          </a:prstGeom>
          <a:solidFill>
            <a:srgbClr val="EBF5F2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084832" y="3300984"/>
            <a:ext cx="2642616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2F8F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模型与剧本可迭代</a:t>
            </a:r>
            <a:endParaRPr lang="en-US" sz="860" dirty="0"/>
          </a:p>
        </p:txBody>
      </p:sp>
      <p:sp>
        <p:nvSpPr>
          <p:cNvPr id="40" name="Shape 38"/>
          <p:cNvSpPr/>
          <p:nvPr/>
        </p:nvSpPr>
        <p:spPr>
          <a:xfrm>
            <a:off x="4800600" y="3099816"/>
            <a:ext cx="205740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73752" y="3300984"/>
            <a:ext cx="1911096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更新慢</a:t>
            </a:r>
            <a:endParaRPr lang="en-US" sz="860" dirty="0"/>
          </a:p>
        </p:txBody>
      </p:sp>
      <p:sp>
        <p:nvSpPr>
          <p:cNvPr id="42" name="Shape 40"/>
          <p:cNvSpPr/>
          <p:nvPr/>
        </p:nvSpPr>
        <p:spPr>
          <a:xfrm>
            <a:off x="6858000" y="3099816"/>
            <a:ext cx="2395728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31152" y="3300984"/>
            <a:ext cx="2249424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维护成本高</a:t>
            </a:r>
            <a:endParaRPr lang="en-US" sz="860" dirty="0"/>
          </a:p>
        </p:txBody>
      </p:sp>
      <p:sp>
        <p:nvSpPr>
          <p:cNvPr id="44" name="Shape 42"/>
          <p:cNvSpPr/>
          <p:nvPr/>
        </p:nvSpPr>
        <p:spPr>
          <a:xfrm>
            <a:off x="9253728" y="3099816"/>
            <a:ext cx="21488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326880" y="3300984"/>
            <a:ext cx="2002536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主题有限</a:t>
            </a:r>
            <a:endParaRPr lang="en-US" sz="860" dirty="0"/>
          </a:p>
        </p:txBody>
      </p:sp>
      <p:sp>
        <p:nvSpPr>
          <p:cNvPr id="46" name="Shape 44"/>
          <p:cNvSpPr/>
          <p:nvPr/>
        </p:nvSpPr>
        <p:spPr>
          <a:xfrm>
            <a:off x="685800" y="3703320"/>
            <a:ext cx="132588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8952" y="3904488"/>
            <a:ext cx="1179576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传播素材</a:t>
            </a:r>
            <a:endParaRPr lang="en-US" sz="860" dirty="0"/>
          </a:p>
        </p:txBody>
      </p:sp>
      <p:sp>
        <p:nvSpPr>
          <p:cNvPr id="48" name="Shape 46"/>
          <p:cNvSpPr/>
          <p:nvPr/>
        </p:nvSpPr>
        <p:spPr>
          <a:xfrm>
            <a:off x="2011680" y="3703320"/>
            <a:ext cx="2788920" cy="603504"/>
          </a:xfrm>
          <a:prstGeom prst="rect">
            <a:avLst/>
          </a:prstGeom>
          <a:solidFill>
            <a:srgbClr val="EBF5F2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084832" y="3904488"/>
            <a:ext cx="2642616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2F8F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适合短视频</a:t>
            </a:r>
            <a:endParaRPr lang="en-US" sz="860" dirty="0"/>
          </a:p>
        </p:txBody>
      </p:sp>
      <p:sp>
        <p:nvSpPr>
          <p:cNvPr id="50" name="Shape 48"/>
          <p:cNvSpPr/>
          <p:nvPr/>
        </p:nvSpPr>
        <p:spPr>
          <a:xfrm>
            <a:off x="4800600" y="3703320"/>
            <a:ext cx="205740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73752" y="3904488"/>
            <a:ext cx="1911096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依赖讲解</a:t>
            </a:r>
            <a:endParaRPr lang="en-US" sz="860" dirty="0"/>
          </a:p>
        </p:txBody>
      </p:sp>
      <p:sp>
        <p:nvSpPr>
          <p:cNvPr id="52" name="Shape 50"/>
          <p:cNvSpPr/>
          <p:nvPr/>
        </p:nvSpPr>
        <p:spPr>
          <a:xfrm>
            <a:off x="6858000" y="3703320"/>
            <a:ext cx="2395728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31152" y="3904488"/>
            <a:ext cx="2249424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依赖舞台效果</a:t>
            </a:r>
            <a:endParaRPr lang="en-US" sz="860" dirty="0"/>
          </a:p>
        </p:txBody>
      </p:sp>
      <p:sp>
        <p:nvSpPr>
          <p:cNvPr id="54" name="Shape 52"/>
          <p:cNvSpPr/>
          <p:nvPr/>
        </p:nvSpPr>
        <p:spPr>
          <a:xfrm>
            <a:off x="9253728" y="3703320"/>
            <a:ext cx="21488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326880" y="3904488"/>
            <a:ext cx="2002536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依赖学员产出</a:t>
            </a:r>
            <a:endParaRPr lang="en-US" sz="860" dirty="0"/>
          </a:p>
        </p:txBody>
      </p:sp>
      <p:sp>
        <p:nvSpPr>
          <p:cNvPr id="56" name="Shape 54"/>
          <p:cNvSpPr/>
          <p:nvPr/>
        </p:nvSpPr>
        <p:spPr>
          <a:xfrm>
            <a:off x="685800" y="4306824"/>
            <a:ext cx="132588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58952" y="4507992"/>
            <a:ext cx="1179576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合作场景</a:t>
            </a:r>
            <a:endParaRPr lang="en-US" sz="860" dirty="0"/>
          </a:p>
        </p:txBody>
      </p:sp>
      <p:sp>
        <p:nvSpPr>
          <p:cNvPr id="58" name="Shape 56"/>
          <p:cNvSpPr/>
          <p:nvPr/>
        </p:nvSpPr>
        <p:spPr>
          <a:xfrm>
            <a:off x="2011680" y="4306824"/>
            <a:ext cx="2788920" cy="603504"/>
          </a:xfrm>
          <a:prstGeom prst="rect">
            <a:avLst/>
          </a:prstGeom>
          <a:solidFill>
            <a:srgbClr val="EBF5F2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084832" y="4507992"/>
            <a:ext cx="2642616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2F8F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多场景灵活进入</a:t>
            </a:r>
            <a:endParaRPr lang="en-US" sz="860" dirty="0"/>
          </a:p>
        </p:txBody>
      </p:sp>
      <p:sp>
        <p:nvSpPr>
          <p:cNvPr id="60" name="Shape 58"/>
          <p:cNvSpPr/>
          <p:nvPr/>
        </p:nvSpPr>
        <p:spPr>
          <a:xfrm>
            <a:off x="4800600" y="4306824"/>
            <a:ext cx="205740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73752" y="4507992"/>
            <a:ext cx="1911096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展馆</a:t>
            </a:r>
            <a:endParaRPr lang="en-US" sz="860" dirty="0"/>
          </a:p>
        </p:txBody>
      </p:sp>
      <p:sp>
        <p:nvSpPr>
          <p:cNvPr id="62" name="Shape 60"/>
          <p:cNvSpPr/>
          <p:nvPr/>
        </p:nvSpPr>
        <p:spPr>
          <a:xfrm>
            <a:off x="6858000" y="4306824"/>
            <a:ext cx="2395728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931152" y="4507992"/>
            <a:ext cx="2249424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剧场/景区</a:t>
            </a:r>
            <a:endParaRPr lang="en-US" sz="860" dirty="0"/>
          </a:p>
        </p:txBody>
      </p:sp>
      <p:sp>
        <p:nvSpPr>
          <p:cNvPr id="64" name="Shape 62"/>
          <p:cNvSpPr/>
          <p:nvPr/>
        </p:nvSpPr>
        <p:spPr>
          <a:xfrm>
            <a:off x="9253728" y="4306824"/>
            <a:ext cx="21488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326880" y="4507992"/>
            <a:ext cx="2002536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教室/门店</a:t>
            </a:r>
            <a:endParaRPr lang="en-US" sz="860" dirty="0"/>
          </a:p>
        </p:txBody>
      </p:sp>
      <p:sp>
        <p:nvSpPr>
          <p:cNvPr id="66" name="Text 64"/>
          <p:cNvSpPr/>
          <p:nvPr/>
        </p:nvSpPr>
        <p:spPr>
          <a:xfrm>
            <a:off x="841248" y="5623560"/>
            <a:ext cx="1024128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B96F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核心优势不是“更贵重的舞台”，而是“可复制的体验系统”。</a:t>
            </a:r>
            <a:endParaRPr lang="en-US" sz="1550" dirty="0"/>
          </a:p>
        </p:txBody>
      </p:sp>
      <p:sp>
        <p:nvSpPr>
          <p:cNvPr id="67" name="Text 65"/>
          <p:cNvSpPr/>
          <p:nvPr/>
        </p:nvSpPr>
        <p:spPr>
          <a:xfrm>
            <a:off x="566928" y="6446520"/>
            <a:ext cx="274320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73808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青梧谷灵 MR 共创计划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8869680" y="6537960"/>
            <a:ext cx="2697480" cy="0"/>
          </a:xfrm>
          <a:prstGeom prst="line">
            <a:avLst/>
          </a:prstGeom>
          <a:noFill/>
          <a:ln w="10160">
            <a:solidFill>
              <a:srgbClr val="D9D2C7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29260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F8F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DIFFERENTIATION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658368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差异化竞争力：四个可沉淀的护城河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66928" y="1115568"/>
            <a:ext cx="1508760" cy="0"/>
          </a:xfrm>
          <a:prstGeom prst="line">
            <a:avLst/>
          </a:prstGeom>
          <a:noFill/>
          <a:ln w="27940">
            <a:solidFill>
              <a:srgbClr val="B96F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256032"/>
            <a:ext cx="594360" cy="23774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5E69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822960" y="1737360"/>
            <a:ext cx="2331720" cy="33375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17904" y="2029968"/>
            <a:ext cx="914400" cy="914400"/>
          </a:xfrm>
          <a:prstGeom prst="arc">
            <a:avLst/>
          </a:prstGeom>
          <a:solidFill>
            <a:srgbClr val="2F8F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92224" y="2322576"/>
            <a:ext cx="320040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61872" y="3182112"/>
            <a:ext cx="1508760" cy="24688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内容壁垒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15568" y="3703320"/>
            <a:ext cx="1737360" cy="8412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E69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地域传说、手作流程与角色叙事结合，形成独有剧本库。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566160" y="1737360"/>
            <a:ext cx="2331720" cy="3337560"/>
          </a:xfrm>
          <a:prstGeom prst="roundRect">
            <a:avLst/>
          </a:prstGeom>
          <a:solidFill>
            <a:srgbClr val="FEFBF7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61104" y="2029968"/>
            <a:ext cx="914400" cy="914400"/>
          </a:xfrm>
          <a:prstGeom prst="arc">
            <a:avLst/>
          </a:prstGeom>
          <a:solidFill>
            <a:srgbClr val="B96F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35424" y="2322576"/>
            <a:ext cx="320040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005072" y="3182112"/>
            <a:ext cx="1508760" cy="24688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技术壁垒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858768" y="3703320"/>
            <a:ext cx="1737360" cy="8412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E69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虚实定位、动作识别与多场景投放模板可反复迭代。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09360" y="1737360"/>
            <a:ext cx="2331720" cy="33375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04304" y="2029968"/>
            <a:ext cx="914400" cy="914400"/>
          </a:xfrm>
          <a:prstGeom prst="arc">
            <a:avLst/>
          </a:prstGeom>
          <a:solidFill>
            <a:srgbClr val="D2A24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78624" y="2322576"/>
            <a:ext cx="320040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48272" y="3182112"/>
            <a:ext cx="1508760" cy="24688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渠道壁垒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601968" y="3703320"/>
            <a:ext cx="1737360" cy="8412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E69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景区、商圈、研学、社区多点联动，获客路径分散。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052560" y="1737360"/>
            <a:ext cx="2331720" cy="3337560"/>
          </a:xfrm>
          <a:prstGeom prst="roundRect">
            <a:avLst/>
          </a:prstGeom>
          <a:solidFill>
            <a:srgbClr val="FEFBF7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747504" y="2029968"/>
            <a:ext cx="914400" cy="914400"/>
          </a:xfrm>
          <a:prstGeom prst="arc">
            <a:avLst/>
          </a:prstGeom>
          <a:solidFill>
            <a:srgbClr val="477C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21824" y="2322576"/>
            <a:ext cx="320040" cy="20116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491472" y="3182112"/>
            <a:ext cx="1508760" cy="24688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运营壁垒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345168" y="3703320"/>
            <a:ext cx="1737360" cy="8412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E69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票务、课程、零售和活动订单统一沉淀数据。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66928" y="6446520"/>
            <a:ext cx="274320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73808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青梧谷灵 MR 共创计划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869680" y="6537960"/>
            <a:ext cx="2697480" cy="0"/>
          </a:xfrm>
          <a:prstGeom prst="line">
            <a:avLst/>
          </a:prstGeom>
          <a:noFill/>
          <a:ln w="10160">
            <a:solidFill>
              <a:srgbClr val="D9D2C7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8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high_resolution_cinematic_indoor_vr_ar_exhibiti_batch_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139363"/>
            <a:ext cx="5212080" cy="293335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512064"/>
            <a:ext cx="5669280" cy="4572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场景设计与体验流程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76656" y="1133856"/>
            <a:ext cx="4572000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D6ED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把“观众”变成“故事里的共创者”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713232" y="4809744"/>
            <a:ext cx="1828800" cy="1005840"/>
          </a:xfrm>
          <a:prstGeom prst="roundRect">
            <a:avLst/>
          </a:prstGeom>
          <a:solidFill>
            <a:srgbClr val="2F8F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0392" y="5010912"/>
            <a:ext cx="1536192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入场领取任务</a:t>
            </a:r>
            <a:endParaRPr lang="en-US" sz="1280" dirty="0"/>
          </a:p>
        </p:txBody>
      </p:sp>
      <p:sp>
        <p:nvSpPr>
          <p:cNvPr id="7" name="Text 4"/>
          <p:cNvSpPr/>
          <p:nvPr/>
        </p:nvSpPr>
        <p:spPr>
          <a:xfrm>
            <a:off x="877824" y="5340096"/>
            <a:ext cx="1499616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E7F2F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角色身份与线索卡</a:t>
            </a:r>
            <a:endParaRPr lang="en-US" sz="880" dirty="0"/>
          </a:p>
        </p:txBody>
      </p:sp>
      <p:sp>
        <p:nvSpPr>
          <p:cNvPr id="8" name="Shape 5"/>
          <p:cNvSpPr/>
          <p:nvPr/>
        </p:nvSpPr>
        <p:spPr>
          <a:xfrm>
            <a:off x="2569464" y="5303520"/>
            <a:ext cx="310896" cy="0"/>
          </a:xfrm>
          <a:prstGeom prst="line">
            <a:avLst/>
          </a:prstGeom>
          <a:noFill/>
          <a:ln w="15240">
            <a:solidFill>
              <a:srgbClr val="FFFFFF">
                <a:alpha val="7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953512" y="4809744"/>
            <a:ext cx="1828800" cy="1005840"/>
          </a:xfrm>
          <a:prstGeom prst="roundRect">
            <a:avLst/>
          </a:prstGeom>
          <a:solidFill>
            <a:srgbClr val="B96F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90672" y="5010912"/>
            <a:ext cx="1536192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虚实探索</a:t>
            </a:r>
            <a:endParaRPr lang="en-US" sz="1280" dirty="0"/>
          </a:p>
        </p:txBody>
      </p:sp>
      <p:sp>
        <p:nvSpPr>
          <p:cNvPr id="11" name="Text 8"/>
          <p:cNvSpPr/>
          <p:nvPr/>
        </p:nvSpPr>
        <p:spPr>
          <a:xfrm>
            <a:off x="3118104" y="5340096"/>
            <a:ext cx="1499616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E7F2F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识别器物与纹样</a:t>
            </a:r>
            <a:endParaRPr lang="en-US" sz="880" dirty="0"/>
          </a:p>
        </p:txBody>
      </p:sp>
      <p:sp>
        <p:nvSpPr>
          <p:cNvPr id="12" name="Shape 9"/>
          <p:cNvSpPr/>
          <p:nvPr/>
        </p:nvSpPr>
        <p:spPr>
          <a:xfrm>
            <a:off x="4809744" y="5303520"/>
            <a:ext cx="310896" cy="0"/>
          </a:xfrm>
          <a:prstGeom prst="line">
            <a:avLst/>
          </a:prstGeom>
          <a:noFill/>
          <a:ln w="15240">
            <a:solidFill>
              <a:srgbClr val="FFFFFF">
                <a:alpha val="7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5193792" y="4809744"/>
            <a:ext cx="1828800" cy="1005840"/>
          </a:xfrm>
          <a:prstGeom prst="roundRect">
            <a:avLst/>
          </a:prstGeom>
          <a:solidFill>
            <a:srgbClr val="D2A24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30952" y="5010912"/>
            <a:ext cx="1536192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动手创作</a:t>
            </a:r>
            <a:endParaRPr lang="en-US" sz="1280" dirty="0"/>
          </a:p>
        </p:txBody>
      </p:sp>
      <p:sp>
        <p:nvSpPr>
          <p:cNvPr id="15" name="Text 12"/>
          <p:cNvSpPr/>
          <p:nvPr/>
        </p:nvSpPr>
        <p:spPr>
          <a:xfrm>
            <a:off x="5358384" y="5340096"/>
            <a:ext cx="1499616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E7F2F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完成小型手作件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7050024" y="5303520"/>
            <a:ext cx="310896" cy="0"/>
          </a:xfrm>
          <a:prstGeom prst="line">
            <a:avLst/>
          </a:prstGeom>
          <a:noFill/>
          <a:ln w="15240">
            <a:solidFill>
              <a:srgbClr val="FFFFFF">
                <a:alpha val="7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7434072" y="4809744"/>
            <a:ext cx="1828800" cy="1005840"/>
          </a:xfrm>
          <a:prstGeom prst="roundRect">
            <a:avLst/>
          </a:prstGeom>
          <a:solidFill>
            <a:srgbClr val="477C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71232" y="5010912"/>
            <a:ext cx="1536192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剧情反馈</a:t>
            </a:r>
            <a:endParaRPr lang="en-US" sz="1280" dirty="0"/>
          </a:p>
        </p:txBody>
      </p:sp>
      <p:sp>
        <p:nvSpPr>
          <p:cNvPr id="19" name="Text 16"/>
          <p:cNvSpPr/>
          <p:nvPr/>
        </p:nvSpPr>
        <p:spPr>
          <a:xfrm>
            <a:off x="7598664" y="5340096"/>
            <a:ext cx="1499616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E7F2F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作品触发场景变化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>
            <a:off x="9290304" y="5303520"/>
            <a:ext cx="310896" cy="0"/>
          </a:xfrm>
          <a:prstGeom prst="line">
            <a:avLst/>
          </a:prstGeom>
          <a:noFill/>
          <a:ln w="15240">
            <a:solidFill>
              <a:srgbClr val="FFFFFF">
                <a:alpha val="7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9674352" y="4809744"/>
            <a:ext cx="1828800" cy="1005840"/>
          </a:xfrm>
          <a:prstGeom prst="roundRect">
            <a:avLst/>
          </a:prstGeom>
          <a:solidFill>
            <a:srgbClr val="70A57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811512" y="5010912"/>
            <a:ext cx="1536192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带走延展</a:t>
            </a:r>
            <a:endParaRPr lang="en-US" sz="1280" dirty="0"/>
          </a:p>
        </p:txBody>
      </p:sp>
      <p:sp>
        <p:nvSpPr>
          <p:cNvPr id="23" name="Text 20"/>
          <p:cNvSpPr/>
          <p:nvPr/>
        </p:nvSpPr>
        <p:spPr>
          <a:xfrm>
            <a:off x="9838944" y="5340096"/>
            <a:ext cx="1499616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E7F2F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线上复访与周边</a:t>
            </a:r>
            <a:endParaRPr lang="en-US" sz="8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29260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F8F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TECH ARCHITECTURE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658368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技术实现：轻量化 MR 内容生产链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66928" y="1115568"/>
            <a:ext cx="1508760" cy="0"/>
          </a:xfrm>
          <a:prstGeom prst="line">
            <a:avLst/>
          </a:prstGeom>
          <a:noFill/>
          <a:ln w="27940">
            <a:solidFill>
              <a:srgbClr val="B96F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256032"/>
            <a:ext cx="594360" cy="23774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5E69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</a:t>
            </a:r>
            <a:endParaRPr lang="en-US" sz="950" dirty="0"/>
          </a:p>
        </p:txBody>
      </p:sp>
      <p:pic>
        <p:nvPicPr>
          <p:cNvPr id="6" name="Image 0" descr="/mnt/data/a_warm_well_lit_modern_studio_office_scene_a_gro_batch_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478008"/>
            <a:ext cx="3931920" cy="221288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983480" y="1389888"/>
            <a:ext cx="6144768" cy="777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212080" y="1554480"/>
            <a:ext cx="457200" cy="457200"/>
          </a:xfrm>
          <a:prstGeom prst="roundRect">
            <a:avLst/>
          </a:prstGeom>
          <a:solidFill>
            <a:srgbClr val="2F8F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67528" y="1682496"/>
            <a:ext cx="146304" cy="12801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852160" y="1554480"/>
            <a:ext cx="164592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数字资产层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852160" y="1856232"/>
            <a:ext cx="4389120" cy="1554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E69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器物扫描、材质采样、纹样库、动作库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983480" y="2468880"/>
            <a:ext cx="6144768" cy="777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212080" y="2633472"/>
            <a:ext cx="457200" cy="457200"/>
          </a:xfrm>
          <a:prstGeom prst="roundRect">
            <a:avLst/>
          </a:prstGeom>
          <a:solidFill>
            <a:srgbClr val="B96F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67528" y="2761488"/>
            <a:ext cx="146304" cy="12801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852160" y="2633472"/>
            <a:ext cx="164592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交互引擎层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5852160" y="2935224"/>
            <a:ext cx="4389120" cy="1554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E69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SLAM定位、手势识别、语音触发、剧情状态机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983480" y="3547872"/>
            <a:ext cx="6144768" cy="777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212080" y="3712464"/>
            <a:ext cx="457200" cy="457200"/>
          </a:xfrm>
          <a:prstGeom prst="roundRect">
            <a:avLst/>
          </a:prstGeom>
          <a:solidFill>
            <a:srgbClr val="D2A24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67528" y="3840480"/>
            <a:ext cx="146304" cy="12801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852160" y="3712464"/>
            <a:ext cx="164592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运营管理层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5852160" y="4014216"/>
            <a:ext cx="4389120" cy="1554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E69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预约票务、课程排期、库存周边、用户画像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983480" y="4626864"/>
            <a:ext cx="6144768" cy="777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212080" y="4791456"/>
            <a:ext cx="457200" cy="457200"/>
          </a:xfrm>
          <a:prstGeom prst="roundRect">
            <a:avLst/>
          </a:prstGeom>
          <a:solidFill>
            <a:srgbClr val="477C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367528" y="4919472"/>
            <a:ext cx="146304" cy="12801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5852160" y="4791456"/>
            <a:ext cx="164592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多端呈现层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5852160" y="5093208"/>
            <a:ext cx="4389120" cy="1554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E69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MR眼镜、平板导览、投影舞台、线上小程序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66928" y="6446520"/>
            <a:ext cx="274320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73808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青梧谷灵 MR 共创计划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8869680" y="6537960"/>
            <a:ext cx="2697480" cy="0"/>
          </a:xfrm>
          <a:prstGeom prst="line">
            <a:avLst/>
          </a:prstGeom>
          <a:noFill/>
          <a:ln w="10160">
            <a:solidFill>
              <a:srgbClr val="D9D2C7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29260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F8F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TECH SELECTION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658368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技术选型：稳态体验优先，设备按场景组合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66928" y="1115568"/>
            <a:ext cx="1508760" cy="0"/>
          </a:xfrm>
          <a:prstGeom prst="line">
            <a:avLst/>
          </a:prstGeom>
          <a:noFill/>
          <a:ln w="27940">
            <a:solidFill>
              <a:srgbClr val="B96F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256032"/>
            <a:ext cx="594360" cy="23774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5E69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13232" y="1417320"/>
            <a:ext cx="1645920" cy="512064"/>
          </a:xfrm>
          <a:prstGeom prst="rect">
            <a:avLst/>
          </a:prstGeom>
          <a:solidFill>
            <a:srgbClr val="2F8F88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581912"/>
            <a:ext cx="1499616" cy="12801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模块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2359152" y="1417320"/>
            <a:ext cx="2926080" cy="512064"/>
          </a:xfrm>
          <a:prstGeom prst="rect">
            <a:avLst/>
          </a:prstGeom>
          <a:solidFill>
            <a:srgbClr val="2F8F88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32304" y="1581912"/>
            <a:ext cx="2779776" cy="12801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轻量方案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5285232" y="1417320"/>
            <a:ext cx="3017520" cy="512064"/>
          </a:xfrm>
          <a:prstGeom prst="rect">
            <a:avLst/>
          </a:prstGeom>
          <a:solidFill>
            <a:srgbClr val="2F8F88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58384" y="1581912"/>
            <a:ext cx="2871216" cy="12801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增强方案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8302752" y="1417320"/>
            <a:ext cx="3200400" cy="512064"/>
          </a:xfrm>
          <a:prstGeom prst="rect">
            <a:avLst/>
          </a:prstGeom>
          <a:solidFill>
            <a:srgbClr val="2F8F88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75904" y="1581912"/>
            <a:ext cx="3054096" cy="12801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适用场景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713232" y="1929384"/>
            <a:ext cx="16459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2176272"/>
            <a:ext cx="1463040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2F8F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识别定位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2359152" y="1929384"/>
            <a:ext cx="29260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50592" y="2176272"/>
            <a:ext cx="2743200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平板视觉识别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5285232" y="1929384"/>
            <a:ext cx="3017520" cy="713232"/>
          </a:xfrm>
          <a:prstGeom prst="rect">
            <a:avLst/>
          </a:prstGeom>
          <a:solidFill>
            <a:srgbClr val="EBF5F2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76672" y="2176272"/>
            <a:ext cx="2834640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MR眼镜空间锚点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8302752" y="1929384"/>
            <a:ext cx="32004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94192" y="2176272"/>
            <a:ext cx="3017520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展厅导览 / 沉浸剧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13232" y="2642616"/>
            <a:ext cx="16459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2889504"/>
            <a:ext cx="1463040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2F8F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内容呈现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2359152" y="2642616"/>
            <a:ext cx="29260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50592" y="2889504"/>
            <a:ext cx="2743200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互动屏 + 投影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5285232" y="2642616"/>
            <a:ext cx="3017520" cy="713232"/>
          </a:xfrm>
          <a:prstGeom prst="rect">
            <a:avLst/>
          </a:prstGeom>
          <a:solidFill>
            <a:srgbClr val="EBF5F2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76672" y="2889504"/>
            <a:ext cx="2834640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头显 + 空间音频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8302752" y="2642616"/>
            <a:ext cx="32004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94192" y="2889504"/>
            <a:ext cx="3017520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商圈快闪 / 剧情体验</a:t>
            </a:r>
            <a:endParaRPr lang="en-US" sz="960" dirty="0"/>
          </a:p>
        </p:txBody>
      </p:sp>
      <p:sp>
        <p:nvSpPr>
          <p:cNvPr id="30" name="Shape 28"/>
          <p:cNvSpPr/>
          <p:nvPr/>
        </p:nvSpPr>
        <p:spPr>
          <a:xfrm>
            <a:off x="713232" y="3355848"/>
            <a:ext cx="16459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4672" y="3602736"/>
            <a:ext cx="1463040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2F8F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交互方式</a:t>
            </a:r>
            <a:endParaRPr lang="en-US" sz="960" dirty="0"/>
          </a:p>
        </p:txBody>
      </p:sp>
      <p:sp>
        <p:nvSpPr>
          <p:cNvPr id="32" name="Shape 30"/>
          <p:cNvSpPr/>
          <p:nvPr/>
        </p:nvSpPr>
        <p:spPr>
          <a:xfrm>
            <a:off x="2359152" y="3355848"/>
            <a:ext cx="29260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50592" y="3602736"/>
            <a:ext cx="2743200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触控与扫码</a:t>
            </a:r>
            <a:endParaRPr lang="en-US" sz="960" dirty="0"/>
          </a:p>
        </p:txBody>
      </p:sp>
      <p:sp>
        <p:nvSpPr>
          <p:cNvPr id="34" name="Shape 32"/>
          <p:cNvSpPr/>
          <p:nvPr/>
        </p:nvSpPr>
        <p:spPr>
          <a:xfrm>
            <a:off x="5285232" y="3355848"/>
            <a:ext cx="3017520" cy="713232"/>
          </a:xfrm>
          <a:prstGeom prst="rect">
            <a:avLst/>
          </a:prstGeom>
          <a:solidFill>
            <a:srgbClr val="EBF5F2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76672" y="3602736"/>
            <a:ext cx="2834640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手势、语音与道具触发</a:t>
            </a:r>
            <a:endParaRPr lang="en-US" sz="960" dirty="0"/>
          </a:p>
        </p:txBody>
      </p:sp>
      <p:sp>
        <p:nvSpPr>
          <p:cNvPr id="36" name="Shape 34"/>
          <p:cNvSpPr/>
          <p:nvPr/>
        </p:nvSpPr>
        <p:spPr>
          <a:xfrm>
            <a:off x="8302752" y="3355848"/>
            <a:ext cx="32004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94192" y="3602736"/>
            <a:ext cx="3017520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课程 / 深度体验</a:t>
            </a:r>
            <a:endParaRPr lang="en-US" sz="960" dirty="0"/>
          </a:p>
        </p:txBody>
      </p:sp>
      <p:sp>
        <p:nvSpPr>
          <p:cNvPr id="38" name="Shape 36"/>
          <p:cNvSpPr/>
          <p:nvPr/>
        </p:nvSpPr>
        <p:spPr>
          <a:xfrm>
            <a:off x="713232" y="4069080"/>
            <a:ext cx="16459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4672" y="4315968"/>
            <a:ext cx="1463040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2F8F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部署维护</a:t>
            </a:r>
            <a:endParaRPr lang="en-US" sz="960" dirty="0"/>
          </a:p>
        </p:txBody>
      </p:sp>
      <p:sp>
        <p:nvSpPr>
          <p:cNvPr id="40" name="Shape 38"/>
          <p:cNvSpPr/>
          <p:nvPr/>
        </p:nvSpPr>
        <p:spPr>
          <a:xfrm>
            <a:off x="2359152" y="4069080"/>
            <a:ext cx="29260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450592" y="4315968"/>
            <a:ext cx="2743200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低门槛、快复制</a:t>
            </a:r>
            <a:endParaRPr lang="en-US" sz="960" dirty="0"/>
          </a:p>
        </p:txBody>
      </p:sp>
      <p:sp>
        <p:nvSpPr>
          <p:cNvPr id="42" name="Shape 40"/>
          <p:cNvSpPr/>
          <p:nvPr/>
        </p:nvSpPr>
        <p:spPr>
          <a:xfrm>
            <a:off x="5285232" y="4069080"/>
            <a:ext cx="3017520" cy="713232"/>
          </a:xfrm>
          <a:prstGeom prst="rect">
            <a:avLst/>
          </a:prstGeom>
          <a:solidFill>
            <a:srgbClr val="EBF5F2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76672" y="4315968"/>
            <a:ext cx="2834640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沉浸强、需专业运维</a:t>
            </a:r>
            <a:endParaRPr lang="en-US" sz="960" dirty="0"/>
          </a:p>
        </p:txBody>
      </p:sp>
      <p:sp>
        <p:nvSpPr>
          <p:cNvPr id="44" name="Shape 42"/>
          <p:cNvSpPr/>
          <p:nvPr/>
        </p:nvSpPr>
        <p:spPr>
          <a:xfrm>
            <a:off x="8302752" y="4069080"/>
            <a:ext cx="32004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394192" y="4315968"/>
            <a:ext cx="3017520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活动包 / 旗舰店</a:t>
            </a:r>
            <a:endParaRPr lang="en-US" sz="960" dirty="0"/>
          </a:p>
        </p:txBody>
      </p:sp>
      <p:sp>
        <p:nvSpPr>
          <p:cNvPr id="46" name="Text 44"/>
          <p:cNvSpPr/>
          <p:nvPr/>
        </p:nvSpPr>
        <p:spPr>
          <a:xfrm>
            <a:off x="868680" y="5687568"/>
            <a:ext cx="10241280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96F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原则：先保障稳定识别与低维护成本，再逐步提升沉浸感与互动复杂度。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566928" y="6446520"/>
            <a:ext cx="274320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73808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青梧谷灵 MR 共创计划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8869680" y="6537960"/>
            <a:ext cx="2697480" cy="0"/>
          </a:xfrm>
          <a:prstGeom prst="line">
            <a:avLst/>
          </a:prstGeom>
          <a:noFill/>
          <a:ln w="10160">
            <a:solidFill>
              <a:srgbClr val="D9D2C7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29260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F8F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BUSINESS MODEL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658368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商业模型：四条收入线与内容复用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66928" y="1115568"/>
            <a:ext cx="1508760" cy="0"/>
          </a:xfrm>
          <a:prstGeom prst="line">
            <a:avLst/>
          </a:prstGeom>
          <a:noFill/>
          <a:ln w="27940">
            <a:solidFill>
              <a:srgbClr val="B96F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256032"/>
            <a:ext cx="594360" cy="23774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5E69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2304288" cy="2834640"/>
          </a:xfrm>
          <a:prstGeom prst="roundRect">
            <a:avLst/>
          </a:prstGeom>
          <a:solidFill>
            <a:srgbClr val="2F8F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64792"/>
            <a:ext cx="1828800" cy="29260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体验票务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33272" y="2359152"/>
            <a:ext cx="1792224" cy="59436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FDFB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标准体验、亲子套票、主题夜场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1188720" y="3310128"/>
            <a:ext cx="1481328" cy="457200"/>
          </a:xfrm>
          <a:prstGeom prst="roundRect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07592" y="3456432"/>
            <a:ext cx="1243584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2F8F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主入口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3566160" y="1417320"/>
            <a:ext cx="2304288" cy="2834640"/>
          </a:xfrm>
          <a:prstGeom prst="roundRect">
            <a:avLst/>
          </a:prstGeom>
          <a:solidFill>
            <a:srgbClr val="B96F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94760" y="1764792"/>
            <a:ext cx="1828800" cy="29260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课程培训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822192" y="2359152"/>
            <a:ext cx="1792224" cy="59436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FDFB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研学课程、社区工坊、校企合作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3977640" y="3310128"/>
            <a:ext cx="1481328" cy="457200"/>
          </a:xfrm>
          <a:prstGeom prst="roundRect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96512" y="3456432"/>
            <a:ext cx="1243584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B96F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复购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6355080" y="1417320"/>
            <a:ext cx="2304288" cy="2834640"/>
          </a:xfrm>
          <a:prstGeom prst="roundRect">
            <a:avLst/>
          </a:prstGeom>
          <a:solidFill>
            <a:srgbClr val="D2A24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1764792"/>
            <a:ext cx="1828800" cy="29260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文创销售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11112" y="2359152"/>
            <a:ext cx="1792224" cy="59436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FDFB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材料包、联名礼盒、限定纹样周边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766560" y="3310128"/>
            <a:ext cx="1481328" cy="457200"/>
          </a:xfrm>
          <a:prstGeom prst="roundRect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85432" y="3456432"/>
            <a:ext cx="1243584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D2A24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带货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9144000" y="1417320"/>
            <a:ext cx="2304288" cy="2834640"/>
          </a:xfrm>
          <a:prstGeom prst="roundRect">
            <a:avLst/>
          </a:prstGeom>
          <a:solidFill>
            <a:srgbClr val="477C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72600" y="1764792"/>
            <a:ext cx="1828800" cy="29260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活动定制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400032" y="2359152"/>
            <a:ext cx="1792224" cy="59436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FDFB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品牌快闪、企业团建、节庆策展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9555480" y="3310128"/>
            <a:ext cx="1481328" cy="457200"/>
          </a:xfrm>
          <a:prstGeom prst="roundRect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74352" y="3456432"/>
            <a:ext cx="1243584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477C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高客单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1097280" y="4892040"/>
            <a:ext cx="9921240" cy="777240"/>
          </a:xfrm>
          <a:prstGeom prst="roundRect">
            <a:avLst/>
          </a:prstGeom>
          <a:solidFill>
            <a:srgbClr val="FEFBF7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17320" y="5148072"/>
            <a:ext cx="9235440" cy="21031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成本控制：剧本、模型、互动逻辑可跨场景复用；线下空间采用可移动展具与模块化道具。</a:t>
            </a:r>
            <a:endParaRPr lang="en-US" sz="1340" dirty="0"/>
          </a:p>
        </p:txBody>
      </p:sp>
      <p:sp>
        <p:nvSpPr>
          <p:cNvPr id="28" name="Text 26"/>
          <p:cNvSpPr/>
          <p:nvPr/>
        </p:nvSpPr>
        <p:spPr>
          <a:xfrm>
            <a:off x="566928" y="6446520"/>
            <a:ext cx="274320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73808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青梧谷灵 MR 共创计划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869680" y="6537960"/>
            <a:ext cx="2697480" cy="0"/>
          </a:xfrm>
          <a:prstGeom prst="line">
            <a:avLst/>
          </a:prstGeom>
          <a:noFill/>
          <a:ln w="10160">
            <a:solidFill>
              <a:srgbClr val="D9D2C7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29260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F8F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OPERATIONAL VIEW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658368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运营测算：以区间管理替代刚性数字承诺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66928" y="1115568"/>
            <a:ext cx="1508760" cy="0"/>
          </a:xfrm>
          <a:prstGeom prst="line">
            <a:avLst/>
          </a:prstGeom>
          <a:noFill/>
          <a:ln w="27940">
            <a:solidFill>
              <a:srgbClr val="B96F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256032"/>
            <a:ext cx="594360" cy="23774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5E69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</a:t>
            </a:r>
            <a:endParaRPr lang="en-US" sz="9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841248" y="1417320"/>
          <a:ext cx="516636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446520" y="1417320"/>
            <a:ext cx="4663440" cy="4251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84848" y="1737360"/>
            <a:ext cx="2011680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资金使用方向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784848" y="2240280"/>
            <a:ext cx="3520440" cy="16459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20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内容开发：剧本、角色、数字资产与美术规范
</a:t>
            </a:r>
            <a:endParaRPr lang="en-US" sz="1220" dirty="0"/>
          </a:p>
          <a:p>
            <a:r>
              <a:rPr lang="en-US" sz="1220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设备投入：体验终端、投影与基础运算设备
</a:t>
            </a:r>
            <a:endParaRPr lang="en-US" sz="1220" dirty="0"/>
          </a:p>
          <a:p>
            <a:r>
              <a:rPr lang="en-US" sz="1220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空间搭建：可移动展具、道具与安全动线
</a:t>
            </a:r>
            <a:endParaRPr lang="en-US" sz="1220" dirty="0"/>
          </a:p>
          <a:p>
            <a:r>
              <a:rPr lang="en-US" sz="1220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市场运营：渠道合作、活动组织与用户维护</a:t>
            </a:r>
            <a:endParaRPr lang="en-US" sz="1220" dirty="0"/>
          </a:p>
        </p:txBody>
      </p:sp>
      <p:sp>
        <p:nvSpPr>
          <p:cNvPr id="10" name="Shape 7"/>
          <p:cNvSpPr/>
          <p:nvPr/>
        </p:nvSpPr>
        <p:spPr>
          <a:xfrm>
            <a:off x="6784848" y="4754880"/>
            <a:ext cx="3474720" cy="420624"/>
          </a:xfrm>
          <a:prstGeom prst="roundRect">
            <a:avLst/>
          </a:prstGeom>
          <a:solidFill>
            <a:srgbClr val="DDEF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67728" y="4892040"/>
            <a:ext cx="3154680" cy="14630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2F8F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启动期强调现金流安全，扩展期强调内容资产复用。</a:t>
            </a:r>
            <a:endParaRPr lang="en-US" sz="960" dirty="0"/>
          </a:p>
        </p:txBody>
      </p:sp>
      <p:sp>
        <p:nvSpPr>
          <p:cNvPr id="12" name="Text 9"/>
          <p:cNvSpPr/>
          <p:nvPr/>
        </p:nvSpPr>
        <p:spPr>
          <a:xfrm>
            <a:off x="566928" y="6446520"/>
            <a:ext cx="274320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73808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青梧谷灵 MR 共创计划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8869680" y="6537960"/>
            <a:ext cx="2697480" cy="0"/>
          </a:xfrm>
          <a:prstGeom prst="line">
            <a:avLst/>
          </a:prstGeom>
          <a:noFill/>
          <a:ln w="10160">
            <a:solidFill>
              <a:srgbClr val="D9D2C7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29260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F8F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SOCIAL VALUE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658368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社会价值：从技艺保护到城市体验更新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66928" y="1115568"/>
            <a:ext cx="1508760" cy="0"/>
          </a:xfrm>
          <a:prstGeom prst="line">
            <a:avLst/>
          </a:prstGeom>
          <a:noFill/>
          <a:ln w="27940">
            <a:solidFill>
              <a:srgbClr val="B96F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256032"/>
            <a:ext cx="594360" cy="23774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5E69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4892040" cy="12801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609344"/>
            <a:ext cx="1298448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F8F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承旧启新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43000" y="1892808"/>
            <a:ext cx="1463040" cy="2286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文化传播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697480" y="1719072"/>
            <a:ext cx="2578608" cy="4572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5E69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让传统手作以更轻松的方式进入校园、社区与游客路线。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6309360" y="1417320"/>
            <a:ext cx="4892040" cy="12801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1609344"/>
            <a:ext cx="1298448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96F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教润日常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29400" y="1892808"/>
            <a:ext cx="1463040" cy="2286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教育共创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183880" y="1719072"/>
            <a:ext cx="2578608" cy="4572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5E69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形成可复用的课程包，支持不同年龄层分级学习。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822960" y="3246120"/>
            <a:ext cx="4892040" cy="12801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3438144"/>
            <a:ext cx="1298448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2A24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文旅联动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43000" y="3721608"/>
            <a:ext cx="1463040" cy="2286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就业拓展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2697480" y="3547872"/>
            <a:ext cx="2578608" cy="4572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5E69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衍生出讲解、助教、运维、设计与活动执行岗位。</a:t>
            </a:r>
            <a:endParaRPr lang="en-US" sz="1130" dirty="0"/>
          </a:p>
        </p:txBody>
      </p:sp>
      <p:sp>
        <p:nvSpPr>
          <p:cNvPr id="18" name="Shape 16"/>
          <p:cNvSpPr/>
          <p:nvPr/>
        </p:nvSpPr>
        <p:spPr>
          <a:xfrm>
            <a:off x="6309360" y="3246120"/>
            <a:ext cx="4892040" cy="12801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9400" y="3438144"/>
            <a:ext cx="1298448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7CA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精细运营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29400" y="3721608"/>
            <a:ext cx="1463040" cy="2286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数据反哺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183880" y="3547872"/>
            <a:ext cx="2578608" cy="4572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5E69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沉淀匿名化交互偏好，帮助优化内容与运营。</a:t>
            </a:r>
            <a:endParaRPr lang="en-US" sz="1130" dirty="0"/>
          </a:p>
        </p:txBody>
      </p:sp>
      <p:sp>
        <p:nvSpPr>
          <p:cNvPr id="22" name="Text 20"/>
          <p:cNvSpPr/>
          <p:nvPr/>
        </p:nvSpPr>
        <p:spPr>
          <a:xfrm>
            <a:off x="1005840" y="5559552"/>
            <a:ext cx="10058400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8F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目标不是把技艺做成一次性展览，而是做成可持续运转的公共文化产品。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66928" y="6446520"/>
            <a:ext cx="274320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73808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青梧谷灵 MR 共创计划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869680" y="6537960"/>
            <a:ext cx="2697480" cy="0"/>
          </a:xfrm>
          <a:prstGeom prst="line">
            <a:avLst/>
          </a:prstGeom>
          <a:noFill/>
          <a:ln w="10160">
            <a:solidFill>
              <a:srgbClr val="D9D2C7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29260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F8F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PARTNERSHIP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658368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资源整合：多方合作的轻运营网络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66928" y="1115568"/>
            <a:ext cx="1508760" cy="0"/>
          </a:xfrm>
          <a:prstGeom prst="line">
            <a:avLst/>
          </a:prstGeom>
          <a:noFill/>
          <a:ln w="27940">
            <a:solidFill>
              <a:srgbClr val="B96F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256032"/>
            <a:ext cx="594360" cy="23774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5E69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16</a:t>
            </a:r>
            <a:endParaRPr lang="en-US" sz="950" dirty="0"/>
          </a:p>
        </p:txBody>
      </p:sp>
      <p:pic>
        <p:nvPicPr>
          <p:cNvPr id="6" name="Image 0" descr="/mnt/data/wide_high_resolution_daylight_street_heritage_sce_batch_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2096401"/>
            <a:ext cx="4800600" cy="270177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" y="1261872"/>
            <a:ext cx="5074920" cy="74980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5568" y="1426464"/>
            <a:ext cx="155448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公共文化机构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2743200" y="1444752"/>
            <a:ext cx="256032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E69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提供场地、活动背书与群众文化入口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822960" y="2340864"/>
            <a:ext cx="5074920" cy="74980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15568" y="2505456"/>
            <a:ext cx="155448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商业空间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2743200" y="2523744"/>
            <a:ext cx="256032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E69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提供客流、快闪场景与联合营销资源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22960" y="3419856"/>
            <a:ext cx="5074920" cy="74980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15568" y="3584448"/>
            <a:ext cx="155448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学校与研学机构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2743200" y="3602736"/>
            <a:ext cx="256032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E69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共建课程、招募学员与开展项目式学习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822960" y="4498848"/>
            <a:ext cx="5074920" cy="74980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15568" y="4663440"/>
            <a:ext cx="155448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手作工作室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2743200" y="4681728"/>
            <a:ext cx="256032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E69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提供师资、材料包与小规模生产能力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66928" y="6446520"/>
            <a:ext cx="274320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73808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青梧谷灵 MR 共创计划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8869680" y="6537960"/>
            <a:ext cx="2697480" cy="0"/>
          </a:xfrm>
          <a:prstGeom prst="line">
            <a:avLst/>
          </a:prstGeom>
          <a:noFill/>
          <a:ln w="10160">
            <a:solidFill>
              <a:srgbClr val="D9D2C7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292608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F8F8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TEAM ROLES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6583680" cy="38404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团队配置：以角色协同替代个人依赖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66928" y="1115568"/>
            <a:ext cx="1508760" cy="0"/>
          </a:xfrm>
          <a:prstGeom prst="line">
            <a:avLst/>
          </a:prstGeom>
          <a:noFill/>
          <a:ln w="27940">
            <a:solidFill>
              <a:srgbClr val="B96F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64240" y="256032"/>
            <a:ext cx="594360" cy="237744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5E69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77240" y="1481328"/>
            <a:ext cx="3154680" cy="10972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728216"/>
            <a:ext cx="420624" cy="420624"/>
          </a:xfrm>
          <a:prstGeom prst="roundRect">
            <a:avLst/>
          </a:prstGeom>
          <a:solidFill>
            <a:srgbClr val="2F8F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00200" y="1737360"/>
            <a:ext cx="155448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内容策划组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600200" y="2084832"/>
            <a:ext cx="19202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5E69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剧本、课程、展陈文案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4526280" y="1481328"/>
            <a:ext cx="3154680" cy="10972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728216"/>
            <a:ext cx="420624" cy="420624"/>
          </a:xfrm>
          <a:prstGeom prst="roundRect">
            <a:avLst/>
          </a:prstGeom>
          <a:solidFill>
            <a:srgbClr val="B96F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49240" y="1737360"/>
            <a:ext cx="155448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技术制作组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349240" y="2084832"/>
            <a:ext cx="19202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5E69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建模、交互、设备调试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8275320" y="1481328"/>
            <a:ext cx="3154680" cy="10972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03920" y="1728216"/>
            <a:ext cx="420624" cy="420624"/>
          </a:xfrm>
          <a:prstGeom prst="roundRect">
            <a:avLst/>
          </a:prstGeom>
          <a:solidFill>
            <a:srgbClr val="D2A24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98280" y="1737360"/>
            <a:ext cx="155448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运营商务组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9098280" y="2084832"/>
            <a:ext cx="19202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5E69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渠道、活动、票务与销售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777240" y="3172968"/>
            <a:ext cx="3154680" cy="10972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5840" y="3419856"/>
            <a:ext cx="420624" cy="420624"/>
          </a:xfrm>
          <a:prstGeom prst="roundRect">
            <a:avLst/>
          </a:prstGeom>
          <a:solidFill>
            <a:srgbClr val="477C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00200" y="3429000"/>
            <a:ext cx="155448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视觉设计组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600200" y="3776472"/>
            <a:ext cx="19202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5E69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品牌、空间、文创包装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4526280" y="3172968"/>
            <a:ext cx="3154680" cy="10972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3419856"/>
            <a:ext cx="420624" cy="420624"/>
          </a:xfrm>
          <a:prstGeom prst="roundRect">
            <a:avLst/>
          </a:prstGeom>
          <a:solidFill>
            <a:srgbClr val="70A57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3429000"/>
            <a:ext cx="155448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导师顾问组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349240" y="3776472"/>
            <a:ext cx="1920240" cy="16459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5E69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工艺把关、教育与安全规范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1005840" y="5166360"/>
            <a:ext cx="9875520" cy="658368"/>
          </a:xfrm>
          <a:prstGeom prst="roundRect">
            <a:avLst/>
          </a:prstGeom>
          <a:solidFill>
            <a:srgbClr val="FEFBF7"/>
          </a:solidFill>
          <a:ln w="6350">
            <a:solidFill>
              <a:srgbClr val="E8DC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25880" y="5376672"/>
            <a:ext cx="923544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932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管理方式：项目经理统筹进度，内容与技术双周评审，运营端按活动批次复盘。</a:t>
            </a:r>
            <a:endParaRPr lang="en-US" sz="1320" dirty="0"/>
          </a:p>
        </p:txBody>
      </p:sp>
      <p:sp>
        <p:nvSpPr>
          <p:cNvPr id="28" name="Text 26"/>
          <p:cNvSpPr/>
          <p:nvPr/>
        </p:nvSpPr>
        <p:spPr>
          <a:xfrm>
            <a:off x="566928" y="6446520"/>
            <a:ext cx="2743200" cy="1828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73808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青梧谷灵 MR 共创计划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869680" y="6537960"/>
            <a:ext cx="2697480" cy="0"/>
          </a:xfrm>
          <a:prstGeom prst="line">
            <a:avLst/>
          </a:prstGeom>
          <a:noFill/>
          <a:ln w="10160">
            <a:solidFill>
              <a:srgbClr val="D9D2C7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8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highly_detailed_vector_3d_illus_batch_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111931"/>
            <a:ext cx="5212080" cy="293335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530352"/>
            <a:ext cx="2926080" cy="45720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未来规划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713232" y="1133856"/>
            <a:ext cx="4846320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E1F2F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以内容为核心、以场景为入口、以合作网络扩大影响。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804672" y="4434840"/>
            <a:ext cx="2359152" cy="1170432"/>
          </a:xfrm>
          <a:prstGeom prst="roundRect">
            <a:avLst/>
          </a:prstGeom>
          <a:solidFill>
            <a:srgbClr val="2F8F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87552" y="4663440"/>
            <a:ext cx="196596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启动阶段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33272" y="5047488"/>
            <a:ext cx="1874520" cy="29260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E8F5F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完成旗舰体验、课程包与首批文创上架</a:t>
            </a:r>
            <a:endParaRPr lang="en-US" sz="880" dirty="0"/>
          </a:p>
        </p:txBody>
      </p:sp>
      <p:sp>
        <p:nvSpPr>
          <p:cNvPr id="8" name="Shape 5"/>
          <p:cNvSpPr/>
          <p:nvPr/>
        </p:nvSpPr>
        <p:spPr>
          <a:xfrm>
            <a:off x="3593592" y="4434840"/>
            <a:ext cx="2359152" cy="1170432"/>
          </a:xfrm>
          <a:prstGeom prst="roundRect">
            <a:avLst/>
          </a:prstGeom>
          <a:solidFill>
            <a:srgbClr val="B96F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776472" y="4663440"/>
            <a:ext cx="196596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成长阶段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822192" y="5047488"/>
            <a:ext cx="1874520" cy="29260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E8F5F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扩展商圈与研学渠道，迭代多人协作体验</a:t>
            </a:r>
            <a:endParaRPr lang="en-US" sz="880" dirty="0"/>
          </a:p>
        </p:txBody>
      </p:sp>
      <p:sp>
        <p:nvSpPr>
          <p:cNvPr id="11" name="Shape 8"/>
          <p:cNvSpPr/>
          <p:nvPr/>
        </p:nvSpPr>
        <p:spPr>
          <a:xfrm>
            <a:off x="6382512" y="4434840"/>
            <a:ext cx="2359152" cy="1170432"/>
          </a:xfrm>
          <a:prstGeom prst="roundRect">
            <a:avLst/>
          </a:prstGeom>
          <a:solidFill>
            <a:srgbClr val="D2A24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65392" y="4663440"/>
            <a:ext cx="196596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拓展阶段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611112" y="5047488"/>
            <a:ext cx="1874520" cy="29260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E8F5F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形成城市文化线路与跨区域联名内容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9171432" y="4434840"/>
            <a:ext cx="2359152" cy="1170432"/>
          </a:xfrm>
          <a:prstGeom prst="roundRect">
            <a:avLst/>
          </a:prstGeom>
          <a:solidFill>
            <a:srgbClr val="477C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354312" y="4663440"/>
            <a:ext cx="196596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成熟阶段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400032" y="5047488"/>
            <a:ext cx="1874520" cy="292608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E8F5F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输出标准化活动包与文化科技服务能力</a:t>
            </a:r>
            <a:endParaRPr lang="en-US" sz="880" dirty="0"/>
          </a:p>
        </p:txBody>
      </p:sp>
      <p:sp>
        <p:nvSpPr>
          <p:cNvPr id="17" name="Text 14"/>
          <p:cNvSpPr/>
          <p:nvPr/>
        </p:nvSpPr>
        <p:spPr>
          <a:xfrm>
            <a:off x="2148840" y="6199632"/>
            <a:ext cx="7863840" cy="256032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让传统手作成为城市文化更新中的长期内容资产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2784</Words>
  <Application>WPS 演示</Application>
  <PresentationFormat>On-screen Show (16:9)</PresentationFormat>
  <Paragraphs>565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4" baseType="lpstr">
      <vt:lpstr>Arial</vt:lpstr>
      <vt:lpstr>宋体</vt:lpstr>
      <vt:lpstr>Wingdings</vt:lpstr>
      <vt:lpstr>Noto Sans CJK SC</vt:lpstr>
      <vt:lpstr>Segoe Print</vt:lpstr>
      <vt:lpstr>Noto Sans CJK SC</vt:lpstr>
      <vt:lpstr>Noto Sans CJK SC</vt:lpstr>
      <vt:lpstr>Arial</vt:lpstr>
      <vt:lpstr>Noto Sans CJK SC</vt:lpstr>
      <vt:lpstr>微软雅黑</vt:lpstr>
      <vt:lpstr>Arial Unicode MS</vt:lpstr>
      <vt:lpstr>等线</vt:lpstr>
      <vt:lpstr>Calibri</vt:lpstr>
      <vt:lpstr>MingLiU-ExtB</vt:lpstr>
      <vt:lpstr>Saturday Sans Regular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/>
</file>