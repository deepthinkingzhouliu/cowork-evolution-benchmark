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7365D"/>
                </a:solidFill>
                <a:latin typeface="Noto Sans CJK SC"/>
              </a:defRPr>
            </a:pPr>
            <a:r>
              <a:t>客户数据平台项目状态 v2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108960" cy="1645920"/>
          </a:xfrm>
          <a:prstGeom prst="roundRect">
            <a:avLst/>
          </a:prstGeom>
          <a:solidFill>
            <a:srgbClr val="D9EAF7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>
                <a:solidFill>
                  <a:srgbClr val="17365D"/>
                </a:solidFill>
              </a:defRPr>
            </a:pPr>
            <a:r>
              <a:t>920,000 元</a:t>
            </a:r>
          </a:p>
          <a:p>
            <a:pPr algn="ctr">
              <a:defRPr sz="1100"/>
            </a:pPr>
            <a:r>
              <a:t>总预算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1828800"/>
            <a:ext cx="3108960" cy="1645920"/>
          </a:xfrm>
          <a:prstGeom prst="roundRect">
            <a:avLst/>
          </a:prstGeom>
          <a:solidFill>
            <a:srgbClr val="D9EAF7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>
                <a:solidFill>
                  <a:srgbClr val="17365D"/>
                </a:solidFill>
              </a:defRPr>
            </a:pPr>
            <a:r>
              <a:t>林岚</a:t>
            </a:r>
          </a:p>
          <a:p>
            <a:pPr algn="ctr">
              <a:defRPr sz="1100"/>
            </a:pPr>
            <a:r>
              <a:t>负责人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80960" y="1828800"/>
            <a:ext cx="3108960" cy="1645920"/>
          </a:xfrm>
          <a:prstGeom prst="roundRect">
            <a:avLst/>
          </a:prstGeom>
          <a:solidFill>
            <a:srgbClr val="D9EAF7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>
                <a:solidFill>
                  <a:srgbClr val="17365D"/>
                </a:solidFill>
              </a:defRPr>
            </a:pPr>
            <a:r>
              <a:t>2026-10-20</a:t>
            </a:r>
          </a:p>
          <a:p>
            <a:pPr algn="ctr">
              <a:defRPr sz="1100"/>
            </a:pPr>
            <a:r>
              <a:t>上线日期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400800"/>
            <a:ext cx="3840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212B36"/>
                </a:solidFill>
                <a:latin typeface="Noto Sans CJK SC"/>
              </a:defRPr>
            </a:pPr>
            <a:r>
              <a:t>CoworkEvoBench 公开合成样例  |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7365D"/>
                </a:solidFill>
                <a:latin typeface="Noto Sans CJK SC"/>
              </a:defRPr>
            </a:pPr>
            <a:r>
              <a:t>本次变更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4241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12B36"/>
                </a:solidFill>
                <a:latin typeface="Noto Sans CJK SC"/>
              </a:defRPr>
            </a:pPr>
            <a:r>
              <a:t>• 变更单 CR-2026-018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01368"/>
            <a:ext cx="104241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12B36"/>
                </a:solidFill>
                <a:latin typeface="Noto Sans CJK SC"/>
              </a:defRPr>
            </a:pPr>
            <a:r>
              <a:t>• 新增历史数据迁移与安全复核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368296"/>
            <a:ext cx="104241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12B36"/>
                </a:solidFill>
                <a:latin typeface="Noto Sans CJK SC"/>
              </a:defRPr>
            </a:pPr>
            <a:r>
              <a:t>• 原范围保持不变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400800"/>
            <a:ext cx="3840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212B36"/>
                </a:solidFill>
                <a:latin typeface="Noto Sans CJK SC"/>
              </a:defRPr>
            </a:pPr>
            <a:r>
              <a:t>CoworkEvoBench 公开合成样例  |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7365D"/>
                </a:solidFill>
                <a:latin typeface="Noto Sans CJK SC"/>
              </a:defRPr>
            </a:pPr>
            <a:r>
              <a:t>保持不变的范围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4241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12B36"/>
                </a:solidFill>
                <a:latin typeface="Noto Sans CJK SC"/>
              </a:defRPr>
            </a:pPr>
            <a:r>
              <a:t>• 客户主数据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01368"/>
            <a:ext cx="104241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12B36"/>
                </a:solidFill>
                <a:latin typeface="Noto Sans CJK SC"/>
              </a:defRPr>
            </a:pPr>
            <a:r>
              <a:t>• 标签服务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368296"/>
            <a:ext cx="104241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12B36"/>
                </a:solidFill>
                <a:latin typeface="Noto Sans CJK SC"/>
              </a:defRPr>
            </a:pPr>
            <a:r>
              <a:t>• 权限审计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400800"/>
            <a:ext cx="3840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212B36"/>
                </a:solidFill>
                <a:latin typeface="Noto Sans CJK SC"/>
              </a:defRPr>
            </a:pPr>
            <a:r>
              <a:t>CoworkEvoBench 公开合成样例  | 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