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280160"/>
            <a:ext cx="10972800" cy="731520"/>
          </a:xfrm>
          <a:prstGeom prst="rect">
            <a:avLst/>
          </a:prstGeom>
          <a:noFill/>
        </p:spPr>
        <p:txBody>
          <a:bodyPr wrap="square">
            <a:spAutoFit/>
          </a:bodyPr>
          <a:lstStyle/>
          <a:p>
            <a:r>
              <a:rPr sz="3200" b="1">
                <a:solidFill>
                  <a:srgbClr val="1F2937"/>
                </a:solidFill>
                <a:latin typeface="Liberation Sans"/>
              </a:rPr>
              <a:t>Faculty Workload Analysis</a:t>
            </a:r>
          </a:p>
        </p:txBody>
      </p:sp>
      <p:sp>
        <p:nvSpPr>
          <p:cNvPr id="3" name="TextBox 2"/>
          <p:cNvSpPr txBox="1"/>
          <p:nvPr/>
        </p:nvSpPr>
        <p:spPr>
          <a:xfrm>
            <a:off x="685800" y="2194560"/>
            <a:ext cx="10058400" cy="457200"/>
          </a:xfrm>
          <a:prstGeom prst="rect">
            <a:avLst/>
          </a:prstGeom>
          <a:noFill/>
        </p:spPr>
        <p:txBody>
          <a:bodyPr wrap="square">
            <a:spAutoFit/>
          </a:bodyPr>
          <a:lstStyle/>
          <a:p>
            <a:r>
              <a:rPr sz="1800" b="0">
                <a:solidFill>
                  <a:srgbClr val="1F2937"/>
                </a:solidFill>
                <a:latin typeface="Liberation Sans"/>
              </a:rPr>
              <a:t>Offline review from the fixed Canvas snapshot</a:t>
            </a:r>
          </a:p>
        </p:txBody>
      </p:sp>
      <p:sp>
        <p:nvSpPr>
          <p:cNvPr id="4" name="TextBox 3"/>
          <p:cNvSpPr txBox="1"/>
          <p:nvPr/>
        </p:nvSpPr>
        <p:spPr>
          <a:xfrm>
            <a:off x="685800" y="2834640"/>
            <a:ext cx="10515600" cy="548640"/>
          </a:xfrm>
          <a:prstGeom prst="rect">
            <a:avLst/>
          </a:prstGeom>
          <a:noFill/>
        </p:spPr>
        <p:txBody>
          <a:bodyPr wrap="square">
            <a:spAutoFit/>
          </a:bodyPr>
          <a:lstStyle/>
          <a:p>
            <a:r>
              <a:rPr sz="1800" b="0">
                <a:solidFill>
                  <a:srgbClr val="1F2937"/>
                </a:solidFill>
                <a:latin typeface="Liberation Sans"/>
              </a:rPr>
              <a:t>Instructor load, department aggregation, and redistribution recommendations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548640"/>
          </a:xfrm>
          <a:prstGeom prst="rect">
            <a:avLst/>
          </a:prstGeom>
          <a:noFill/>
        </p:spPr>
        <p:txBody>
          <a:bodyPr wrap="square">
            <a:spAutoFit/>
          </a:bodyPr>
          <a:lstStyle/>
          <a:p>
            <a:r>
              <a:rPr sz="2800" b="1">
                <a:solidFill>
                  <a:srgbClr val="1F2937"/>
                </a:solidFill>
                <a:latin typeface="Liberation Sans"/>
              </a:rPr>
              <a:t>Workload Overview</a:t>
            </a:r>
          </a:p>
        </p:txBody>
      </p:sp>
      <p:sp>
        <p:nvSpPr>
          <p:cNvPr id="3" name="TextBox 2"/>
          <p:cNvSpPr txBox="1"/>
          <p:nvPr/>
        </p:nvSpPr>
        <p:spPr>
          <a:xfrm>
            <a:off x="914400" y="1463040"/>
            <a:ext cx="5029200" cy="640080"/>
          </a:xfrm>
          <a:prstGeom prst="rect">
            <a:avLst/>
          </a:prstGeom>
          <a:noFill/>
        </p:spPr>
        <p:txBody>
          <a:bodyPr wrap="square">
            <a:spAutoFit/>
          </a:bodyPr>
          <a:lstStyle/>
          <a:p>
            <a:r>
              <a:rPr sz="2400" b="1">
                <a:solidFill>
                  <a:srgbClr val="1F2937"/>
                </a:solidFill>
                <a:latin typeface="Liberation Sans"/>
              </a:rPr>
              <a:t>Total instructors: 33</a:t>
            </a:r>
          </a:p>
        </p:txBody>
      </p:sp>
      <p:sp>
        <p:nvSpPr>
          <p:cNvPr id="4" name="TextBox 3"/>
          <p:cNvSpPr txBox="1"/>
          <p:nvPr/>
        </p:nvSpPr>
        <p:spPr>
          <a:xfrm>
            <a:off x="914400" y="2286000"/>
            <a:ext cx="5943600" cy="640080"/>
          </a:xfrm>
          <a:prstGeom prst="rect">
            <a:avLst/>
          </a:prstGeom>
          <a:noFill/>
        </p:spPr>
        <p:txBody>
          <a:bodyPr wrap="square">
            <a:spAutoFit/>
          </a:bodyPr>
          <a:lstStyle/>
          <a:p>
            <a:r>
              <a:rPr sz="2400" b="1">
                <a:solidFill>
                  <a:srgbClr val="1F2937"/>
                </a:solidFill>
                <a:latin typeface="Liberation Sans"/>
              </a:rPr>
              <a:t>Overloaded instructors: 23</a:t>
            </a:r>
          </a:p>
        </p:txBody>
      </p:sp>
      <p:sp>
        <p:nvSpPr>
          <p:cNvPr id="5" name="TextBox 4"/>
          <p:cNvSpPr txBox="1"/>
          <p:nvPr/>
        </p:nvSpPr>
        <p:spPr>
          <a:xfrm>
            <a:off x="914400" y="3383280"/>
            <a:ext cx="10241280" cy="822960"/>
          </a:xfrm>
          <a:prstGeom prst="rect">
            <a:avLst/>
          </a:prstGeom>
          <a:noFill/>
        </p:spPr>
        <p:txBody>
          <a:bodyPr wrap="square">
            <a:spAutoFit/>
          </a:bodyPr>
          <a:lstStyle/>
          <a:p>
            <a:r>
              <a:rPr sz="1800" b="0">
                <a:solidFill>
                  <a:srgbClr val="1F2937"/>
                </a:solidFill>
                <a:latin typeface="Liberation Sans"/>
              </a:rPr>
              <a:t>Overload uses the policy rule: more than 4 courses OR more than 40 weekly grading hours.</a:t>
            </a:r>
          </a:p>
        </p:txBody>
      </p:sp>
      <p:sp>
        <p:nvSpPr>
          <p:cNvPr id="6" name="TextBox 5"/>
          <p:cNvSpPr txBox="1"/>
          <p:nvPr/>
        </p:nvSpPr>
        <p:spPr>
          <a:xfrm>
            <a:off x="914400" y="4389120"/>
            <a:ext cx="9601200" cy="548640"/>
          </a:xfrm>
          <a:prstGeom prst="rect">
            <a:avLst/>
          </a:prstGeom>
          <a:noFill/>
        </p:spPr>
        <p:txBody>
          <a:bodyPr wrap="square">
            <a:spAutoFit/>
          </a:bodyPr>
          <a:lstStyle/>
          <a:p>
            <a:r>
              <a:rPr sz="1800" b="0">
                <a:solidFill>
                  <a:srgbClr val="1F2937"/>
                </a:solidFill>
                <a:latin typeface="Liberation Sans"/>
              </a:rPr>
              <a:t>Weekly grading hours = total students × 0.5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548640"/>
          </a:xfrm>
          <a:prstGeom prst="rect">
            <a:avLst/>
          </a:prstGeom>
          <a:noFill/>
        </p:spPr>
        <p:txBody>
          <a:bodyPr wrap="square">
            <a:spAutoFit/>
          </a:bodyPr>
          <a:lstStyle/>
          <a:p>
            <a:r>
              <a:rPr sz="2800" b="1">
                <a:solidFill>
                  <a:srgbClr val="1F2937"/>
                </a:solidFill>
                <a:latin typeface="Liberation Sans"/>
              </a:rPr>
              <a:t>Department Breakdown</a:t>
            </a:r>
          </a:p>
        </p:txBody>
      </p:sp>
      <p:graphicFrame>
        <p:nvGraphicFramePr>
          <p:cNvPr id="3" name="Table 2"/>
          <p:cNvGraphicFramePr>
            <a:graphicFrameLocks noGrp="1"/>
          </p:cNvGraphicFramePr>
          <p:nvPr/>
        </p:nvGraphicFramePr>
        <p:xfrm>
          <a:off x="640080" y="1097280"/>
          <a:ext cx="8961120" cy="4389120"/>
        </p:xfrm>
        <a:graphic>
          <a:graphicData uri="http://schemas.openxmlformats.org/drawingml/2006/table">
            <a:tbl>
              <a:tblPr firstRow="1" bandRow="1">
                <a:tableStyleId>{5C22544A-7EE6-4342-B048-85BDC9FD1C3A}</a:tableStyleId>
              </a:tblPr>
              <a:tblGrid>
                <a:gridCol w="2377440"/>
                <a:gridCol w="2194560"/>
                <a:gridCol w="1920240"/>
                <a:gridCol w="2468880"/>
              </a:tblGrid>
              <a:tr h="548640">
                <a:tc>
                  <a:txBody>
                    <a:bodyPr/>
                    <a:lstStyle/>
                    <a:p>
                      <a:r>
                        <a:rPr b="1" sz="1400">
                          <a:solidFill>
                            <a:srgbClr val="FFFFFF"/>
                          </a:solidFill>
                        </a:rPr>
                        <a:t>Department</a:t>
                      </a:r>
                    </a:p>
                  </a:txBody>
                  <a:tcPr>
                    <a:solidFill>
                      <a:srgbClr val="1F4E79"/>
                    </a:solidFill>
                  </a:tcPr>
                </a:tc>
                <a:tc>
                  <a:txBody>
                    <a:bodyPr/>
                    <a:lstStyle/>
                    <a:p>
                      <a:r>
                        <a:rPr b="1" sz="1400">
                          <a:solidFill>
                            <a:srgbClr val="FFFFFF"/>
                          </a:solidFill>
                        </a:rPr>
                        <a:t>Instructor_Count</a:t>
                      </a:r>
                    </a:p>
                  </a:txBody>
                  <a:tcPr>
                    <a:solidFill>
                      <a:srgbClr val="1F4E79"/>
                    </a:solidFill>
                  </a:tcPr>
                </a:tc>
                <a:tc>
                  <a:txBody>
                    <a:bodyPr/>
                    <a:lstStyle/>
                    <a:p>
                      <a:r>
                        <a:rPr b="1" sz="1400">
                          <a:solidFill>
                            <a:srgbClr val="FFFFFF"/>
                          </a:solidFill>
                        </a:rPr>
                        <a:t>Course_Count</a:t>
                      </a:r>
                    </a:p>
                  </a:txBody>
                  <a:tcPr>
                    <a:solidFill>
                      <a:srgbClr val="1F4E79"/>
                    </a:solidFill>
                  </a:tcPr>
                </a:tc>
                <a:tc>
                  <a:txBody>
                    <a:bodyPr/>
                    <a:lstStyle/>
                    <a:p>
                      <a:r>
                        <a:rPr b="1" sz="1400">
                          <a:solidFill>
                            <a:srgbClr val="FFFFFF"/>
                          </a:solidFill>
                        </a:rPr>
                        <a:t>Total_Students</a:t>
                      </a:r>
                    </a:p>
                  </a:txBody>
                  <a:tcPr>
                    <a:solidFill>
                      <a:srgbClr val="1F4E79"/>
                    </a:solidFill>
                  </a:tcPr>
                </a:tc>
              </a:tr>
              <a:tr h="548640">
                <a:tc>
                  <a:txBody>
                    <a:bodyPr/>
                    <a:lstStyle/>
                    <a:p>
                      <a:r>
                        <a:rPr sz="1300"/>
                        <a:t>Analytics</a:t>
                      </a:r>
                    </a:p>
                  </a:txBody>
                  <a:tcPr/>
                </a:tc>
                <a:tc>
                  <a:txBody>
                    <a:bodyPr/>
                    <a:lstStyle/>
                    <a:p>
                      <a:r>
                        <a:rPr sz="1300"/>
                        <a:t>3</a:t>
                      </a:r>
                    </a:p>
                  </a:txBody>
                  <a:tcPr/>
                </a:tc>
                <a:tc>
                  <a:txBody>
                    <a:bodyPr/>
                    <a:lstStyle/>
                    <a:p>
                      <a:r>
                        <a:rPr sz="1300"/>
                        <a:t>2</a:t>
                      </a:r>
                    </a:p>
                  </a:txBody>
                  <a:tcPr/>
                </a:tc>
                <a:tc>
                  <a:txBody>
                    <a:bodyPr/>
                    <a:lstStyle/>
                    <a:p>
                      <a:r>
                        <a:rPr sz="1300"/>
                        <a:t>1113</a:t>
                      </a:r>
                    </a:p>
                  </a:txBody>
                  <a:tcPr/>
                </a:tc>
              </a:tr>
              <a:tr h="548640">
                <a:tc>
                  <a:txBody>
                    <a:bodyPr/>
                    <a:lstStyle/>
                    <a:p>
                      <a:r>
                        <a:rPr sz="1300"/>
                        <a:t>Biochemistry</a:t>
                      </a:r>
                    </a:p>
                  </a:txBody>
                  <a:tcPr/>
                </a:tc>
                <a:tc>
                  <a:txBody>
                    <a:bodyPr/>
                    <a:lstStyle/>
                    <a:p>
                      <a:r>
                        <a:rPr sz="1300"/>
                        <a:t>8</a:t>
                      </a:r>
                    </a:p>
                  </a:txBody>
                  <a:tcPr/>
                </a:tc>
                <a:tc>
                  <a:txBody>
                    <a:bodyPr/>
                    <a:lstStyle/>
                    <a:p>
                      <a:r>
                        <a:rPr sz="1300"/>
                        <a:t>3</a:t>
                      </a:r>
                    </a:p>
                  </a:txBody>
                  <a:tcPr/>
                </a:tc>
                <a:tc>
                  <a:txBody>
                    <a:bodyPr/>
                    <a:lstStyle/>
                    <a:p>
                      <a:r>
                        <a:rPr sz="1300"/>
                        <a:t>16596</a:t>
                      </a:r>
                    </a:p>
                  </a:txBody>
                  <a:tcPr/>
                </a:tc>
              </a:tr>
              <a:tr h="548640">
                <a:tc>
                  <a:txBody>
                    <a:bodyPr/>
                    <a:lstStyle/>
                    <a:p>
                      <a:r>
                        <a:rPr sz="1300"/>
                        <a:t>Computing</a:t>
                      </a:r>
                    </a:p>
                  </a:txBody>
                  <a:tcPr/>
                </a:tc>
                <a:tc>
                  <a:txBody>
                    <a:bodyPr/>
                    <a:lstStyle/>
                    <a:p>
                      <a:r>
                        <a:rPr sz="1300"/>
                        <a:t>3</a:t>
                      </a:r>
                    </a:p>
                  </a:txBody>
                  <a:tcPr/>
                </a:tc>
                <a:tc>
                  <a:txBody>
                    <a:bodyPr/>
                    <a:lstStyle/>
                    <a:p>
                      <a:r>
                        <a:rPr sz="1300"/>
                        <a:t>2</a:t>
                      </a:r>
                    </a:p>
                  </a:txBody>
                  <a:tcPr/>
                </a:tc>
                <a:tc>
                  <a:txBody>
                    <a:bodyPr/>
                    <a:lstStyle/>
                    <a:p>
                      <a:r>
                        <a:rPr sz="1300"/>
                        <a:t>6370</a:t>
                      </a:r>
                    </a:p>
                  </a:txBody>
                  <a:tcPr/>
                </a:tc>
              </a:tr>
              <a:tr h="548640">
                <a:tc>
                  <a:txBody>
                    <a:bodyPr/>
                    <a:lstStyle/>
                    <a:p>
                      <a:r>
                        <a:rPr sz="1300"/>
                        <a:t>Design</a:t>
                      </a:r>
                    </a:p>
                  </a:txBody>
                  <a:tcPr/>
                </a:tc>
                <a:tc>
                  <a:txBody>
                    <a:bodyPr/>
                    <a:lstStyle/>
                    <a:p>
                      <a:r>
                        <a:rPr sz="1300"/>
                        <a:t>8</a:t>
                      </a:r>
                    </a:p>
                  </a:txBody>
                  <a:tcPr/>
                </a:tc>
                <a:tc>
                  <a:txBody>
                    <a:bodyPr/>
                    <a:lstStyle/>
                    <a:p>
                      <a:r>
                        <a:rPr sz="1300"/>
                        <a:t>4</a:t>
                      </a:r>
                    </a:p>
                  </a:txBody>
                  <a:tcPr/>
                </a:tc>
                <a:tc>
                  <a:txBody>
                    <a:bodyPr/>
                    <a:lstStyle/>
                    <a:p>
                      <a:r>
                        <a:rPr sz="1300"/>
                        <a:t>11834</a:t>
                      </a:r>
                    </a:p>
                  </a:txBody>
                  <a:tcPr/>
                </a:tc>
              </a:tr>
              <a:tr h="548640">
                <a:tc>
                  <a:txBody>
                    <a:bodyPr/>
                    <a:lstStyle/>
                    <a:p>
                      <a:r>
                        <a:rPr sz="1300"/>
                        <a:t>Economics</a:t>
                      </a:r>
                    </a:p>
                  </a:txBody>
                  <a:tcPr/>
                </a:tc>
                <a:tc>
                  <a:txBody>
                    <a:bodyPr/>
                    <a:lstStyle/>
                    <a:p>
                      <a:r>
                        <a:rPr sz="1300"/>
                        <a:t>4</a:t>
                      </a:r>
                    </a:p>
                  </a:txBody>
                  <a:tcPr/>
                </a:tc>
                <a:tc>
                  <a:txBody>
                    <a:bodyPr/>
                    <a:lstStyle/>
                    <a:p>
                      <a:r>
                        <a:rPr sz="1300"/>
                        <a:t>3</a:t>
                      </a:r>
                    </a:p>
                  </a:txBody>
                  <a:tcPr/>
                </a:tc>
                <a:tc>
                  <a:txBody>
                    <a:bodyPr/>
                    <a:lstStyle/>
                    <a:p>
                      <a:r>
                        <a:rPr sz="1300"/>
                        <a:t>4122</a:t>
                      </a:r>
                    </a:p>
                  </a:txBody>
                  <a:tcPr/>
                </a:tc>
              </a:tr>
              <a:tr h="548640">
                <a:tc>
                  <a:txBody>
                    <a:bodyPr/>
                    <a:lstStyle/>
                    <a:p>
                      <a:r>
                        <a:rPr sz="1300"/>
                        <a:t>Finance</a:t>
                      </a:r>
                    </a:p>
                  </a:txBody>
                  <a:tcPr/>
                </a:tc>
                <a:tc>
                  <a:txBody>
                    <a:bodyPr/>
                    <a:lstStyle/>
                    <a:p>
                      <a:r>
                        <a:rPr sz="1300"/>
                        <a:t>8</a:t>
                      </a:r>
                    </a:p>
                  </a:txBody>
                  <a:tcPr/>
                </a:tc>
                <a:tc>
                  <a:txBody>
                    <a:bodyPr/>
                    <a:lstStyle/>
                    <a:p>
                      <a:r>
                        <a:rPr sz="1300"/>
                        <a:t>4</a:t>
                      </a:r>
                    </a:p>
                  </a:txBody>
                  <a:tcPr/>
                </a:tc>
                <a:tc>
                  <a:txBody>
                    <a:bodyPr/>
                    <a:lstStyle/>
                    <a:p>
                      <a:r>
                        <a:rPr sz="1300"/>
                        <a:t>17971</a:t>
                      </a:r>
                    </a:p>
                  </a:txBody>
                  <a:tcPr/>
                </a:tc>
              </a:tr>
              <a:tr h="548640">
                <a:tc>
                  <a:txBody>
                    <a:bodyPr/>
                    <a:lstStyle/>
                    <a:p>
                      <a:r>
                        <a:rPr sz="1300"/>
                        <a:t>Governance</a:t>
                      </a:r>
                    </a:p>
                  </a:txBody>
                  <a:tcPr/>
                </a:tc>
                <a:tc>
                  <a:txBody>
                    <a:bodyPr/>
                    <a:lstStyle/>
                    <a:p>
                      <a:r>
                        <a:rPr sz="1300"/>
                        <a:t>6</a:t>
                      </a:r>
                    </a:p>
                  </a:txBody>
                  <a:tcPr/>
                </a:tc>
                <a:tc>
                  <a:txBody>
                    <a:bodyPr/>
                    <a:lstStyle/>
                    <a:p>
                      <a:r>
                        <a:rPr sz="1300"/>
                        <a:t>3</a:t>
                      </a:r>
                    </a:p>
                  </a:txBody>
                  <a:tcPr/>
                </a:tc>
                <a:tc>
                  <a:txBody>
                    <a:bodyPr/>
                    <a:lstStyle/>
                    <a:p>
                      <a:r>
                        <a:rPr sz="1300"/>
                        <a:t>4984</a:t>
                      </a:r>
                    </a:p>
                  </a:txBody>
                  <a:tcPr/>
                </a:tc>
              </a:tr>
            </a:tbl>
          </a:graphicData>
        </a:graphic>
      </p:graphicFrame>
      <p:sp>
        <p:nvSpPr>
          <p:cNvPr id="4" name="TextBox 3"/>
          <p:cNvSpPr txBox="1"/>
          <p:nvPr/>
        </p:nvSpPr>
        <p:spPr>
          <a:xfrm>
            <a:off x="731520" y="5806440"/>
            <a:ext cx="10515600" cy="457200"/>
          </a:xfrm>
          <a:prstGeom prst="rect">
            <a:avLst/>
          </a:prstGeom>
          <a:noFill/>
        </p:spPr>
        <p:txBody>
          <a:bodyPr wrap="square">
            <a:spAutoFit/>
          </a:bodyPr>
          <a:lstStyle/>
          <a:p>
            <a:r>
              <a:rPr sz="1400" b="0">
                <a:solidFill>
                  <a:srgbClr val="1F2937"/>
                </a:solidFill>
                <a:latin typeface="Liberation Sans"/>
              </a:rPr>
              <a:t>Total Students sums each instructor-course assignment, matching the workload aggregation basis.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548640"/>
          </a:xfrm>
          <a:prstGeom prst="rect">
            <a:avLst/>
          </a:prstGeom>
          <a:noFill/>
        </p:spPr>
        <p:txBody>
          <a:bodyPr wrap="square">
            <a:spAutoFit/>
          </a:bodyPr>
          <a:lstStyle/>
          <a:p>
            <a:r>
              <a:rPr sz="2800" b="1">
                <a:solidFill>
                  <a:srgbClr val="1F2937"/>
                </a:solidFill>
                <a:latin typeface="Liberation Sans"/>
              </a:rPr>
              <a:t>Redistribution Recommendations</a:t>
            </a:r>
          </a:p>
        </p:txBody>
      </p:sp>
      <p:sp>
        <p:nvSpPr>
          <p:cNvPr id="3" name="TextBox 2"/>
          <p:cNvSpPr txBox="1"/>
          <p:nvPr/>
        </p:nvSpPr>
        <p:spPr>
          <a:xfrm>
            <a:off x="822960" y="1234440"/>
            <a:ext cx="10607040" cy="4389120"/>
          </a:xfrm>
          <a:prstGeom prst="rect">
            <a:avLst/>
          </a:prstGeom>
          <a:noFill/>
        </p:spPr>
        <p:txBody>
          <a:bodyPr wrap="square">
            <a:spAutoFit/>
          </a:bodyPr>
          <a:lstStyle/>
          <a:p>
            <a:r>
              <a:rPr sz="1900" b="0">
                <a:solidFill>
                  <a:srgbClr val="1F2937"/>
                </a:solidFill>
                <a:latin typeface="Liberation Sans"/>
              </a:rPr>
              <a:t>Departments with overloaded instructors: Analytics, Biochemistry, Computing, Design, Economics, Finance, Governance.
1. Rebalance the highest-enrollment courses across instructors before the next semester.
2. Keep each instructor at no more than four courses and monitor weekly grading hours against 40.
3. Review assignment volume and use the 10-assignment recommendation when redesigning course assessment.
4. Re-run the workbook after any enrollment or teaching-assignment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Faculty Workload Analysis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